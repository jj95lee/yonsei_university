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8B5_70EFB349.xml" ContentType="application/vnd.ms-powerpoint.comments+xml"/>
  <Override PartName="/ppt/comments/modernComment_8B1_79EF0777.xml" ContentType="application/vnd.ms-powerpoint.comments+xml"/>
  <Override PartName="/ppt/notesSlides/notesSlide1.xml" ContentType="application/vnd.openxmlformats-officedocument.presentationml.notesSlide+xml"/>
  <Override PartName="/ppt/comments/modernComment_C13_73990580.xml" ContentType="application/vnd.ms-powerpoint.comments+xml"/>
  <Override PartName="/ppt/notesSlides/notesSlide2.xml" ContentType="application/vnd.openxmlformats-officedocument.presentationml.notesSlide+xml"/>
  <Override PartName="/ppt/comments/modernComment_C43_7FD46CCD.xml" ContentType="application/vnd.ms-powerpoint.comments+xml"/>
  <Override PartName="/ppt/notesSlides/notesSlide3.xml" ContentType="application/vnd.openxmlformats-officedocument.presentationml.notesSlide+xml"/>
  <Override PartName="/ppt/comments/modernComment_C44_B2D09DF3.xml" ContentType="application/vnd.ms-powerpoint.comments+xml"/>
  <Override PartName="/ppt/notesSlides/notesSlide4.xml" ContentType="application/vnd.openxmlformats-officedocument.presentationml.notesSlide+xml"/>
  <Override PartName="/ppt/comments/modernComment_C2A_D4E91A59.xml" ContentType="application/vnd.ms-powerpoint.comments+xml"/>
  <Override PartName="/ppt/notesSlides/notesSlide5.xml" ContentType="application/vnd.openxmlformats-officedocument.presentationml.notesSlide+xml"/>
  <Override PartName="/ppt/comments/modernComment_C2C_86FA4BC5.xml" ContentType="application/vnd.ms-powerpoint.comments+xml"/>
  <Override PartName="/ppt/notesSlides/notesSlide6.xml" ContentType="application/vnd.openxmlformats-officedocument.presentationml.notesSlide+xml"/>
  <Override PartName="/ppt/comments/modernComment_C3B_439615EC.xml" ContentType="application/vnd.ms-powerpoint.comments+xml"/>
  <Override PartName="/ppt/notesSlides/notesSlide7.xml" ContentType="application/vnd.openxmlformats-officedocument.presentationml.notesSlide+xml"/>
  <Override PartName="/ppt/comments/modernComment_C5E_13166450.xml" ContentType="application/vnd.ms-powerpoint.comments+xml"/>
  <Override PartName="/ppt/notesSlides/notesSlide8.xml" ContentType="application/vnd.openxmlformats-officedocument.presentationml.notesSlide+xml"/>
  <Override PartName="/ppt/comments/modernComment_C2D_CA999247.xml" ContentType="application/vnd.ms-powerpoint.comments+xml"/>
  <Override PartName="/ppt/notesSlides/notesSlide9.xml" ContentType="application/vnd.openxmlformats-officedocument.presentationml.notesSlide+xml"/>
  <Override PartName="/ppt/comments/modernComment_C45_8AC3DCE6.xml" ContentType="application/vnd.ms-powerpoint.comments+xml"/>
  <Override PartName="/ppt/notesSlides/notesSlide10.xml" ContentType="application/vnd.openxmlformats-officedocument.presentationml.notesSlide+xml"/>
  <Override PartName="/ppt/comments/modernComment_C46_1ACA8757.xml" ContentType="application/vnd.ms-powerpoint.comments+xml"/>
  <Override PartName="/ppt/notesSlides/notesSlide11.xml" ContentType="application/vnd.openxmlformats-officedocument.presentationml.notesSlide+xml"/>
  <Override PartName="/ppt/comments/modernComment_8E0_C95B330.xml" ContentType="application/vnd.ms-powerpoint.comments+xml"/>
  <Override PartName="/ppt/notesSlides/notesSlide12.xml" ContentType="application/vnd.openxmlformats-officedocument.presentationml.notesSlide+xml"/>
  <Override PartName="/ppt/comments/modernComment_C4A_8D547503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3.xml" ContentType="application/vnd.openxmlformats-officedocument.presentationml.notesSlide+xml"/>
  <Override PartName="/ppt/comments/modernComment_C31_821350BE.xml" ContentType="application/vnd.ms-powerpoint.comments+xml"/>
  <Override PartName="/ppt/notesSlides/notesSlide14.xml" ContentType="application/vnd.openxmlformats-officedocument.presentationml.notesSlide+xml"/>
  <Override PartName="/ppt/comments/modernComment_C5F_EBE08B87.xml" ContentType="application/vnd.ms-powerpoint.comments+xml"/>
  <Override PartName="/ppt/notesSlides/notesSlide15.xml" ContentType="application/vnd.openxmlformats-officedocument.presentationml.notesSlide+xml"/>
  <Override PartName="/ppt/comments/modernComment_C30_31503677.xml" ContentType="application/vnd.ms-powerpoint.comments+xml"/>
  <Override PartName="/ppt/notesSlides/notesSlide16.xml" ContentType="application/vnd.openxmlformats-officedocument.presentationml.notesSlide+xml"/>
  <Override PartName="/ppt/comments/modernComment_C4B_7E2063B4.xml" ContentType="application/vnd.ms-powerpoint.comment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7.xml" ContentType="application/vnd.openxmlformats-officedocument.presentationml.notesSlide+xml"/>
  <Override PartName="/ppt/comments/modernComment_C47_6E70F17C.xml" ContentType="application/vnd.ms-powerpoint.comments+xml"/>
  <Override PartName="/ppt/notesSlides/notesSlide18.xml" ContentType="application/vnd.openxmlformats-officedocument.presentationml.notesSlide+xml"/>
  <Override PartName="/ppt/comments/modernComment_C48_F694A9A4.xml" ContentType="application/vnd.ms-powerpoint.comments+xml"/>
  <Override PartName="/ppt/notesSlides/notesSlide19.xml" ContentType="application/vnd.openxmlformats-officedocument.presentationml.notesSlide+xml"/>
  <Override PartName="/ppt/comments/modernComment_C42_ED310B8E.xml" ContentType="application/vnd.ms-powerpoint.comments+xml"/>
  <Override PartName="/ppt/notesSlides/notesSlide20.xml" ContentType="application/vnd.openxmlformats-officedocument.presentationml.notesSlide+xml"/>
  <Override PartName="/ppt/comments/modernComment_C4D_9E58E0B4.xml" ContentType="application/vnd.ms-powerpoint.comments+xml"/>
  <Override PartName="/ppt/notesSlides/notesSlide21.xml" ContentType="application/vnd.openxmlformats-officedocument.presentationml.notesSlide+xml"/>
  <Override PartName="/ppt/comments/modernComment_C0F_C4BCC27.xml" ContentType="application/vnd.ms-powerpoint.comments+xml"/>
  <Override PartName="/ppt/notesSlides/notesSlide22.xml" ContentType="application/vnd.openxmlformats-officedocument.presentationml.notesSlide+xml"/>
  <Override PartName="/ppt/comments/modernComment_C49_697CB5F.xml" ContentType="application/vnd.ms-powerpoint.comments+xml"/>
  <Override PartName="/ppt/notesSlides/notesSlide23.xml" ContentType="application/vnd.openxmlformats-officedocument.presentationml.notesSlide+xml"/>
  <Override PartName="/ppt/comments/modernComment_C3C_A20E5F86.xml" ContentType="application/vnd.ms-powerpoint.comments+xml"/>
  <Override PartName="/ppt/notesSlides/notesSlide24.xml" ContentType="application/vnd.openxmlformats-officedocument.presentationml.notesSlide+xml"/>
  <Override PartName="/ppt/comments/modernComment_C37_7F974915.xml" ContentType="application/vnd.ms-powerpoint.comments+xml"/>
  <Override PartName="/ppt/notesSlides/notesSlide25.xml" ContentType="application/vnd.openxmlformats-officedocument.presentationml.notesSlide+xml"/>
  <Override PartName="/ppt/comments/modernComment_C36_BEBF8B0C.xml" ContentType="application/vnd.ms-powerpoint.comments+xml"/>
  <Override PartName="/ppt/notesSlides/notesSlide26.xml" ContentType="application/vnd.openxmlformats-officedocument.presentationml.notesSlide+xml"/>
  <Override PartName="/ppt/comments/modernComment_C3D_4C362CAA.xml" ContentType="application/vnd.ms-powerpoint.comments+xml"/>
  <Override PartName="/ppt/notesSlides/notesSlide27.xml" ContentType="application/vnd.openxmlformats-officedocument.presentationml.notesSlide+xml"/>
  <Override PartName="/ppt/comments/modernComment_8D8_7B60FDB.xml" ContentType="application/vnd.ms-powerpoint.comments+xml"/>
  <Override PartName="/ppt/notesSlides/notesSlide28.xml" ContentType="application/vnd.openxmlformats-officedocument.presentationml.notesSlide+xml"/>
  <Override PartName="/ppt/comments/modernComment_C38_35A5BC76.xml" ContentType="application/vnd.ms-powerpoint.comments+xml"/>
  <Override PartName="/ppt/notesSlides/notesSlide29.xml" ContentType="application/vnd.openxmlformats-officedocument.presentationml.notesSlide+xml"/>
  <Override PartName="/ppt/comments/modernComment_C70_20D43632.xml" ContentType="application/vnd.ms-powerpoint.comments+xml"/>
  <Override PartName="/ppt/notesSlides/notesSlide30.xml" ContentType="application/vnd.openxmlformats-officedocument.presentationml.notesSlide+xml"/>
  <Override PartName="/ppt/comments/modernComment_C71_482040D2.xml" ContentType="application/vnd.ms-powerpoint.comments+xml"/>
  <Override PartName="/ppt/notesSlides/notesSlide31.xml" ContentType="application/vnd.openxmlformats-officedocument.presentationml.notesSlide+xml"/>
  <Override PartName="/ppt/comments/modernComment_C74_ED2135E9.xml" ContentType="application/vnd.ms-powerpoint.comments+xml"/>
  <Override PartName="/ppt/comments/modernComment_C20_8DF4C119.xml" ContentType="application/vnd.ms-powerpoint.comments+xml"/>
  <Override PartName="/ppt/notesSlides/notesSlide32.xml" ContentType="application/vnd.openxmlformats-officedocument.presentationml.notesSlide+xml"/>
  <Override PartName="/ppt/comments/modernComment_C72_9005785A.xml" ContentType="application/vnd.ms-powerpoint.comment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omments/modernComment_C22_D62FFF7B.xml" ContentType="application/vnd.ms-powerpoint.comment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64"/>
  </p:notesMasterIdLst>
  <p:handoutMasterIdLst>
    <p:handoutMasterId r:id="rId65"/>
  </p:handoutMasterIdLst>
  <p:sldIdLst>
    <p:sldId id="2229" r:id="rId2"/>
    <p:sldId id="2225" r:id="rId3"/>
    <p:sldId id="2243" r:id="rId4"/>
    <p:sldId id="3091" r:id="rId5"/>
    <p:sldId id="3103" r:id="rId6"/>
    <p:sldId id="3139" r:id="rId7"/>
    <p:sldId id="3140" r:id="rId8"/>
    <p:sldId id="3114" r:id="rId9"/>
    <p:sldId id="3116" r:id="rId10"/>
    <p:sldId id="3131" r:id="rId11"/>
    <p:sldId id="3166" r:id="rId12"/>
    <p:sldId id="3117" r:id="rId13"/>
    <p:sldId id="3141" r:id="rId14"/>
    <p:sldId id="3142" r:id="rId15"/>
    <p:sldId id="2272" r:id="rId16"/>
    <p:sldId id="3146" r:id="rId17"/>
    <p:sldId id="3121" r:id="rId18"/>
    <p:sldId id="3167" r:id="rId19"/>
    <p:sldId id="3120" r:id="rId20"/>
    <p:sldId id="3147" r:id="rId21"/>
    <p:sldId id="3143" r:id="rId22"/>
    <p:sldId id="3144" r:id="rId23"/>
    <p:sldId id="3138" r:id="rId24"/>
    <p:sldId id="3149" r:id="rId25"/>
    <p:sldId id="3087" r:id="rId26"/>
    <p:sldId id="3145" r:id="rId27"/>
    <p:sldId id="3132" r:id="rId28"/>
    <p:sldId id="3127" r:id="rId29"/>
    <p:sldId id="3126" r:id="rId30"/>
    <p:sldId id="3133" r:id="rId31"/>
    <p:sldId id="2264" r:id="rId32"/>
    <p:sldId id="3128" r:id="rId33"/>
    <p:sldId id="3184" r:id="rId34"/>
    <p:sldId id="3185" r:id="rId35"/>
    <p:sldId id="3188" r:id="rId36"/>
    <p:sldId id="3104" r:id="rId37"/>
    <p:sldId id="3186" r:id="rId38"/>
    <p:sldId id="3187" r:id="rId39"/>
    <p:sldId id="3137" r:id="rId40"/>
    <p:sldId id="3136" r:id="rId41"/>
    <p:sldId id="3118" r:id="rId42"/>
    <p:sldId id="3105" r:id="rId43"/>
    <p:sldId id="3130" r:id="rId44"/>
    <p:sldId id="3106" r:id="rId45"/>
    <p:sldId id="3094" r:id="rId46"/>
    <p:sldId id="3169" r:id="rId47"/>
    <p:sldId id="3171" r:id="rId48"/>
    <p:sldId id="3170" r:id="rId49"/>
    <p:sldId id="3173" r:id="rId50"/>
    <p:sldId id="3150" r:id="rId51"/>
    <p:sldId id="3174" r:id="rId52"/>
    <p:sldId id="3148" r:id="rId53"/>
    <p:sldId id="3175" r:id="rId54"/>
    <p:sldId id="3176" r:id="rId55"/>
    <p:sldId id="3177" r:id="rId56"/>
    <p:sldId id="3178" r:id="rId57"/>
    <p:sldId id="3180" r:id="rId58"/>
    <p:sldId id="3179" r:id="rId59"/>
    <p:sldId id="3181" r:id="rId60"/>
    <p:sldId id="3182" r:id="rId61"/>
    <p:sldId id="3165" r:id="rId62"/>
    <p:sldId id="2228" r:id="rId6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9E474D-187A-E4A9-2092-F030D4404273}" name="won soyoung" initials="ws" userId="30824b788559e4f0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DEEBF7"/>
    <a:srgbClr val="FFE699"/>
    <a:srgbClr val="FFFFFF"/>
    <a:srgbClr val="D2DEEF"/>
    <a:srgbClr val="0033CC"/>
    <a:srgbClr val="DBDBDB"/>
    <a:srgbClr val="001E46"/>
    <a:srgbClr val="FFC000"/>
    <a:srgbClr val="000A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89204-5ECF-474C-B32C-4A4ABF156469}" v="2" dt="2022-08-31T07:47:46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88" autoAdjust="0"/>
    <p:restoredTop sz="87406" autoAdjust="0"/>
  </p:normalViewPr>
  <p:slideViewPr>
    <p:cSldViewPr snapToGrid="0">
      <p:cViewPr>
        <p:scale>
          <a:sx n="125" d="100"/>
          <a:sy n="125" d="100"/>
        </p:scale>
        <p:origin x="198" y="-9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73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 soyoung" userId="30824b788559e4f0" providerId="LiveId" clId="{9D789204-5ECF-474C-B32C-4A4ABF156469}"/>
    <pc:docChg chg="modSld">
      <pc:chgData name="won soyoung" userId="30824b788559e4f0" providerId="LiveId" clId="{9D789204-5ECF-474C-B32C-4A4ABF156469}" dt="2022-08-31T07:50:47.195" v="49"/>
      <pc:docMkLst>
        <pc:docMk/>
      </pc:docMkLst>
      <pc:sldChg chg="modSp mod addCm">
        <pc:chgData name="won soyoung" userId="30824b788559e4f0" providerId="LiveId" clId="{9D789204-5ECF-474C-B32C-4A4ABF156469}" dt="2022-08-31T07:50:47.195" v="49"/>
        <pc:sldMkLst>
          <pc:docMk/>
          <pc:sldMk cId="2045708151" sldId="2225"/>
        </pc:sldMkLst>
        <pc:graphicFrameChg chg="modGraphic">
          <ac:chgData name="won soyoung" userId="30824b788559e4f0" providerId="LiveId" clId="{9D789204-5ECF-474C-B32C-4A4ABF156469}" dt="2022-08-31T07:50:38.802" v="48" actId="400"/>
          <ac:graphicFrameMkLst>
            <pc:docMk/>
            <pc:sldMk cId="2045708151" sldId="2225"/>
            <ac:graphicFrameMk id="11" creationId="{1E7CEB30-BE78-4962-AA69-2D4B76A554B0}"/>
          </ac:graphicFrameMkLst>
        </pc:graphicFrameChg>
      </pc:sldChg>
      <pc:sldChg chg="addCm">
        <pc:chgData name="won soyoung" userId="30824b788559e4f0" providerId="LiveId" clId="{9D789204-5ECF-474C-B32C-4A4ABF156469}" dt="2022-08-31T07:40:40.342" v="0"/>
        <pc:sldMkLst>
          <pc:docMk/>
          <pc:sldMk cId="1894757193" sldId="2229"/>
        </pc:sldMkLst>
      </pc:sldChg>
      <pc:sldChg chg="addCm">
        <pc:chgData name="won soyoung" userId="30824b788559e4f0" providerId="LiveId" clId="{9D789204-5ECF-474C-B32C-4A4ABF156469}" dt="2022-08-31T07:48:20.727" v="40"/>
        <pc:sldMkLst>
          <pc:docMk/>
          <pc:sldMk cId="129372123" sldId="2264"/>
        </pc:sldMkLst>
      </pc:sldChg>
      <pc:sldChg chg="addCm">
        <pc:chgData name="won soyoung" userId="30824b788559e4f0" providerId="LiveId" clId="{9D789204-5ECF-474C-B32C-4A4ABF156469}" dt="2022-08-31T07:44:22.858" v="18"/>
        <pc:sldMkLst>
          <pc:docMk/>
          <pc:sldMk cId="211137328" sldId="2272"/>
        </pc:sldMkLst>
      </pc:sldChg>
      <pc:sldChg chg="addCm">
        <pc:chgData name="won soyoung" userId="30824b788559e4f0" providerId="LiveId" clId="{9D789204-5ECF-474C-B32C-4A4ABF156469}" dt="2022-08-31T07:46:46.419" v="31"/>
        <pc:sldMkLst>
          <pc:docMk/>
          <pc:sldMk cId="206294055" sldId="3087"/>
        </pc:sldMkLst>
      </pc:sldChg>
      <pc:sldChg chg="addCm">
        <pc:chgData name="won soyoung" userId="30824b788559e4f0" providerId="LiveId" clId="{9D789204-5ECF-474C-B32C-4A4ABF156469}" dt="2022-08-31T07:42:01.903" v="3"/>
        <pc:sldMkLst>
          <pc:docMk/>
          <pc:sldMk cId="1939408256" sldId="3091"/>
        </pc:sldMkLst>
      </pc:sldChg>
      <pc:sldChg chg="addCm">
        <pc:chgData name="won soyoung" userId="30824b788559e4f0" providerId="LiveId" clId="{9D789204-5ECF-474C-B32C-4A4ABF156469}" dt="2022-08-31T07:49:15.734" v="46"/>
        <pc:sldMkLst>
          <pc:docMk/>
          <pc:sldMk cId="2381627673" sldId="3104"/>
        </pc:sldMkLst>
      </pc:sldChg>
      <pc:sldChg chg="addCm">
        <pc:chgData name="won soyoung" userId="30824b788559e4f0" providerId="LiveId" clId="{9D789204-5ECF-474C-B32C-4A4ABF156469}" dt="2022-08-31T07:50:24.486" v="47"/>
        <pc:sldMkLst>
          <pc:docMk/>
          <pc:sldMk cId="3593469819" sldId="3106"/>
        </pc:sldMkLst>
      </pc:sldChg>
      <pc:sldChg chg="addCm modCm">
        <pc:chgData name="won soyoung" userId="30824b788559e4f0" providerId="LiveId" clId="{9D789204-5ECF-474C-B32C-4A4ABF156469}" dt="2022-08-31T07:42:53.406" v="9"/>
        <pc:sldMkLst>
          <pc:docMk/>
          <pc:sldMk cId="3572046425" sldId="3114"/>
        </pc:sldMkLst>
      </pc:sldChg>
      <pc:sldChg chg="addCm">
        <pc:chgData name="won soyoung" userId="30824b788559e4f0" providerId="LiveId" clId="{9D789204-5ECF-474C-B32C-4A4ABF156469}" dt="2022-08-31T07:43:03.640" v="10"/>
        <pc:sldMkLst>
          <pc:docMk/>
          <pc:sldMk cId="2264550341" sldId="3116"/>
        </pc:sldMkLst>
      </pc:sldChg>
      <pc:sldChg chg="addCm">
        <pc:chgData name="won soyoung" userId="30824b788559e4f0" providerId="LiveId" clId="{9D789204-5ECF-474C-B32C-4A4ABF156469}" dt="2022-08-31T07:43:34.802" v="13"/>
        <pc:sldMkLst>
          <pc:docMk/>
          <pc:sldMk cId="3399062087" sldId="3117"/>
        </pc:sldMkLst>
      </pc:sldChg>
      <pc:sldChg chg="addCm modCm">
        <pc:chgData name="won soyoung" userId="30824b788559e4f0" providerId="LiveId" clId="{9D789204-5ECF-474C-B32C-4A4ABF156469}" dt="2022-08-31T07:45:41.292" v="24"/>
        <pc:sldMkLst>
          <pc:docMk/>
          <pc:sldMk cId="827340407" sldId="3120"/>
        </pc:sldMkLst>
      </pc:sldChg>
      <pc:sldChg chg="addCm">
        <pc:chgData name="won soyoung" userId="30824b788559e4f0" providerId="LiveId" clId="{9D789204-5ECF-474C-B32C-4A4ABF156469}" dt="2022-08-31T07:44:53.382" v="20"/>
        <pc:sldMkLst>
          <pc:docMk/>
          <pc:sldMk cId="2182303934" sldId="3121"/>
        </pc:sldMkLst>
      </pc:sldChg>
      <pc:sldChg chg="addSp modSp addCm">
        <pc:chgData name="won soyoung" userId="30824b788559e4f0" providerId="LiveId" clId="{9D789204-5ECF-474C-B32C-4A4ABF156469}" dt="2022-08-31T07:48:00.991" v="38"/>
        <pc:sldMkLst>
          <pc:docMk/>
          <pc:sldMk cId="3200224012" sldId="3126"/>
        </pc:sldMkLst>
        <pc:spChg chg="add mod">
          <ac:chgData name="won soyoung" userId="30824b788559e4f0" providerId="LiveId" clId="{9D789204-5ECF-474C-B32C-4A4ABF156469}" dt="2022-08-31T07:47:46.172" v="37" actId="571"/>
          <ac:spMkLst>
            <pc:docMk/>
            <pc:sldMk cId="3200224012" sldId="3126"/>
            <ac:spMk id="7" creationId="{AFFBA064-702B-7DC8-E831-34E5AACD4134}"/>
          </ac:spMkLst>
        </pc:spChg>
      </pc:sldChg>
      <pc:sldChg chg="addCm modCm">
        <pc:chgData name="won soyoung" userId="30824b788559e4f0" providerId="LiveId" clId="{9D789204-5ECF-474C-B32C-4A4ABF156469}" dt="2022-08-31T07:47:40.951" v="35"/>
        <pc:sldMkLst>
          <pc:docMk/>
          <pc:sldMk cId="2140621077" sldId="3127"/>
        </pc:sldMkLst>
      </pc:sldChg>
      <pc:sldChg chg="addCm">
        <pc:chgData name="won soyoung" userId="30824b788559e4f0" providerId="LiveId" clId="{9D789204-5ECF-474C-B32C-4A4ABF156469}" dt="2022-08-31T07:48:29.734" v="41"/>
        <pc:sldMkLst>
          <pc:docMk/>
          <pc:sldMk cId="900054134" sldId="3128"/>
        </pc:sldMkLst>
      </pc:sldChg>
      <pc:sldChg chg="addCm">
        <pc:chgData name="won soyoung" userId="30824b788559e4f0" providerId="LiveId" clId="{9D789204-5ECF-474C-B32C-4A4ABF156469}" dt="2022-08-31T07:43:16.042" v="11"/>
        <pc:sldMkLst>
          <pc:docMk/>
          <pc:sldMk cId="1133909484" sldId="3131"/>
        </pc:sldMkLst>
      </pc:sldChg>
      <pc:sldChg chg="addCm">
        <pc:chgData name="won soyoung" userId="30824b788559e4f0" providerId="LiveId" clId="{9D789204-5ECF-474C-B32C-4A4ABF156469}" dt="2022-08-31T07:47:02.344" v="33"/>
        <pc:sldMkLst>
          <pc:docMk/>
          <pc:sldMk cId="2718850950" sldId="3132"/>
        </pc:sldMkLst>
      </pc:sldChg>
      <pc:sldChg chg="addCm">
        <pc:chgData name="won soyoung" userId="30824b788559e4f0" providerId="LiveId" clId="{9D789204-5ECF-474C-B32C-4A4ABF156469}" dt="2022-08-31T07:48:12.192" v="39"/>
        <pc:sldMkLst>
          <pc:docMk/>
          <pc:sldMk cId="1278618794" sldId="3133"/>
        </pc:sldMkLst>
      </pc:sldChg>
      <pc:sldChg chg="addCm">
        <pc:chgData name="won soyoung" userId="30824b788559e4f0" providerId="LiveId" clId="{9D789204-5ECF-474C-B32C-4A4ABF156469}" dt="2022-08-31T07:46:24.966" v="29"/>
        <pc:sldMkLst>
          <pc:docMk/>
          <pc:sldMk cId="3979414414" sldId="3138"/>
        </pc:sldMkLst>
      </pc:sldChg>
      <pc:sldChg chg="addCm modCm">
        <pc:chgData name="won soyoung" userId="30824b788559e4f0" providerId="LiveId" clId="{9D789204-5ECF-474C-B32C-4A4ABF156469}" dt="2022-08-31T07:42:20.457" v="5"/>
        <pc:sldMkLst>
          <pc:docMk/>
          <pc:sldMk cId="2144627917" sldId="3139"/>
        </pc:sldMkLst>
      </pc:sldChg>
      <pc:sldChg chg="addCm">
        <pc:chgData name="won soyoung" userId="30824b788559e4f0" providerId="LiveId" clId="{9D789204-5ECF-474C-B32C-4A4ABF156469}" dt="2022-08-31T07:42:30.742" v="6"/>
        <pc:sldMkLst>
          <pc:docMk/>
          <pc:sldMk cId="3000016371" sldId="3140"/>
        </pc:sldMkLst>
      </pc:sldChg>
      <pc:sldChg chg="addCm modCm">
        <pc:chgData name="won soyoung" userId="30824b788559e4f0" providerId="LiveId" clId="{9D789204-5ECF-474C-B32C-4A4ABF156469}" dt="2022-08-31T07:43:56.253" v="16"/>
        <pc:sldMkLst>
          <pc:docMk/>
          <pc:sldMk cId="2328091878" sldId="3141"/>
        </pc:sldMkLst>
      </pc:sldChg>
      <pc:sldChg chg="addCm">
        <pc:chgData name="won soyoung" userId="30824b788559e4f0" providerId="LiveId" clId="{9D789204-5ECF-474C-B32C-4A4ABF156469}" dt="2022-08-31T07:44:05.974" v="17"/>
        <pc:sldMkLst>
          <pc:docMk/>
          <pc:sldMk cId="449480535" sldId="3142"/>
        </pc:sldMkLst>
      </pc:sldChg>
      <pc:sldChg chg="addCm modCm">
        <pc:chgData name="won soyoung" userId="30824b788559e4f0" providerId="LiveId" clId="{9D789204-5ECF-474C-B32C-4A4ABF156469}" dt="2022-08-31T07:46:08.824" v="27"/>
        <pc:sldMkLst>
          <pc:docMk/>
          <pc:sldMk cId="1852895612" sldId="3143"/>
        </pc:sldMkLst>
      </pc:sldChg>
      <pc:sldChg chg="addCm">
        <pc:chgData name="won soyoung" userId="30824b788559e4f0" providerId="LiveId" clId="{9D789204-5ECF-474C-B32C-4A4ABF156469}" dt="2022-08-31T07:46:16.889" v="28"/>
        <pc:sldMkLst>
          <pc:docMk/>
          <pc:sldMk cId="4136937892" sldId="3144"/>
        </pc:sldMkLst>
      </pc:sldChg>
      <pc:sldChg chg="addCm">
        <pc:chgData name="won soyoung" userId="30824b788559e4f0" providerId="LiveId" clId="{9D789204-5ECF-474C-B32C-4A4ABF156469}" dt="2022-08-31T07:46:55.608" v="32"/>
        <pc:sldMkLst>
          <pc:docMk/>
          <pc:sldMk cId="110611295" sldId="3145"/>
        </pc:sldMkLst>
      </pc:sldChg>
      <pc:sldChg chg="addCm">
        <pc:chgData name="won soyoung" userId="30824b788559e4f0" providerId="LiveId" clId="{9D789204-5ECF-474C-B32C-4A4ABF156469}" dt="2022-08-31T07:44:42.733" v="19"/>
        <pc:sldMkLst>
          <pc:docMk/>
          <pc:sldMk cId="2371122435" sldId="3146"/>
        </pc:sldMkLst>
      </pc:sldChg>
      <pc:sldChg chg="addCm">
        <pc:chgData name="won soyoung" userId="30824b788559e4f0" providerId="LiveId" clId="{9D789204-5ECF-474C-B32C-4A4ABF156469}" dt="2022-08-31T07:45:53.223" v="25"/>
        <pc:sldMkLst>
          <pc:docMk/>
          <pc:sldMk cId="2116051892" sldId="3147"/>
        </pc:sldMkLst>
      </pc:sldChg>
      <pc:sldChg chg="addCm">
        <pc:chgData name="won soyoung" userId="30824b788559e4f0" providerId="LiveId" clId="{9D789204-5ECF-474C-B32C-4A4ABF156469}" dt="2022-08-31T07:46:32.782" v="30"/>
        <pc:sldMkLst>
          <pc:docMk/>
          <pc:sldMk cId="2656624820" sldId="3149"/>
        </pc:sldMkLst>
      </pc:sldChg>
      <pc:sldChg chg="addCm">
        <pc:chgData name="won soyoung" userId="30824b788559e4f0" providerId="LiveId" clId="{9D789204-5ECF-474C-B32C-4A4ABF156469}" dt="2022-08-31T07:43:24.667" v="12"/>
        <pc:sldMkLst>
          <pc:docMk/>
          <pc:sldMk cId="320234576" sldId="3166"/>
        </pc:sldMkLst>
      </pc:sldChg>
      <pc:sldChg chg="addCm modCm">
        <pc:chgData name="won soyoung" userId="30824b788559e4f0" providerId="LiveId" clId="{9D789204-5ECF-474C-B32C-4A4ABF156469}" dt="2022-08-31T07:45:31.672" v="23"/>
        <pc:sldMkLst>
          <pc:docMk/>
          <pc:sldMk cId="3957361543" sldId="3167"/>
        </pc:sldMkLst>
      </pc:sldChg>
      <pc:sldChg chg="addCm">
        <pc:chgData name="won soyoung" userId="30824b788559e4f0" providerId="LiveId" clId="{9D789204-5ECF-474C-B32C-4A4ABF156469}" dt="2022-08-31T07:48:43.544" v="42"/>
        <pc:sldMkLst>
          <pc:docMk/>
          <pc:sldMk cId="550778418" sldId="3184"/>
        </pc:sldMkLst>
      </pc:sldChg>
      <pc:sldChg chg="addCm">
        <pc:chgData name="won soyoung" userId="30824b788559e4f0" providerId="LiveId" clId="{9D789204-5ECF-474C-B32C-4A4ABF156469}" dt="2022-08-31T07:48:52.723" v="43"/>
        <pc:sldMkLst>
          <pc:docMk/>
          <pc:sldMk cId="1210073298" sldId="3185"/>
        </pc:sldMkLst>
      </pc:sldChg>
      <pc:sldChg chg="addCm">
        <pc:chgData name="won soyoung" userId="30824b788559e4f0" providerId="LiveId" clId="{9D789204-5ECF-474C-B32C-4A4ABF156469}" dt="2022-08-31T07:49:06.497" v="45"/>
        <pc:sldMkLst>
          <pc:docMk/>
          <pc:sldMk cId="2416277594" sldId="3186"/>
        </pc:sldMkLst>
      </pc:sldChg>
      <pc:sldChg chg="addCm">
        <pc:chgData name="won soyoung" userId="30824b788559e4f0" providerId="LiveId" clId="{9D789204-5ECF-474C-B32C-4A4ABF156469}" dt="2022-08-31T07:48:59.178" v="44"/>
        <pc:sldMkLst>
          <pc:docMk/>
          <pc:sldMk cId="3978376681" sldId="318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0824b788559e4f0/ACL/06.&#47112;&#51060;&#51200;%20&#45824;&#51600;&#47553;%20&#49884;&#49828;&#53596;%20&#44160;&#51613;&#50857;%20&#53328;&#48652;&#50948;&#49457;/02.%20&#49884;&#49828;&#53596;/05.%20&#54644;&#49437;/04.%20Laser%20Detect/03.%20power%5eJ%20voltage%5eJ%20current/Laser%20power%20data/20220328%20Laser%20power_&#54588;&#53356;&#54028;&#50892;&#51221;&#4837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0824b788559e4f0/ACL/06.&#47112;&#51060;&#51200;%20&#45824;&#51600;&#47553;%20&#49884;&#49828;&#53596;%20&#44160;&#51613;&#50857;%20&#53328;&#48652;&#50948;&#49457;/02.%20&#49884;&#49828;&#53596;/05.%20&#54644;&#49437;/04.%20Laser%20Detect/03.%20power%5eJ%20voltage%5eJ%20current/Laser%20power%20data/20220328%20Laser%20power_&#54588;&#53356;&#54028;&#50892;&#51221;&#4837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0824b788559e4f0/ACL/06.&#47112;&#51060;&#51200;%20&#45824;&#51600;&#47553;%20&#49884;&#49828;&#53596;%20&#44160;&#51613;&#50857;%20&#53328;&#48652;&#50948;&#49457;/02.%20&#49884;&#49828;&#53596;/05.%20&#54644;&#49437;/04.%20Laser%20Detect/03.%20power%5eJ%20voltage%5eJ%20current/Laser%20power%20data/20220328%20Laser%20power_&#54588;&#53356;&#54028;&#50892;&#51221;&#4837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0824b788559e4f0/ACL/06.&#47112;&#51060;&#51200;%20&#45824;&#51600;&#47553;%20&#49884;&#49828;&#53596;%20&#44160;&#51613;&#50857;%20&#53328;&#48652;&#50948;&#49457;/02.%20&#49884;&#49828;&#53596;/05.%20&#54644;&#49437;/04.%20Laser%20Detect/03.%20power%5eJ%20voltage%5eJ%20current/Laser%20power%20data/20220328%20Laser%20power_&#54588;&#53356;&#54028;&#50892;&#51221;&#4837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0824b788559e4f0/ACL/06.&#47112;&#51060;&#51200;%20&#45824;&#51600;&#47553;%20&#49884;&#49828;&#53596;%20&#44160;&#51613;&#50857;%20&#53328;&#48652;&#50948;&#49457;/02.%20&#49884;&#49828;&#53596;/05.%20&#54644;&#49437;/04.%20Laser%20Detect/03.%20power%5eJ%20voltage%5eJ%20current/Laser%20power%20data/20220328%20Laser%20power_&#54588;&#53356;&#54028;&#50892;&#51221;&#48372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dk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pPr>
            <a:r>
              <a:rPr lang="en-US"/>
              <a:t>SLR Laser Energy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dk1"/>
              </a:solidFill>
              <a:latin typeface="times" panose="02020603050405020304" pitchFamily="18" charset="0"/>
              <a:ea typeface="+mn-ea"/>
              <a:cs typeface="times" panose="02020603050405020304" pitchFamily="18" charset="0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'[20220328 Laser power_피크파워정보.xlsx]20220316 1064 Laser power'!$G$1</c:f>
              <c:strCache>
                <c:ptCount val="1"/>
                <c:pt idx="0">
                  <c:v>1064 nm Energy[J/m^2]</c:v>
                </c:pt>
              </c:strCache>
            </c:strRef>
          </c:tx>
          <c:spPr>
            <a:ln w="19050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/>
            </c:spPr>
          </c:marker>
          <c:xVal>
            <c:numRef>
              <c:f>'[20220328 Laser power_피크파워정보.xlsx]20220316 1064 Laser power'!$B$2:$B$37</c:f>
              <c:numCache>
                <c:formatCode>General</c:formatCode>
                <c:ptCount val="3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</c:numCache>
            </c:numRef>
          </c:xVal>
          <c:yVal>
            <c:numRef>
              <c:f>'[20220328 Laser power_피크파워정보.xlsx]20220316 1064 Laser power'!$G$2:$G$37</c:f>
              <c:numCache>
                <c:formatCode>General</c:formatCode>
                <c:ptCount val="36"/>
                <c:pt idx="0">
                  <c:v>2.4860689568896501E-3</c:v>
                </c:pt>
                <c:pt idx="1">
                  <c:v>2.4825319892026201E-3</c:v>
                </c:pt>
                <c:pt idx="2">
                  <c:v>2.4719373920744801E-3</c:v>
                </c:pt>
                <c:pt idx="3">
                  <c:v>2.4543340446573701E-3</c:v>
                </c:pt>
                <c:pt idx="4">
                  <c:v>2.4298032836766099E-3</c:v>
                </c:pt>
                <c:pt idx="5">
                  <c:v>2.39845871168364E-3</c:v>
                </c:pt>
                <c:pt idx="6">
                  <c:v>2.3604459307549402E-3</c:v>
                </c:pt>
                <c:pt idx="7">
                  <c:v>2.3159422039129201E-3</c:v>
                </c:pt>
                <c:pt idx="8">
                  <c:v>2.2651560473897102E-3</c:v>
                </c:pt>
                <c:pt idx="9">
                  <c:v>2.2083267578601501E-3</c:v>
                </c:pt>
                <c:pt idx="10">
                  <c:v>2.1457238799899902E-3</c:v>
                </c:pt>
                <c:pt idx="11">
                  <c:v>2.0776466211426198E-3</c:v>
                </c:pt>
                <c:pt idx="12">
                  <c:v>2.0044232219447399E-3</c:v>
                </c:pt>
                <c:pt idx="13">
                  <c:v>1.9264102937286999E-3</c:v>
                </c:pt>
                <c:pt idx="14">
                  <c:v>1.84399213677362E-3</c:v>
                </c:pt>
                <c:pt idx="15">
                  <c:v>1.7575800569168999E-3</c:v>
                </c:pt>
                <c:pt idx="16">
                  <c:v>1.66761170269958E-3</c:v>
                </c:pt>
                <c:pt idx="17">
                  <c:v>1.5745504509788099E-3</c:v>
                </c:pt>
                <c:pt idx="18">
                  <c:v>1.47888487616899E-3</c:v>
                </c:pt>
                <c:pt idx="19">
                  <c:v>1.38112834726299E-3</c:v>
                </c:pt>
                <c:pt idx="20">
                  <c:v>1.28181880782728E-3</c:v>
                </c:pt>
                <c:pt idx="21">
                  <c:v>1.18151880743637E-3</c:v>
                </c:pt>
                <c:pt idx="22">
                  <c:v>1.08081586836664E-3</c:v>
                </c:pt>
                <c:pt idx="23">
                  <c:v>9.8032328790678106E-4</c:v>
                </c:pt>
                <c:pt idx="24">
                  <c:v>8.8068149185405403E-4</c:v>
                </c:pt>
                <c:pt idx="25">
                  <c:v>7.8256006286937004E-4</c:v>
                </c:pt>
                <c:pt idx="26">
                  <c:v>6.8666055609687001E-4</c:v>
                </c:pt>
                <c:pt idx="27">
                  <c:v>5.9372015897612301E-4</c:v>
                </c:pt>
                <c:pt idx="28">
                  <c:v>5.0451610365505404E-4</c:v>
                </c:pt>
                <c:pt idx="29">
                  <c:v>4.19870405100155E-4</c:v>
                </c:pt>
                <c:pt idx="30">
                  <c:v>3.4065380034734298E-4</c:v>
                </c:pt>
                <c:pt idx="31">
                  <c:v>2.6778638665722197E-4</c:v>
                </c:pt>
                <c:pt idx="32">
                  <c:v>2.02229855887355E-4</c:v>
                </c:pt>
                <c:pt idx="33">
                  <c:v>1.4496157314904001E-4</c:v>
                </c:pt>
                <c:pt idx="34" formatCode="0.00E+00">
                  <c:v>9.6913127782566401E-5</c:v>
                </c:pt>
                <c:pt idx="35" formatCode="0.00E+00">
                  <c:v>5.8845564074916899E-5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BF0-4A9E-8AF8-1C1663A2ECE8}"/>
            </c:ext>
          </c:extLst>
        </c:ser>
        <c:ser>
          <c:idx val="2"/>
          <c:order val="1"/>
          <c:tx>
            <c:strRef>
              <c:f>'[20220328 Laser power_피크파워정보.xlsx]20220316 532 Laser power'!$G$1</c:f>
              <c:strCache>
                <c:ptCount val="1"/>
                <c:pt idx="0">
                  <c:v>532 nm Energy[J/m^2]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'[20220328 Laser power_피크파워정보.xlsx]20220316 532 Laser power'!$B$2:$B$37</c:f>
              <c:numCache>
                <c:formatCode>General</c:formatCode>
                <c:ptCount val="3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</c:numCache>
            </c:numRef>
          </c:xVal>
          <c:yVal>
            <c:numRef>
              <c:f>'[20220328 Laser power_피크파워정보.xlsx]20220316 532 Laser power'!$G$2:$G$37</c:f>
              <c:numCache>
                <c:formatCode>0.00E+00</c:formatCode>
                <c:ptCount val="36"/>
                <c:pt idx="0">
                  <c:v>6.0731425080007801E-6</c:v>
                </c:pt>
                <c:pt idx="1">
                  <c:v>6.0636442926061597E-6</c:v>
                </c:pt>
                <c:pt idx="2">
                  <c:v>6.03520232365686E-6</c:v>
                </c:pt>
                <c:pt idx="3">
                  <c:v>5.9879744128796099E-6</c:v>
                </c:pt>
                <c:pt idx="4">
                  <c:v>5.9222228482276703E-6</c:v>
                </c:pt>
                <c:pt idx="5">
                  <c:v>5.83831330234481E-6</c:v>
                </c:pt>
                <c:pt idx="6">
                  <c:v>5.73671331618239E-6</c:v>
                </c:pt>
                <c:pt idx="7">
                  <c:v>5.6179903696996597E-6</c:v>
                </c:pt>
                <c:pt idx="8">
                  <c:v>5.4828095552234196E-6</c:v>
                </c:pt>
                <c:pt idx="9">
                  <c:v>5.33193087288725E-6</c:v>
                </c:pt>
                <c:pt idx="10">
                  <c:v>5.1662061716716101E-6</c:v>
                </c:pt>
                <c:pt idx="11">
                  <c:v>4.9865757639979803E-6</c:v>
                </c:pt>
                <c:pt idx="12">
                  <c:v>4.7940647466770599E-6</c:v>
                </c:pt>
                <c:pt idx="13">
                  <c:v>4.5897790663732999E-6</c:v>
                </c:pt>
                <c:pt idx="14">
                  <c:v>4.37490137373035E-6</c:v>
                </c:pt>
                <c:pt idx="15">
                  <c:v>4.1506867170151296E-6</c:v>
                </c:pt>
                <c:pt idx="16">
                  <c:v>3.9184581336792903E-6</c:v>
                </c:pt>
                <c:pt idx="17">
                  <c:v>3.6796022066453701E-6</c:v>
                </c:pt>
                <c:pt idx="18">
                  <c:v>3.4355646613302999E-6</c:v>
                </c:pt>
                <c:pt idx="19">
                  <c:v>3.1878460891003399E-6</c:v>
                </c:pt>
                <c:pt idx="20">
                  <c:v>2.9379978922155602E-6</c:v>
                </c:pt>
                <c:pt idx="21">
                  <c:v>2.6876185526879401E-6</c:v>
                </c:pt>
                <c:pt idx="22">
                  <c:v>2.4383503295328502E-6</c:v>
                </c:pt>
                <c:pt idx="23">
                  <c:v>2.1918764793772901E-6</c:v>
                </c:pt>
                <c:pt idx="24">
                  <c:v>1.9499190627394399E-6</c:v>
                </c:pt>
                <c:pt idx="25">
                  <c:v>1.7142373215107501E-6</c:v>
                </c:pt>
                <c:pt idx="26">
                  <c:v>1.48662645453002E-6</c:v>
                </c:pt>
                <c:pt idx="27">
                  <c:v>1.2689163105748299E-6</c:v>
                </c:pt>
                <c:pt idx="28">
                  <c:v>1.06296894380945E-6</c:v>
                </c:pt>
                <c:pt idx="29">
                  <c:v>8.7067293239099596E-7</c:v>
                </c:pt>
                <c:pt idx="30">
                  <c:v>6.9393050574965005E-7</c:v>
                </c:pt>
                <c:pt idx="31">
                  <c:v>5.3463031882557803E-7</c:v>
                </c:pt>
                <c:pt idx="32">
                  <c:v>3.94593383861086E-7</c:v>
                </c:pt>
                <c:pt idx="33">
                  <c:v>2.75471416456671E-7</c:v>
                </c:pt>
                <c:pt idx="34">
                  <c:v>1.7856579511557599E-7</c:v>
                </c:pt>
                <c:pt idx="35">
                  <c:v>1.04525739775972E-7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BF0-4A9E-8AF8-1C1663A2EC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2132431"/>
        <c:axId val="532129935"/>
      </c:scatterChart>
      <c:valAx>
        <c:axId val="5321324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pPr>
                <a:r>
                  <a:rPr lang="en-US"/>
                  <a:t>Zenith (degree)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times" panose="02020603050405020304" pitchFamily="18" charset="0"/>
                  <a:ea typeface="+mn-ea"/>
                  <a:cs typeface="times" panose="02020603050405020304" pitchFamily="18" charset="0"/>
                </a:defRPr>
              </a:pPr>
              <a:endParaRPr lang="ko-K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pPr>
            <a:endParaRPr lang="ko-KR"/>
          </a:p>
        </c:txPr>
        <c:crossAx val="532129935"/>
        <c:crosses val="autoZero"/>
        <c:crossBetween val="midCat"/>
      </c:valAx>
      <c:valAx>
        <c:axId val="532129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pPr>
                <a:r>
                  <a:rPr lang="en-US"/>
                  <a:t>Energy (J/m^2)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times" panose="02020603050405020304" pitchFamily="18" charset="0"/>
                  <a:ea typeface="+mn-ea"/>
                  <a:cs typeface="times" panose="02020603050405020304" pitchFamily="18" charset="0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pPr>
            <a:endParaRPr lang="ko-KR"/>
          </a:p>
        </c:txPr>
        <c:crossAx val="53213243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times" panose="02020603050405020304" pitchFamily="18" charset="0"/>
              <a:ea typeface="+mn-ea"/>
              <a:cs typeface="times" panose="02020603050405020304" pitchFamily="18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dk1"/>
          </a:solidFill>
          <a:latin typeface="times" panose="02020603050405020304" pitchFamily="18" charset="0"/>
          <a:ea typeface="+mn-ea"/>
          <a:cs typeface="times" panose="02020603050405020304" pitchFamily="18" charset="0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pPr>
            <a:r>
              <a:rPr lang="en-US"/>
              <a:t>SLR Peak power 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" panose="02020603050405020304" pitchFamily="18" charset="0"/>
              <a:ea typeface="+mn-ea"/>
              <a:cs typeface="times" panose="02020603050405020304" pitchFamily="18" charset="0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2"/>
          <c:order val="0"/>
          <c:tx>
            <c:strRef>
              <c:f>'[20220328 Laser power_피크파워정보.xlsx]20220316 1064 Laser power'!$K$1</c:f>
              <c:strCache>
                <c:ptCount val="1"/>
                <c:pt idx="0">
                  <c:v>1064 nm Peak Power[W/m^2]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'[20220328 Laser power_피크파워정보.xlsx]20220316 1064 Laser power'!$B$2:$B$37</c:f>
              <c:numCache>
                <c:formatCode>General</c:formatCode>
                <c:ptCount val="3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</c:numCache>
            </c:numRef>
          </c:xVal>
          <c:yVal>
            <c:numRef>
              <c:f>'[20220328 Laser power_피크파워정보.xlsx]20220316 1064 Laser power'!$K$2:$K$37</c:f>
              <c:numCache>
                <c:formatCode>General</c:formatCode>
                <c:ptCount val="36"/>
                <c:pt idx="0">
                  <c:v>1243034.47844482</c:v>
                </c:pt>
                <c:pt idx="1">
                  <c:v>1241265.99460131</c:v>
                </c:pt>
                <c:pt idx="2">
                  <c:v>1235968.6960372399</c:v>
                </c:pt>
                <c:pt idx="3">
                  <c:v>1227167.0223286799</c:v>
                </c:pt>
                <c:pt idx="4">
                  <c:v>1214901.6418382998</c:v>
                </c:pt>
                <c:pt idx="5">
                  <c:v>1199229.3558418199</c:v>
                </c:pt>
                <c:pt idx="6">
                  <c:v>1180222.96537747</c:v>
                </c:pt>
                <c:pt idx="7">
                  <c:v>1157971.1019564599</c:v>
                </c:pt>
                <c:pt idx="8">
                  <c:v>1132578.02369485</c:v>
                </c:pt>
                <c:pt idx="9">
                  <c:v>1104163.37893007</c:v>
                </c:pt>
                <c:pt idx="10">
                  <c:v>1072861.9399949901</c:v>
                </c:pt>
                <c:pt idx="11">
                  <c:v>1038823.3105713099</c:v>
                </c:pt>
                <c:pt idx="12">
                  <c:v>1002211.6109723699</c:v>
                </c:pt>
                <c:pt idx="13">
                  <c:v>963205.146864351</c:v>
                </c:pt>
                <c:pt idx="14">
                  <c:v>921996.0683868099</c:v>
                </c:pt>
                <c:pt idx="15">
                  <c:v>878790.02845845395</c:v>
                </c:pt>
                <c:pt idx="16">
                  <c:v>833805.85134979093</c:v>
                </c:pt>
                <c:pt idx="17">
                  <c:v>787275.22548940487</c:v>
                </c:pt>
                <c:pt idx="18">
                  <c:v>739442.43808449595</c:v>
                </c:pt>
                <c:pt idx="19">
                  <c:v>690564.17363149801</c:v>
                </c:pt>
                <c:pt idx="20">
                  <c:v>640909.40391364193</c:v>
                </c:pt>
                <c:pt idx="21">
                  <c:v>590759.40371818689</c:v>
                </c:pt>
                <c:pt idx="22">
                  <c:v>540407.93418332189</c:v>
                </c:pt>
                <c:pt idx="23">
                  <c:v>490161.64395339094</c:v>
                </c:pt>
                <c:pt idx="24">
                  <c:v>440340.74592702696</c:v>
                </c:pt>
                <c:pt idx="25">
                  <c:v>391280.03143468499</c:v>
                </c:pt>
                <c:pt idx="26">
                  <c:v>343330.27804843499</c:v>
                </c:pt>
                <c:pt idx="27">
                  <c:v>296860.07948806102</c:v>
                </c:pt>
                <c:pt idx="28">
                  <c:v>252258.051827527</c:v>
                </c:pt>
                <c:pt idx="29">
                  <c:v>209935.20255007697</c:v>
                </c:pt>
                <c:pt idx="30">
                  <c:v>170326.90017367099</c:v>
                </c:pt>
                <c:pt idx="31">
                  <c:v>133893.19332861097</c:v>
                </c:pt>
                <c:pt idx="32">
                  <c:v>101114.92794367699</c:v>
                </c:pt>
                <c:pt idx="33">
                  <c:v>72480.786574520302</c:v>
                </c:pt>
                <c:pt idx="34">
                  <c:v>48456.5638912832</c:v>
                </c:pt>
                <c:pt idx="35">
                  <c:v>29422.782037458397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375-4B81-A0AA-D86FB6575B3C}"/>
            </c:ext>
          </c:extLst>
        </c:ser>
        <c:ser>
          <c:idx val="0"/>
          <c:order val="1"/>
          <c:tx>
            <c:strRef>
              <c:f>'[20220328 Laser power_피크파워정보.xlsx]20220316 532 Laser power'!$K$1</c:f>
              <c:strCache>
                <c:ptCount val="1"/>
                <c:pt idx="0">
                  <c:v>532 nm Peak Power[W/m^2]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'[20220328 Laser power_피크파워정보.xlsx]20220316 532 Laser power'!$B$2:$B$37</c:f>
              <c:numCache>
                <c:formatCode>General</c:formatCode>
                <c:ptCount val="3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</c:numCache>
            </c:numRef>
          </c:xVal>
          <c:yVal>
            <c:numRef>
              <c:f>'[20220328 Laser power_피크파워정보.xlsx]20220316 532 Laser power'!$K$2:$K$37</c:f>
              <c:numCache>
                <c:formatCode>General</c:formatCode>
                <c:ptCount val="36"/>
                <c:pt idx="0">
                  <c:v>151828.56270001951</c:v>
                </c:pt>
                <c:pt idx="1">
                  <c:v>151591.10731515399</c:v>
                </c:pt>
                <c:pt idx="2">
                  <c:v>150880.0580914215</c:v>
                </c:pt>
                <c:pt idx="3">
                  <c:v>149699.36032199001</c:v>
                </c:pt>
                <c:pt idx="4">
                  <c:v>148055.57120569199</c:v>
                </c:pt>
                <c:pt idx="5">
                  <c:v>145957.83255861999</c:v>
                </c:pt>
                <c:pt idx="6">
                  <c:v>143417.83290456003</c:v>
                </c:pt>
                <c:pt idx="7">
                  <c:v>140449.75924249151</c:v>
                </c:pt>
                <c:pt idx="8">
                  <c:v>137070.2388805855</c:v>
                </c:pt>
                <c:pt idx="9">
                  <c:v>133298.27182218101</c:v>
                </c:pt>
                <c:pt idx="10">
                  <c:v>129155.15429179001</c:v>
                </c:pt>
                <c:pt idx="11">
                  <c:v>124664.39409994951</c:v>
                </c:pt>
                <c:pt idx="12">
                  <c:v>119851.6186669265</c:v>
                </c:pt>
                <c:pt idx="13">
                  <c:v>114744.4766593325</c:v>
                </c:pt>
                <c:pt idx="14">
                  <c:v>109372.53434325851</c:v>
                </c:pt>
                <c:pt idx="15">
                  <c:v>103767.16792537802</c:v>
                </c:pt>
                <c:pt idx="16">
                  <c:v>97961.453341982007</c:v>
                </c:pt>
                <c:pt idx="17">
                  <c:v>91990.055166134</c:v>
                </c:pt>
                <c:pt idx="18">
                  <c:v>85889.116533257504</c:v>
                </c:pt>
                <c:pt idx="19">
                  <c:v>79696.152227508501</c:v>
                </c:pt>
                <c:pt idx="20">
                  <c:v>73449.947305389011</c:v>
                </c:pt>
                <c:pt idx="21">
                  <c:v>67190.463817198513</c:v>
                </c:pt>
                <c:pt idx="22">
                  <c:v>60958.758238321003</c:v>
                </c:pt>
                <c:pt idx="23">
                  <c:v>54796.911984432001</c:v>
                </c:pt>
                <c:pt idx="24">
                  <c:v>48747.9765684862</c:v>
                </c:pt>
                <c:pt idx="25">
                  <c:v>42855.933037768948</c:v>
                </c:pt>
                <c:pt idx="26">
                  <c:v>37165.661363250554</c:v>
                </c:pt>
                <c:pt idx="27">
                  <c:v>31722.907764370852</c:v>
                </c:pt>
                <c:pt idx="28">
                  <c:v>26574.223595236253</c:v>
                </c:pt>
                <c:pt idx="29">
                  <c:v>21766.8233097749</c:v>
                </c:pt>
                <c:pt idx="30">
                  <c:v>17348.262643741251</c:v>
                </c:pt>
                <c:pt idx="31">
                  <c:v>13365.757970639452</c:v>
                </c:pt>
                <c:pt idx="32">
                  <c:v>9864.834596527151</c:v>
                </c:pt>
                <c:pt idx="33">
                  <c:v>6886.7854114167503</c:v>
                </c:pt>
                <c:pt idx="34">
                  <c:v>4464.1448778894155</c:v>
                </c:pt>
                <c:pt idx="35">
                  <c:v>2613.1434943993199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375-4B81-A0AA-D86FB6575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10905903"/>
        <c:axId val="1910906319"/>
      </c:scatterChart>
      <c:valAx>
        <c:axId val="19109059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pPr>
                <a:r>
                  <a:rPr lang="en-US"/>
                  <a:t>Zenith (degree)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anose="02020603050405020304" pitchFamily="18" charset="0"/>
                  <a:ea typeface="+mn-ea"/>
                  <a:cs typeface="times" panose="02020603050405020304" pitchFamily="18" charset="0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pPr>
            <a:endParaRPr lang="ko-KR"/>
          </a:p>
        </c:txPr>
        <c:crossAx val="1910906319"/>
        <c:crosses val="autoZero"/>
        <c:crossBetween val="midCat"/>
      </c:valAx>
      <c:valAx>
        <c:axId val="1910906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pPr>
                <a:r>
                  <a:rPr lang="en-US"/>
                  <a:t>Peak power (W/m^2)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anose="02020603050405020304" pitchFamily="18" charset="0"/>
                  <a:ea typeface="+mn-ea"/>
                  <a:cs typeface="times" panose="02020603050405020304" pitchFamily="18" charset="0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pPr>
            <a:endParaRPr lang="ko-KR"/>
          </a:p>
        </c:txPr>
        <c:crossAx val="19109059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" panose="02020603050405020304" pitchFamily="18" charset="0"/>
              <a:ea typeface="+mn-ea"/>
              <a:cs typeface="times" panose="02020603050405020304" pitchFamily="18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latin typeface="times" panose="02020603050405020304" pitchFamily="18" charset="0"/>
          <a:cs typeface="times" panose="02020603050405020304" pitchFamily="18" charset="0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pPr>
            <a:r>
              <a:rPr lang="en-US"/>
              <a:t>SLR Laser Average power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" panose="02020603050405020304" pitchFamily="18" charset="0"/>
              <a:ea typeface="+mn-ea"/>
              <a:cs typeface="times" panose="02020603050405020304" pitchFamily="18" charset="0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'[20220328 Laser power_피크파워정보.xlsx]20220316 1064 Laser power'!$Q$1</c:f>
              <c:strCache>
                <c:ptCount val="1"/>
                <c:pt idx="0">
                  <c:v>1064 nm Average Power [W/m^2]</c:v>
                </c:pt>
              </c:strCache>
            </c:strRef>
          </c:tx>
          <c:spPr>
            <a:ln w="19050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/>
            </c:spPr>
          </c:marker>
          <c:xVal>
            <c:numRef>
              <c:f>'[20220328 Laser power_피크파워정보.xlsx]20220316 1064 Laser power'!$B$2:$B$37</c:f>
              <c:numCache>
                <c:formatCode>General</c:formatCode>
                <c:ptCount val="3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</c:numCache>
            </c:numRef>
          </c:xVal>
          <c:yVal>
            <c:numRef>
              <c:f>'[20220328 Laser power_피크파워정보.xlsx]20220316 1064 Laser power'!$Q$2:$Q$37</c:f>
              <c:numCache>
                <c:formatCode>General</c:formatCode>
                <c:ptCount val="36"/>
                <c:pt idx="0">
                  <c:v>1.24303447844482E-2</c:v>
                </c:pt>
                <c:pt idx="1">
                  <c:v>1.2412659946013101E-2</c:v>
                </c:pt>
                <c:pt idx="2">
                  <c:v>1.2359686960372401E-2</c:v>
                </c:pt>
                <c:pt idx="3">
                  <c:v>1.2271670223286801E-2</c:v>
                </c:pt>
                <c:pt idx="4">
                  <c:v>1.2149016418383E-2</c:v>
                </c:pt>
                <c:pt idx="5">
                  <c:v>1.19922935584182E-2</c:v>
                </c:pt>
                <c:pt idx="6">
                  <c:v>1.1802229653774702E-2</c:v>
                </c:pt>
                <c:pt idx="7">
                  <c:v>1.1579711019564599E-2</c:v>
                </c:pt>
                <c:pt idx="8">
                  <c:v>1.1325780236948501E-2</c:v>
                </c:pt>
                <c:pt idx="9">
                  <c:v>1.10416337893007E-2</c:v>
                </c:pt>
                <c:pt idx="10">
                  <c:v>1.0728619399949901E-2</c:v>
                </c:pt>
                <c:pt idx="11">
                  <c:v>1.0388233105713098E-2</c:v>
                </c:pt>
                <c:pt idx="12">
                  <c:v>1.00221161097237E-2</c:v>
                </c:pt>
                <c:pt idx="13">
                  <c:v>9.6320514686435103E-3</c:v>
                </c:pt>
                <c:pt idx="14">
                  <c:v>9.2199606838681003E-3</c:v>
                </c:pt>
                <c:pt idx="15">
                  <c:v>8.7879002845845395E-3</c:v>
                </c:pt>
                <c:pt idx="16">
                  <c:v>8.3380585134979097E-3</c:v>
                </c:pt>
                <c:pt idx="17">
                  <c:v>7.8727522548940505E-3</c:v>
                </c:pt>
                <c:pt idx="18">
                  <c:v>7.3944243808449599E-3</c:v>
                </c:pt>
                <c:pt idx="19">
                  <c:v>6.90564173631498E-3</c:v>
                </c:pt>
                <c:pt idx="20">
                  <c:v>6.4090940391364195E-3</c:v>
                </c:pt>
                <c:pt idx="21">
                  <c:v>5.9075940371818699E-3</c:v>
                </c:pt>
                <c:pt idx="22">
                  <c:v>5.4040793418332197E-3</c:v>
                </c:pt>
                <c:pt idx="23">
                  <c:v>4.9016164395339094E-3</c:v>
                </c:pt>
                <c:pt idx="24">
                  <c:v>4.4034074592702701E-3</c:v>
                </c:pt>
                <c:pt idx="25">
                  <c:v>3.9128003143468499E-3</c:v>
                </c:pt>
                <c:pt idx="26">
                  <c:v>3.4333027804843499E-3</c:v>
                </c:pt>
                <c:pt idx="27">
                  <c:v>2.9686007948806102E-3</c:v>
                </c:pt>
                <c:pt idx="28">
                  <c:v>2.5225805182752703E-3</c:v>
                </c:pt>
                <c:pt idx="29">
                  <c:v>2.09935202550077E-3</c:v>
                </c:pt>
                <c:pt idx="30">
                  <c:v>1.70326900173671E-3</c:v>
                </c:pt>
                <c:pt idx="31">
                  <c:v>1.3389319332861099E-3</c:v>
                </c:pt>
                <c:pt idx="32">
                  <c:v>1.01114927943677E-3</c:v>
                </c:pt>
                <c:pt idx="33">
                  <c:v>7.2480786574520301E-4</c:v>
                </c:pt>
                <c:pt idx="34">
                  <c:v>4.8456563891283199E-4</c:v>
                </c:pt>
                <c:pt idx="35">
                  <c:v>2.9422782037458401E-4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326-4C75-B3C2-1245E4258A30}"/>
            </c:ext>
          </c:extLst>
        </c:ser>
        <c:ser>
          <c:idx val="1"/>
          <c:order val="1"/>
          <c:tx>
            <c:strRef>
              <c:f>'[20220328 Laser power_피크파워정보.xlsx]20220316 532 Laser power'!$Q$1</c:f>
              <c:strCache>
                <c:ptCount val="1"/>
                <c:pt idx="0">
                  <c:v>532 nm Average Power [W/m^2]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'[20220328 Laser power_피크파워정보.xlsx]20220316 532 Laser power'!$B$2:$B$37</c:f>
              <c:numCache>
                <c:formatCode>General</c:formatCode>
                <c:ptCount val="3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</c:numCache>
            </c:numRef>
          </c:xVal>
          <c:yVal>
            <c:numRef>
              <c:f>'[20220328 Laser power_피크파워정보.xlsx]20220316 532 Laser power'!$Q$2:$Q$37</c:f>
              <c:numCache>
                <c:formatCode>0.00E+00</c:formatCode>
                <c:ptCount val="36"/>
                <c:pt idx="0">
                  <c:v>3.6438855048004679E-4</c:v>
                </c:pt>
                <c:pt idx="1">
                  <c:v>3.6381865755636956E-4</c:v>
                </c:pt>
                <c:pt idx="2">
                  <c:v>3.6211213941941161E-4</c:v>
                </c:pt>
                <c:pt idx="3">
                  <c:v>3.5927846477277656E-4</c:v>
                </c:pt>
                <c:pt idx="4">
                  <c:v>3.5533337089366023E-4</c:v>
                </c:pt>
                <c:pt idx="5">
                  <c:v>3.502987981406886E-4</c:v>
                </c:pt>
                <c:pt idx="6">
                  <c:v>3.4420279897094338E-4</c:v>
                </c:pt>
                <c:pt idx="7">
                  <c:v>3.3707942218197959E-4</c:v>
                </c:pt>
                <c:pt idx="8">
                  <c:v>3.2896857331340517E-4</c:v>
                </c:pt>
                <c:pt idx="9">
                  <c:v>3.1991585237323497E-4</c:v>
                </c:pt>
                <c:pt idx="10">
                  <c:v>3.099723703002966E-4</c:v>
                </c:pt>
                <c:pt idx="11">
                  <c:v>2.991945458398788E-4</c:v>
                </c:pt>
                <c:pt idx="12">
                  <c:v>2.8764388480062358E-4</c:v>
                </c:pt>
                <c:pt idx="13">
                  <c:v>2.7538674398239801E-4</c:v>
                </c:pt>
                <c:pt idx="14">
                  <c:v>2.6249408242382102E-4</c:v>
                </c:pt>
                <c:pt idx="15">
                  <c:v>2.4904120302090779E-4</c:v>
                </c:pt>
                <c:pt idx="16">
                  <c:v>2.351074880207574E-4</c:v>
                </c:pt>
                <c:pt idx="17">
                  <c:v>2.207761323987222E-4</c:v>
                </c:pt>
                <c:pt idx="18">
                  <c:v>2.06133879679818E-4</c:v>
                </c:pt>
                <c:pt idx="19">
                  <c:v>1.912707653460204E-4</c:v>
                </c:pt>
                <c:pt idx="20">
                  <c:v>1.7627987353293362E-4</c:v>
                </c:pt>
                <c:pt idx="21">
                  <c:v>1.612571131612764E-4</c:v>
                </c:pt>
                <c:pt idx="22">
                  <c:v>1.46301019771971E-4</c:v>
                </c:pt>
                <c:pt idx="23">
                  <c:v>1.3151258876263741E-4</c:v>
                </c:pt>
                <c:pt idx="24">
                  <c:v>1.1699514376436639E-4</c:v>
                </c:pt>
                <c:pt idx="25">
                  <c:v>1.02854239290645E-4</c:v>
                </c:pt>
                <c:pt idx="26">
                  <c:v>8.9197587271801196E-5</c:v>
                </c:pt>
                <c:pt idx="27">
                  <c:v>7.6134978634489797E-5</c:v>
                </c:pt>
                <c:pt idx="28">
                  <c:v>6.3778136628567006E-5</c:v>
                </c:pt>
                <c:pt idx="29">
                  <c:v>5.2240375943459754E-5</c:v>
                </c:pt>
                <c:pt idx="30">
                  <c:v>4.1635830344979004E-5</c:v>
                </c:pt>
                <c:pt idx="31">
                  <c:v>3.207781912953468E-5</c:v>
                </c:pt>
                <c:pt idx="32">
                  <c:v>2.367560303166516E-5</c:v>
                </c:pt>
                <c:pt idx="33">
                  <c:v>1.6528284987400261E-5</c:v>
                </c:pt>
                <c:pt idx="34">
                  <c:v>1.0713947706934559E-5</c:v>
                </c:pt>
                <c:pt idx="35">
                  <c:v>6.2715443865583199E-6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326-4C75-B3C2-1245E4258A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5180063"/>
        <c:axId val="785194207"/>
      </c:scatterChart>
      <c:valAx>
        <c:axId val="7851800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pPr>
                <a:r>
                  <a:rPr lang="en-US"/>
                  <a:t>Zenith (degree)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anose="02020603050405020304" pitchFamily="18" charset="0"/>
                  <a:ea typeface="+mn-ea"/>
                  <a:cs typeface="times" panose="02020603050405020304" pitchFamily="18" charset="0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pPr>
            <a:endParaRPr lang="ko-KR"/>
          </a:p>
        </c:txPr>
        <c:crossAx val="785194207"/>
        <c:crosses val="autoZero"/>
        <c:crossBetween val="midCat"/>
      </c:valAx>
      <c:valAx>
        <c:axId val="785194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pPr>
                <a:r>
                  <a:rPr lang="en-US"/>
                  <a:t>Average power (W/m^2)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anose="02020603050405020304" pitchFamily="18" charset="0"/>
                  <a:ea typeface="+mn-ea"/>
                  <a:cs typeface="times" panose="02020603050405020304" pitchFamily="18" charset="0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pPr>
            <a:endParaRPr lang="ko-KR"/>
          </a:p>
        </c:txPr>
        <c:crossAx val="7851800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" panose="02020603050405020304" pitchFamily="18" charset="0"/>
              <a:ea typeface="+mn-ea"/>
              <a:cs typeface="times" panose="02020603050405020304" pitchFamily="18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latin typeface="times" panose="02020603050405020304" pitchFamily="18" charset="0"/>
          <a:cs typeface="times" panose="02020603050405020304" pitchFamily="18" charset="0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532 nm I_ph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'[20220328 Laser power_피크파워정보.xlsx]20220316 532 Laser power'!$N$1</c:f>
              <c:strCache>
                <c:ptCount val="1"/>
                <c:pt idx="0">
                  <c:v>I_ph (Peak power) [A]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'[20220328 Laser power_피크파워정보.xlsx]20220316 532 Laser power'!$B$2:$B$37</c:f>
              <c:numCache>
                <c:formatCode>General</c:formatCode>
                <c:ptCount val="3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</c:numCache>
            </c:numRef>
          </c:xVal>
          <c:yVal>
            <c:numRef>
              <c:f>'[20220328 Laser power_피크파워정보.xlsx]20220316 532 Laser power'!$N$2:$N$37</c:f>
              <c:numCache>
                <c:formatCode>General</c:formatCode>
                <c:ptCount val="36"/>
                <c:pt idx="0">
                  <c:v>0.25136047025994168</c:v>
                </c:pt>
                <c:pt idx="1">
                  <c:v>0.25096734991325509</c:v>
                </c:pt>
                <c:pt idx="2">
                  <c:v>0.24979016912410085</c:v>
                </c:pt>
                <c:pt idx="3">
                  <c:v>0.24783545954059821</c:v>
                </c:pt>
                <c:pt idx="4">
                  <c:v>0.24511407696321577</c:v>
                </c:pt>
                <c:pt idx="5">
                  <c:v>0.2416411561673292</c:v>
                </c:pt>
                <c:pt idx="6">
                  <c:v>0.23743604814186459</c:v>
                </c:pt>
                <c:pt idx="7">
                  <c:v>0.2325222402377633</c:v>
                </c:pt>
                <c:pt idx="8">
                  <c:v>0.2269272598709918</c:v>
                </c:pt>
                <c:pt idx="9">
                  <c:v>0.22068256258383614</c:v>
                </c:pt>
                <c:pt idx="10">
                  <c:v>0.21382340543803019</c:v>
                </c:pt>
                <c:pt idx="11">
                  <c:v>0.2063887068966502</c:v>
                </c:pt>
                <c:pt idx="12">
                  <c:v>0.19842089455233958</c:v>
                </c:pt>
                <c:pt idx="13">
                  <c:v>0.18996574228135671</c:v>
                </c:pt>
                <c:pt idx="14">
                  <c:v>0.18107219865053459</c:v>
                </c:pt>
                <c:pt idx="15">
                  <c:v>0.17179220868210193</c:v>
                </c:pt>
                <c:pt idx="16">
                  <c:v>0.1621805313934172</c:v>
                </c:pt>
                <c:pt idx="17">
                  <c:v>0.15229455587670163</c:v>
                </c:pt>
                <c:pt idx="18">
                  <c:v>0.14219411906484286</c:v>
                </c:pt>
                <c:pt idx="19">
                  <c:v>0.13194132873005099</c:v>
                </c:pt>
                <c:pt idx="20">
                  <c:v>0.12160039564971879</c:v>
                </c:pt>
                <c:pt idx="21">
                  <c:v>0.11123747917869503</c:v>
                </c:pt>
                <c:pt idx="22">
                  <c:v>0.10092055055227424</c:v>
                </c:pt>
                <c:pt idx="23">
                  <c:v>9.0719277850330918E-2</c:v>
                </c:pt>
                <c:pt idx="24">
                  <c:v>8.070493520171966E-2</c:v>
                </c:pt>
                <c:pt idx="25">
                  <c:v>7.0950335630100697E-2</c:v>
                </c:pt>
                <c:pt idx="26">
                  <c:v>6.1529780376345503E-2</c:v>
                </c:pt>
                <c:pt idx="27">
                  <c:v>5.2519004802934789E-2</c:v>
                </c:pt>
                <c:pt idx="28">
                  <c:v>4.399507721672296E-2</c:v>
                </c:pt>
                <c:pt idx="29">
                  <c:v>3.6036163722502096E-2</c:v>
                </c:pt>
                <c:pt idx="30">
                  <c:v>2.8720995435750237E-2</c:v>
                </c:pt>
                <c:pt idx="31">
                  <c:v>2.2127741639222299E-2</c:v>
                </c:pt>
                <c:pt idx="32">
                  <c:v>1.6331771961240384E-2</c:v>
                </c:pt>
                <c:pt idx="33">
                  <c:v>1.1401449034416748E-2</c:v>
                </c:pt>
                <c:pt idx="34">
                  <c:v>7.3906354368370045E-3</c:v>
                </c:pt>
                <c:pt idx="35">
                  <c:v>4.3262016443289149E-3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2CB-4D39-9172-E886B52C2AE0}"/>
            </c:ext>
          </c:extLst>
        </c:ser>
        <c:ser>
          <c:idx val="1"/>
          <c:order val="1"/>
          <c:tx>
            <c:strRef>
              <c:f>'[20220328 Laser power_피크파워정보.xlsx]20220316 532 Laser power'!$O$1</c:f>
              <c:strCache>
                <c:ptCount val="1"/>
                <c:pt idx="0">
                  <c:v>I_ph(Earth albedo average) [A]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'[20220328 Laser power_피크파워정보.xlsx]20220316 532 Laser power'!$B$2:$B$37</c:f>
              <c:numCache>
                <c:formatCode>General</c:formatCode>
                <c:ptCount val="3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</c:numCache>
            </c:numRef>
          </c:xVal>
          <c:yVal>
            <c:numRef>
              <c:f>'[20220328 Laser power_피크파워정보.xlsx]20220316 532 Laser power'!$O$2:$O$37</c:f>
              <c:numCache>
                <c:formatCode>General</c:formatCode>
                <c:ptCount val="36"/>
                <c:pt idx="0">
                  <c:v>2.5640999999999999E-4</c:v>
                </c:pt>
                <c:pt idx="1">
                  <c:v>2.5640999999999999E-4</c:v>
                </c:pt>
                <c:pt idx="2">
                  <c:v>2.5640999999999999E-4</c:v>
                </c:pt>
                <c:pt idx="3">
                  <c:v>2.5640999999999999E-4</c:v>
                </c:pt>
                <c:pt idx="4">
                  <c:v>2.5640999999999999E-4</c:v>
                </c:pt>
                <c:pt idx="5">
                  <c:v>2.5640999999999999E-4</c:v>
                </c:pt>
                <c:pt idx="6">
                  <c:v>2.5640999999999999E-4</c:v>
                </c:pt>
                <c:pt idx="7">
                  <c:v>2.5640999999999999E-4</c:v>
                </c:pt>
                <c:pt idx="8">
                  <c:v>2.5640999999999999E-4</c:v>
                </c:pt>
                <c:pt idx="9">
                  <c:v>2.5640999999999999E-4</c:v>
                </c:pt>
                <c:pt idx="10">
                  <c:v>2.5640999999999999E-4</c:v>
                </c:pt>
                <c:pt idx="11">
                  <c:v>2.5640999999999999E-4</c:v>
                </c:pt>
                <c:pt idx="12">
                  <c:v>2.5640999999999999E-4</c:v>
                </c:pt>
                <c:pt idx="13">
                  <c:v>2.5640999999999999E-4</c:v>
                </c:pt>
                <c:pt idx="14">
                  <c:v>2.5640999999999999E-4</c:v>
                </c:pt>
                <c:pt idx="15">
                  <c:v>2.5640999999999999E-4</c:v>
                </c:pt>
                <c:pt idx="16">
                  <c:v>2.5640999999999999E-4</c:v>
                </c:pt>
                <c:pt idx="17">
                  <c:v>2.5640999999999999E-4</c:v>
                </c:pt>
                <c:pt idx="18">
                  <c:v>2.5640999999999999E-4</c:v>
                </c:pt>
                <c:pt idx="19">
                  <c:v>2.5640999999999999E-4</c:v>
                </c:pt>
                <c:pt idx="20">
                  <c:v>2.5640999999999999E-4</c:v>
                </c:pt>
                <c:pt idx="21">
                  <c:v>2.5640999999999999E-4</c:v>
                </c:pt>
                <c:pt idx="22">
                  <c:v>2.5640999999999999E-4</c:v>
                </c:pt>
                <c:pt idx="23">
                  <c:v>2.5640999999999999E-4</c:v>
                </c:pt>
                <c:pt idx="24">
                  <c:v>2.5640999999999999E-4</c:v>
                </c:pt>
                <c:pt idx="25">
                  <c:v>2.5640999999999999E-4</c:v>
                </c:pt>
                <c:pt idx="26">
                  <c:v>2.5640999999999999E-4</c:v>
                </c:pt>
                <c:pt idx="27">
                  <c:v>2.5640999999999999E-4</c:v>
                </c:pt>
                <c:pt idx="28">
                  <c:v>2.5640999999999999E-4</c:v>
                </c:pt>
                <c:pt idx="29">
                  <c:v>2.5640999999999999E-4</c:v>
                </c:pt>
                <c:pt idx="30">
                  <c:v>2.5640999999999999E-4</c:v>
                </c:pt>
                <c:pt idx="31">
                  <c:v>2.5640999999999999E-4</c:v>
                </c:pt>
                <c:pt idx="32">
                  <c:v>2.5640999999999999E-4</c:v>
                </c:pt>
                <c:pt idx="33">
                  <c:v>2.5640999999999999E-4</c:v>
                </c:pt>
                <c:pt idx="34">
                  <c:v>2.5640999999999999E-4</c:v>
                </c:pt>
                <c:pt idx="35">
                  <c:v>2.5640999999999999E-4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2CB-4D39-9172-E886B52C2A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73151"/>
        <c:axId val="7274815"/>
      </c:scatterChart>
      <c:valAx>
        <c:axId val="72731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Zenith[degree]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74815"/>
        <c:crosses val="autoZero"/>
        <c:crossBetween val="midCat"/>
      </c:valAx>
      <c:valAx>
        <c:axId val="7274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I_ph [A]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7315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dk1"/>
          </a:solidFill>
          <a:latin typeface="+mn-lt"/>
          <a:ea typeface="+mn-ea"/>
          <a:cs typeface="+mn-cs"/>
        </a:defRPr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1064 nm I_ph 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'[20220328 Laser power_피크파워정보.xlsx]20220316 1064 Laser power'!$N$1</c:f>
              <c:strCache>
                <c:ptCount val="1"/>
                <c:pt idx="0">
                  <c:v>I_ph(Peak power) [A]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'[20220328 Laser power_피크파워정보.xlsx]20220316 1064 Laser power'!$B$2:$B$37</c:f>
              <c:numCache>
                <c:formatCode>General</c:formatCode>
                <c:ptCount val="3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</c:numCache>
            </c:numRef>
          </c:xVal>
          <c:yVal>
            <c:numRef>
              <c:f>'[20220328 Laser power_피크파워정보.xlsx]20220316 1064 Laser power'!$N$2:$N$37</c:f>
              <c:numCache>
                <c:formatCode>0.00E+00</c:formatCode>
                <c:ptCount val="36"/>
                <c:pt idx="0">
                  <c:v>2.2279382751166948E-2</c:v>
                </c:pt>
                <c:pt idx="1">
                  <c:v>2.2247685538320437E-2</c:v>
                </c:pt>
                <c:pt idx="2">
                  <c:v>2.2152740028519465E-2</c:v>
                </c:pt>
                <c:pt idx="3">
                  <c:v>2.1994984261640638E-2</c:v>
                </c:pt>
                <c:pt idx="4">
                  <c:v>2.1775147152314635E-2</c:v>
                </c:pt>
                <c:pt idx="5">
                  <c:v>2.1494246771547897E-2</c:v>
                </c:pt>
                <c:pt idx="6">
                  <c:v>2.1153587960214545E-2</c:v>
                </c:pt>
                <c:pt idx="7">
                  <c:v>2.0754759294815319E-2</c:v>
                </c:pt>
                <c:pt idx="8">
                  <c:v>2.0299629433471043E-2</c:v>
                </c:pt>
                <c:pt idx="9">
                  <c:v>1.9790342879131041E-2</c:v>
                </c:pt>
                <c:pt idx="10">
                  <c:v>1.9229315207903917E-2</c:v>
                </c:pt>
                <c:pt idx="11">
                  <c:v>1.8619227823840279E-2</c:v>
                </c:pt>
                <c:pt idx="12">
                  <c:v>1.7963022318136172E-2</c:v>
                </c:pt>
                <c:pt idx="13">
                  <c:v>1.7263894531496269E-2</c:v>
                </c:pt>
                <c:pt idx="14">
                  <c:v>1.6525288444420808E-2</c:v>
                </c:pt>
                <c:pt idx="15">
                  <c:v>1.5750890052889165E-2</c:v>
                </c:pt>
                <c:pt idx="16">
                  <c:v>1.4944621428060615E-2</c:v>
                </c:pt>
                <c:pt idx="17">
                  <c:v>1.4110635210323607E-2</c:v>
                </c:pt>
                <c:pt idx="18">
                  <c:v>1.325330985279816E-2</c:v>
                </c:pt>
                <c:pt idx="19">
                  <c:v>1.2377246009964501E-2</c:v>
                </c:pt>
                <c:pt idx="20">
                  <c:v>1.1487264566047315E-2</c:v>
                </c:pt>
                <c:pt idx="21">
                  <c:v>1.0588406916721669E-2</c:v>
                </c:pt>
                <c:pt idx="22">
                  <c:v>9.6859382553097333E-3</c:v>
                </c:pt>
                <c:pt idx="23">
                  <c:v>8.7853547628394205E-3</c:v>
                </c:pt>
                <c:pt idx="24">
                  <c:v>7.8923957376602193E-3</c:v>
                </c:pt>
                <c:pt idx="25">
                  <c:v>7.0130617729353374E-3</c:v>
                </c:pt>
                <c:pt idx="26">
                  <c:v>6.1536399893554646E-3</c:v>
                </c:pt>
                <c:pt idx="27">
                  <c:v>5.3207368332462163E-3</c:v>
                </c:pt>
                <c:pt idx="28">
                  <c:v>4.5213176192511135E-3</c:v>
                </c:pt>
                <c:pt idx="29">
                  <c:v>3.7627489918129037E-3</c:v>
                </c:pt>
                <c:pt idx="30">
                  <c:v>3.0528342275241843E-3</c:v>
                </c:pt>
                <c:pt idx="31">
                  <c:v>2.3998189540778204E-3</c:v>
                </c:pt>
                <c:pt idx="32">
                  <c:v>1.8123215571078381E-3</c:v>
                </c:pt>
                <c:pt idx="33">
                  <c:v>1.2991008811112912E-3</c:v>
                </c:pt>
                <c:pt idx="34">
                  <c:v>8.6850554225250168E-4</c:v>
                </c:pt>
                <c:pt idx="35">
                  <c:v>5.2735578456104338E-4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0DD-4C57-8D64-489951509603}"/>
            </c:ext>
          </c:extLst>
        </c:ser>
        <c:ser>
          <c:idx val="1"/>
          <c:order val="1"/>
          <c:tx>
            <c:strRef>
              <c:f>'[20220328 Laser power_피크파워정보.xlsx]20220316 1064 Laser power'!$O$1</c:f>
              <c:strCache>
                <c:ptCount val="1"/>
                <c:pt idx="0">
                  <c:v>I_ph(Earth albedo average) [A]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'[20220328 Laser power_피크파워정보.xlsx]20220316 1064 Laser power'!$B$2:$B$37</c:f>
              <c:numCache>
                <c:formatCode>General</c:formatCode>
                <c:ptCount val="36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</c:numCache>
            </c:numRef>
          </c:xVal>
          <c:yVal>
            <c:numRef>
              <c:f>'[20220328 Laser power_피크파워정보.xlsx]20220316 1064 Laser power'!$O$2:$O$37</c:f>
              <c:numCache>
                <c:formatCode>General</c:formatCode>
                <c:ptCount val="36"/>
                <c:pt idx="0">
                  <c:v>2.5640999999999999E-4</c:v>
                </c:pt>
                <c:pt idx="1">
                  <c:v>2.5640999999999999E-4</c:v>
                </c:pt>
                <c:pt idx="2">
                  <c:v>2.5640999999999999E-4</c:v>
                </c:pt>
                <c:pt idx="3">
                  <c:v>2.5640999999999999E-4</c:v>
                </c:pt>
                <c:pt idx="4">
                  <c:v>2.5640999999999999E-4</c:v>
                </c:pt>
                <c:pt idx="5">
                  <c:v>2.5640999999999999E-4</c:v>
                </c:pt>
                <c:pt idx="6">
                  <c:v>2.5640999999999999E-4</c:v>
                </c:pt>
                <c:pt idx="7">
                  <c:v>2.5640999999999999E-4</c:v>
                </c:pt>
                <c:pt idx="8">
                  <c:v>2.5640999999999999E-4</c:v>
                </c:pt>
                <c:pt idx="9">
                  <c:v>2.5640999999999999E-4</c:v>
                </c:pt>
                <c:pt idx="10">
                  <c:v>2.5640999999999999E-4</c:v>
                </c:pt>
                <c:pt idx="11">
                  <c:v>2.5640999999999999E-4</c:v>
                </c:pt>
                <c:pt idx="12">
                  <c:v>2.5640999999999999E-4</c:v>
                </c:pt>
                <c:pt idx="13">
                  <c:v>2.5640999999999999E-4</c:v>
                </c:pt>
                <c:pt idx="14">
                  <c:v>2.5640999999999999E-4</c:v>
                </c:pt>
                <c:pt idx="15">
                  <c:v>2.5640999999999999E-4</c:v>
                </c:pt>
                <c:pt idx="16">
                  <c:v>2.5640999999999999E-4</c:v>
                </c:pt>
                <c:pt idx="17">
                  <c:v>2.5640999999999999E-4</c:v>
                </c:pt>
                <c:pt idx="18">
                  <c:v>2.5640999999999999E-4</c:v>
                </c:pt>
                <c:pt idx="19">
                  <c:v>2.5640999999999999E-4</c:v>
                </c:pt>
                <c:pt idx="20">
                  <c:v>2.5640999999999999E-4</c:v>
                </c:pt>
                <c:pt idx="21">
                  <c:v>2.5640999999999999E-4</c:v>
                </c:pt>
                <c:pt idx="22">
                  <c:v>2.5640999999999999E-4</c:v>
                </c:pt>
                <c:pt idx="23">
                  <c:v>2.5640999999999999E-4</c:v>
                </c:pt>
                <c:pt idx="24">
                  <c:v>2.5640999999999999E-4</c:v>
                </c:pt>
                <c:pt idx="25">
                  <c:v>2.5640999999999999E-4</c:v>
                </c:pt>
                <c:pt idx="26">
                  <c:v>2.5640999999999999E-4</c:v>
                </c:pt>
                <c:pt idx="27">
                  <c:v>2.5640999999999999E-4</c:v>
                </c:pt>
                <c:pt idx="28">
                  <c:v>2.5640999999999999E-4</c:v>
                </c:pt>
                <c:pt idx="29">
                  <c:v>2.5640999999999999E-4</c:v>
                </c:pt>
                <c:pt idx="30">
                  <c:v>2.5640999999999999E-4</c:v>
                </c:pt>
                <c:pt idx="31">
                  <c:v>2.5640999999999999E-4</c:v>
                </c:pt>
                <c:pt idx="32">
                  <c:v>2.5640999999999999E-4</c:v>
                </c:pt>
                <c:pt idx="33">
                  <c:v>2.5640999999999999E-4</c:v>
                </c:pt>
                <c:pt idx="34">
                  <c:v>2.5640999999999999E-4</c:v>
                </c:pt>
                <c:pt idx="35">
                  <c:v>2.5640999999999999E-4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0DD-4C57-8D64-4899515096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59391"/>
        <c:axId val="8356895"/>
      </c:scatterChart>
      <c:valAx>
        <c:axId val="83593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Zenith [degree]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356895"/>
        <c:crosses val="autoZero"/>
        <c:crossBetween val="midCat"/>
      </c:valAx>
      <c:valAx>
        <c:axId val="8356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I_ph [A]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35939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dk1"/>
          </a:solidFill>
          <a:latin typeface="+mn-lt"/>
          <a:ea typeface="+mn-ea"/>
          <a:cs typeface="+mn-cs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8B1_79EF07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FFDDA9-32FB-4960-805F-C208E555234D}" authorId="{509E474D-187A-E4A9-2092-F030D4404273}" created="2022-08-31T07:40:54.46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45708151" sldId="2225"/>
      <ac:graphicFrameMk id="11" creationId="{1E7CEB30-BE78-4962-AA69-2D4B76A554B0}"/>
      <ac:tblMk/>
      <ac:tcMk rowId="4081284267" colId="2719041385"/>
      <ac:txMk cp="0" len="6">
        <ac:context len="7" hash="1303659515"/>
      </ac:txMk>
    </ac:txMkLst>
    <p188:pos x="1524669" y="3453540"/>
    <p188:txBody>
      <a:bodyPr/>
      <a:lstStyle/>
      <a:p>
        <a:r>
          <a:rPr lang="ko-KR" altLang="en-US"/>
          <a:t>포함 여부 확인 </a:t>
        </a:r>
      </a:p>
    </p188:txBody>
  </p188:cm>
  <p188:cm id="{018835FA-9A1F-4FF9-860A-CE98019C35EC}" authorId="{509E474D-187A-E4A9-2092-F030D4404273}" created="2022-08-31T07:50:47.1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45708151" sldId="2225"/>
      <ac:graphicFrameMk id="11" creationId="{1E7CEB30-BE78-4962-AA69-2D4B76A554B0}"/>
      <ac:tblMk/>
      <ac:tcMk rowId="1235405283" colId="2719041385"/>
      <ac:txMk cp="0" len="14">
        <ac:context len="15" hash="1397549969"/>
      </ac:txMk>
    </ac:txMkLst>
    <p188:pos x="2488230" y="4426933"/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8B5_70EFB34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4B28ED-95D5-4506-BDC6-46CCDB40D072}" authorId="{509E474D-187A-E4A9-2092-F030D4404273}" created="2022-08-31T07:40:40.3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94757193" sldId="2229"/>
      <ac:picMk id="4" creationId="{C72C26CD-9ABD-4608-B9D6-AE201FE38AAC}"/>
    </ac:deMkLst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8D8_7B60FD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6BE77A5-4404-44AA-8014-ADDE99D81016}" authorId="{509E474D-187A-E4A9-2092-F030D4404273}" created="2022-08-31T07:48:20.66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9372123" sldId="2264"/>
      <ac:spMk id="12" creationId="{FC289336-681F-E0CF-87C7-E4FE5F9132B8}"/>
      <ac:txMk cp="0" len="20">
        <ac:context len="21" hash="2757807634"/>
      </ac:txMk>
    </ac:txMkLst>
    <p188:pos x="3144073" y="277845"/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8E0_C95B3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6CF3D8-32C8-42AA-BC1B-44E4043788A4}" authorId="{509E474D-187A-E4A9-2092-F030D4404273}" created="2022-08-31T07:44:22.792">
    <pc:sldMkLst xmlns:pc="http://schemas.microsoft.com/office/powerpoint/2013/main/command">
      <pc:docMk/>
      <pc:sldMk cId="211137328" sldId="2272"/>
    </pc:sldMkLst>
    <p188:txBody>
      <a:bodyPr/>
      <a:lstStyle/>
      <a:p>
        <a:r>
          <a:rPr lang="ko-KR" altLang="en-US"/>
          <a:t>제거 여부 확인</a:t>
        </a:r>
      </a:p>
    </p188:txBody>
  </p188:cm>
</p188:cmLst>
</file>

<file path=ppt/comments/modernComment_C0F_C4BCC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B54826-4202-47E5-A881-67BF2D7D9F45}" authorId="{509E474D-187A-E4A9-2092-F030D4404273}" created="2022-08-31T07:46:46.35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6294055" sldId="3087"/>
      <ac:spMk id="3" creationId="{B6935070-6961-41AA-9CAB-8E21FCA21605}"/>
      <ac:txMk cp="0" len="7">
        <ac:context len="8" hash="543512781"/>
      </ac:txMk>
    </ac:txMkLst>
    <p188:pos x="2476286" y="270849"/>
    <p188:txBody>
      <a:bodyPr/>
      <a:lstStyle/>
      <a:p>
        <a:r>
          <a:rPr lang="ko-KR" altLang="en-US"/>
          <a:t>확인 및 검토</a:t>
        </a:r>
      </a:p>
    </p188:txBody>
  </p188:cm>
</p188:cmLst>
</file>

<file path=ppt/comments/modernComment_C2A_D4E91A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57A35B-7DED-44DA-A1E1-79B9554C52FE}" authorId="{509E474D-187A-E4A9-2092-F030D4404273}" created="2022-08-31T07:42:40.49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72046425" sldId="3114"/>
      <ac:spMk id="3" creationId="{B6935070-6961-41AA-9CAB-8E21FCA21605}"/>
      <ac:txMk cp="9" len="13">
        <ac:context len="23" hash="3145106313"/>
      </ac:txMk>
    </ac:txMkLst>
    <p188:pos x="3007228" y="634643"/>
    <p188:replyLst>
      <p188:reply id="{C8902A4D-3051-4DB5-B87F-0B4A033F0926}" authorId="{509E474D-187A-E4A9-2092-F030D4404273}" created="2022-08-31T07:42:46.570">
        <p188:txBody>
          <a:bodyPr/>
          <a:lstStyle/>
          <a:p>
            <a:r>
              <a:rPr lang="ko-KR" altLang="en-US"/>
              <a:t>업데이트 필요</a:t>
            </a:r>
          </a:p>
        </p188:txBody>
      </p188:reply>
      <p188:reply id="{B992BC4E-3605-4A99-882F-023F4279641D}" authorId="{509E474D-187A-E4A9-2092-F030D4404273}" created="2022-08-31T07:42:53.362">
        <p188:txBody>
          <a:bodyPr/>
          <a:lstStyle/>
          <a:p>
            <a:r>
              <a:rPr lang="ko-KR" altLang="en-US"/>
              <a:t>업데이트 필요</a:t>
            </a:r>
          </a:p>
        </p188:txBody>
      </p188:reply>
    </p188:replyLst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2C_86FA4B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34648-98E9-4FD0-9A9F-21E52C9EBC32}" authorId="{509E474D-187A-E4A9-2092-F030D4404273}" created="2022-08-31T07:43:03.53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64550341" sldId="3116"/>
      <ac:spMk id="3" creationId="{B6935070-6961-41AA-9CAB-8E21FCA21605}"/>
      <ac:txMk cp="10" len="25">
        <ac:context len="97" hash="2072810915"/>
      </ac:txMk>
    </ac:txMkLst>
    <p188:pos x="4934350" y="634643"/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2D_CA9992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FD8C66-8A09-4F49-8662-3060522BFAF2}" authorId="{509E474D-187A-E4A9-2092-F030D4404273}" created="2022-08-31T07:43:34.7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99062087" sldId="3117"/>
      <ac:spMk id="3" creationId="{B6935070-6961-41AA-9CAB-8E21FCA21605}"/>
    </ac:deMkLst>
    <p188:txBody>
      <a:bodyPr/>
      <a:lstStyle/>
      <a:p>
        <a:r>
          <a:rPr lang="ko-KR" altLang="en-US"/>
          <a:t>제거 여부 확인</a:t>
        </a:r>
      </a:p>
    </p188:txBody>
  </p188:cm>
</p188:cmLst>
</file>

<file path=ppt/comments/modernComment_C3B_439615E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D556BA-FAAC-4B5A-879E-651E9AD479BD}" authorId="{509E474D-187A-E4A9-2092-F030D4404273}" created="2022-08-31T07:43:16.00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33909484" sldId="3131"/>
      <ac:spMk id="3" creationId="{B6935070-6961-41AA-9CAB-8E21FCA21605}"/>
      <ac:txMk cp="0" len="8">
        <ac:context len="140" hash="3054276618"/>
      </ac:txMk>
    </ac:txMkLst>
    <p188:pos x="2545112" y="270849"/>
    <p188:txBody>
      <a:bodyPr/>
      <a:lstStyle/>
      <a:p>
        <a:r>
          <a:rPr lang="ko-KR" altLang="en-US"/>
          <a:t>업데이트 필요, 실험 동영상 등</a:t>
        </a:r>
      </a:p>
    </p188:txBody>
  </p188:cm>
</p188:cmLst>
</file>

<file path=ppt/comments/modernComment_C3C_A20E5F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092DE63-796E-466C-9EC0-72B2F86E5A2A}" authorId="{509E474D-187A-E4A9-2092-F030D4404273}" created="2022-08-31T07:47:02.25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18850950" sldId="3132"/>
      <ac:spMk id="3" creationId="{B6935070-6961-41AA-9CAB-8E21FCA21605}"/>
      <ac:txMk cp="0" len="7">
        <ac:context len="69" hash="4085557656"/>
      </ac:txMk>
    </ac:txMkLst>
    <p188:pos x="2240312" y="270849"/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3D_4C362C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970C6A-C3D9-4745-A188-4890DD1D6DA8}" authorId="{509E474D-187A-E4A9-2092-F030D4404273}" created="2022-08-31T07:48:12.15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78618794" sldId="3133"/>
      <ac:spMk id="12" creationId="{BB061F48-AC0F-6719-F6FA-537725773C22}"/>
      <ac:txMk cp="0" len="24">
        <ac:context len="25" hash="2464566972"/>
      </ac:txMk>
    </ac:txMkLst>
    <p188:pos x="3170804" y="280150"/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4A_8D5475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4A0BD0A-317E-47AE-8A86-F413DB904F61}" authorId="{509E474D-187A-E4A9-2092-F030D4404273}" created="2022-08-31T07:44:42.654">
    <pc:sldMkLst xmlns:pc="http://schemas.microsoft.com/office/powerpoint/2013/main/command">
      <pc:docMk/>
      <pc:sldMk cId="2371122435" sldId="3146"/>
    </pc:sldMkLst>
    <p188:txBody>
      <a:bodyPr/>
      <a:lstStyle/>
      <a:p>
        <a:r>
          <a:rPr lang="ko-KR" altLang="en-US"/>
          <a:t>업데이트 -&gt; 레이저 파워 정리로</a:t>
        </a:r>
      </a:p>
    </p188:txBody>
  </p188:cm>
</p188:cmLst>
</file>

<file path=ppt/comments/modernComment_C4B_7E2063B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DD3E85-7A55-47FC-A514-39B848C5F2D3}" authorId="{509E474D-187A-E4A9-2092-F030D4404273}" created="2022-08-31T07:45:53.155">
    <pc:sldMkLst xmlns:pc="http://schemas.microsoft.com/office/powerpoint/2013/main/command">
      <pc:docMk/>
      <pc:sldMk cId="2116051892" sldId="3147"/>
    </pc:sldMkLst>
    <p188:txBody>
      <a:bodyPr/>
      <a:lstStyle/>
      <a:p>
        <a:r>
          <a:rPr lang="ko-KR" altLang="en-US"/>
          <a:t>업데이트 필요 -&gt; 성능서 오면</a:t>
        </a:r>
      </a:p>
    </p188:txBody>
  </p188:cm>
</p188:cmLst>
</file>

<file path=ppt/comments/modernComment_C4D_9E58E0B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30F6C47-9116-4D8F-92D9-CD2B199C784C}" authorId="{509E474D-187A-E4A9-2092-F030D4404273}" created="2022-08-31T07:46:32.726">
    <pc:sldMkLst xmlns:pc="http://schemas.microsoft.com/office/powerpoint/2013/main/command">
      <pc:docMk/>
      <pc:sldMk cId="2656624820" sldId="3149"/>
    </pc:sldMkLst>
    <p188:txBody>
      <a:bodyPr/>
      <a:lstStyle/>
      <a:p>
        <a:r>
          <a:rPr lang="ko-KR" altLang="en-US"/>
          <a:t>제거</a:t>
        </a:r>
      </a:p>
    </p188:txBody>
  </p188:cm>
</p188:cmLst>
</file>

<file path=ppt/comments/modernComment_C5E_1316645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3AEBFD-8629-47E4-ACCE-83BD4FF16D00}" authorId="{509E474D-187A-E4A9-2092-F030D4404273}" created="2022-08-31T07:43:24.60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0234576" sldId="3166"/>
      <ac:spMk id="3" creationId="{B6935070-6961-41AA-9CAB-8E21FCA21605}"/>
      <ac:txMk cp="0" len="4">
        <ac:context len="151" hash="2267223058"/>
      </ac:txMk>
    </ac:txMkLst>
    <p188:pos x="1778195" y="270849"/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5F_EBE08B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B7F97E5-D310-4B5D-B8D3-0F0554B6A6FA}" authorId="{509E474D-187A-E4A9-2092-F030D4404273}" created="2022-08-31T07:45:03.542">
    <pc:sldMkLst xmlns:pc="http://schemas.microsoft.com/office/powerpoint/2013/main/command">
      <pc:docMk/>
      <pc:sldMk cId="3957361543" sldId="3167"/>
    </pc:sldMkLst>
    <p188:txBody>
      <a:bodyPr/>
      <a:lstStyle/>
      <a:p>
        <a:r>
          <a:rPr lang="ko-KR" altLang="en-US"/>
          <a:t>업데이트 필요 -&gt; 성능서 오면</a:t>
        </a:r>
      </a:p>
    </p188:txBody>
  </p188:cm>
</p188:cmLst>
</file>

<file path=ppt/comments/modernComment_C13_739905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C54D00-72BF-466A-9AA3-E312935DD425}" authorId="{509E474D-187A-E4A9-2092-F030D4404273}" created="2022-08-31T07:42:01.84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39408256" sldId="3091"/>
      <ac:spMk id="3" creationId="{B6935070-6961-41AA-9CAB-8E21FCA21605}"/>
      <ac:txMk cp="50" len="12">
        <ac:context len="65" hash="2444758354"/>
      </ac:txMk>
    </ac:txMkLst>
    <p188:pos x="2525447" y="978772"/>
    <p188:txBody>
      <a:bodyPr/>
      <a:lstStyle/>
      <a:p>
        <a:r>
          <a:rPr lang="ko-KR" altLang="en-US"/>
          <a:t>최종 검토 필요</a:t>
        </a:r>
      </a:p>
    </p188:txBody>
  </p188:cm>
</p188:cmLst>
</file>

<file path=ppt/comments/modernComment_C20_8DF4C1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89606E-B8CD-4E91-B5ED-9245377A7011}" authorId="{509E474D-187A-E4A9-2092-F030D4404273}" created="2022-08-31T07:49:15.706">
    <pc:sldMkLst xmlns:pc="http://schemas.microsoft.com/office/powerpoint/2013/main/command">
      <pc:docMk/>
      <pc:sldMk cId="2381627673" sldId="3104"/>
    </pc:sldMkLst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22_D62FFF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393CB4-B041-465B-A5B8-392859C3CD6D}" authorId="{509E474D-187A-E4A9-2092-F030D4404273}" created="2022-08-31T07:50:24.463">
    <pc:sldMkLst xmlns:pc="http://schemas.microsoft.com/office/powerpoint/2013/main/command">
      <pc:docMk/>
      <pc:sldMk cId="3593469819" sldId="3106"/>
    </pc:sldMkLst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30_315036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12AF7B1-978F-40D7-8377-E9712A4B8102}" authorId="{509E474D-187A-E4A9-2092-F030D4404273}" created="2022-08-31T07:45:13.926">
    <pc:sldMkLst xmlns:pc="http://schemas.microsoft.com/office/powerpoint/2013/main/command">
      <pc:docMk/>
      <pc:sldMk cId="827340407" sldId="3120"/>
    </pc:sldMkLst>
    <p188:txBody>
      <a:bodyPr/>
      <a:lstStyle/>
      <a:p>
        <a:r>
          <a:rPr lang="ko-KR" altLang="en-US"/>
          <a:t>업데이트 필요 -&gt; 성능서 오면</a:t>
        </a:r>
      </a:p>
    </p188:txBody>
  </p188:cm>
</p188:cmLst>
</file>

<file path=ppt/comments/modernComment_C31_821350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7BE48F-7DC8-4424-A4A1-424E6AD85187}" authorId="{509E474D-187A-E4A9-2092-F030D4404273}" created="2022-08-31T07:44:53.310">
    <pc:sldMkLst xmlns:pc="http://schemas.microsoft.com/office/powerpoint/2013/main/command">
      <pc:docMk/>
      <pc:sldMk cId="2182303934" sldId="3121"/>
    </pc:sldMkLst>
    <p188:txBody>
      <a:bodyPr/>
      <a:lstStyle/>
      <a:p>
        <a:r>
          <a:rPr lang="ko-KR" altLang="en-US"/>
          <a:t>제거</a:t>
        </a:r>
      </a:p>
    </p188:txBody>
  </p188:cm>
</p188:cmLst>
</file>

<file path=ppt/comments/modernComment_C36_BEBF8B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B50DA5-1980-4DD8-880B-CD4F7D386794}" authorId="{509E474D-187A-E4A9-2092-F030D4404273}" created="2022-08-31T07:48:00.90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00224012" sldId="3126"/>
      <ac:spMk id="6" creationId="{05CF5F56-A312-19F7-D726-52796D1263D2}"/>
      <ac:txMk cp="0" len="19">
        <ac:context len="20" hash="1456588678"/>
      </ac:txMk>
    </ac:txMkLst>
    <p188:pos x="2674697" y="278250"/>
    <p188:txBody>
      <a:bodyPr/>
      <a:lstStyle/>
      <a:p>
        <a:r>
          <a:rPr lang="ko-KR" altLang="en-US"/>
          <a:t>업데이트 필요 </a:t>
        </a:r>
      </a:p>
    </p188:txBody>
  </p188:cm>
</p188:cmLst>
</file>

<file path=ppt/comments/modernComment_C37_7F9749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F639FB-C079-4747-A70F-64C598DB67AF}" authorId="{509E474D-187A-E4A9-2092-F030D4404273}" created="2022-08-31T07:47:22.2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40621077" sldId="3127"/>
      <ac:spMk id="11" creationId="{8F66C038-D198-AD4A-63E5-73D48C519D67}"/>
      <ac:txMk cp="0" len="41">
        <ac:context len="42" hash="406360163"/>
      </ac:txMk>
    </ac:txMkLst>
    <p188:pos x="2816912" y="329683"/>
    <p188:replyLst>
      <p188:reply id="{DFA1AFB9-9768-4B45-9675-2A7E90CA4A1D}" authorId="{509E474D-187A-E4A9-2092-F030D4404273}" created="2022-08-31T07:47:40.884">
        <p188:txBody>
          <a:bodyPr/>
          <a:lstStyle/>
          <a:p>
            <a:r>
              <a:rPr lang="ko-KR" altLang="en-US"/>
              <a:t>혹은 Cubespace 사 답변</a:t>
            </a:r>
          </a:p>
        </p188:txBody>
      </p188:reply>
    </p188:replyLst>
    <p188:txBody>
      <a:bodyPr/>
      <a:lstStyle/>
      <a:p>
        <a:r>
          <a:rPr lang="ko-KR" altLang="en-US"/>
          <a:t>업데이트 혹은 제거?</a:t>
        </a:r>
      </a:p>
    </p188:txBody>
  </p188:cm>
</p188:cmLst>
</file>

<file path=ppt/comments/modernComment_C38_35A5BC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29BBAB-F3B3-457A-8B49-4831FBB3EE32}" authorId="{509E474D-187A-E4A9-2092-F030D4404273}" created="2022-08-31T07:48:29.68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00054134" sldId="3128"/>
      <ac:spMk id="3" creationId="{B6935070-6961-41AA-9CAB-8E21FCA21605}"/>
    </ac:deMkLst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42_ED310B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56D91F-CDE1-4494-951B-CFC7AA541ADC}" authorId="{509E474D-187A-E4A9-2092-F030D4404273}" created="2022-08-31T07:46:24.92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79414414" sldId="3138"/>
      <ac:spMk id="3" creationId="{C20497F9-956F-4739-8B0F-492FB814F747}"/>
      <ac:txMk cp="27" len="23">
        <ac:context len="53" hash="3119963998"/>
      </ac:txMk>
    </ac:txMkLst>
    <p188:pos x="4826195" y="634643"/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43_7FD46CC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E95B1F-D495-4AC5-A439-697DA103963C}" authorId="{509E474D-187A-E4A9-2092-F030D4404273}" created="2022-08-31T07:42:11.61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44627917" sldId="3139"/>
      <ac:spMk id="3" creationId="{B6935070-6961-41AA-9CAB-8E21FCA21605}"/>
      <ac:txMk cp="9" len="8">
        <ac:context len="86" hash="1311022968"/>
      </ac:txMk>
    </ac:txMkLst>
    <p188:pos x="2210815" y="634643"/>
    <p188:replyLst>
      <p188:reply id="{5A323298-891E-4BC0-B967-5EF11AF30DB8}" authorId="{509E474D-187A-E4A9-2092-F030D4404273}" created="2022-08-31T07:42:20.414">
        <p188:txBody>
          <a:bodyPr/>
          <a:lstStyle/>
          <a:p>
            <a:r>
              <a:rPr lang="ko-KR" altLang="en-US"/>
              <a:t>업데이트 필요</a:t>
            </a:r>
          </a:p>
        </p188:txBody>
      </p188:reply>
    </p188:replyLst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44_B2D09D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F3DD1A9-FB81-43DE-B06F-D8DF0887E4B5}" authorId="{509E474D-187A-E4A9-2092-F030D4404273}" created="2022-08-31T07:42:30.6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00016371" sldId="3140"/>
      <ac:spMk id="3" creationId="{B6935070-6961-41AA-9CAB-8E21FCA21605}"/>
      <ac:txMk cp="8" len="30">
        <ac:context len="46" hash="1154121214"/>
      </ac:txMk>
    </ac:txMkLst>
    <p188:pos x="3931460" y="634643"/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45_8AC3DCE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92BC5F-D44D-441E-A2E2-FB73EE60BF9B}" authorId="{509E474D-187A-E4A9-2092-F030D4404273}" created="2022-08-31T07:43:43.80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328091878" sldId="3141"/>
      <ac:spMk id="3" creationId="{B6935070-6961-41AA-9CAB-8E21FCA21605}"/>
      <ac:txMk cp="22" len="8">
        <ac:context len="206" hash="814665452"/>
      </ac:txMk>
    </ac:txMkLst>
    <p188:pos x="2210815" y="634643"/>
    <p188:replyLst>
      <p188:reply id="{E4CB961B-6A12-4676-9D4A-10F72CA5877F}" authorId="{509E474D-187A-E4A9-2092-F030D4404273}" created="2022-08-31T07:43:49.294">
        <p188:txBody>
          <a:bodyPr/>
          <a:lstStyle/>
          <a:p>
            <a:r>
              <a:rPr lang="ko-KR" altLang="en-US"/>
              <a:t>업데이트 필요</a:t>
            </a:r>
          </a:p>
        </p188:txBody>
      </p188:reply>
      <p188:reply id="{29358D92-22AF-4F63-8E32-41F9AC087249}" authorId="{509E474D-187A-E4A9-2092-F030D4404273}" created="2022-08-31T07:43:56.208">
        <p188:txBody>
          <a:bodyPr/>
          <a:lstStyle/>
          <a:p>
            <a:r>
              <a:rPr lang="ko-KR" altLang="en-US"/>
              <a:t>업데이트 필요</a:t>
            </a:r>
          </a:p>
        </p188:txBody>
      </p188:reply>
    </p188:replyLst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46_1ACA875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5A81BA1-B53B-4A63-8A6E-796B55F3936E}" authorId="{509E474D-187A-E4A9-2092-F030D4404273}" created="2022-08-31T07:44:05.92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49480535" sldId="3142"/>
      <ac:spMk id="3" creationId="{B6935070-6961-41AA-9CAB-8E21FCA21605}"/>
      <ac:txMk cp="0" len="30">
        <ac:context len="38" hash="4270159350"/>
      </ac:txMk>
    </ac:txMkLst>
    <p188:pos x="5160492" y="270849"/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47_6E70F1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ADC699-224D-46FA-A3E0-331F0AB36784}" authorId="{509E474D-187A-E4A9-2092-F030D4404273}" created="2022-08-31T07:46:03.37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52895612" sldId="3143"/>
      <ac:spMk id="3" creationId="{B6935070-6961-41AA-9CAB-8E21FCA21605}"/>
      <ac:txMk cp="20" len="8">
        <ac:context len="112" hash="3842333664"/>
      </ac:txMk>
    </ac:txMkLst>
    <p188:pos x="2210815" y="634643"/>
    <p188:replyLst>
      <p188:reply id="{8F8D7472-8B13-4BB5-B2D2-AE04E973687C}" authorId="{509E474D-187A-E4A9-2092-F030D4404273}" created="2022-08-31T07:46:08.784">
        <p188:txBody>
          <a:bodyPr/>
          <a:lstStyle/>
          <a:p>
            <a:r>
              <a:rPr lang="ko-KR" altLang="en-US"/>
              <a:t>업데이트 필요</a:t>
            </a:r>
          </a:p>
        </p188:txBody>
      </p188:reply>
    </p188:replyLst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48_F694A9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2C18FC7-BA1A-473F-819B-1481922727C2}" authorId="{509E474D-187A-E4A9-2092-F030D4404273}" created="2022-08-31T07:46:16.8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36937892" sldId="3144"/>
      <ac:spMk id="3" creationId="{B6935070-6961-41AA-9CAB-8E21FCA21605}"/>
      <ac:txMk cp="20" len="30">
        <ac:context len="58" hash="701901347"/>
      </ac:txMk>
    </ac:txMkLst>
    <p188:pos x="3931460" y="634643"/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49_697CB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36449F-2FC9-47DD-BC3A-2940BC02784A}" authorId="{509E474D-187A-E4A9-2092-F030D4404273}" created="2022-08-31T07:46:55.55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0611295" sldId="3145"/>
      <ac:spMk id="3" creationId="{B6935070-6961-41AA-9CAB-8E21FCA21605}"/>
      <ac:txMk cp="0" len="30">
        <ac:context len="38" hash="4270159350"/>
      </ac:txMk>
    </ac:txMkLst>
    <p188:pos x="5160492" y="270849"/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70_20D436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42FC0F8-D698-424D-B0AC-B9D3D2A443DB}" authorId="{509E474D-187A-E4A9-2092-F030D4404273}" created="2022-08-31T07:48:43.490">
    <pc:sldMkLst xmlns:pc="http://schemas.microsoft.com/office/powerpoint/2013/main/command">
      <pc:docMk/>
      <pc:sldMk cId="550778418" sldId="3184"/>
    </pc:sldMkLst>
    <p188:txBody>
      <a:bodyPr/>
      <a:lstStyle/>
      <a:p>
        <a:r>
          <a:rPr lang="ko-KR" altLang="en-US"/>
          <a:t>제거 여부 확인</a:t>
        </a:r>
      </a:p>
    </p188:txBody>
  </p188:cm>
</p188:cmLst>
</file>

<file path=ppt/comments/modernComment_C71_482040D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5663DA2-4C9A-46B5-8F13-343A02BFB265}" authorId="{509E474D-187A-E4A9-2092-F030D4404273}" created="2022-08-31T07:48:52.678">
    <pc:sldMkLst xmlns:pc="http://schemas.microsoft.com/office/powerpoint/2013/main/command">
      <pc:docMk/>
      <pc:sldMk cId="1210073298" sldId="3185"/>
    </pc:sldMkLst>
    <p188:txBody>
      <a:bodyPr/>
      <a:lstStyle/>
      <a:p>
        <a:r>
          <a:rPr lang="ko-KR" altLang="en-US"/>
          <a:t>제거 여부 확인 필요</a:t>
        </a:r>
      </a:p>
    </p188:txBody>
  </p188:cm>
</p188:cmLst>
</file>

<file path=ppt/comments/modernComment_C72_9005785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0E70AD5-9A07-438B-B96D-FAAD65E65150}" authorId="{509E474D-187A-E4A9-2092-F030D4404273}" created="2022-08-31T07:49:06.461">
    <pc:sldMkLst xmlns:pc="http://schemas.microsoft.com/office/powerpoint/2013/main/command">
      <pc:docMk/>
      <pc:sldMk cId="2416277594" sldId="3186"/>
    </pc:sldMkLst>
    <p188:txBody>
      <a:bodyPr/>
      <a:lstStyle/>
      <a:p>
        <a:r>
          <a:rPr lang="ko-KR" altLang="en-US"/>
          <a:t>업데이트 필요</a:t>
        </a:r>
      </a:p>
    </p188:txBody>
  </p188:cm>
</p188:cmLst>
</file>

<file path=ppt/comments/modernComment_C74_ED2135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92F488-E925-4A57-8EF4-3F2051A33462}" authorId="{509E474D-187A-E4A9-2092-F030D4404273}" created="2022-08-31T07:48:59.103">
    <pc:sldMkLst xmlns:pc="http://schemas.microsoft.com/office/powerpoint/2013/main/command">
      <pc:docMk/>
      <pc:sldMk cId="3978376681" sldId="3188"/>
    </pc:sldMkLst>
    <p188:txBody>
      <a:bodyPr/>
      <a:lstStyle/>
      <a:p>
        <a:r>
          <a:rPr lang="ko-KR" altLang="en-US"/>
          <a:t>업데이트 필요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2022-09-02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2022-09-02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70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229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619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790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169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882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171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934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609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344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836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493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629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5478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034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4101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656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884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030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0344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3615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0578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0041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476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9339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5298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8911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0900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4115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8558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2252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6768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7065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7349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2710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231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377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816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6298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4585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5302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8559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57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7378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2134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504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1086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978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53395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570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8908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564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이름</a:t>
            </a:r>
            <a:endParaRPr lang="en-US" altLang="ko-KR"/>
          </a:p>
          <a:p>
            <a:r>
              <a:rPr lang="ko-KR" altLang="en-US"/>
              <a:t>소속</a:t>
            </a:r>
            <a:endParaRPr lang="en-US" altLang="ko-KR"/>
          </a:p>
          <a:p>
            <a:r>
              <a:rPr lang="ko-KR" altLang="en-US"/>
              <a:t>발표장소</a:t>
            </a:r>
            <a:r>
              <a:rPr lang="en-US" altLang="ko-KR"/>
              <a:t>/</a:t>
            </a:r>
            <a:r>
              <a:rPr lang="ko-KR" altLang="en-US"/>
              <a:t>발표일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/>
              <a:t>발표제목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국</a:t>
            </a:r>
            <a:r>
              <a:rPr lang="en-US" altLang="ko-KR"/>
              <a:t>/</a:t>
            </a:r>
            <a:r>
              <a:rPr lang="ko-KR" altLang="en-US"/>
              <a:t>영문</a:t>
            </a:r>
            <a:r>
              <a:rPr lang="en-US" altLang="ko-KR"/>
              <a:t>, Times, 40 pts)</a:t>
            </a:r>
            <a:endParaRPr 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851" y="588517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B778BC0-05B9-4BD2-A8A3-BBD4A4B100A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096" y="5885179"/>
            <a:ext cx="1141923" cy="78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/>
              <a:t>마스터 제목 스타일 편집 </a:t>
            </a:r>
            <a:r>
              <a:rPr lang="en-US" altLang="ko-KR"/>
              <a:t>(28 pts)</a:t>
            </a:r>
            <a:endParaRPr lang="en-US"/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9543F767-6BCC-4D0A-AE10-F3C5D28C91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0" y="71055"/>
            <a:ext cx="720000" cy="720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03F15F4-3BBD-4A64-B53A-A0786EE5CD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866" y="102551"/>
            <a:ext cx="954491" cy="65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/>
              <a:t>마스터 제목 스타일 편집 </a:t>
            </a:r>
            <a:r>
              <a:rPr lang="en-US" altLang="ko-KR"/>
              <a:t>(28 pts)</a:t>
            </a:r>
            <a:endParaRPr 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6512356-D24D-441C-9E5B-5F36FA2A23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0" y="70572"/>
            <a:ext cx="720000" cy="72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4237601-4972-4EDD-B898-CF207AB6AF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866" y="102551"/>
            <a:ext cx="954491" cy="65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/>
              <a:t>질의응답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국</a:t>
            </a:r>
            <a:r>
              <a:rPr lang="en-US" altLang="ko-KR"/>
              <a:t>/</a:t>
            </a:r>
            <a:r>
              <a:rPr lang="ko-KR" altLang="en-US"/>
              <a:t>영문</a:t>
            </a:r>
            <a:r>
              <a:rPr lang="en-US" altLang="ko-KR"/>
              <a:t>, Times, 40 pts)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이름</a:t>
            </a:r>
            <a:endParaRPr lang="en-US" altLang="ko-KR"/>
          </a:p>
          <a:p>
            <a:r>
              <a:rPr lang="ko-KR" altLang="en-US"/>
              <a:t>소속</a:t>
            </a:r>
            <a:endParaRPr lang="en-US" altLang="ko-KR"/>
          </a:p>
          <a:p>
            <a:r>
              <a:rPr lang="ko-KR" altLang="en-US"/>
              <a:t>연락처</a:t>
            </a:r>
            <a:endParaRPr lang="en-US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D5E9088-E7CF-4FD8-8BCD-CA233C6556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154" y="6079835"/>
            <a:ext cx="954491" cy="65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/>
              <a:t>간지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국</a:t>
            </a:r>
            <a:r>
              <a:rPr lang="en-US" altLang="ko-KR"/>
              <a:t>/</a:t>
            </a:r>
            <a:r>
              <a:rPr lang="ko-KR" altLang="en-US"/>
              <a:t>영문</a:t>
            </a:r>
            <a:r>
              <a:rPr lang="en-US" altLang="ko-KR"/>
              <a:t>, Times, 40 pts)</a:t>
            </a:r>
            <a:endParaRPr lang="en-US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2277A5A-29E0-4092-9729-EFB883BA20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883" y="6079835"/>
            <a:ext cx="954491" cy="65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>
            <a:normAutofit/>
          </a:bodyPr>
          <a:lstStyle>
            <a:lvl1pPr>
              <a:buFont typeface="Wingdings" pitchFamily="2" charset="2"/>
              <a:buChar char="§"/>
              <a:defRPr sz="2400">
                <a:latin typeface="Arial Unicode MS" pitchFamily="50" charset="-127"/>
                <a:ea typeface="Arial Unicode MS" pitchFamily="50" charset="-127"/>
                <a:cs typeface="Arial Unicode MS" pitchFamily="50" charset="-127"/>
              </a:defRPr>
            </a:lvl1pPr>
            <a:lvl2pPr>
              <a:buFont typeface="Wingdings" pitchFamily="2" charset="2"/>
              <a:buChar char="Ø"/>
              <a:defRPr sz="1800">
                <a:latin typeface="Arial Unicode MS" pitchFamily="50" charset="-127"/>
                <a:ea typeface="Arial Unicode MS" pitchFamily="50" charset="-127"/>
                <a:cs typeface="Arial Unicode MS" pitchFamily="50" charset="-127"/>
              </a:defRPr>
            </a:lvl2pPr>
            <a:lvl3pPr>
              <a:defRPr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defRPr>
            </a:lvl3pPr>
            <a:lvl4pPr>
              <a:defRPr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defRPr>
            </a:lvl4pPr>
            <a:lvl5pPr>
              <a:defRPr sz="1600">
                <a:latin typeface="Arial Unicode MS" pitchFamily="50" charset="-127"/>
                <a:ea typeface="Arial Unicode MS" pitchFamily="50" charset="-127"/>
                <a:cs typeface="Arial Unicode MS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730480" y="836935"/>
            <a:ext cx="1413520" cy="293117"/>
          </a:xfrm>
        </p:spPr>
        <p:txBody>
          <a:bodyPr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ko-KR">
                <a:solidFill>
                  <a:prstClr val="black"/>
                </a:solidFill>
              </a:rPr>
              <a:t>- </a:t>
            </a:r>
            <a:fld id="{4BEDD84E-25D4-4983-8AA1-2863C96F08D9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r>
              <a:rPr lang="ko-KR" altLang="en-US">
                <a:solidFill>
                  <a:prstClr val="black"/>
                </a:solidFill>
              </a:rPr>
              <a:t> </a:t>
            </a:r>
            <a:r>
              <a:rPr lang="en-US" altLang="ko-KR">
                <a:solidFill>
                  <a:prstClr val="black"/>
                </a:solidFill>
              </a:rPr>
              <a:t>-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14" name="Picture 68" descr="main4"/>
          <p:cNvPicPr>
            <a:picLocks noChangeAspect="1" noChangeArrowheads="1"/>
          </p:cNvPicPr>
          <p:nvPr userDrawn="1"/>
        </p:nvPicPr>
        <p:blipFill>
          <a:blip r:embed="rId2" cstate="print"/>
          <a:srcRect b="41756"/>
          <a:stretch>
            <a:fillRect/>
          </a:stretch>
        </p:blipFill>
        <p:spPr bwMode="auto">
          <a:xfrm>
            <a:off x="0" y="0"/>
            <a:ext cx="9144000" cy="764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69"/>
          <p:cNvSpPr>
            <a:spLocks noChangeArrowheads="1"/>
          </p:cNvSpPr>
          <p:nvPr userDrawn="1"/>
        </p:nvSpPr>
        <p:spPr bwMode="auto">
          <a:xfrm>
            <a:off x="1547813" y="0"/>
            <a:ext cx="7596187" cy="69215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Freeform 70"/>
          <p:cNvSpPr>
            <a:spLocks/>
          </p:cNvSpPr>
          <p:nvPr userDrawn="1"/>
        </p:nvSpPr>
        <p:spPr bwMode="auto">
          <a:xfrm>
            <a:off x="1331913" y="160338"/>
            <a:ext cx="7853362" cy="604366"/>
          </a:xfrm>
          <a:custGeom>
            <a:avLst/>
            <a:gdLst/>
            <a:ahLst/>
            <a:cxnLst>
              <a:cxn ang="0">
                <a:pos x="227" y="0"/>
              </a:cxn>
              <a:cxn ang="0">
                <a:pos x="3901" y="0"/>
              </a:cxn>
              <a:cxn ang="0">
                <a:pos x="3901" y="363"/>
              </a:cxn>
              <a:cxn ang="0">
                <a:pos x="0" y="363"/>
              </a:cxn>
              <a:cxn ang="0">
                <a:pos x="227" y="0"/>
              </a:cxn>
            </a:cxnLst>
            <a:rect l="0" t="0" r="r" b="b"/>
            <a:pathLst>
              <a:path w="3901" h="363">
                <a:moveTo>
                  <a:pt x="227" y="0"/>
                </a:moveTo>
                <a:lnTo>
                  <a:pt x="3901" y="0"/>
                </a:lnTo>
                <a:lnTo>
                  <a:pt x="3901" y="363"/>
                </a:lnTo>
                <a:lnTo>
                  <a:pt x="0" y="363"/>
                </a:lnTo>
                <a:lnTo>
                  <a:pt x="227" y="0"/>
                </a:lnTo>
                <a:close/>
              </a:path>
            </a:pathLst>
          </a:custGeom>
          <a:gradFill rotWithShape="1">
            <a:gsLst>
              <a:gs pos="0">
                <a:srgbClr val="C9C9C9"/>
              </a:gs>
              <a:gs pos="100000">
                <a:srgbClr val="C9C9C9">
                  <a:gamma/>
                  <a:tint val="0"/>
                  <a:invGamma/>
                </a:srgb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scene3d>
            <a:camera prst="legacyObliqueTopLef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C9C9C9"/>
            </a:extrusionClr>
          </a:sp3d>
        </p:spPr>
        <p:txBody>
          <a:bodyPr>
            <a:flatTx/>
          </a:bodyPr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Freeform 77"/>
          <p:cNvSpPr>
            <a:spLocks/>
          </p:cNvSpPr>
          <p:nvPr userDrawn="1"/>
        </p:nvSpPr>
        <p:spPr bwMode="auto">
          <a:xfrm>
            <a:off x="-36512" y="764704"/>
            <a:ext cx="1368426" cy="144463"/>
          </a:xfrm>
          <a:custGeom>
            <a:avLst/>
            <a:gdLst/>
            <a:ahLst/>
            <a:cxnLst>
              <a:cxn ang="0">
                <a:pos x="953" y="0"/>
              </a:cxn>
              <a:cxn ang="0">
                <a:pos x="862" y="90"/>
              </a:cxn>
              <a:cxn ang="0">
                <a:pos x="0" y="90"/>
              </a:cxn>
              <a:cxn ang="0">
                <a:pos x="0" y="0"/>
              </a:cxn>
              <a:cxn ang="0">
                <a:pos x="953" y="0"/>
              </a:cxn>
            </a:cxnLst>
            <a:rect l="0" t="0" r="r" b="b"/>
            <a:pathLst>
              <a:path w="953" h="90">
                <a:moveTo>
                  <a:pt x="953" y="0"/>
                </a:moveTo>
                <a:lnTo>
                  <a:pt x="862" y="90"/>
                </a:lnTo>
                <a:lnTo>
                  <a:pt x="0" y="90"/>
                </a:lnTo>
                <a:lnTo>
                  <a:pt x="0" y="0"/>
                </a:lnTo>
                <a:lnTo>
                  <a:pt x="953" y="0"/>
                </a:lnTo>
                <a:close/>
              </a:path>
            </a:pathLst>
          </a:custGeom>
          <a:gradFill rotWithShape="1">
            <a:gsLst>
              <a:gs pos="0">
                <a:srgbClr val="C0C0C0"/>
              </a:gs>
              <a:gs pos="100000">
                <a:schemeClr val="tx1"/>
              </a:gs>
            </a:gsLst>
            <a:lin ang="0" scaled="1"/>
          </a:gra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legacyObliqueTopLeft"/>
            <a:lightRig rig="legacyFlat3" dir="t"/>
          </a:scene3d>
          <a:sp3d extrusionH="1127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anchor="ctr">
            <a:spAutoFit/>
            <a:flatTx/>
          </a:bodyPr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91680" y="116632"/>
            <a:ext cx="7452320" cy="720080"/>
          </a:xfrm>
        </p:spPr>
        <p:txBody>
          <a:bodyPr>
            <a:normAutofit/>
          </a:bodyPr>
          <a:lstStyle>
            <a:lvl1pPr algn="l">
              <a:defRPr sz="3600">
                <a:latin typeface="Arial Unicode MS" pitchFamily="50" charset="-127"/>
                <a:ea typeface="Arial Unicode MS" pitchFamily="50" charset="-127"/>
                <a:cs typeface="Arial Unicode MS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1" name="그림 10" descr="D:\01. Research\ACL_logo_blue_김재혁 제작.jp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143592"/>
            <a:ext cx="602862" cy="6028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326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  <p:sldLayoutId id="2147483681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8B5_70EFB349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8B1_79EF0777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13_7399058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43_7FD46CCD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44_B2D09DF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2A_D4E91A59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1.png"/><Relationship Id="rId3" Type="http://schemas.microsoft.com/office/2018/10/relationships/comments" Target="../comments/modernComment_C2C_86FA4BC5.xml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0.png"/><Relationship Id="rId11" Type="http://schemas.openxmlformats.org/officeDocument/2006/relationships/image" Target="../media/image22.png"/><Relationship Id="rId5" Type="http://schemas.openxmlformats.org/officeDocument/2006/relationships/image" Target="../media/image160.png"/><Relationship Id="rId10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10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3B_439615EC.xml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5E_1316645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2D_CA99924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45_8AC3DCE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46_1ACA875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8E0_C95B33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3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4A_8D547503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31_821350BE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microsoft.com/office/2018/10/relationships/comments" Target="../comments/modernComment_C5F_EBE08B87.xml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30_3150367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4B_7E2063B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47_6E70F17C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48_F694A9A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42_ED310B8E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56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4D_9E58E0B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0F_C4BCC2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49_697CB5F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6.png"/><Relationship Id="rId26" Type="http://schemas.openxmlformats.org/officeDocument/2006/relationships/image" Target="../media/image14.png"/><Relationship Id="rId3" Type="http://schemas.microsoft.com/office/2018/10/relationships/comments" Target="../comments/modernComment_C3C_A20E5F86.xml"/><Relationship Id="rId21" Type="http://schemas.microsoft.com/office/2007/relationships/hdphoto" Target="../media/hdphoto3.wdp"/><Relationship Id="rId7" Type="http://schemas.openxmlformats.org/officeDocument/2006/relationships/image" Target="../media/image55.png"/><Relationship Id="rId12" Type="http://schemas.openxmlformats.org/officeDocument/2006/relationships/image" Target="../media/image61.jpeg"/><Relationship Id="rId17" Type="http://schemas.openxmlformats.org/officeDocument/2006/relationships/image" Target="../media/image65.jpeg"/><Relationship Id="rId25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64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11" Type="http://schemas.openxmlformats.org/officeDocument/2006/relationships/image" Target="../media/image60.png"/><Relationship Id="rId24" Type="http://schemas.openxmlformats.org/officeDocument/2006/relationships/image" Target="../media/image6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microsoft.com/office/2007/relationships/hdphoto" Target="../media/hdphoto4.wdp"/><Relationship Id="rId10" Type="http://schemas.openxmlformats.org/officeDocument/2006/relationships/image" Target="../media/image59.jpeg"/><Relationship Id="rId19" Type="http://schemas.microsoft.com/office/2007/relationships/hdphoto" Target="../media/hdphoto2.wdp"/><Relationship Id="rId4" Type="http://schemas.openxmlformats.org/officeDocument/2006/relationships/image" Target="../media/image52.png"/><Relationship Id="rId9" Type="http://schemas.openxmlformats.org/officeDocument/2006/relationships/image" Target="../media/image58.png"/><Relationship Id="rId14" Type="http://schemas.microsoft.com/office/2007/relationships/hdphoto" Target="../media/hdphoto1.wdp"/><Relationship Id="rId22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microsoft.com/office/2018/10/relationships/comments" Target="../comments/modernComment_C37_7F974915.xml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680.png"/><Relationship Id="rId10" Type="http://schemas.openxmlformats.org/officeDocument/2006/relationships/image" Target="../media/image73.png"/><Relationship Id="rId4" Type="http://schemas.openxmlformats.org/officeDocument/2006/relationships/image" Target="../media/image70.png"/><Relationship Id="rId9" Type="http://schemas.openxmlformats.org/officeDocument/2006/relationships/image" Target="../media/image72.jpe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36_BEBF8B0C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75.png"/><Relationship Id="rId4" Type="http://schemas.openxmlformats.org/officeDocument/2006/relationships/image" Target="../media/image74.jpe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3D_4C362CAA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9.png"/><Relationship Id="rId4" Type="http://schemas.openxmlformats.org/officeDocument/2006/relationships/image" Target="../media/image76.png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18/10/relationships/comments" Target="../comments/modernComment_8D8_7B60FDB.xml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jpeg"/><Relationship Id="rId5" Type="http://schemas.microsoft.com/office/2007/relationships/hdphoto" Target="../media/hdphoto6.wdp"/><Relationship Id="rId10" Type="http://schemas.microsoft.com/office/2007/relationships/hdphoto" Target="../media/hdphoto4.wdp"/><Relationship Id="rId4" Type="http://schemas.openxmlformats.org/officeDocument/2006/relationships/image" Target="../media/image77.png"/><Relationship Id="rId9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microsoft.com/office/2018/10/relationships/comments" Target="../comments/modernComment_C38_35A5BC76.xml"/><Relationship Id="rId7" Type="http://schemas.microsoft.com/office/2007/relationships/hdphoto" Target="../media/hdphoto7.wdp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microsoft.com/office/2007/relationships/hdphoto" Target="../media/hdphoto8.wdp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70_20D4363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71_482040D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74_ED2135E9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C20_8DF4C119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72_9005785A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C22_D62FFF7B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EWQFsqkwFc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thorlabs.com/images/tabimages/Laser_Pulses_Power_Energy_Equations.pdf?msclkid=67671e8fd0c111ecbf5bdefce05790fe" TargetMode="Externa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연세대학교</a:t>
            </a:r>
            <a:r>
              <a:rPr lang="en-US" altLang="ko-KR" dirty="0"/>
              <a:t>, </a:t>
            </a:r>
            <a:r>
              <a:rPr lang="ko-KR" altLang="en-US" dirty="0"/>
              <a:t>초소형위성센터</a:t>
            </a:r>
            <a:endParaRPr lang="en-US" altLang="ko-KR" dirty="0"/>
          </a:p>
          <a:p>
            <a:r>
              <a:rPr lang="en-US" altLang="ko-KR" dirty="0"/>
              <a:t>2022-05-13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HYVRID </a:t>
            </a:r>
            <a:r>
              <a:rPr lang="ko-KR" altLang="en-US" sz="3600" dirty="0" err="1"/>
              <a:t>큐브위성</a:t>
            </a:r>
            <a:r>
              <a:rPr lang="ko-KR" altLang="en-US" sz="3600" dirty="0"/>
              <a:t> 개발현황</a:t>
            </a:r>
            <a:br>
              <a:rPr lang="en-US" altLang="ko-KR" sz="3600" dirty="0"/>
            </a:br>
            <a:r>
              <a:rPr lang="en-US" altLang="ko-KR" sz="2000" dirty="0"/>
              <a:t>-Hanwha – Yonsei Verification for laser </a:t>
            </a:r>
            <a:r>
              <a:rPr lang="en-US" altLang="ko-KR" sz="2000" dirty="0" err="1"/>
              <a:t>RangIng</a:t>
            </a:r>
            <a:r>
              <a:rPr lang="en-US" altLang="ko-KR" sz="2000" dirty="0"/>
              <a:t> &amp; Dazzling-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2C26CD-9ABD-4608-B9D6-AE201FE38AA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6" t="2482" r="3932"/>
          <a:stretch/>
        </p:blipFill>
        <p:spPr>
          <a:xfrm rot="20711744">
            <a:off x="2988808" y="-172853"/>
            <a:ext cx="3559914" cy="281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4329DCC-3561-4B6F-93DF-4E106C2D241E}"/>
              </a:ext>
            </a:extLst>
          </p:cNvPr>
          <p:cNvGrpSpPr/>
          <p:nvPr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31BA826-8541-4D4F-AD43-ED244515E80C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300C7C0-72C5-44B5-98C7-58EBA0705C4B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8CDCC18C-7F1C-4C65-9ED9-29CE329FC44F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54A82499-62DE-47A6-B2E8-2F182EF98EF9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8324B67D-20C6-4720-9273-8F920BC95D8E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97068"/>
              </p:ext>
            </p:extLst>
          </p:nvPr>
        </p:nvGraphicFramePr>
        <p:xfrm>
          <a:off x="1454505" y="1029970"/>
          <a:ext cx="7318019" cy="5795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한화시스템 요구사항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큐브 위성 시스템 개발현황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운용궤도 선정 및 임무 운용 개념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주파수 등록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strike="noStrike" baseline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SRR/SDR </a:t>
                      </a:r>
                      <a:r>
                        <a:rPr lang="ko-KR" altLang="en-US" sz="2000" b="1" strike="noStrike" baseline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회의 일정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266189"/>
                  </a:ext>
                </a:extLst>
              </a:tr>
            </a:tbl>
          </a:graphicData>
        </a:graphic>
      </p:graphicFrame>
      <p:sp>
        <p:nvSpPr>
          <p:cNvPr id="12" name="타원 11">
            <a:extLst>
              <a:ext uri="{FF2B5EF4-FFF2-40B4-BE49-F238E27FC236}">
                <a16:creationId xmlns:a16="http://schemas.microsoft.com/office/drawing/2014/main" id="{ECFFC3D0-E93D-70C1-10A2-AF07B8149226}"/>
              </a:ext>
            </a:extLst>
          </p:cNvPr>
          <p:cNvSpPr/>
          <p:nvPr/>
        </p:nvSpPr>
        <p:spPr>
          <a:xfrm>
            <a:off x="695141" y="5993082"/>
            <a:ext cx="692690" cy="68771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Ⅵ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7081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한화시스템 요구사항</a:t>
            </a:r>
          </a:p>
        </p:txBody>
      </p:sp>
    </p:spTree>
    <p:extLst>
      <p:ext uri="{BB962C8B-B14F-4D97-AF65-F5344CB8AC3E}">
        <p14:creationId xmlns:p14="http://schemas.microsoft.com/office/powerpoint/2010/main" val="1943192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한화시스템 요구사항</a:t>
            </a:r>
            <a:endParaRPr lang="en-US" altLang="ko-KR" dirty="0"/>
          </a:p>
          <a:p>
            <a:pPr lvl="1"/>
            <a:r>
              <a:rPr lang="ko-KR" altLang="en-US" dirty="0"/>
              <a:t>추적시스템 검증용 </a:t>
            </a:r>
            <a:r>
              <a:rPr lang="ko-KR" altLang="en-US" dirty="0" err="1"/>
              <a:t>큐브위성</a:t>
            </a:r>
            <a:r>
              <a:rPr lang="ko-KR" altLang="en-US" dirty="0"/>
              <a:t> 개발</a:t>
            </a:r>
            <a:r>
              <a:rPr lang="en-US" altLang="ko-KR" dirty="0"/>
              <a:t>(</a:t>
            </a:r>
            <a:r>
              <a:rPr lang="ko-KR" altLang="en-US" dirty="0"/>
              <a:t>시험장비</a:t>
            </a:r>
            <a:r>
              <a:rPr lang="en-US" altLang="ko-KR" dirty="0"/>
              <a:t>)</a:t>
            </a:r>
            <a:r>
              <a:rPr lang="ko-KR" altLang="en-US" dirty="0"/>
              <a:t> 문서</a:t>
            </a:r>
            <a:r>
              <a:rPr lang="en-US" altLang="ko-KR" dirty="0"/>
              <a:t>(2021.12.21)</a:t>
            </a:r>
          </a:p>
          <a:p>
            <a:pPr lvl="2"/>
            <a:r>
              <a:rPr lang="en-US" altLang="ko-KR" dirty="0"/>
              <a:t>3.2. </a:t>
            </a:r>
            <a:r>
              <a:rPr lang="ko-KR" altLang="en-US" dirty="0"/>
              <a:t>체계 요구사항</a:t>
            </a:r>
            <a:endParaRPr lang="en-US" altLang="ko-KR" dirty="0"/>
          </a:p>
          <a:p>
            <a:pPr lvl="1"/>
            <a:endParaRPr lang="en-US" altLang="ko-KR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한화시스템 요구사항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8C39C7A-1407-2544-30E7-0DEE9E9DD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9288899"/>
                  </p:ext>
                </p:extLst>
              </p:nvPr>
            </p:nvGraphicFramePr>
            <p:xfrm>
              <a:off x="409822" y="2112388"/>
              <a:ext cx="8324356" cy="38838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4101">
                      <a:extLst>
                        <a:ext uri="{9D8B030D-6E8A-4147-A177-3AD203B41FA5}">
                          <a16:colId xmlns:a16="http://schemas.microsoft.com/office/drawing/2014/main" val="786486553"/>
                        </a:ext>
                      </a:extLst>
                    </a:gridCol>
                    <a:gridCol w="1552743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5012181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1465331">
                      <a:extLst>
                        <a:ext uri="{9D8B030D-6E8A-4147-A177-3AD203B41FA5}">
                          <a16:colId xmlns:a16="http://schemas.microsoft.com/office/drawing/2014/main" val="3530947212"/>
                        </a:ext>
                      </a:extLst>
                    </a:gridCol>
                  </a:tblGrid>
                  <a:tr h="2614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rgbClr val="FFFFFF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주요 특성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요구 조건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비고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임무 수명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개월 이상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고도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500 km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전후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박막 전개 시스템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최소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 m x 1 m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박막 전개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2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GNSS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데이터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지상 후처리의 정밀궤도 결정 위치 정밀도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0.5 m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이내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(3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𝜎</m:t>
                              </m:r>
                            </m:oMath>
                          </a14:m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각축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*21.11.19 </a:t>
                          </a:r>
                        </a:p>
                        <a:p>
                          <a:pPr latinLnBrk="1"/>
                          <a:r>
                            <a:rPr lang="ko-KR" altLang="en-US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연세대 제출 제안서 </a:t>
                          </a: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p.7 </a:t>
                          </a:r>
                          <a:r>
                            <a:rPr lang="ko-KR" altLang="en-US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참고하여 </a:t>
                          </a: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GNSS </a:t>
                          </a:r>
                          <a:r>
                            <a:rPr lang="ko-KR" altLang="en-US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원시 데이터 송신 → 지상 후처리로 변경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982338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 err="1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대즐링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상황식별 파장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520 nm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~590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nm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와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630 nm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~ 690 nm </a:t>
                          </a:r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[TBC] 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3071313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SLR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레이저 검출 파장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532 nm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와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1064 nm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3233640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시스템 연동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차세대 우주물체 정밀 추적 시스템 및 레이저 </a:t>
                          </a:r>
                          <a:r>
                            <a:rPr lang="ko-KR" altLang="en-US" sz="1200" b="0" dirty="0" err="1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대즐링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능동방어 시스템과 연동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732138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성능검증 시험 운용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차세대 우주물체 정밀 추적 시스템 및 레이저 </a:t>
                          </a:r>
                          <a:r>
                            <a:rPr lang="ko-KR" altLang="en-US" sz="1200" b="0" dirty="0" err="1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대즐링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능동방어 시스템의 성능 검증 시험이 안정적으로 시행될 수 있도록 설계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7736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8C39C7A-1407-2544-30E7-0DEE9E9DD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9288899"/>
                  </p:ext>
                </p:extLst>
              </p:nvPr>
            </p:nvGraphicFramePr>
            <p:xfrm>
              <a:off x="409822" y="2112388"/>
              <a:ext cx="8324356" cy="38838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4101">
                      <a:extLst>
                        <a:ext uri="{9D8B030D-6E8A-4147-A177-3AD203B41FA5}">
                          <a16:colId xmlns:a16="http://schemas.microsoft.com/office/drawing/2014/main" val="786486553"/>
                        </a:ext>
                      </a:extLst>
                    </a:gridCol>
                    <a:gridCol w="1552743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5012181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1465331">
                      <a:extLst>
                        <a:ext uri="{9D8B030D-6E8A-4147-A177-3AD203B41FA5}">
                          <a16:colId xmlns:a16="http://schemas.microsoft.com/office/drawing/2014/main" val="3530947212"/>
                        </a:ext>
                      </a:extLst>
                    </a:gridCol>
                  </a:tblGrid>
                  <a:tr h="2614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rgbClr val="FFFFFF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주요 특성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요구 조건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비고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임무 수명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개월 이상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고도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500 km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전후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박막 전개 시스템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최소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 m x 1 m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박막 전개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2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  <a:tr h="757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GNSS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데이터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938" t="-194355" r="-29405" b="-228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*21.11.19 </a:t>
                          </a:r>
                        </a:p>
                        <a:p>
                          <a:pPr latinLnBrk="1"/>
                          <a:r>
                            <a:rPr lang="ko-KR" altLang="en-US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연세대 제출 제안서 </a:t>
                          </a: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p.7 </a:t>
                          </a:r>
                          <a:r>
                            <a:rPr lang="ko-KR" altLang="en-US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참고하여 </a:t>
                          </a: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GNSS </a:t>
                          </a:r>
                          <a:r>
                            <a:rPr lang="ko-KR" altLang="en-US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원시 데이터 송신 → 지상 후처리로 변경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982338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 err="1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대즐링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상황식별 파장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520 nm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~590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nm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와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630 nm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~ 690 nm </a:t>
                          </a:r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[TBC] 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3071313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SLR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레이저 검출 파장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532 nm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와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1064 nm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3233640"/>
                      </a:ext>
                    </a:extLst>
                  </a:tr>
                  <a:tr h="437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시스템 연동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차세대 우주물체 정밀 추적 시스템 및 레이저 </a:t>
                          </a:r>
                          <a:r>
                            <a:rPr lang="ko-KR" altLang="en-US" sz="1200" b="0" dirty="0" err="1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대즐링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능동방어 시스템과 연동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732138"/>
                      </a:ext>
                    </a:extLst>
                  </a:tr>
                  <a:tr h="437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성능검증 시험 운용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차세대 우주물체 정밀 추적 시스템 및 레이저 </a:t>
                          </a:r>
                          <a:r>
                            <a:rPr lang="ko-KR" altLang="en-US" sz="1200" b="0" dirty="0" err="1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대즐링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능동방어 시스템의 성능 검증 시험이 안정적으로 시행될 수 있도록 설계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7736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F0B4E2D0-863E-8B71-7CE0-34C028D7BF3D}"/>
              </a:ext>
            </a:extLst>
          </p:cNvPr>
          <p:cNvSpPr/>
          <p:nvPr/>
        </p:nvSpPr>
        <p:spPr>
          <a:xfrm>
            <a:off x="2359450" y="6150946"/>
            <a:ext cx="483048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체계 요구사항 표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4082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큐브 위성 시스템 개발현황</a:t>
            </a:r>
          </a:p>
        </p:txBody>
      </p:sp>
    </p:spTree>
    <p:extLst>
      <p:ext uri="{BB962C8B-B14F-4D97-AF65-F5344CB8AC3E}">
        <p14:creationId xmlns:p14="http://schemas.microsoft.com/office/powerpoint/2010/main" val="371599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박막 전개장치 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요구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제한 사항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16000" lvl="1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주요 기능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박막 전개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전개  속도 조절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박막 전개 여부 확인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박막 전개장치의 상태 정보 수집 및 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OBC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로 전달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1 : Deployment</a:t>
            </a:r>
            <a:r>
              <a:rPr lang="ko-KR" altLang="en-US" dirty="0"/>
              <a:t> </a:t>
            </a:r>
            <a:r>
              <a:rPr lang="en-US" altLang="ko-KR" dirty="0"/>
              <a:t>Reflector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8C39C7A-1407-2544-30E7-0DEE9E9DD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4159643"/>
                  </p:ext>
                </p:extLst>
              </p:nvPr>
            </p:nvGraphicFramePr>
            <p:xfrm>
              <a:off x="465090" y="1864162"/>
              <a:ext cx="8213818" cy="18926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4848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4583786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1735184">
                      <a:extLst>
                        <a:ext uri="{9D8B030D-6E8A-4147-A177-3AD203B41FA5}">
                          <a16:colId xmlns:a16="http://schemas.microsoft.com/office/drawing/2014/main" val="3530947212"/>
                        </a:ext>
                      </a:extLst>
                    </a:gridCol>
                  </a:tblGrid>
                  <a:tr h="2614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주요 특성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요구 조건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비고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박막 전개장치 </a:t>
                          </a:r>
                          <a:r>
                            <a:rPr lang="ko-KR" altLang="en-US" sz="1200" b="0" dirty="0" err="1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탑재체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규격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latinLnBrk="1">
                            <a:buAutoNum type="arabicParenBoth"/>
                          </a:pP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질량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1 kg</a:t>
                          </a:r>
                        </a:p>
                        <a:p>
                          <a:pPr marL="228600" marR="0" lvl="0" indent="-22860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arenBoth"/>
                            <a:tabLst/>
                            <a:defRPr/>
                          </a:pP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크기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100.0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100.0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100.0 mm</a:t>
                          </a:r>
                          <a:r>
                            <a:rPr lang="en-US" altLang="ko-KR" sz="1200" b="0" baseline="300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[TBD]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이내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(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비전개시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반사율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&gt; 16% (@ SLR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레이저 파장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1064 nm)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. </a:t>
                          </a: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체계 요구사항 표 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No. 6</a:t>
                          </a:r>
                          <a:endParaRPr lang="ko-KR" altLang="en-US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박막 전개 후 규격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1 m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1 m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.</a:t>
                          </a: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체계 요구사항 표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No. 3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데이터 통신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CAN-bus [TBD]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982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8C39C7A-1407-2544-30E7-0DEE9E9DD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4159643"/>
                  </p:ext>
                </p:extLst>
              </p:nvPr>
            </p:nvGraphicFramePr>
            <p:xfrm>
              <a:off x="465090" y="1864162"/>
              <a:ext cx="8213818" cy="18926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4848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4583786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1735184">
                      <a:extLst>
                        <a:ext uri="{9D8B030D-6E8A-4147-A177-3AD203B41FA5}">
                          <a16:colId xmlns:a16="http://schemas.microsoft.com/office/drawing/2014/main" val="3530947212"/>
                        </a:ext>
                      </a:extLst>
                    </a:gridCol>
                  </a:tblGrid>
                  <a:tr h="2614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주요 특성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요구 조건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비고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437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박막 전개장치 </a:t>
                          </a:r>
                          <a:r>
                            <a:rPr lang="ko-KR" altLang="en-US" sz="1200" b="0" dirty="0" err="1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탑재체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규격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1489" t="-62500" r="-38165" b="-276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반사율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&gt; 16% (@ SLR 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레이저 파장 </a:t>
                          </a: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1064 nm)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. </a:t>
                          </a: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체계 요구사항 표 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No. 6</a:t>
                          </a:r>
                          <a:endParaRPr lang="ko-KR" altLang="en-US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박막 전개 후 규격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1489" t="-281538" r="-38165" b="-1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.</a:t>
                          </a: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체계 요구사항 표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No. 3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데이터 통신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CAN-bus [TBD] 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9823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27AD723B-A39B-B0BD-A656-D61DB79DFF6D}"/>
              </a:ext>
            </a:extLst>
          </p:cNvPr>
          <p:cNvSpPr/>
          <p:nvPr/>
        </p:nvSpPr>
        <p:spPr>
          <a:xfrm>
            <a:off x="2156755" y="3916561"/>
            <a:ext cx="483048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박막 전개장치 요구조건 표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279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박막 전개장치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WBS (Work Breakdown Structure)</a:t>
            </a: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1 : Deployment</a:t>
            </a:r>
            <a:r>
              <a:rPr lang="ko-KR" altLang="en-US" dirty="0"/>
              <a:t> </a:t>
            </a:r>
            <a:r>
              <a:rPr lang="en-US" altLang="ko-KR" dirty="0"/>
              <a:t>Reflector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8C39C7A-1407-2544-30E7-0DEE9E9DD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82551"/>
              </p:ext>
            </p:extLst>
          </p:nvPr>
        </p:nvGraphicFramePr>
        <p:xfrm>
          <a:off x="257081" y="1791050"/>
          <a:ext cx="8629837" cy="43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948">
                  <a:extLst>
                    <a:ext uri="{9D8B030D-6E8A-4147-A177-3AD203B41FA5}">
                      <a16:colId xmlns:a16="http://schemas.microsoft.com/office/drawing/2014/main" val="3358291018"/>
                    </a:ext>
                  </a:extLst>
                </a:gridCol>
                <a:gridCol w="1761671">
                  <a:extLst>
                    <a:ext uri="{9D8B030D-6E8A-4147-A177-3AD203B41FA5}">
                      <a16:colId xmlns:a16="http://schemas.microsoft.com/office/drawing/2014/main" val="735291838"/>
                    </a:ext>
                  </a:extLst>
                </a:gridCol>
                <a:gridCol w="4754257">
                  <a:extLst>
                    <a:ext uri="{9D8B030D-6E8A-4147-A177-3AD203B41FA5}">
                      <a16:colId xmlns:a16="http://schemas.microsoft.com/office/drawing/2014/main" val="4216081457"/>
                    </a:ext>
                  </a:extLst>
                </a:gridCol>
                <a:gridCol w="817961">
                  <a:extLst>
                    <a:ext uri="{9D8B030D-6E8A-4147-A177-3AD203B41FA5}">
                      <a16:colId xmlns:a16="http://schemas.microsoft.com/office/drawing/2014/main" val="3530947212"/>
                    </a:ext>
                  </a:extLst>
                </a:gridCol>
              </a:tblGrid>
              <a:tr h="1694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 3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 5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Note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41221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벤치마킹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전개 방법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CanX-7 and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Canyvel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-C 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전개 방법 조사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진행완료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315141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수납 방법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수납 방법 조사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진행완료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800802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전개 시험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전개 장치의 초기 제작 및 원활한 전개 여부 파악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717632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예비설계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H/W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선택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테이프 스프링 상용 부품 시장 조사 및 부품 선정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982338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재질 조사 및 재질 선정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103079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테이프 스프링과 회전축 연결 부품 시장 조사 및 부품 선정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472915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카트리지 하우징 재질 조사 및 재질 선정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448939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테이프 스프링 감는 장치 부품 시장 조사 및 부품 선정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732568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메커니즘 설계 및 분석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전개 메커니즘 설계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550522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테이프 스프링 감는 장치 메커니즘 설계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93313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번와이어 메커니즘 설계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27463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격벽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오픈 메커니즘 설계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809692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수납 방법 설계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951348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모듈 조립 및 시험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테이프 스프링 감는 시험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691537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전개 시험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414838"/>
                  </a:ext>
                </a:extLst>
              </a:tr>
              <a:tr h="2361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반복 박막 전개 시험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91955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8A57A964-A8CB-D2F9-2701-6046B0852B4F}"/>
              </a:ext>
            </a:extLst>
          </p:cNvPr>
          <p:cNvSpPr/>
          <p:nvPr/>
        </p:nvSpPr>
        <p:spPr>
          <a:xfrm>
            <a:off x="2285876" y="6171884"/>
            <a:ext cx="483048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박막 전개장치 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WBS&gt;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0163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박막 전개장치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주요 필요 부품 및 기능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1 : Deployment</a:t>
            </a:r>
            <a:r>
              <a:rPr lang="ko-KR" altLang="en-US" dirty="0"/>
              <a:t> </a:t>
            </a:r>
            <a:r>
              <a:rPr lang="en-US" altLang="ko-KR" dirty="0"/>
              <a:t>Reflector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AA8E919-4ACA-E712-9526-C7E8C4315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828436"/>
              </p:ext>
            </p:extLst>
          </p:nvPr>
        </p:nvGraphicFramePr>
        <p:xfrm>
          <a:off x="503099" y="1750731"/>
          <a:ext cx="8021141" cy="2593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576">
                  <a:extLst>
                    <a:ext uri="{9D8B030D-6E8A-4147-A177-3AD203B41FA5}">
                      <a16:colId xmlns:a16="http://schemas.microsoft.com/office/drawing/2014/main" val="685804573"/>
                    </a:ext>
                  </a:extLst>
                </a:gridCol>
                <a:gridCol w="6171565">
                  <a:extLst>
                    <a:ext uri="{9D8B030D-6E8A-4147-A177-3AD203B41FA5}">
                      <a16:colId xmlns:a16="http://schemas.microsoft.com/office/drawing/2014/main" val="735291838"/>
                    </a:ext>
                  </a:extLst>
                </a:gridCol>
              </a:tblGrid>
              <a:tr h="3017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요소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41221"/>
                  </a:ext>
                </a:extLst>
              </a:tr>
              <a:tr h="286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테이프 스프링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전개를 위한 가이드 붐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315141"/>
                  </a:ext>
                </a:extLst>
              </a:tr>
              <a:tr h="286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SLR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레이저 반사를 위한 박막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800802"/>
                  </a:ext>
                </a:extLst>
              </a:tr>
              <a:tr h="28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로터리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댐퍼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전개 속도를 조절해주는 장치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717632"/>
                  </a:ext>
                </a:extLst>
              </a:tr>
              <a:tr h="286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회전축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테이프 스프링을 감아 놓는 장치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982338"/>
                  </a:ext>
                </a:extLst>
              </a:tr>
              <a:tr h="286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롤러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전개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테이프 스프링의 형상이 일정하게 유지되며 풀리도록 가이드해주는 장치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103079"/>
                  </a:ext>
                </a:extLst>
              </a:tr>
              <a:tr h="286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롤러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고정부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롤러들을 고정해주는 장치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472915"/>
                  </a:ext>
                </a:extLst>
              </a:tr>
              <a:tr h="286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번와이어 메커니즘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신호를 받으면 번와이어가 끊어지면서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격벽이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열리는 시스템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860799"/>
                  </a:ext>
                </a:extLst>
              </a:tr>
              <a:tr h="286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격벽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테이프 스프링이 전개되기 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테이프 스프링이 풀리는 것을 막아주는 벽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245022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29530134-08F1-CEF7-EDF1-23806010B677}"/>
              </a:ext>
            </a:extLst>
          </p:cNvPr>
          <p:cNvSpPr/>
          <p:nvPr/>
        </p:nvSpPr>
        <p:spPr>
          <a:xfrm>
            <a:off x="2245608" y="4353161"/>
            <a:ext cx="483048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박막 전개장치 주요 부품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4B2BF1C-AC5F-CAA2-EF37-F4C92369824F}"/>
              </a:ext>
            </a:extLst>
          </p:cNvPr>
          <p:cNvGrpSpPr/>
          <p:nvPr/>
        </p:nvGrpSpPr>
        <p:grpSpPr>
          <a:xfrm>
            <a:off x="1108266" y="4754763"/>
            <a:ext cx="7193550" cy="1933024"/>
            <a:chOff x="-90135" y="3945846"/>
            <a:chExt cx="10229488" cy="2748829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BAF0B825-6D8E-8493-B62C-5E39A0684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099" y="4202867"/>
              <a:ext cx="3532170" cy="2036124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8B2FDE1-8BBB-B162-F303-6DB112D9D64F}"/>
                </a:ext>
              </a:extLst>
            </p:cNvPr>
            <p:cNvSpPr/>
            <p:nvPr/>
          </p:nvSpPr>
          <p:spPr>
            <a:xfrm>
              <a:off x="-90135" y="6382032"/>
              <a:ext cx="4830487" cy="309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&lt;</a:t>
              </a:r>
              <a:r>
                <a:rPr lang="ko-KR" altLang="en-US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박막 전개장치 모듈</a:t>
              </a:r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&gt;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0440DE9-4195-49F2-9D17-9A4760B6407E}"/>
                </a:ext>
              </a:extLst>
            </p:cNvPr>
            <p:cNvSpPr/>
            <p:nvPr/>
          </p:nvSpPr>
          <p:spPr>
            <a:xfrm>
              <a:off x="4038058" y="6385259"/>
              <a:ext cx="4830487" cy="309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&lt;</a:t>
              </a:r>
              <a:r>
                <a:rPr lang="ko-KR" altLang="en-US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박막 전개장치</a:t>
              </a:r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&gt;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476D8442-55B1-29F4-1480-D797A2203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6518094" y="4650927"/>
              <a:ext cx="1730073" cy="1637058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5E6B58EE-D288-6415-A3FE-54A236619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1999" y="4655714"/>
              <a:ext cx="1946095" cy="16370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2C2249F-3E54-595A-ED03-DB7C45A76221}"/>
                    </a:ext>
                  </a:extLst>
                </p:cNvPr>
                <p:cNvSpPr txBox="1"/>
                <p:nvPr/>
              </p:nvSpPr>
              <p:spPr>
                <a:xfrm>
                  <a:off x="7229421" y="4276388"/>
                  <a:ext cx="1337078" cy="3501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1000" b="1" i="1" dirty="0">
                          <a:latin typeface="Cambria Math" panose="02040503050406030204" pitchFamily="18" charset="0"/>
                        </a:rPr>
                        <m:t>로</m:t>
                      </m:r>
                    </m:oMath>
                  </a14:m>
                  <a:r>
                    <a:rPr lang="ko-KR" altLang="en-US" sz="1000" b="1" dirty="0">
                      <a:latin typeface="times" panose="02020603050405020304" pitchFamily="18" charset="0"/>
                      <a:cs typeface="times" panose="02020603050405020304" pitchFamily="18" charset="0"/>
                    </a:rPr>
                    <a:t>터리 댐퍼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2C2249F-3E54-595A-ED03-DB7C45A762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9421" y="4276388"/>
                  <a:ext cx="1337078" cy="350135"/>
                </a:xfrm>
                <a:prstGeom prst="rect">
                  <a:avLst/>
                </a:prstGeom>
                <a:blipFill>
                  <a:blip r:embed="rId7"/>
                  <a:stretch>
                    <a:fillRect b="-975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6AC4E2B6-A9C8-75CC-26ED-0916D1464816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>
              <a:off x="7620647" y="4626523"/>
              <a:ext cx="277313" cy="321778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5D9CF8FA-F8EC-2357-A1FD-C2610AE3A0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8667" y="4722625"/>
              <a:ext cx="437667" cy="325258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FBAC33CF-E63C-BC5E-C25B-41CADB6ABD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7331" y="5347269"/>
              <a:ext cx="619088" cy="532831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A3CFCF13-4931-0F56-B3CA-85B685AB60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8334" y="5742279"/>
              <a:ext cx="597933" cy="302997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FDA02F82-EFAD-D1E7-EB99-2381C8BC8941}"/>
                </a:ext>
              </a:extLst>
            </p:cNvPr>
            <p:cNvCxnSpPr>
              <a:cxnSpLocks/>
            </p:cNvCxnSpPr>
            <p:nvPr/>
          </p:nvCxnSpPr>
          <p:spPr>
            <a:xfrm>
              <a:off x="4952047" y="4487973"/>
              <a:ext cx="535269" cy="794561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90A2B12B-B5A8-5AC6-45A9-72162B720F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1426" y="4885253"/>
              <a:ext cx="514559" cy="335676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AAB06CC7-876B-E9DE-7874-70272977E7D1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00" y="4429597"/>
              <a:ext cx="662792" cy="523403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5E63F8D-6700-4589-6E8F-D3CE30286A18}"/>
                </a:ext>
              </a:extLst>
            </p:cNvPr>
            <p:cNvSpPr txBox="1"/>
            <p:nvPr/>
          </p:nvSpPr>
          <p:spPr>
            <a:xfrm>
              <a:off x="8260198" y="4360914"/>
              <a:ext cx="1879155" cy="350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times" panose="02020603050405020304" pitchFamily="18" charset="0"/>
                  <a:cs typeface="times" panose="02020603050405020304" pitchFamily="18" charset="0"/>
                </a:rPr>
                <a:t>롤러 </a:t>
              </a:r>
              <a:r>
                <a:rPr lang="ko-KR" altLang="en-US" sz="1000" b="1" dirty="0" err="1">
                  <a:latin typeface="times" panose="02020603050405020304" pitchFamily="18" charset="0"/>
                  <a:cs typeface="times" panose="02020603050405020304" pitchFamily="18" charset="0"/>
                </a:rPr>
                <a:t>고정부</a:t>
              </a:r>
              <a:endParaRPr lang="ko-KR" altLang="en-US" sz="1000" b="1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6265146-764D-1E80-0D88-1C91EE0A8428}"/>
                </a:ext>
              </a:extLst>
            </p:cNvPr>
            <p:cNvSpPr txBox="1"/>
            <p:nvPr/>
          </p:nvSpPr>
          <p:spPr>
            <a:xfrm>
              <a:off x="6724276" y="5836595"/>
              <a:ext cx="928663" cy="350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times" panose="02020603050405020304" pitchFamily="18" charset="0"/>
                  <a:cs typeface="times" panose="02020603050405020304" pitchFamily="18" charset="0"/>
                </a:rPr>
                <a:t>회전축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3877BA-BF25-A2A7-3614-C3CBCD75B124}"/>
                </a:ext>
              </a:extLst>
            </p:cNvPr>
            <p:cNvSpPr txBox="1"/>
            <p:nvPr/>
          </p:nvSpPr>
          <p:spPr>
            <a:xfrm>
              <a:off x="5966912" y="6022445"/>
              <a:ext cx="658809" cy="350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>
                  <a:latin typeface="times" panose="02020603050405020304" pitchFamily="18" charset="0"/>
                  <a:cs typeface="times" panose="02020603050405020304" pitchFamily="18" charset="0"/>
                </a:rPr>
                <a:t>격벽</a:t>
              </a:r>
              <a:endParaRPr lang="ko-KR" altLang="en-US" sz="1000" b="1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D0248E0-834E-13F6-08C0-C6C29B37DF86}"/>
                </a:ext>
              </a:extLst>
            </p:cNvPr>
            <p:cNvSpPr txBox="1"/>
            <p:nvPr/>
          </p:nvSpPr>
          <p:spPr>
            <a:xfrm>
              <a:off x="4571999" y="3945846"/>
              <a:ext cx="1404524" cy="568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times" panose="02020603050405020304" pitchFamily="18" charset="0"/>
                  <a:cs typeface="times" panose="02020603050405020304" pitchFamily="18" charset="0"/>
                </a:rPr>
                <a:t>번와이어 </a:t>
              </a:r>
              <a:endPara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ko-KR" altLang="en-US" sz="1000" b="1" dirty="0">
                  <a:latin typeface="times" panose="02020603050405020304" pitchFamily="18" charset="0"/>
                  <a:cs typeface="times" panose="02020603050405020304" pitchFamily="18" charset="0"/>
                </a:rPr>
                <a:t>메커니즘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D2EDF3D-B007-DFDA-3B8E-9E90C48D764E}"/>
                </a:ext>
              </a:extLst>
            </p:cNvPr>
            <p:cNvSpPr txBox="1"/>
            <p:nvPr/>
          </p:nvSpPr>
          <p:spPr>
            <a:xfrm>
              <a:off x="3349066" y="4303043"/>
              <a:ext cx="954569" cy="568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times" panose="02020603050405020304" pitchFamily="18" charset="0"/>
                  <a:cs typeface="times" panose="02020603050405020304" pitchFamily="18" charset="0"/>
                </a:rPr>
                <a:t>테이프 스프링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BF93AF0-4924-75F0-0472-C42BDC7C8119}"/>
                </a:ext>
              </a:extLst>
            </p:cNvPr>
            <p:cNvSpPr txBox="1"/>
            <p:nvPr/>
          </p:nvSpPr>
          <p:spPr>
            <a:xfrm>
              <a:off x="734703" y="4161243"/>
              <a:ext cx="954569" cy="350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times" panose="02020603050405020304" pitchFamily="18" charset="0"/>
                  <a:cs typeface="times" panose="02020603050405020304" pitchFamily="18" charset="0"/>
                </a:rPr>
                <a:t>박막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20464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박막전개장치 설계</a:t>
            </a:r>
            <a:endParaRPr lang="en-US" altLang="ko-KR" dirty="0"/>
          </a:p>
          <a:p>
            <a:pPr lvl="1"/>
            <a:r>
              <a:rPr lang="en-US" altLang="ko-KR" dirty="0"/>
              <a:t>CanX-7</a:t>
            </a:r>
            <a:r>
              <a:rPr lang="ko-KR" altLang="en-US" dirty="0"/>
              <a:t>의 설계 변수를 참고하여 설계 진행</a:t>
            </a:r>
            <a:endParaRPr lang="en-US" altLang="ko-KR" dirty="0"/>
          </a:p>
          <a:p>
            <a:pPr lvl="2"/>
            <a:r>
              <a:rPr lang="ko-KR" altLang="en-US" dirty="0"/>
              <a:t>박막 전개</a:t>
            </a:r>
            <a:r>
              <a:rPr lang="en-US" altLang="ko-KR" dirty="0"/>
              <a:t> </a:t>
            </a:r>
            <a:r>
              <a:rPr lang="ko-KR" altLang="en-US" dirty="0"/>
              <a:t>시</a:t>
            </a:r>
            <a:r>
              <a:rPr lang="en-US" altLang="ko-KR" dirty="0"/>
              <a:t>, </a:t>
            </a:r>
            <a:r>
              <a:rPr lang="ko-KR" altLang="en-US" dirty="0"/>
              <a:t>테이프 스프링의 풀리는 형상을 일정하게 </a:t>
            </a:r>
            <a:endParaRPr lang="en-US" altLang="ko-KR" dirty="0"/>
          </a:p>
          <a:p>
            <a:pPr marL="432000" lvl="2" indent="0">
              <a:buNone/>
            </a:pPr>
            <a:r>
              <a:rPr lang="ko-KR" altLang="en-US" dirty="0"/>
              <a:t>     유지해주기 위한 가이드 롤러 배치 예정</a:t>
            </a: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1 : Deployment</a:t>
            </a:r>
            <a:r>
              <a:rPr lang="ko-KR" altLang="en-US" dirty="0"/>
              <a:t> </a:t>
            </a:r>
            <a:r>
              <a:rPr lang="en-US" altLang="ko-KR" dirty="0"/>
              <a:t>Reflector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49942A3-614F-D980-04C8-BFAAD7BF2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71894"/>
              </p:ext>
            </p:extLst>
          </p:nvPr>
        </p:nvGraphicFramePr>
        <p:xfrm>
          <a:off x="192769" y="2482756"/>
          <a:ext cx="5689865" cy="3449505"/>
        </p:xfrm>
        <a:graphic>
          <a:graphicData uri="http://schemas.openxmlformats.org/drawingml/2006/table">
            <a:tbl>
              <a:tblPr/>
              <a:tblGrid>
                <a:gridCol w="1655233">
                  <a:extLst>
                    <a:ext uri="{9D8B030D-6E8A-4147-A177-3AD203B41FA5}">
                      <a16:colId xmlns:a16="http://schemas.microsoft.com/office/drawing/2014/main" val="1837637580"/>
                    </a:ext>
                  </a:extLst>
                </a:gridCol>
                <a:gridCol w="620713">
                  <a:extLst>
                    <a:ext uri="{9D8B030D-6E8A-4147-A177-3AD203B41FA5}">
                      <a16:colId xmlns:a16="http://schemas.microsoft.com/office/drawing/2014/main" val="1788785997"/>
                    </a:ext>
                  </a:extLst>
                </a:gridCol>
                <a:gridCol w="344840">
                  <a:extLst>
                    <a:ext uri="{9D8B030D-6E8A-4147-A177-3AD203B41FA5}">
                      <a16:colId xmlns:a16="http://schemas.microsoft.com/office/drawing/2014/main" val="787890999"/>
                    </a:ext>
                  </a:extLst>
                </a:gridCol>
                <a:gridCol w="103454">
                  <a:extLst>
                    <a:ext uri="{9D8B030D-6E8A-4147-A177-3AD203B41FA5}">
                      <a16:colId xmlns:a16="http://schemas.microsoft.com/office/drawing/2014/main" val="3809730986"/>
                    </a:ext>
                  </a:extLst>
                </a:gridCol>
                <a:gridCol w="1814448">
                  <a:extLst>
                    <a:ext uri="{9D8B030D-6E8A-4147-A177-3AD203B41FA5}">
                      <a16:colId xmlns:a16="http://schemas.microsoft.com/office/drawing/2014/main" val="831333717"/>
                    </a:ext>
                  </a:extLst>
                </a:gridCol>
                <a:gridCol w="461497">
                  <a:extLst>
                    <a:ext uri="{9D8B030D-6E8A-4147-A177-3AD203B41FA5}">
                      <a16:colId xmlns:a16="http://schemas.microsoft.com/office/drawing/2014/main" val="3900822139"/>
                    </a:ext>
                  </a:extLst>
                </a:gridCol>
                <a:gridCol w="344840">
                  <a:extLst>
                    <a:ext uri="{9D8B030D-6E8A-4147-A177-3AD203B41FA5}">
                      <a16:colId xmlns:a16="http://schemas.microsoft.com/office/drawing/2014/main" val="1942887299"/>
                    </a:ext>
                  </a:extLst>
                </a:gridCol>
                <a:gridCol w="344840">
                  <a:extLst>
                    <a:ext uri="{9D8B030D-6E8A-4147-A177-3AD203B41FA5}">
                      <a16:colId xmlns:a16="http://schemas.microsoft.com/office/drawing/2014/main" val="3900689807"/>
                    </a:ext>
                  </a:extLst>
                </a:gridCol>
              </a:tblGrid>
              <a:tr h="168618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CanX-7 Parameter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HYVRID PAYR Parameter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7214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Quantity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Value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Units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Quantity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Value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Units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Note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992319"/>
                  </a:ext>
                </a:extLst>
              </a:tr>
              <a:tr h="2281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Boom length, nominal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Boom length, nominal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0.7071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</a:t>
                      </a: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4716278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Boom length, tests without sail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1.24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Boom length, tests without sail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866368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Transverse radius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16.75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Transverse radius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16.75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659445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Boom thickness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0.127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Boom thickness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0.120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951941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Boom width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19.05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 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Boom width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20.0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405163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Transverse angle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1.137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rad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Transverse angle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1.137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rad</a:t>
                      </a: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073767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Layer thickness of both booms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0.24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Layer thickness of both booms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0.240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75300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Outer boom static length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70.42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Outer boom static length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47.86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41282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Inner boom static length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40.75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Inner boom static length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30.89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4131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Radius of coil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17.29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Radius of coil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8.0   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138628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Number of bearing per roller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Number of bearing per roller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986981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Number of booms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Number of booms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5856772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Radius of roller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1.98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 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Radius of roller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2.0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 </a:t>
                      </a: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4514328"/>
                  </a:ext>
                </a:extLst>
              </a:tr>
              <a:tr h="2182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Roller assembly bearing bore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1.19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 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Roller assembly bearing bore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mm </a:t>
                      </a: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679464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DAEE5327-5467-9CE0-E346-7168A15A7220}"/>
              </a:ext>
            </a:extLst>
          </p:cNvPr>
          <p:cNvGrpSpPr/>
          <p:nvPr/>
        </p:nvGrpSpPr>
        <p:grpSpPr>
          <a:xfrm>
            <a:off x="6179322" y="950473"/>
            <a:ext cx="3113434" cy="1861397"/>
            <a:chOff x="2091584" y="3840333"/>
            <a:chExt cx="4428664" cy="2647718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8CCC786-01A8-E048-1AA4-BE1BC13EF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97981" y="3850159"/>
              <a:ext cx="3456134" cy="2417092"/>
            </a:xfrm>
            <a:prstGeom prst="rect">
              <a:avLst/>
            </a:prstGeom>
          </p:spPr>
        </p:pic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29C26627-6383-D0DF-5854-76166F389448}"/>
                </a:ext>
              </a:extLst>
            </p:cNvPr>
            <p:cNvCxnSpPr>
              <a:cxnSpLocks/>
            </p:cNvCxnSpPr>
            <p:nvPr/>
          </p:nvCxnSpPr>
          <p:spPr>
            <a:xfrm>
              <a:off x="4278385" y="4462943"/>
              <a:ext cx="1251357" cy="730394"/>
            </a:xfrm>
            <a:prstGeom prst="straightConnector1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EE9BF8CB-E502-F737-D936-95E3A27CAC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5027" y="4070959"/>
              <a:ext cx="2013358" cy="1163029"/>
            </a:xfrm>
            <a:prstGeom prst="straightConnector1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25D5B50D-E94E-0718-6C40-7574FA76A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9102" y="4462943"/>
              <a:ext cx="0" cy="992977"/>
            </a:xfrm>
            <a:prstGeom prst="straightConnector1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2ECA7B70-217F-B245-8568-94AB24DB45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9102" y="4106905"/>
              <a:ext cx="741518" cy="338977"/>
            </a:xfrm>
            <a:prstGeom prst="straightConnector1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B9C0439-9DD6-BEA1-0820-FBDA706604E2}"/>
                    </a:ext>
                  </a:extLst>
                </p:cNvPr>
                <p:cNvSpPr txBox="1"/>
                <p:nvPr/>
              </p:nvSpPr>
              <p:spPr>
                <a:xfrm>
                  <a:off x="4607555" y="4637071"/>
                  <a:ext cx="1912693" cy="4377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𝑰𝒏𝒏𝒆𝒓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𝑩𝒐𝒐𝒎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ko-KR" sz="700" b="1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𝑺𝒕𝒂𝒕𝒊𝒄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𝑳𝒆𝒏𝒈𝒕𝒉</m:t>
                        </m:r>
                      </m:oMath>
                    </m:oMathPara>
                  </a14:m>
                  <a:endParaRPr lang="ko-KR" altLang="en-US" sz="700" b="1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B9C0439-9DD6-BEA1-0820-FBDA706604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7555" y="4637071"/>
                  <a:ext cx="1912693" cy="43779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C424CB4-8343-9A29-E533-3C01F39494EA}"/>
                    </a:ext>
                  </a:extLst>
                </p:cNvPr>
                <p:cNvSpPr txBox="1"/>
                <p:nvPr/>
              </p:nvSpPr>
              <p:spPr>
                <a:xfrm>
                  <a:off x="2091584" y="4029244"/>
                  <a:ext cx="1912691" cy="2471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𝑶𝒖𝒕𝒆𝒓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𝑩𝒐𝒐𝒎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𝑺𝒕𝒂𝒕𝒊𝒄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𝑳𝒆𝒏𝒈𝒕𝒉</m:t>
                        </m:r>
                      </m:oMath>
                    </m:oMathPara>
                  </a14:m>
                  <a:endParaRPr lang="ko-KR" altLang="en-US" sz="700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C424CB4-8343-9A29-E533-3C01F3949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584" y="4029244"/>
                  <a:ext cx="1912691" cy="247148"/>
                </a:xfrm>
                <a:prstGeom prst="rect">
                  <a:avLst/>
                </a:prstGeom>
                <a:blipFill>
                  <a:blip r:embed="rId6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DE14513B-438C-B58F-1EBC-0A1507860F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942" y="6134207"/>
              <a:ext cx="304800" cy="11430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0F3E84C5-EAA5-2141-AE72-B1826935AC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3902" y="6019907"/>
              <a:ext cx="304800" cy="11430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EA39058-C13F-DED3-FE10-6D126E9DB1E3}"/>
                    </a:ext>
                  </a:extLst>
                </p:cNvPr>
                <p:cNvSpPr txBox="1"/>
                <p:nvPr/>
              </p:nvSpPr>
              <p:spPr>
                <a:xfrm>
                  <a:off x="3115282" y="5414609"/>
                  <a:ext cx="1912692" cy="2471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𝑩𝒐𝒐𝒎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𝑾𝒊𝒅𝒕𝒉</m:t>
                        </m:r>
                      </m:oMath>
                    </m:oMathPara>
                  </a14:m>
                  <a:endParaRPr lang="ko-KR" altLang="en-US" sz="700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EA39058-C13F-DED3-FE10-6D126E9DB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5282" y="5414609"/>
                  <a:ext cx="1912692" cy="24714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85CE012-0477-27FB-5113-A5BD4629DB7F}"/>
                    </a:ext>
                  </a:extLst>
                </p:cNvPr>
                <p:cNvSpPr txBox="1"/>
                <p:nvPr/>
              </p:nvSpPr>
              <p:spPr>
                <a:xfrm>
                  <a:off x="4044718" y="6240903"/>
                  <a:ext cx="1912692" cy="2471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𝑩𝒐𝒐𝒎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𝑻𝒉𝒊𝒄𝒌𝒏𝒆𝒔𝒔</m:t>
                        </m:r>
                      </m:oMath>
                    </m:oMathPara>
                  </a14:m>
                  <a:endParaRPr lang="ko-KR" altLang="en-US" sz="700" b="1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85CE012-0477-27FB-5113-A5BD4629DB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4718" y="6240903"/>
                  <a:ext cx="1912692" cy="24714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2EB647D-3FCD-C36B-326B-2A03AAB85C1C}"/>
                    </a:ext>
                  </a:extLst>
                </p:cNvPr>
                <p:cNvSpPr txBox="1"/>
                <p:nvPr/>
              </p:nvSpPr>
              <p:spPr>
                <a:xfrm>
                  <a:off x="4278385" y="3840333"/>
                  <a:ext cx="1912691" cy="2471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𝑹𝒂𝒅𝒊𝒖𝒔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𝒐𝒇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𝑪𝒐𝒊𝒍</m:t>
                        </m:r>
                      </m:oMath>
                    </m:oMathPara>
                  </a14:m>
                  <a:endParaRPr lang="ko-KR" altLang="en-US" sz="700" b="1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2EB647D-3FCD-C36B-326B-2A03AAB85C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8385" y="3840333"/>
                  <a:ext cx="1912691" cy="247149"/>
                </a:xfrm>
                <a:prstGeom prst="rect">
                  <a:avLst/>
                </a:prstGeom>
                <a:blipFill>
                  <a:blip r:embed="rId9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D835A90-3FE3-156C-85F5-267113299216}"/>
              </a:ext>
            </a:extLst>
          </p:cNvPr>
          <p:cNvGrpSpPr/>
          <p:nvPr/>
        </p:nvGrpSpPr>
        <p:grpSpPr>
          <a:xfrm>
            <a:off x="5994014" y="2896829"/>
            <a:ext cx="2729291" cy="1361436"/>
            <a:chOff x="1294337" y="838093"/>
            <a:chExt cx="5324578" cy="2656028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88518A2F-0FC4-112B-63DC-28B219BE5CF4}"/>
                </a:ext>
              </a:extLst>
            </p:cNvPr>
            <p:cNvGrpSpPr/>
            <p:nvPr/>
          </p:nvGrpSpPr>
          <p:grpSpPr>
            <a:xfrm>
              <a:off x="1517361" y="838093"/>
              <a:ext cx="5101554" cy="2656028"/>
              <a:chOff x="1517361" y="838093"/>
              <a:chExt cx="5101554" cy="2656028"/>
            </a:xfrm>
          </p:grpSpPr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C7061182-7B31-2589-68A0-A8062908B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17361" y="838093"/>
                <a:ext cx="5101554" cy="2656028"/>
              </a:xfrm>
              <a:prstGeom prst="rect">
                <a:avLst/>
              </a:prstGeom>
            </p:spPr>
          </p:pic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0620B214-5BBB-94EF-95BC-9B015B08BE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26048" y="2088859"/>
                <a:ext cx="1258348" cy="1275126"/>
              </a:xfrm>
              <a:prstGeom prst="straightConnector1">
                <a:avLst/>
              </a:prstGeom>
              <a:ln w="38100">
                <a:solidFill>
                  <a:srgbClr val="FFFF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05203EAE-23C3-1D95-FA0D-AAE886D28D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12690" y="1281769"/>
                <a:ext cx="2013358" cy="2023493"/>
              </a:xfrm>
              <a:prstGeom prst="straightConnector1">
                <a:avLst/>
              </a:prstGeom>
              <a:ln w="38100">
                <a:solidFill>
                  <a:srgbClr val="FFFF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3821BB4-1B88-DB42-023B-0B94A189EAC5}"/>
                    </a:ext>
                  </a:extLst>
                </p:cNvPr>
                <p:cNvSpPr txBox="1"/>
                <p:nvPr/>
              </p:nvSpPr>
              <p:spPr>
                <a:xfrm>
                  <a:off x="1294337" y="1631716"/>
                  <a:ext cx="1912691" cy="600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𝑶𝒖𝒕𝒆𝒓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𝑩𝒐𝒐𝒎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ko-KR" sz="700" b="1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𝑺𝒕𝒂𝒕𝒊𝒄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𝑳𝒆𝒏𝒈𝒕𝒉</m:t>
                        </m:r>
                      </m:oMath>
                    </m:oMathPara>
                  </a14:m>
                  <a:endParaRPr lang="ko-KR" altLang="en-US" sz="700" b="1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3821BB4-1B88-DB42-023B-0B94A189E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4337" y="1631716"/>
                  <a:ext cx="1912691" cy="6004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A513C2B-76F0-DA16-6FE1-E8AFAD19A26C}"/>
                    </a:ext>
                  </a:extLst>
                </p:cNvPr>
                <p:cNvSpPr txBox="1"/>
                <p:nvPr/>
              </p:nvSpPr>
              <p:spPr>
                <a:xfrm>
                  <a:off x="3212565" y="2728691"/>
                  <a:ext cx="1912691" cy="600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𝑰𝒏𝒏𝒆𝒓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𝑩𝒐𝒐𝒎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ko-KR" sz="700" b="1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𝑺𝒕𝒂𝒕𝒊𝒄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700" b="1" i="1" dirty="0" smtClean="0">
                            <a:latin typeface="Cambria Math" panose="02040503050406030204" pitchFamily="18" charset="0"/>
                          </a:rPr>
                          <m:t>𝑳𝒆𝒏𝒈𝒕𝒉</m:t>
                        </m:r>
                      </m:oMath>
                    </m:oMathPara>
                  </a14:m>
                  <a:endParaRPr lang="ko-KR" altLang="en-US" sz="700" b="1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A513C2B-76F0-DA16-6FE1-E8AFAD19A2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2565" y="2728691"/>
                  <a:ext cx="1912691" cy="600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C20CC8F-F23D-1852-F52A-DC109D16EDF9}"/>
              </a:ext>
            </a:extLst>
          </p:cNvPr>
          <p:cNvGrpSpPr/>
          <p:nvPr/>
        </p:nvGrpSpPr>
        <p:grpSpPr>
          <a:xfrm>
            <a:off x="6179322" y="4329521"/>
            <a:ext cx="2282402" cy="2299563"/>
            <a:chOff x="7118650" y="641103"/>
            <a:chExt cx="3027246" cy="3050007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5E0246EC-EDE9-58B2-68BB-5EF6F7C93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118650" y="641103"/>
              <a:ext cx="3027246" cy="3050007"/>
            </a:xfrm>
            <a:prstGeom prst="rect">
              <a:avLst/>
            </a:prstGeom>
          </p:spPr>
        </p:pic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3DA8AF97-76F4-8BFA-0070-E306AC267067}"/>
                </a:ext>
              </a:extLst>
            </p:cNvPr>
            <p:cNvCxnSpPr>
              <a:cxnSpLocks/>
            </p:cNvCxnSpPr>
            <p:nvPr/>
          </p:nvCxnSpPr>
          <p:spPr>
            <a:xfrm>
              <a:off x="8623883" y="2181138"/>
              <a:ext cx="1426128" cy="1417739"/>
            </a:xfrm>
            <a:prstGeom prst="straightConnector1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3619C30C-D320-2D99-5A1B-D14F5E914D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0747" y="2181138"/>
              <a:ext cx="1383136" cy="1417739"/>
            </a:xfrm>
            <a:prstGeom prst="straightConnector1">
              <a:avLst/>
            </a:prstGeom>
            <a:ln w="38100">
              <a:solidFill>
                <a:srgbClr val="FFFF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2FAE388-B0D2-B3D3-65D2-13B25C0055D1}"/>
                    </a:ext>
                  </a:extLst>
                </p:cNvPr>
                <p:cNvSpPr txBox="1"/>
                <p:nvPr/>
              </p:nvSpPr>
              <p:spPr>
                <a:xfrm>
                  <a:off x="7667537" y="3117764"/>
                  <a:ext cx="191269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000" b="1" i="1" dirty="0" smtClean="0">
                            <a:latin typeface="Cambria Math" panose="02040503050406030204" pitchFamily="18" charset="0"/>
                          </a:rPr>
                          <m:t>𝑩𝒐𝒐𝒎</m:t>
                        </m:r>
                        <m:r>
                          <a:rPr lang="en-US" altLang="ko-KR" sz="10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000" b="1" i="1" dirty="0" smtClean="0">
                            <a:latin typeface="Cambria Math" panose="02040503050406030204" pitchFamily="18" charset="0"/>
                          </a:rPr>
                          <m:t>𝑳𝒆𝒏𝒈𝒕𝒉</m:t>
                        </m:r>
                        <m:r>
                          <a:rPr lang="en-US" altLang="ko-KR" sz="1000" b="1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000" b="1" i="1" dirty="0" smtClean="0">
                            <a:latin typeface="Cambria Math" panose="02040503050406030204" pitchFamily="18" charset="0"/>
                          </a:rPr>
                          <m:t>𝑵𝒐𝒎𝒊𝒏𝒂𝒍</m:t>
                        </m:r>
                      </m:oMath>
                    </m:oMathPara>
                  </a14:m>
                  <a:endParaRPr lang="ko-KR" altLang="en-US" sz="1000" b="1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531C624-D81A-3CFA-063B-48EB54EDE7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7537" y="3117764"/>
                  <a:ext cx="1912691" cy="246221"/>
                </a:xfrm>
                <a:prstGeom prst="rect">
                  <a:avLst/>
                </a:prstGeom>
                <a:blipFill>
                  <a:blip r:embed="rId14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082D7E4-0BD4-DEE3-D48E-075967630548}"/>
              </a:ext>
            </a:extLst>
          </p:cNvPr>
          <p:cNvSpPr txBox="1"/>
          <p:nvPr/>
        </p:nvSpPr>
        <p:spPr>
          <a:xfrm>
            <a:off x="261947" y="6037793"/>
            <a:ext cx="4648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times" panose="02020603050405020304" pitchFamily="18" charset="0"/>
                <a:cs typeface="times" panose="02020603050405020304" pitchFamily="18" charset="0"/>
              </a:rPr>
              <a:t>Ref. Mechanical Design and Development of a Modular Drag Sail for the CanX-7 Nanosatellite Mission. Appendix A</a:t>
            </a:r>
            <a:endParaRPr lang="ko-KR" altLang="en-US" sz="1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5503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7F1D386E-A0BD-4750-DF69-538701C486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92" t="1681" r="1252" b="5575"/>
          <a:stretch/>
        </p:blipFill>
        <p:spPr>
          <a:xfrm>
            <a:off x="1120428" y="2295834"/>
            <a:ext cx="3600276" cy="197488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810718" cy="5376968"/>
          </a:xfrm>
        </p:spPr>
        <p:txBody>
          <a:bodyPr/>
          <a:lstStyle/>
          <a:p>
            <a:r>
              <a:rPr lang="ko-KR" altLang="en-US" dirty="0"/>
              <a:t>박막 수납 방법</a:t>
            </a:r>
            <a:endParaRPr lang="en-US" altLang="ko-KR" dirty="0"/>
          </a:p>
          <a:p>
            <a:pPr marL="501750" lvl="1" indent="-285750"/>
            <a:r>
              <a:rPr lang="ko-KR" altLang="en-US" dirty="0"/>
              <a:t>종이접기 기법</a:t>
            </a:r>
            <a:r>
              <a:rPr lang="en-US" altLang="ko-KR" dirty="0"/>
              <a:t>(Folding method)</a:t>
            </a:r>
            <a:r>
              <a:rPr lang="ko-KR" altLang="en-US" dirty="0"/>
              <a:t>을 사용하여  </a:t>
            </a:r>
            <a:r>
              <a:rPr lang="en-US" altLang="ko-KR" dirty="0"/>
              <a:t>0.25m</a:t>
            </a:r>
            <a:r>
              <a:rPr lang="en-US" altLang="ko-KR" baseline="30000" dirty="0"/>
              <a:t>2</a:t>
            </a:r>
            <a:r>
              <a:rPr lang="ko-KR" altLang="en-US" dirty="0"/>
              <a:t> 박막 수납 시</a:t>
            </a:r>
            <a:r>
              <a:rPr lang="en-US" altLang="ko-KR" dirty="0"/>
              <a:t>,</a:t>
            </a:r>
            <a:r>
              <a:rPr lang="ko-KR" altLang="en-US" dirty="0"/>
              <a:t> 최종 부피 확인</a:t>
            </a:r>
            <a:endParaRPr lang="en-US" altLang="ko-KR" dirty="0"/>
          </a:p>
          <a:p>
            <a:pPr marL="501750" lvl="1" indent="-285750"/>
            <a:r>
              <a:rPr lang="ko-KR" altLang="en-US" dirty="0"/>
              <a:t>종이접기 기법</a:t>
            </a:r>
            <a:r>
              <a:rPr lang="en-US" altLang="ko-KR" dirty="0"/>
              <a:t>: Z-Folding, Vertical Folding, Horizontal Folding, Blossom Folding</a:t>
            </a:r>
          </a:p>
          <a:p>
            <a:pPr marL="861750" lvl="3" indent="-285750"/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1 : Deployment</a:t>
            </a:r>
            <a:r>
              <a:rPr lang="ko-KR" altLang="en-US" dirty="0"/>
              <a:t> </a:t>
            </a:r>
            <a:r>
              <a:rPr lang="en-US" altLang="ko-KR" dirty="0"/>
              <a:t>Reflector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67B455-DCD2-D8D7-4BE7-1FE2D98AA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165" y="4972460"/>
            <a:ext cx="3600276" cy="11847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C55739-6A49-000F-DD59-C68DB68CF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6287" y="4425427"/>
            <a:ext cx="1677085" cy="179593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FF4C460-A6C6-75BE-4A52-376C1BF4F63D}"/>
              </a:ext>
            </a:extLst>
          </p:cNvPr>
          <p:cNvSpPr/>
          <p:nvPr/>
        </p:nvSpPr>
        <p:spPr>
          <a:xfrm>
            <a:off x="488869" y="6327787"/>
            <a:ext cx="5126618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 Vertical Folding (upper) and Horizontal Folding (bottom) 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6ADB67-1B3C-3B3C-E355-93EB41C06DAF}"/>
              </a:ext>
            </a:extLst>
          </p:cNvPr>
          <p:cNvSpPr/>
          <p:nvPr/>
        </p:nvSpPr>
        <p:spPr>
          <a:xfrm>
            <a:off x="5922667" y="6320863"/>
            <a:ext cx="213173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&lt;Blossom Folding&gt;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4DBCCE-C311-1DC7-C9BA-9B4DC3A797D4}"/>
              </a:ext>
            </a:extLst>
          </p:cNvPr>
          <p:cNvSpPr/>
          <p:nvPr/>
        </p:nvSpPr>
        <p:spPr>
          <a:xfrm>
            <a:off x="5994028" y="4116011"/>
            <a:ext cx="152606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 Z-Folding&gt;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5D4167F7-2055-4FC6-59B5-5031F722D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883" y="2488380"/>
            <a:ext cx="2518034" cy="139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FF287A2-D39A-F61D-7AE3-50FC5099A470}"/>
              </a:ext>
            </a:extLst>
          </p:cNvPr>
          <p:cNvSpPr txBox="1"/>
          <p:nvPr/>
        </p:nvSpPr>
        <p:spPr>
          <a:xfrm>
            <a:off x="7407032" y="3903288"/>
            <a:ext cx="16140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 err="1">
                <a:latin typeface="times" panose="02020603050405020304" pitchFamily="18" charset="0"/>
                <a:cs typeface="times" panose="02020603050405020304" pitchFamily="18" charset="0"/>
              </a:rPr>
              <a:t>Xinxing</a:t>
            </a:r>
            <a:r>
              <a:rPr lang="ko-KR" altLang="en-US" sz="900" dirty="0">
                <a:latin typeface="times" panose="02020603050405020304" pitchFamily="18" charset="0"/>
                <a:cs typeface="times" panose="02020603050405020304" pitchFamily="18" charset="0"/>
              </a:rPr>
              <a:t> ZHANG </a:t>
            </a:r>
            <a:r>
              <a:rPr lang="en-US" altLang="ko-KR" sz="900" dirty="0">
                <a:latin typeface="times" panose="02020603050405020304" pitchFamily="18" charset="0"/>
                <a:cs typeface="times" panose="02020603050405020304" pitchFamily="18" charset="0"/>
              </a:rPr>
              <a:t>et al., 2017</a:t>
            </a:r>
            <a:endParaRPr lang="ko-KR" altLang="en-US" sz="9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BB6D3-2E35-61B2-F5C8-D4C16C3396D5}"/>
              </a:ext>
            </a:extLst>
          </p:cNvPr>
          <p:cNvSpPr txBox="1"/>
          <p:nvPr/>
        </p:nvSpPr>
        <p:spPr>
          <a:xfrm>
            <a:off x="4389787" y="6131770"/>
            <a:ext cx="11361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 err="1">
                <a:latin typeface="times" panose="02020603050405020304" pitchFamily="18" charset="0"/>
                <a:cs typeface="times" panose="02020603050405020304" pitchFamily="18" charset="0"/>
              </a:rPr>
              <a:t>송수아</a:t>
            </a:r>
            <a:r>
              <a:rPr lang="ko-KR" altLang="en-US" sz="9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900" dirty="0">
                <a:latin typeface="times" panose="02020603050405020304" pitchFamily="18" charset="0"/>
                <a:cs typeface="times" panose="02020603050405020304" pitchFamily="18" charset="0"/>
              </a:rPr>
              <a:t>et</a:t>
            </a:r>
            <a:r>
              <a:rPr lang="ko-KR" altLang="en-US" sz="9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900" dirty="0">
                <a:latin typeface="times" panose="02020603050405020304" pitchFamily="18" charset="0"/>
                <a:cs typeface="times" panose="02020603050405020304" pitchFamily="18" charset="0"/>
              </a:rPr>
              <a:t>al., 2016</a:t>
            </a:r>
            <a:endParaRPr lang="ko-KR" altLang="en-US" sz="9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D5818F-607B-9719-239C-76D410800EAE}"/>
              </a:ext>
            </a:extLst>
          </p:cNvPr>
          <p:cNvSpPr txBox="1"/>
          <p:nvPr/>
        </p:nvSpPr>
        <p:spPr>
          <a:xfrm>
            <a:off x="7598570" y="6091963"/>
            <a:ext cx="16140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latin typeface="times" panose="02020603050405020304" pitchFamily="18" charset="0"/>
                <a:cs typeface="times" panose="02020603050405020304" pitchFamily="18" charset="0"/>
              </a:rPr>
              <a:t>김희경 </a:t>
            </a:r>
            <a:r>
              <a:rPr lang="en-US" altLang="ko-KR" sz="900" dirty="0">
                <a:latin typeface="times" panose="02020603050405020304" pitchFamily="18" charset="0"/>
                <a:cs typeface="times" panose="02020603050405020304" pitchFamily="18" charset="0"/>
              </a:rPr>
              <a:t>et</a:t>
            </a:r>
            <a:r>
              <a:rPr lang="ko-KR" altLang="en-US" sz="9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900" dirty="0">
                <a:latin typeface="times" panose="02020603050405020304" pitchFamily="18" charset="0"/>
                <a:cs typeface="times" panose="02020603050405020304" pitchFamily="18" charset="0"/>
              </a:rPr>
              <a:t>al., 2017</a:t>
            </a:r>
            <a:endParaRPr lang="ko-KR" altLang="en-US" sz="9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D0834-BB27-E068-93AC-7F2296BD23FC}"/>
              </a:ext>
            </a:extLst>
          </p:cNvPr>
          <p:cNvSpPr txBox="1"/>
          <p:nvPr/>
        </p:nvSpPr>
        <p:spPr>
          <a:xfrm>
            <a:off x="2052729" y="4300427"/>
            <a:ext cx="1735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 Vertical Folding &gt; 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72042F-82AC-0A49-6357-C51CFFEE1D16}"/>
              </a:ext>
            </a:extLst>
          </p:cNvPr>
          <p:cNvSpPr txBox="1"/>
          <p:nvPr/>
        </p:nvSpPr>
        <p:spPr>
          <a:xfrm>
            <a:off x="3855110" y="4300427"/>
            <a:ext cx="13858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000" b="0" i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Nanosatellites: CanX-7</a:t>
            </a:r>
          </a:p>
        </p:txBody>
      </p:sp>
    </p:spTree>
    <p:extLst>
      <p:ext uri="{BB962C8B-B14F-4D97-AF65-F5344CB8AC3E}">
        <p14:creationId xmlns:p14="http://schemas.microsoft.com/office/powerpoint/2010/main" val="11339094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박막재질</a:t>
            </a:r>
            <a:endParaRPr lang="en-US" altLang="ko-KR" dirty="0"/>
          </a:p>
          <a:p>
            <a:pPr lvl="1"/>
            <a:r>
              <a:rPr lang="en-US" altLang="ko-KR" dirty="0"/>
              <a:t>Kapton </a:t>
            </a:r>
            <a:r>
              <a:rPr lang="ko-KR" altLang="en-US" dirty="0"/>
              <a:t>재질은 얇은 두께로 제작 가능하며 </a:t>
            </a:r>
            <a:r>
              <a:rPr lang="en-US" altLang="ko-KR" dirty="0"/>
              <a:t>Heritage </a:t>
            </a:r>
            <a:r>
              <a:rPr lang="ko-KR" altLang="en-US" dirty="0"/>
              <a:t>다양</a:t>
            </a:r>
            <a:endParaRPr lang="en-US" altLang="ko-KR" dirty="0"/>
          </a:p>
          <a:p>
            <a:pPr marL="501750" lvl="1" indent="-285750"/>
            <a:r>
              <a:rPr lang="en-US" altLang="ko-KR" dirty="0"/>
              <a:t>Kapton </a:t>
            </a:r>
            <a:r>
              <a:rPr lang="ko-KR" altLang="en-US" dirty="0"/>
              <a:t>재질에 알루미늄 코팅 기술을 적용하면 리튬에 비해 높은 녹는점과 은에 비하여 밀도가 작기 때문에 안정적으로 반사율</a:t>
            </a:r>
            <a:r>
              <a:rPr lang="en-US" altLang="ko-KR" dirty="0"/>
              <a:t>(80% </a:t>
            </a:r>
            <a:r>
              <a:rPr lang="ko-KR" altLang="en-US" dirty="0"/>
              <a:t>이상 </a:t>
            </a:r>
            <a:r>
              <a:rPr lang="en-US" altLang="ko-KR" dirty="0"/>
              <a:t>at 250 nm</a:t>
            </a:r>
            <a:r>
              <a:rPr lang="ko-KR" altLang="en-US" dirty="0"/>
              <a:t> </a:t>
            </a:r>
            <a:r>
              <a:rPr lang="en-US" altLang="ko-KR" dirty="0"/>
              <a:t>~ 1100 nm)</a:t>
            </a:r>
            <a:r>
              <a:rPr lang="ko-KR" altLang="en-US" dirty="0"/>
              <a:t>을 높일 수 있음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1 : Deployment</a:t>
            </a:r>
            <a:r>
              <a:rPr lang="ko-KR" altLang="en-US" dirty="0"/>
              <a:t> </a:t>
            </a:r>
            <a:r>
              <a:rPr lang="en-US" altLang="ko-KR" dirty="0"/>
              <a:t>Reflector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29110C7-04D1-DD6A-8FCD-C0D054738F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922353"/>
                  </p:ext>
                </p:extLst>
              </p:nvPr>
            </p:nvGraphicFramePr>
            <p:xfrm>
              <a:off x="495090" y="4452769"/>
              <a:ext cx="5296110" cy="15589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2685">
                      <a:extLst>
                        <a:ext uri="{9D8B030D-6E8A-4147-A177-3AD203B41FA5}">
                          <a16:colId xmlns:a16="http://schemas.microsoft.com/office/drawing/2014/main" val="1288216670"/>
                        </a:ext>
                      </a:extLst>
                    </a:gridCol>
                    <a:gridCol w="882685">
                      <a:extLst>
                        <a:ext uri="{9D8B030D-6E8A-4147-A177-3AD203B41FA5}">
                          <a16:colId xmlns:a16="http://schemas.microsoft.com/office/drawing/2014/main" val="3432615201"/>
                        </a:ext>
                      </a:extLst>
                    </a:gridCol>
                    <a:gridCol w="882685">
                      <a:extLst>
                        <a:ext uri="{9D8B030D-6E8A-4147-A177-3AD203B41FA5}">
                          <a16:colId xmlns:a16="http://schemas.microsoft.com/office/drawing/2014/main" val="3340102475"/>
                        </a:ext>
                      </a:extLst>
                    </a:gridCol>
                    <a:gridCol w="882685">
                      <a:extLst>
                        <a:ext uri="{9D8B030D-6E8A-4147-A177-3AD203B41FA5}">
                          <a16:colId xmlns:a16="http://schemas.microsoft.com/office/drawing/2014/main" val="1257564958"/>
                        </a:ext>
                      </a:extLst>
                    </a:gridCol>
                    <a:gridCol w="882685">
                      <a:extLst>
                        <a:ext uri="{9D8B030D-6E8A-4147-A177-3AD203B41FA5}">
                          <a16:colId xmlns:a16="http://schemas.microsoft.com/office/drawing/2014/main" val="2545991814"/>
                        </a:ext>
                      </a:extLst>
                    </a:gridCol>
                    <a:gridCol w="882685">
                      <a:extLst>
                        <a:ext uri="{9D8B030D-6E8A-4147-A177-3AD203B41FA5}">
                          <a16:colId xmlns:a16="http://schemas.microsoft.com/office/drawing/2014/main" val="796449728"/>
                        </a:ext>
                      </a:extLst>
                    </a:gridCol>
                  </a:tblGrid>
                  <a:tr h="316004">
                    <a:tc rowSpan="2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F5597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Bulk Density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ko-KR" sz="10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000" i="1" dirty="0" smtClean="0">
                                      <a:latin typeface="Cambria Math" panose="02040503050406030204" pitchFamily="18" charset="0"/>
                                    </a:rPr>
                                    <m:t>𝑔𝑐</m:t>
                                  </m:r>
                                  <m:sSup>
                                    <m:sSupPr>
                                      <m:ctrlPr>
                                        <a:rPr lang="en-US" altLang="ko-KR" sz="1000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00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altLang="ko-KR" sz="1000" b="1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000" b="1" i="1" dirty="0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000" b="1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F5597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Surface Density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ko-KR" sz="10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000" i="1" dirty="0" smtClean="0">
                                      <a:latin typeface="Cambria Math" panose="02040503050406030204" pitchFamily="18" charset="0"/>
                                    </a:rPr>
                                    <m:t>𝑔𝑐</m:t>
                                  </m:r>
                                  <m:sSup>
                                    <m:sSupPr>
                                      <m:ctrlPr>
                                        <a:rPr lang="en-US" altLang="ko-KR" sz="1000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00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altLang="ko-KR" sz="1000" b="1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000" b="1" i="1" dirty="0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F5597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Melting Point(K)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F559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8997962"/>
                      </a:ext>
                    </a:extLst>
                  </a:tr>
                  <a:tr h="365586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0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ko-KR" altLang="en-US" sz="10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ko-K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2DE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000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ko-KR" altLang="en-US" sz="10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ko-K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2DE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000" b="0" i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ko-KR" altLang="en-US" sz="10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ko-K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2DEEF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684143"/>
                      </a:ext>
                    </a:extLst>
                  </a:tr>
                  <a:tr h="29246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Silver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10.5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1.05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3.15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5.25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1234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685713"/>
                      </a:ext>
                    </a:extLst>
                  </a:tr>
                  <a:tr h="29246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Lithium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0.53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0.05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0.16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0.27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453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1646817"/>
                      </a:ext>
                    </a:extLst>
                  </a:tr>
                  <a:tr h="29246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Aluminum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2.70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0.27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0.81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1.35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933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7185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29110C7-04D1-DD6A-8FCD-C0D054738F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922353"/>
                  </p:ext>
                </p:extLst>
              </p:nvPr>
            </p:nvGraphicFramePr>
            <p:xfrm>
              <a:off x="495090" y="4452769"/>
              <a:ext cx="5296110" cy="15589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2685">
                      <a:extLst>
                        <a:ext uri="{9D8B030D-6E8A-4147-A177-3AD203B41FA5}">
                          <a16:colId xmlns:a16="http://schemas.microsoft.com/office/drawing/2014/main" val="1288216670"/>
                        </a:ext>
                      </a:extLst>
                    </a:gridCol>
                    <a:gridCol w="882685">
                      <a:extLst>
                        <a:ext uri="{9D8B030D-6E8A-4147-A177-3AD203B41FA5}">
                          <a16:colId xmlns:a16="http://schemas.microsoft.com/office/drawing/2014/main" val="3432615201"/>
                        </a:ext>
                      </a:extLst>
                    </a:gridCol>
                    <a:gridCol w="882685">
                      <a:extLst>
                        <a:ext uri="{9D8B030D-6E8A-4147-A177-3AD203B41FA5}">
                          <a16:colId xmlns:a16="http://schemas.microsoft.com/office/drawing/2014/main" val="3340102475"/>
                        </a:ext>
                      </a:extLst>
                    </a:gridCol>
                    <a:gridCol w="882685">
                      <a:extLst>
                        <a:ext uri="{9D8B030D-6E8A-4147-A177-3AD203B41FA5}">
                          <a16:colId xmlns:a16="http://schemas.microsoft.com/office/drawing/2014/main" val="1257564958"/>
                        </a:ext>
                      </a:extLst>
                    </a:gridCol>
                    <a:gridCol w="882685">
                      <a:extLst>
                        <a:ext uri="{9D8B030D-6E8A-4147-A177-3AD203B41FA5}">
                          <a16:colId xmlns:a16="http://schemas.microsoft.com/office/drawing/2014/main" val="2545991814"/>
                        </a:ext>
                      </a:extLst>
                    </a:gridCol>
                    <a:gridCol w="882685">
                      <a:extLst>
                        <a:ext uri="{9D8B030D-6E8A-4147-A177-3AD203B41FA5}">
                          <a16:colId xmlns:a16="http://schemas.microsoft.com/office/drawing/2014/main" val="796449728"/>
                        </a:ext>
                      </a:extLst>
                    </a:gridCol>
                  </a:tblGrid>
                  <a:tr h="316004">
                    <a:tc rowSpan="2"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F5597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90" t="-893" r="-401379" b="-131250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7051" t="-1923" r="-34101" b="-39807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Melting Point(K)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F559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8997962"/>
                      </a:ext>
                    </a:extLst>
                  </a:tr>
                  <a:tr h="365586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690" t="-88333" r="-301379" b="-2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2778" t="-88333" r="-203472" b="-2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00000" t="-88333" r="-102069" b="-2450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684143"/>
                      </a:ext>
                    </a:extLst>
                  </a:tr>
                  <a:tr h="29246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Silver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10.5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1.05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3.15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5.25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1234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685713"/>
                      </a:ext>
                    </a:extLst>
                  </a:tr>
                  <a:tr h="29246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Lithium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0.53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0.05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0.16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0.27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453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1646817"/>
                      </a:ext>
                    </a:extLst>
                  </a:tr>
                  <a:tr h="29246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Aluminum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2.70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0.27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0.81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1.35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933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7185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4">
                <a:extLst>
                  <a:ext uri="{FF2B5EF4-FFF2-40B4-BE49-F238E27FC236}">
                    <a16:creationId xmlns:a16="http://schemas.microsoft.com/office/drawing/2014/main" id="{7E58330D-0A72-71A2-5001-E310D4E262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9960726"/>
                  </p:ext>
                </p:extLst>
              </p:nvPr>
            </p:nvGraphicFramePr>
            <p:xfrm>
              <a:off x="495090" y="2844817"/>
              <a:ext cx="5296110" cy="11600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2685">
                      <a:extLst>
                        <a:ext uri="{9D8B030D-6E8A-4147-A177-3AD203B41FA5}">
                          <a16:colId xmlns:a16="http://schemas.microsoft.com/office/drawing/2014/main" val="1288216670"/>
                        </a:ext>
                      </a:extLst>
                    </a:gridCol>
                    <a:gridCol w="1765370">
                      <a:extLst>
                        <a:ext uri="{9D8B030D-6E8A-4147-A177-3AD203B41FA5}">
                          <a16:colId xmlns:a16="http://schemas.microsoft.com/office/drawing/2014/main" val="3432615201"/>
                        </a:ext>
                      </a:extLst>
                    </a:gridCol>
                    <a:gridCol w="2648055">
                      <a:extLst>
                        <a:ext uri="{9D8B030D-6E8A-4147-A177-3AD203B41FA5}">
                          <a16:colId xmlns:a16="http://schemas.microsoft.com/office/drawing/2014/main" val="2847251796"/>
                        </a:ext>
                      </a:extLst>
                    </a:gridCol>
                  </a:tblGrid>
                  <a:tr h="290009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Heritage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COTS Thickness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F559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8997962"/>
                      </a:ext>
                    </a:extLst>
                  </a:tr>
                  <a:tr h="29000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Kapton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CNUSAIL, </a:t>
                          </a:r>
                          <a:r>
                            <a:rPr lang="en-US" altLang="ko-KR" sz="10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Deorbitsail</a:t>
                          </a: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Icarus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Caplinq Kapton film : 2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000" b="0" i="0" smtClean="0">
                                  <a:latin typeface="Cambria Math" panose="02040503050406030204" pitchFamily="18" charset="0"/>
                                </a:rPr>
                                <m:t>5.5</m:t>
                              </m:r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685713"/>
                      </a:ext>
                    </a:extLst>
                  </a:tr>
                  <a:tr h="29000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Mylar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Lightsail</a:t>
                          </a: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en-US" altLang="ko-KR" sz="10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Cubesail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Dehui</a:t>
                          </a: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Aluminized Mylar film : 12~200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1646817"/>
                      </a:ext>
                    </a:extLst>
                  </a:tr>
                  <a:tr h="29000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Lexan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Lexan 8B35 Film : 75~500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7185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4">
                <a:extLst>
                  <a:ext uri="{FF2B5EF4-FFF2-40B4-BE49-F238E27FC236}">
                    <a16:creationId xmlns:a16="http://schemas.microsoft.com/office/drawing/2014/main" id="{7E58330D-0A72-71A2-5001-E310D4E262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9960726"/>
                  </p:ext>
                </p:extLst>
              </p:nvPr>
            </p:nvGraphicFramePr>
            <p:xfrm>
              <a:off x="495090" y="2844817"/>
              <a:ext cx="5296110" cy="11600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2685">
                      <a:extLst>
                        <a:ext uri="{9D8B030D-6E8A-4147-A177-3AD203B41FA5}">
                          <a16:colId xmlns:a16="http://schemas.microsoft.com/office/drawing/2014/main" val="1288216670"/>
                        </a:ext>
                      </a:extLst>
                    </a:gridCol>
                    <a:gridCol w="1765370">
                      <a:extLst>
                        <a:ext uri="{9D8B030D-6E8A-4147-A177-3AD203B41FA5}">
                          <a16:colId xmlns:a16="http://schemas.microsoft.com/office/drawing/2014/main" val="3432615201"/>
                        </a:ext>
                      </a:extLst>
                    </a:gridCol>
                    <a:gridCol w="2648055">
                      <a:extLst>
                        <a:ext uri="{9D8B030D-6E8A-4147-A177-3AD203B41FA5}">
                          <a16:colId xmlns:a16="http://schemas.microsoft.com/office/drawing/2014/main" val="2847251796"/>
                        </a:ext>
                      </a:extLst>
                    </a:gridCol>
                  </a:tblGrid>
                  <a:tr h="290009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Heritage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COTS Thickness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2F559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8997962"/>
                      </a:ext>
                    </a:extLst>
                  </a:tr>
                  <a:tr h="29000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Kapton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CNUSAIL, </a:t>
                          </a:r>
                          <a:r>
                            <a:rPr lang="en-US" altLang="ko-KR" sz="10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Deorbitsail</a:t>
                          </a: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Icarus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461" t="-102083" r="-691" b="-20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685713"/>
                      </a:ext>
                    </a:extLst>
                  </a:tr>
                  <a:tr h="29000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Mylar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Lightsail</a:t>
                          </a: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en-US" altLang="ko-KR" sz="10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Cubesail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461" t="-206383" r="-691" b="-1085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1646817"/>
                      </a:ext>
                    </a:extLst>
                  </a:tr>
                  <a:tr h="29000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Lexan</a:t>
                          </a:r>
                          <a:endParaRPr lang="ko-KR" altLang="en-US" sz="10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461" t="-300000" r="-691" b="-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71851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A55BF7E6-4217-06E7-563D-8873394387F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2840"/>
          <a:stretch/>
        </p:blipFill>
        <p:spPr>
          <a:xfrm>
            <a:off x="6060867" y="2480854"/>
            <a:ext cx="2581484" cy="18317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C7B6CB0-0066-FB62-3339-BCAEDBD0A70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4275" r="-1434"/>
          <a:stretch/>
        </p:blipFill>
        <p:spPr>
          <a:xfrm>
            <a:off x="6085133" y="4285864"/>
            <a:ext cx="2581484" cy="18317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5FFBD8-E1A6-6BFE-E415-19859E85373D}"/>
              </a:ext>
            </a:extLst>
          </p:cNvPr>
          <p:cNvSpPr txBox="1"/>
          <p:nvPr/>
        </p:nvSpPr>
        <p:spPr>
          <a:xfrm>
            <a:off x="1809061" y="4004853"/>
            <a:ext cx="26681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 </a:t>
            </a:r>
            <a:r>
              <a:rPr lang="ko-KR" altLang="en-US" sz="1400" b="1" dirty="0">
                <a:latin typeface="times" panose="02020603050405020304" pitchFamily="18" charset="0"/>
                <a:cs typeface="times" panose="02020603050405020304" pitchFamily="18" charset="0"/>
              </a:rPr>
              <a:t>박막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Heritage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와 두께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 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067E72-E35D-154D-9197-3D7E915FC5A4}"/>
              </a:ext>
            </a:extLst>
          </p:cNvPr>
          <p:cNvSpPr txBox="1"/>
          <p:nvPr/>
        </p:nvSpPr>
        <p:spPr>
          <a:xfrm>
            <a:off x="1661050" y="6031293"/>
            <a:ext cx="3020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코팅 재질 특성 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 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0C4624-6BC3-947F-96BB-965785C17CA2}"/>
              </a:ext>
            </a:extLst>
          </p:cNvPr>
          <p:cNvSpPr txBox="1"/>
          <p:nvPr/>
        </p:nvSpPr>
        <p:spPr>
          <a:xfrm>
            <a:off x="5793776" y="6067946"/>
            <a:ext cx="31641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코팅된 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Kapton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의 반사율과 투과율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 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DE1529-DFAF-B988-4374-56D09CFAF658}"/>
              </a:ext>
            </a:extLst>
          </p:cNvPr>
          <p:cNvSpPr txBox="1"/>
          <p:nvPr/>
        </p:nvSpPr>
        <p:spPr>
          <a:xfrm>
            <a:off x="234593" y="6105099"/>
            <a:ext cx="2057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times" panose="02020603050405020304" pitchFamily="18" charset="0"/>
                <a:cs typeface="times" panose="02020603050405020304" pitchFamily="18" charset="0"/>
              </a:rPr>
              <a:t>Cho, H.-S. et al., 2014</a:t>
            </a:r>
            <a:endParaRPr lang="ko-KR" altLang="en-US" sz="1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2C39F0-B2F0-CEE3-CD29-B78B15CAA59E}"/>
              </a:ext>
            </a:extLst>
          </p:cNvPr>
          <p:cNvSpPr txBox="1"/>
          <p:nvPr/>
        </p:nvSpPr>
        <p:spPr>
          <a:xfrm>
            <a:off x="5673332" y="6305654"/>
            <a:ext cx="11786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times" panose="02020603050405020304" pitchFamily="18" charset="0"/>
                <a:cs typeface="times" panose="02020603050405020304" pitchFamily="18" charset="0"/>
              </a:rPr>
              <a:t>충남대학교</a:t>
            </a:r>
            <a:r>
              <a:rPr lang="en-US" altLang="ko-KR" sz="1000" dirty="0">
                <a:latin typeface="times" panose="02020603050405020304" pitchFamily="18" charset="0"/>
                <a:cs typeface="times" panose="02020603050405020304" pitchFamily="18" charset="0"/>
              </a:rPr>
              <a:t>, 2015</a:t>
            </a:r>
            <a:endParaRPr lang="ko-KR" altLang="en-US" sz="1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345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6935070-6961-41AA-9CAB-8E21FCA216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774029" cy="5376968"/>
              </a:xfrm>
            </p:spPr>
            <p:txBody>
              <a:bodyPr/>
              <a:lstStyle/>
              <a:p>
                <a:pPr marL="190350" indent="-285750"/>
                <a:r>
                  <a:rPr lang="ko-KR" altLang="en-US" dirty="0"/>
                  <a:t>추가 요청사항 </a:t>
                </a:r>
                <a:r>
                  <a:rPr lang="en-US" altLang="ko-KR" dirty="0"/>
                  <a:t>: RCS (Radar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Cross Section) </a:t>
                </a:r>
                <a:r>
                  <a:rPr lang="ko-KR" altLang="en-US" dirty="0"/>
                  <a:t>계산 </a:t>
                </a:r>
                <a:endParaRPr lang="en-US" altLang="ko-KR" dirty="0"/>
              </a:p>
              <a:p>
                <a:pPr marL="501750" lvl="1" indent="-285750"/>
                <a:r>
                  <a:rPr lang="en-US" altLang="ko-KR" dirty="0"/>
                  <a:t>RCS (Radar Cross Section) </a:t>
                </a:r>
                <a:r>
                  <a:rPr lang="ko-KR" altLang="en-US" dirty="0"/>
                  <a:t>계산</a:t>
                </a:r>
                <a:endParaRPr lang="en-US" altLang="ko-KR" dirty="0"/>
              </a:p>
              <a:p>
                <a:pPr marL="681750" lvl="2" indent="-285750"/>
                <a:r>
                  <a:rPr lang="ko-KR" altLang="en-US" dirty="0"/>
                  <a:t>어떠한 물체가 레이더에 얼마나 잘 반사되는가를 면적으로 나타낸 척도</a:t>
                </a:r>
                <a:endParaRPr lang="en-US" altLang="ko-KR" dirty="0"/>
              </a:p>
              <a:p>
                <a:pPr marL="681750" lvl="2" indent="-285750"/>
                <a:r>
                  <a:rPr lang="ko-KR" altLang="en-US" dirty="0"/>
                  <a:t>표적이 레이더 신호상에서 얼마나 큰 물체로 나타나지는지를 알 수 있음  </a:t>
                </a:r>
                <a:endParaRPr lang="en-US" altLang="ko-KR" dirty="0"/>
              </a:p>
              <a:p>
                <a:pPr marL="2190600" lvl="5" indent="0" algn="ctr">
                  <a:buNone/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190600" lvl="5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ko-KR" dirty="0"/>
              </a:p>
              <a:p>
                <a:pPr marL="2647800" lvl="6" indent="0" algn="ctr">
                  <a:buNone/>
                </a:pPr>
                <a:endParaRPr lang="en-US" altLang="ko-KR" sz="1100" i="1" dirty="0">
                  <a:latin typeface="Cambria Math" panose="02040503050406030204" pitchFamily="18" charset="0"/>
                </a:endParaRPr>
              </a:p>
              <a:p>
                <a:pPr marL="2647800" lvl="6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10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𝑤𝑎𝑣𝑒𝑙𝑒𝑛𝑔𝑡h</m:t>
                      </m:r>
                    </m:oMath>
                  </m:oMathPara>
                </a14:m>
                <a:endParaRPr lang="en-US" altLang="ko-KR" sz="1100" b="0" dirty="0"/>
              </a:p>
              <a:p>
                <a:pPr marL="2647800" lvl="6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𝑤𝑖𝑑𝑡h</m:t>
                      </m:r>
                    </m:oMath>
                  </m:oMathPara>
                </a14:m>
                <a:endParaRPr lang="en-US" altLang="ko-KR" sz="1100" b="0" dirty="0"/>
              </a:p>
              <a:p>
                <a:pPr marL="2647800" lvl="6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h𝑒𝑖𝑔h𝑡</m:t>
                      </m:r>
                    </m:oMath>
                  </m:oMathPara>
                </a14:m>
                <a:endParaRPr lang="en-US" altLang="ko-KR" sz="1200" dirty="0"/>
              </a:p>
              <a:p>
                <a:pPr marL="396000" lvl="2" indent="0" algn="ctr">
                  <a:buNone/>
                </a:pPr>
                <a:endParaRPr lang="en-US" altLang="ko-KR" dirty="0"/>
              </a:p>
              <a:p>
                <a:pPr marL="576000" lvl="3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                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𝑟𝑒𝑎𝑙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𝑅𝑒𝑓𝑙𝑒𝑐𝑡𝑖𝑣𝑖𝑡𝑦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𝐷𝑖𝑟𝑒𝑐𝑡𝑖𝑣𝑖𝑡𝑦</m:t>
                      </m:r>
                    </m:oMath>
                  </m:oMathPara>
                </a14:m>
                <a:endParaRPr lang="en-US" altLang="ko-KR" dirty="0"/>
              </a:p>
              <a:p>
                <a:pPr marL="396000" lvl="2" indent="0">
                  <a:buNone/>
                </a:pPr>
                <a:endParaRPr lang="en-US" altLang="ko-KR" dirty="0"/>
              </a:p>
              <a:p>
                <a:pPr marL="681750" lvl="2" indent="-285750"/>
                <a:r>
                  <a:rPr lang="en-US" altLang="ko-KR" dirty="0"/>
                  <a:t>1 m x 1 m </a:t>
                </a:r>
                <a:r>
                  <a:rPr lang="ko-KR" altLang="en-US" dirty="0"/>
                  <a:t>평면에 대해</a:t>
                </a:r>
                <a:r>
                  <a:rPr lang="en-US" altLang="ko-KR" dirty="0"/>
                  <a:t>, X-band </a:t>
                </a:r>
                <a:r>
                  <a:rPr lang="ko-KR" altLang="en-US" dirty="0"/>
                  <a:t>레이더 파장을 </a:t>
                </a:r>
                <a:r>
                  <a:rPr lang="en-US" altLang="ko-KR" dirty="0"/>
                  <a:t>3cm</a:t>
                </a:r>
                <a:r>
                  <a:rPr lang="ko-KR" altLang="en-US" dirty="0"/>
                  <a:t>로 가정하고 계산한 값</a:t>
                </a:r>
                <a:endParaRPr lang="en-US" altLang="ko-KR" dirty="0"/>
              </a:p>
              <a:p>
                <a:pPr marL="396000" lvl="2" indent="0">
                  <a:buNone/>
                </a:pPr>
                <a:endParaRPr lang="en-US" altLang="ko-KR" sz="900" b="0" i="1" dirty="0">
                  <a:latin typeface="Cambria Math" panose="02040503050406030204" pitchFamily="18" charset="0"/>
                </a:endParaRPr>
              </a:p>
              <a:p>
                <a:pPr marL="3960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13962.63402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dirty="0"/>
              </a:p>
              <a:p>
                <a:pPr marL="396000" lvl="2" indent="0">
                  <a:buNone/>
                </a:pPr>
                <a:endParaRPr lang="en-US" altLang="ko-KR" dirty="0"/>
              </a:p>
              <a:p>
                <a:pPr marL="681750" lvl="2" indent="-285750"/>
                <a:r>
                  <a:rPr lang="ko-KR" altLang="en-US" dirty="0"/>
                  <a:t>위 식은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알루미늄으로 구성된 금속 판을 가정으로 계산된 식이므로 알루미늄 코팅된 박막의 경우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보정이 필요</a:t>
                </a:r>
                <a:endParaRPr lang="en-US" altLang="ko-KR" dirty="0"/>
              </a:p>
              <a:p>
                <a:pPr marL="1041750" lvl="4" indent="-285750">
                  <a:buFont typeface="Wingdings" panose="05000000000000000000" pitchFamily="2" charset="2"/>
                  <a:buChar char="ü"/>
                </a:pPr>
                <a:endParaRPr lang="en-US" altLang="ko-KR" dirty="0"/>
              </a:p>
              <a:p>
                <a:pPr marL="576000" lvl="3" indent="0">
                  <a:buNone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6935070-6961-41AA-9CAB-8E21FCA216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774029" cy="5376968"/>
              </a:xfrm>
              <a:blipFill>
                <a:blip r:embed="rId4"/>
                <a:stretch>
                  <a:fillRect l="-903" t="-1020" b="-4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1 : Deployment</a:t>
            </a:r>
            <a:r>
              <a:rPr lang="ko-KR" altLang="en-US" dirty="0"/>
              <a:t> </a:t>
            </a:r>
            <a:r>
              <a:rPr lang="en-US" altLang="ko-KR" dirty="0"/>
              <a:t>Reflector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38322A-E435-1E7D-39EE-2BD123477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331" y="2338746"/>
            <a:ext cx="2256003" cy="17221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6090A5-FBC0-4ABA-FEA6-4A1B6C7B6366}"/>
              </a:ext>
            </a:extLst>
          </p:cNvPr>
          <p:cNvSpPr txBox="1"/>
          <p:nvPr/>
        </p:nvSpPr>
        <p:spPr>
          <a:xfrm>
            <a:off x="6270978" y="4060885"/>
            <a:ext cx="228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times" panose="02020603050405020304" pitchFamily="18" charset="0"/>
                <a:cs typeface="times" panose="02020603050405020304" pitchFamily="18" charset="0"/>
              </a:rPr>
              <a:t>Mirabel </a:t>
            </a:r>
            <a:r>
              <a:rPr lang="en-US" altLang="ko-KR" sz="1000" dirty="0" err="1">
                <a:latin typeface="times" panose="02020603050405020304" pitchFamily="18" charset="0"/>
                <a:cs typeface="times" panose="02020603050405020304" pitchFamily="18" charset="0"/>
              </a:rPr>
              <a:t>Cerqueira</a:t>
            </a:r>
            <a:r>
              <a:rPr lang="en-US" altLang="ko-KR" sz="1000" dirty="0">
                <a:latin typeface="times" panose="02020603050405020304" pitchFamily="18" charset="0"/>
                <a:cs typeface="times" panose="02020603050405020304" pitchFamily="18" charset="0"/>
              </a:rPr>
              <a:t> Rezende et</a:t>
            </a:r>
            <a:r>
              <a:rPr lang="ko-KR" altLang="en-US" sz="10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1000" dirty="0">
                <a:latin typeface="times" panose="02020603050405020304" pitchFamily="18" charset="0"/>
                <a:cs typeface="times" panose="02020603050405020304" pitchFamily="18" charset="0"/>
              </a:rPr>
              <a:t>al., 2002</a:t>
            </a:r>
            <a:endParaRPr lang="ko-KR" altLang="en-US" sz="1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0620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SLR 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레이저 감지 장치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포토다이오드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요구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제한 사항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16000" lvl="1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주요기능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532 nm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파장 검출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1064 nm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파장 검출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SLR 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레이저 입사 여부 데이터 확보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포토다이오드의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작동 환경 구성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SLR 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레이저 감지 장치 상태 데이터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온도데이터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측정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SLR 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레이저 입사 여부 데이터 및 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SLR 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레이저 감지 장치 상태 데이터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온도데이터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marL="396000" lvl="2" indent="0">
              <a:buNone/>
            </a:pP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OBC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로 실시간 전송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Payload 2 : 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SLR Laser Detector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8C39C7A-1407-2544-30E7-0DEE9E9DD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0073075"/>
                  </p:ext>
                </p:extLst>
              </p:nvPr>
            </p:nvGraphicFramePr>
            <p:xfrm>
              <a:off x="465090" y="1833919"/>
              <a:ext cx="8213818" cy="15187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5709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4476751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1611358">
                      <a:extLst>
                        <a:ext uri="{9D8B030D-6E8A-4147-A177-3AD203B41FA5}">
                          <a16:colId xmlns:a16="http://schemas.microsoft.com/office/drawing/2014/main" val="3530947212"/>
                        </a:ext>
                      </a:extLst>
                    </a:gridCol>
                  </a:tblGrid>
                  <a:tr h="2614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주요 특성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요구 조건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비고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레이저 감지 </a:t>
                          </a:r>
                          <a:r>
                            <a:rPr lang="ko-KR" altLang="en-US" sz="1200" b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탑재체</a:t>
                          </a:r>
                          <a:r>
                            <a:rPr lang="ko-KR" altLang="en-US" sz="1200" b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규격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latinLnBrk="1">
                            <a:buAutoNum type="arabicParenBoth"/>
                          </a:pPr>
                          <a:r>
                            <a:rPr lang="ko-KR" altLang="en-US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질량 </a:t>
                          </a:r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0.3 kg</a:t>
                          </a:r>
                          <a:r>
                            <a:rPr lang="ko-KR" altLang="en-US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[TBC]</a:t>
                          </a:r>
                        </a:p>
                        <a:p>
                          <a:pPr marL="342900" indent="-342900" latinLnBrk="1">
                            <a:buAutoNum type="arabicParenBoth"/>
                          </a:pPr>
                          <a:r>
                            <a:rPr lang="ko-KR" altLang="en-US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크기 </a:t>
                          </a:r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100.0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ko-KR" altLang="en-US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100.0 mm </a:t>
                          </a:r>
                          <a:r>
                            <a:rPr lang="ko-KR" altLang="en-US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이내 </a:t>
                          </a:r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[TBC] </a:t>
                          </a:r>
                          <a:endParaRPr lang="ko-KR" altLang="en-US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검출 파장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532 nm </a:t>
                          </a:r>
                          <a:r>
                            <a:rPr lang="ko-KR" altLang="en-US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와</a:t>
                          </a:r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1064 nm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. </a:t>
                          </a: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체계 요구사항 표 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No. 6</a:t>
                          </a:r>
                          <a:endParaRPr lang="ko-KR" altLang="en-US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데이터 통신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CAN-bus [TBC]</a:t>
                          </a:r>
                          <a:endParaRPr lang="ko-KR" altLang="en-US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8C39C7A-1407-2544-30E7-0DEE9E9DD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0073075"/>
                  </p:ext>
                </p:extLst>
              </p:nvPr>
            </p:nvGraphicFramePr>
            <p:xfrm>
              <a:off x="465090" y="1833919"/>
              <a:ext cx="8213818" cy="15187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5709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4476751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1611358">
                      <a:extLst>
                        <a:ext uri="{9D8B030D-6E8A-4147-A177-3AD203B41FA5}">
                          <a16:colId xmlns:a16="http://schemas.microsoft.com/office/drawing/2014/main" val="3530947212"/>
                        </a:ext>
                      </a:extLst>
                    </a:gridCol>
                  </a:tblGrid>
                  <a:tr h="2853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주요 특성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요구 조건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비고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437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레이저 감지 </a:t>
                          </a:r>
                          <a:r>
                            <a:rPr lang="ko-KR" altLang="en-US" sz="1200" b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탑재체</a:t>
                          </a:r>
                          <a:r>
                            <a:rPr lang="ko-KR" altLang="en-US" sz="1200" b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규격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619" t="-70833" r="-36190" b="-186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검출 파장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532 nm </a:t>
                          </a:r>
                          <a:r>
                            <a:rPr lang="ko-KR" altLang="en-US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와</a:t>
                          </a:r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1064 nm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. </a:t>
                          </a: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체계 요구사항 표 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No. 6</a:t>
                          </a:r>
                          <a:endParaRPr lang="ko-KR" altLang="en-US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데이터 통신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CAN-bus [TBC]</a:t>
                          </a:r>
                          <a:endParaRPr lang="ko-KR" altLang="en-US" sz="12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0C17AEFA-5E8C-F441-7211-47BAE64D5449}"/>
              </a:ext>
            </a:extLst>
          </p:cNvPr>
          <p:cNvSpPr/>
          <p:nvPr/>
        </p:nvSpPr>
        <p:spPr>
          <a:xfrm>
            <a:off x="2156755" y="3397392"/>
            <a:ext cx="483048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&lt;SLR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레이저 감지 장치 요구 조건 표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C82C7C4-F7D0-A2BC-C3EC-6845BAE293AD}"/>
              </a:ext>
            </a:extLst>
          </p:cNvPr>
          <p:cNvGrpSpPr/>
          <p:nvPr/>
        </p:nvGrpSpPr>
        <p:grpSpPr>
          <a:xfrm>
            <a:off x="5146546" y="3440066"/>
            <a:ext cx="3893494" cy="1535155"/>
            <a:chOff x="5407175" y="3617170"/>
            <a:chExt cx="3893494" cy="153515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773ECC3-D166-A9EE-DBFE-DCABBCEE6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7650" y="3617170"/>
              <a:ext cx="2100739" cy="1535155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2811979F-41EF-59E6-9E18-9357783661D4}"/>
                </a:ext>
              </a:extLst>
            </p:cNvPr>
            <p:cNvSpPr/>
            <p:nvPr/>
          </p:nvSpPr>
          <p:spPr>
            <a:xfrm>
              <a:off x="7987323" y="4407236"/>
              <a:ext cx="1313346" cy="265420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SLR </a:t>
              </a:r>
              <a:r>
                <a:rPr lang="ko-KR" altLang="en-US" sz="9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레이저 감지 센서</a:t>
              </a:r>
              <a:r>
                <a:rPr lang="en-US" altLang="ko-KR" sz="9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(1064nm)</a:t>
              </a:r>
              <a:endParaRPr lang="ko-KR" altLang="en-US" sz="9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A98A2D0F-7DA7-357E-7E8E-F71468EBEB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5875" y="4552894"/>
              <a:ext cx="418860" cy="15542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w="lg" len="lg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A578A6D5-94B4-6C61-D648-D8ECF15AEB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45279" y="4621390"/>
              <a:ext cx="331896" cy="172808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w="lg" len="lg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532220D-42DB-62FC-8F04-75B778A8E151}"/>
                </a:ext>
              </a:extLst>
            </p:cNvPr>
            <p:cNvSpPr/>
            <p:nvPr/>
          </p:nvSpPr>
          <p:spPr>
            <a:xfrm>
              <a:off x="5407175" y="4610892"/>
              <a:ext cx="1485609" cy="309416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대즐링</a:t>
              </a:r>
              <a:r>
                <a:rPr lang="ko-KR" altLang="en-US" sz="9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 능동방어 시스템 </a:t>
              </a:r>
              <a:endParaRPr lang="en-US" altLang="ko-KR" sz="9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시험 카메라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B10BB08-06D7-AD88-FF44-707AE523DEF8}"/>
                </a:ext>
              </a:extLst>
            </p:cNvPr>
            <p:cNvCxnSpPr>
              <a:cxnSpLocks/>
            </p:cNvCxnSpPr>
            <p:nvPr/>
          </p:nvCxnSpPr>
          <p:spPr>
            <a:xfrm>
              <a:off x="6834181" y="4739512"/>
              <a:ext cx="464821" cy="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5C145FB-10DB-9F24-FE73-B5A8EC1B6075}"/>
                </a:ext>
              </a:extLst>
            </p:cNvPr>
            <p:cNvSpPr/>
            <p:nvPr/>
          </p:nvSpPr>
          <p:spPr>
            <a:xfrm>
              <a:off x="7545279" y="4794198"/>
              <a:ext cx="1313347" cy="252219"/>
            </a:xfrm>
            <a:prstGeom prst="round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SLR </a:t>
              </a:r>
              <a:r>
                <a:rPr lang="ko-KR" altLang="en-US" sz="9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레이저 감지 센서</a:t>
              </a:r>
              <a:r>
                <a:rPr lang="en-US" altLang="ko-KR" sz="9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(532nm)</a:t>
              </a:r>
              <a:endParaRPr lang="ko-KR" altLang="en-US" sz="9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3FD326D-5A18-B5E2-C1C1-CF6EB49F01FE}"/>
              </a:ext>
            </a:extLst>
          </p:cNvPr>
          <p:cNvSpPr/>
          <p:nvPr/>
        </p:nvSpPr>
        <p:spPr>
          <a:xfrm>
            <a:off x="5827464" y="4986288"/>
            <a:ext cx="2943075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</a:t>
            </a:r>
            <a:r>
              <a:rPr lang="ko-KR" altLang="en-US" sz="12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대즐링</a:t>
            </a:r>
            <a:r>
              <a:rPr lang="ko-KR" altLang="en-US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능동방어 시스템 시험 카메라 </a:t>
            </a:r>
            <a:endParaRPr lang="en-US" altLang="ko-KR" sz="12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및 레이저 감지기 설계 안</a:t>
            </a:r>
            <a:r>
              <a: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</a:t>
            </a:r>
            <a:endParaRPr lang="ko-KR" altLang="en-US" sz="12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0918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WBS (Work Breakdown Structure)</a:t>
            </a: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Payload 2 : SLR Laser Detector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8C39C7A-1407-2544-30E7-0DEE9E9DD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077846"/>
              </p:ext>
            </p:extLst>
          </p:nvPr>
        </p:nvGraphicFramePr>
        <p:xfrm>
          <a:off x="361084" y="1464398"/>
          <a:ext cx="8421827" cy="3948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265">
                  <a:extLst>
                    <a:ext uri="{9D8B030D-6E8A-4147-A177-3AD203B41FA5}">
                      <a16:colId xmlns:a16="http://schemas.microsoft.com/office/drawing/2014/main" val="3358291018"/>
                    </a:ext>
                  </a:extLst>
                </a:gridCol>
                <a:gridCol w="2343891">
                  <a:extLst>
                    <a:ext uri="{9D8B030D-6E8A-4147-A177-3AD203B41FA5}">
                      <a16:colId xmlns:a16="http://schemas.microsoft.com/office/drawing/2014/main" val="735291838"/>
                    </a:ext>
                  </a:extLst>
                </a:gridCol>
                <a:gridCol w="3808558">
                  <a:extLst>
                    <a:ext uri="{9D8B030D-6E8A-4147-A177-3AD203B41FA5}">
                      <a16:colId xmlns:a16="http://schemas.microsoft.com/office/drawing/2014/main" val="4216081457"/>
                    </a:ext>
                  </a:extLst>
                </a:gridCol>
                <a:gridCol w="858113">
                  <a:extLst>
                    <a:ext uri="{9D8B030D-6E8A-4147-A177-3AD203B41FA5}">
                      <a16:colId xmlns:a16="http://schemas.microsoft.com/office/drawing/2014/main" val="3530947212"/>
                    </a:ext>
                  </a:extLst>
                </a:gridCol>
              </a:tblGrid>
              <a:tr h="3131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 3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 5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Note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41221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H/W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조사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포토다이오드 조사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포토다이오드 성능 조사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진행완료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313379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예비 설계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조도 및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광전류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분석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포토다이오드에 입사되는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SLR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레이저 조도 분석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315141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포토다이오드에 입사되는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SLR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레이저 조도 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581281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지구복사조도 데이터 조사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800802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SLR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레이저 파워 환산 및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SLR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광력에 의한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광전류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분석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717632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지구복사조도에 의한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광전류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분석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982338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궤도 상에 입사되는 총 광력에 의한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광전류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분석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103079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총 광력에 의한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광전류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분석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S/W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신뢰성 검증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472915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레이저 감지 회로 제작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[TBC]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레이저 감지 회로 제작에 대한 사전 조사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448939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상세 설계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레이저 감지 회로 설계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[TBC]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회로 출력전압의 기준전압 및 민감도 설계 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732568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레이저 감지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PCB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설계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550522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레이저 감지 회로 제작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93313"/>
                  </a:ext>
                </a:extLst>
              </a:tr>
              <a:tr h="279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검증 시험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포토다이오드 민감도 시험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레이저 감지 회로의 광력에 대한 출력전압 성능 시험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2746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37566BD2-8A32-6A24-D963-5069FEAF0B62}"/>
              </a:ext>
            </a:extLst>
          </p:cNvPr>
          <p:cNvSpPr/>
          <p:nvPr/>
        </p:nvSpPr>
        <p:spPr>
          <a:xfrm>
            <a:off x="2156753" y="5487466"/>
            <a:ext cx="483048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&lt;SLR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레이저 감지 장치 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WBS&gt;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4805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EC48F9-F6CD-4E4E-9111-4889B632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20497F9-956F-4739-8B0F-492FB814F7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6" cy="5376968"/>
              </a:xfrm>
            </p:spPr>
            <p:txBody>
              <a:bodyPr/>
              <a:lstStyle/>
              <a:p>
                <a:r>
                  <a:rPr lang="en-US" altLang="ko-KR" dirty="0"/>
                  <a:t>SLR </a:t>
                </a:r>
                <a:r>
                  <a:rPr lang="ko-KR" altLang="en-US" dirty="0"/>
                  <a:t>레이저의 단위 면적당 입사되는 파워</a:t>
                </a:r>
                <a:r>
                  <a:rPr lang="en-US" altLang="ko-KR" dirty="0"/>
                  <a:t>(W/m</a:t>
                </a:r>
                <a:r>
                  <a:rPr lang="en-US" altLang="ko-KR" baseline="30000" dirty="0"/>
                  <a:t>2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분석</a:t>
                </a:r>
                <a:endParaRPr lang="en-US" altLang="ko-KR" dirty="0"/>
              </a:p>
              <a:p>
                <a:pPr marL="597150" lvl="1" indent="-285750"/>
                <a:r>
                  <a:rPr lang="en-US" altLang="ko-KR" dirty="0"/>
                  <a:t> SLR </a:t>
                </a:r>
                <a:r>
                  <a:rPr lang="ko-KR" altLang="en-US" dirty="0"/>
                  <a:t>레이저</a:t>
                </a:r>
                <a:endParaRPr lang="en-US" altLang="ko-KR" dirty="0"/>
              </a:p>
              <a:p>
                <a:pPr marL="777150" lvl="2" indent="-285750">
                  <a:lnSpc>
                    <a:spcPct val="130000"/>
                  </a:lnSpc>
                </a:pPr>
                <a:r>
                  <a:rPr lang="en-US" altLang="ko-KR" dirty="0"/>
                  <a:t>Average power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Peak power</a:t>
                </a:r>
                <a:r>
                  <a:rPr lang="ko-KR" altLang="en-US" dirty="0"/>
                  <a:t>로 나누어질 수 있음</a:t>
                </a:r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marL="671400" lvl="3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𝐴𝑣𝑒𝑟𝑎𝑔𝑒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𝑃𝑜𝑤𝑒𝑟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𝑃𝑢𝑙𝑠𝑒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𝐸𝑛𝑒𝑟𝑔𝑦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𝑅𝑒𝑝𝑒𝑡𝑖𝑡𝑖𝑜𝑛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𝑅𝑎𝑡𝑒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𝐻𝑧</m:t>
                          </m:r>
                        </m:e>
                      </m:d>
                    </m:oMath>
                  </m:oMathPara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pPr marL="671400" lvl="3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𝑃𝑒𝑎𝑘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𝑃𝑜𝑤𝑒𝑟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𝑃𝑢𝑙𝑠𝑒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𝐸𝑛𝑒𝑟𝑔𝑦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/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𝑃𝑢𝑙𝑠𝑒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𝐷𝑢𝑟𝑎𝑡𝑖𝑜𝑛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𝑊𝑖𝑑𝑡h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ko-KR" sz="1200" dirty="0"/>
              </a:p>
              <a:p>
                <a:pPr marL="662850" lvl="2" indent="-171450">
                  <a:lnSpc>
                    <a:spcPct val="130000"/>
                  </a:lnSpc>
                </a:pPr>
                <a:r>
                  <a:rPr lang="en-US" altLang="ko-KR" dirty="0"/>
                  <a:t> Peak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power</a:t>
                </a:r>
                <a:r>
                  <a:rPr lang="ko-KR" altLang="en-US" dirty="0"/>
                  <a:t>로 인하여 포토다이오드가 영구적 손상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열적 손상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을 입을 수 있기 때문에 </a:t>
                </a:r>
                <a:r>
                  <a:rPr lang="en-US" altLang="ko-KR" dirty="0"/>
                  <a:t>peak power</a:t>
                </a:r>
                <a:r>
                  <a:rPr lang="ko-KR" altLang="en-US" dirty="0"/>
                  <a:t>의 수치가 중요</a:t>
                </a:r>
                <a:endParaRPr lang="en-US" altLang="ko-KR" dirty="0"/>
              </a:p>
              <a:p>
                <a:pPr marL="662850" lvl="2" indent="-171450">
                  <a:lnSpc>
                    <a:spcPct val="130000"/>
                  </a:lnSpc>
                </a:pPr>
                <a:r>
                  <a:rPr lang="en-US" altLang="ko-KR" dirty="0"/>
                  <a:t> Average power </a:t>
                </a:r>
                <a:r>
                  <a:rPr lang="ko-KR" altLang="en-US" dirty="0"/>
                  <a:t>또는 </a:t>
                </a:r>
                <a:r>
                  <a:rPr lang="en-US" altLang="ko-KR" dirty="0"/>
                  <a:t>peak power </a:t>
                </a:r>
                <a:r>
                  <a:rPr lang="ko-KR" altLang="en-US" dirty="0"/>
                  <a:t>로 </a:t>
                </a:r>
                <a:r>
                  <a:rPr lang="ko-KR" altLang="en-US" dirty="0" err="1"/>
                  <a:t>광전류</a:t>
                </a:r>
                <a:r>
                  <a:rPr lang="ko-KR" altLang="en-US" dirty="0"/>
                  <a:t> 계산 가능 및 측정 가능</a:t>
                </a:r>
                <a:endParaRPr lang="en-US" altLang="ko-KR" dirty="0"/>
              </a:p>
              <a:p>
                <a:pPr marL="612000" lvl="3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20497F9-956F-4739-8B0F-492FB814F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6" cy="5376968"/>
              </a:xfrm>
              <a:blipFill>
                <a:blip r:embed="rId4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5">
            <a:extLst>
              <a:ext uri="{FF2B5EF4-FFF2-40B4-BE49-F238E27FC236}">
                <a16:creationId xmlns:a16="http://schemas.microsoft.com/office/drawing/2014/main" id="{69672BC2-65B3-5C4E-0180-8A3CAE21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Payload 2 : SLR Laser Detector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21945D-DE61-632D-CE16-492149F66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74" y="3976485"/>
            <a:ext cx="3825026" cy="17565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6E1CD3A-6742-B387-52B8-5C501CBA75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9960" y="3865172"/>
            <a:ext cx="3166695" cy="19791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A54A42-E31B-7E96-2F62-5EF5D60AFCE8}"/>
              </a:ext>
            </a:extLst>
          </p:cNvPr>
          <p:cNvSpPr txBox="1"/>
          <p:nvPr/>
        </p:nvSpPr>
        <p:spPr>
          <a:xfrm>
            <a:off x="4378586" y="5929314"/>
            <a:ext cx="41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&lt;Pulsed Laser Peak power and average power&gt;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2AA136-2BC1-8281-1560-E641604F1571}"/>
              </a:ext>
            </a:extLst>
          </p:cNvPr>
          <p:cNvSpPr txBox="1"/>
          <p:nvPr/>
        </p:nvSpPr>
        <p:spPr>
          <a:xfrm>
            <a:off x="596535" y="5929313"/>
            <a:ext cx="4125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&lt;Pulsed Laser &gt;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B28CB0-3297-D946-E60D-841073DDFC93}"/>
              </a:ext>
            </a:extLst>
          </p:cNvPr>
          <p:cNvSpPr txBox="1"/>
          <p:nvPr/>
        </p:nvSpPr>
        <p:spPr>
          <a:xfrm>
            <a:off x="7529967" y="4035208"/>
            <a:ext cx="16140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times" panose="02020603050405020304" pitchFamily="18" charset="0"/>
                <a:cs typeface="times" panose="02020603050405020304" pitchFamily="18" charset="0"/>
              </a:rPr>
              <a:t>Thorlabs, pulse laser, 2019</a:t>
            </a:r>
            <a:endParaRPr lang="ko-KR" altLang="en-US" sz="9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373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EC48F9-F6CD-4E4E-9111-4889B632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0497F9-956F-4739-8B0F-492FB814F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6" cy="5376968"/>
          </a:xfrm>
        </p:spPr>
        <p:txBody>
          <a:bodyPr/>
          <a:lstStyle/>
          <a:p>
            <a:r>
              <a:rPr lang="en-US" altLang="ko-KR" dirty="0"/>
              <a:t>SLR </a:t>
            </a:r>
            <a:r>
              <a:rPr lang="ko-KR" altLang="en-US" dirty="0"/>
              <a:t>레이저의 단위 면적당 입사되는 파워</a:t>
            </a:r>
            <a:r>
              <a:rPr lang="en-US" altLang="ko-KR" dirty="0"/>
              <a:t>(W/m</a:t>
            </a:r>
            <a:r>
              <a:rPr lang="en-US" altLang="ko-KR" baseline="30000" dirty="0"/>
              <a:t>2</a:t>
            </a:r>
            <a:r>
              <a:rPr lang="en-US" altLang="ko-KR" dirty="0"/>
              <a:t>)</a:t>
            </a:r>
            <a:r>
              <a:rPr lang="ko-KR" altLang="en-US" dirty="0"/>
              <a:t> 분석</a:t>
            </a:r>
            <a:endParaRPr lang="en-US" altLang="ko-KR" dirty="0"/>
          </a:p>
          <a:p>
            <a:pPr marL="537750" lvl="1" indent="-285750"/>
            <a:r>
              <a:rPr lang="en-US" altLang="ko-KR" sz="1600" dirty="0"/>
              <a:t>SLR </a:t>
            </a:r>
            <a:r>
              <a:rPr lang="ko-KR" altLang="en-US" sz="1600" dirty="0"/>
              <a:t>레이저의 </a:t>
            </a:r>
            <a:r>
              <a:rPr lang="en-US" altLang="ko-KR" sz="1600" dirty="0"/>
              <a:t>Peak power (W/m</a:t>
            </a:r>
            <a:r>
              <a:rPr lang="en-US" altLang="ko-KR" sz="1600" baseline="30000" dirty="0"/>
              <a:t>2</a:t>
            </a:r>
            <a:r>
              <a:rPr lang="en-US" altLang="ko-KR" sz="1600" dirty="0"/>
              <a:t>) </a:t>
            </a:r>
            <a:r>
              <a:rPr lang="ko-KR" altLang="en-US" sz="1600" dirty="0"/>
              <a:t>와 </a:t>
            </a:r>
            <a:r>
              <a:rPr lang="en-US" altLang="ko-KR" sz="1600" dirty="0"/>
              <a:t>Energy (J/m</a:t>
            </a:r>
            <a:r>
              <a:rPr lang="en-US" altLang="ko-KR" sz="1600" baseline="30000" dirty="0"/>
              <a:t>2</a:t>
            </a:r>
            <a:r>
              <a:rPr lang="en-US" altLang="ko-KR" sz="1600" dirty="0"/>
              <a:t>) </a:t>
            </a:r>
            <a:r>
              <a:rPr lang="ko-KR" altLang="en-US" sz="1600" dirty="0"/>
              <a:t>그래프와 표 </a:t>
            </a:r>
            <a:r>
              <a:rPr lang="en-US" altLang="ko-KR" sz="1600" dirty="0"/>
              <a:t>(2022.03.28 </a:t>
            </a:r>
            <a:r>
              <a:rPr lang="ko-KR" altLang="en-US" sz="1600" dirty="0"/>
              <a:t>자료</a:t>
            </a:r>
            <a:r>
              <a:rPr lang="en-US" altLang="ko-KR" sz="1600" dirty="0"/>
              <a:t>)</a:t>
            </a:r>
          </a:p>
          <a:p>
            <a:pPr marL="717750" lvl="2" indent="-285750"/>
            <a:r>
              <a:rPr lang="en-US" altLang="ko-KR" sz="1400" dirty="0"/>
              <a:t>SLR </a:t>
            </a:r>
            <a:r>
              <a:rPr lang="ko-KR" altLang="en-US" sz="1400" dirty="0"/>
              <a:t>레이저의 데이터를 확인한 결과 </a:t>
            </a:r>
            <a:r>
              <a:rPr lang="en-US" altLang="ko-KR" sz="1400" dirty="0"/>
              <a:t>1064 nm</a:t>
            </a:r>
            <a:r>
              <a:rPr lang="ko-KR" altLang="en-US" sz="1400" dirty="0"/>
              <a:t> 파장 대역이 </a:t>
            </a:r>
            <a:r>
              <a:rPr lang="en-US" altLang="ko-KR" sz="1400" dirty="0"/>
              <a:t>532 nm</a:t>
            </a:r>
            <a:r>
              <a:rPr lang="ko-KR" altLang="en-US" sz="1400" dirty="0"/>
              <a:t> 대역 보다 높은 에너지와 파워를 가지는 것으로 확인 </a:t>
            </a:r>
            <a:r>
              <a:rPr lang="en-US" altLang="ko-KR" sz="1400" dirty="0"/>
              <a:t>(Peak</a:t>
            </a:r>
            <a:r>
              <a:rPr lang="ko-KR" altLang="en-US" sz="1400" dirty="0"/>
              <a:t> </a:t>
            </a:r>
            <a:r>
              <a:rPr lang="en-US" altLang="ko-KR" sz="1400" dirty="0"/>
              <a:t>power</a:t>
            </a:r>
            <a:r>
              <a:rPr lang="ko-KR" altLang="en-US" sz="1400" dirty="0"/>
              <a:t>는 </a:t>
            </a:r>
            <a:r>
              <a:rPr lang="en-US" altLang="ko-KR" sz="1400" dirty="0"/>
              <a:t>1064 nm </a:t>
            </a:r>
            <a:r>
              <a:rPr lang="ko-KR" altLang="en-US" sz="1400" dirty="0"/>
              <a:t>파장 대역이 </a:t>
            </a:r>
            <a:r>
              <a:rPr lang="en-US" altLang="ko-KR" sz="1400" dirty="0"/>
              <a:t>8</a:t>
            </a:r>
            <a:r>
              <a:rPr lang="ko-KR" altLang="en-US" sz="1400" dirty="0"/>
              <a:t>배 정도 큼</a:t>
            </a:r>
            <a:r>
              <a:rPr lang="en-US" altLang="ko-KR" sz="1400" dirty="0"/>
              <a:t>)</a:t>
            </a:r>
          </a:p>
          <a:p>
            <a:pPr marL="717750" lvl="2" indent="-285750"/>
            <a:r>
              <a:rPr lang="en-US" altLang="ko-KR" sz="1400" dirty="0"/>
              <a:t>SLR </a:t>
            </a:r>
            <a:r>
              <a:rPr lang="ko-KR" altLang="en-US" sz="1400" dirty="0"/>
              <a:t>레이저 중 </a:t>
            </a:r>
            <a:r>
              <a:rPr lang="en-US" altLang="ko-KR" sz="1400" dirty="0"/>
              <a:t>1064 nm</a:t>
            </a:r>
            <a:r>
              <a:rPr lang="ko-KR" altLang="en-US" sz="1400" dirty="0"/>
              <a:t> 파장 대역의 </a:t>
            </a:r>
            <a:r>
              <a:rPr lang="en-US" altLang="ko-KR" sz="1400" dirty="0"/>
              <a:t>peak power</a:t>
            </a:r>
            <a:r>
              <a:rPr lang="ko-KR" altLang="en-US" sz="1400" dirty="0"/>
              <a:t>에 의한 손상여부 조사</a:t>
            </a:r>
            <a:endParaRPr lang="en-US" altLang="ko-KR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69672BC2-65B3-5C4E-0180-8A3CAE21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Payload 2 : SLR Laser Detector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7">
                <a:extLst>
                  <a:ext uri="{FF2B5EF4-FFF2-40B4-BE49-F238E27FC236}">
                    <a16:creationId xmlns:a16="http://schemas.microsoft.com/office/drawing/2014/main" id="{EED4597C-105F-350C-C7FD-F004D84573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1928438"/>
                  </p:ext>
                </p:extLst>
              </p:nvPr>
            </p:nvGraphicFramePr>
            <p:xfrm>
              <a:off x="757084" y="2579984"/>
              <a:ext cx="7629831" cy="1127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04916">
                      <a:extLst>
                        <a:ext uri="{9D8B030D-6E8A-4147-A177-3AD203B41FA5}">
                          <a16:colId xmlns:a16="http://schemas.microsoft.com/office/drawing/2014/main" val="2298062578"/>
                        </a:ext>
                      </a:extLst>
                    </a:gridCol>
                    <a:gridCol w="1708305">
                      <a:extLst>
                        <a:ext uri="{9D8B030D-6E8A-4147-A177-3AD203B41FA5}">
                          <a16:colId xmlns:a16="http://schemas.microsoft.com/office/drawing/2014/main" val="1037186829"/>
                        </a:ext>
                      </a:extLst>
                    </a:gridCol>
                    <a:gridCol w="1708305">
                      <a:extLst>
                        <a:ext uri="{9D8B030D-6E8A-4147-A177-3AD203B41FA5}">
                          <a16:colId xmlns:a16="http://schemas.microsoft.com/office/drawing/2014/main" val="2540181228"/>
                        </a:ext>
                      </a:extLst>
                    </a:gridCol>
                    <a:gridCol w="1708305">
                      <a:extLst>
                        <a:ext uri="{9D8B030D-6E8A-4147-A177-3AD203B41FA5}">
                          <a16:colId xmlns:a16="http://schemas.microsoft.com/office/drawing/2014/main" val="2366847732"/>
                        </a:ext>
                      </a:extLst>
                    </a:gridCol>
                  </a:tblGrid>
                  <a:tr h="19789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Wavelength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Energy (J/m</a:t>
                          </a:r>
                          <a:r>
                            <a:rPr lang="en-US" altLang="ko-KR" sz="1200" baseline="30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Peak power(W/m</a:t>
                          </a:r>
                          <a:r>
                            <a:rPr lang="en-US" altLang="ko-KR" sz="1200" baseline="30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Average power (W/m</a:t>
                          </a:r>
                          <a:r>
                            <a:rPr lang="en-US" altLang="ko-KR" sz="1200" baseline="30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1123088"/>
                      </a:ext>
                    </a:extLst>
                  </a:tr>
                  <a:tr h="30783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532 nm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(pulse duration : 20 </a:t>
                          </a:r>
                          <a:r>
                            <a:rPr lang="en-US" altLang="ko-KR" sz="10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ps</a:t>
                          </a: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repetition rate : 60 Hz)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6.07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10</a:t>
                          </a:r>
                          <a:r>
                            <a:rPr lang="en-US" altLang="ko-KR" sz="1200" baseline="30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-6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 151828.5627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 3.64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10</a:t>
                          </a:r>
                          <a:r>
                            <a:rPr lang="en-US" altLang="ko-KR" sz="1200" baseline="30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-4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0545876"/>
                      </a:ext>
                    </a:extLst>
                  </a:tr>
                  <a:tr h="30783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1064 nm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(pulse duration : 1 ns, repetition rate : 10 Hz)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 0.002486069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 1243034.478 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max 0.012430345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942185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7">
                <a:extLst>
                  <a:ext uri="{FF2B5EF4-FFF2-40B4-BE49-F238E27FC236}">
                    <a16:creationId xmlns:a16="http://schemas.microsoft.com/office/drawing/2014/main" id="{EED4597C-105F-350C-C7FD-F004D84573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1928438"/>
                  </p:ext>
                </p:extLst>
              </p:nvPr>
            </p:nvGraphicFramePr>
            <p:xfrm>
              <a:off x="757084" y="2579984"/>
              <a:ext cx="7629831" cy="1127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04916">
                      <a:extLst>
                        <a:ext uri="{9D8B030D-6E8A-4147-A177-3AD203B41FA5}">
                          <a16:colId xmlns:a16="http://schemas.microsoft.com/office/drawing/2014/main" val="2298062578"/>
                        </a:ext>
                      </a:extLst>
                    </a:gridCol>
                    <a:gridCol w="1708305">
                      <a:extLst>
                        <a:ext uri="{9D8B030D-6E8A-4147-A177-3AD203B41FA5}">
                          <a16:colId xmlns:a16="http://schemas.microsoft.com/office/drawing/2014/main" val="1037186829"/>
                        </a:ext>
                      </a:extLst>
                    </a:gridCol>
                    <a:gridCol w="1708305">
                      <a:extLst>
                        <a:ext uri="{9D8B030D-6E8A-4147-A177-3AD203B41FA5}">
                          <a16:colId xmlns:a16="http://schemas.microsoft.com/office/drawing/2014/main" val="2540181228"/>
                        </a:ext>
                      </a:extLst>
                    </a:gridCol>
                    <a:gridCol w="1708305">
                      <a:extLst>
                        <a:ext uri="{9D8B030D-6E8A-4147-A177-3AD203B41FA5}">
                          <a16:colId xmlns:a16="http://schemas.microsoft.com/office/drawing/2014/main" val="236684773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Wavelength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Energy (J/m</a:t>
                          </a:r>
                          <a:r>
                            <a:rPr lang="en-US" altLang="ko-KR" sz="1200" baseline="30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Peak power(W/m</a:t>
                          </a:r>
                          <a:r>
                            <a:rPr lang="en-US" altLang="ko-KR" sz="1200" baseline="30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Average power (W/m</a:t>
                          </a:r>
                          <a:r>
                            <a:rPr lang="en-US" altLang="ko-KR" sz="1200" baseline="30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ko-KR" altLang="en-US" sz="12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1123088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532 nm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(pulse duration : 20 </a:t>
                          </a:r>
                          <a:r>
                            <a:rPr lang="en-US" altLang="ko-KR" sz="10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ps</a:t>
                          </a: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repetition rate : 60 Hz)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7143" t="-64789" r="-201071" b="-10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 151828.5627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47500" t="-64789" r="-714" b="-1056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054587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1064 nm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(pulse duration : 1 ns, repetition rate : 10 Hz)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 0.002486069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 1243034.478 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max 0.012430345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9421852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D7BE879E-49DE-0B23-DE2D-AC106CD811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1564401"/>
              </p:ext>
            </p:extLst>
          </p:nvPr>
        </p:nvGraphicFramePr>
        <p:xfrm>
          <a:off x="3168101" y="3834581"/>
          <a:ext cx="2826633" cy="29494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4FA6FADF-C627-2708-DE89-E9C1B303E3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764536"/>
              </p:ext>
            </p:extLst>
          </p:nvPr>
        </p:nvGraphicFramePr>
        <p:xfrm>
          <a:off x="397829" y="3834581"/>
          <a:ext cx="2826633" cy="2949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D25DB19E-6812-21FC-95CF-FCD3662E8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9971961"/>
              </p:ext>
            </p:extLst>
          </p:nvPr>
        </p:nvGraphicFramePr>
        <p:xfrm>
          <a:off x="5994734" y="3834581"/>
          <a:ext cx="2695076" cy="2949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3711224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20497F9-956F-4739-8B0F-492FB814F7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SLR </a:t>
                </a:r>
                <a:r>
                  <a:rPr lang="ko-KR" altLang="en-US" dirty="0"/>
                  <a:t>레이저의 단위 면적당 입사되는 파워</a:t>
                </a:r>
                <a:r>
                  <a:rPr lang="en-US" altLang="ko-KR" dirty="0"/>
                  <a:t>(W/m</a:t>
                </a:r>
                <a:r>
                  <a:rPr lang="en-US" altLang="ko-KR" baseline="30000" dirty="0"/>
                  <a:t>2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분석</a:t>
                </a:r>
                <a:endParaRPr lang="en-US" altLang="ko-KR" dirty="0"/>
              </a:p>
              <a:p>
                <a:pPr marL="597150" lvl="1" indent="-285750"/>
                <a:r>
                  <a:rPr lang="en-US" altLang="ko-KR" dirty="0"/>
                  <a:t>SLR </a:t>
                </a:r>
                <a:r>
                  <a:rPr lang="ko-KR" altLang="en-US" dirty="0"/>
                  <a:t>레이저의 </a:t>
                </a:r>
                <a:r>
                  <a:rPr lang="en-US" altLang="ko-KR" dirty="0"/>
                  <a:t>peak power</a:t>
                </a:r>
                <a:r>
                  <a:rPr lang="ko-KR" altLang="en-US" dirty="0"/>
                  <a:t>에 의한 손상 여부</a:t>
                </a:r>
                <a:endParaRPr lang="en-US" altLang="ko-KR" dirty="0"/>
              </a:p>
              <a:p>
                <a:pPr marL="777150" lvl="2" indent="-285750"/>
                <a:r>
                  <a:rPr lang="en-US" altLang="ko-KR" sz="1400" dirty="0">
                    <a:latin typeface="Cambria Math" panose="02040503050406030204" pitchFamily="18" charset="0"/>
                  </a:rPr>
                  <a:t>Pulsed laser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에 의한 열변화로 일어나는 열적 손상을 의미</a:t>
                </a:r>
                <a:endParaRPr lang="en-US" altLang="ko-KR" sz="1400" dirty="0">
                  <a:latin typeface="Cambria Math" panose="02040503050406030204" pitchFamily="18" charset="0"/>
                </a:endParaRPr>
              </a:p>
              <a:p>
                <a:pPr marL="777150" lvl="2" indent="-285750"/>
                <a:r>
                  <a:rPr lang="ko-KR" altLang="en-US" sz="1400" dirty="0"/>
                  <a:t>손상 </a:t>
                </a:r>
                <a:r>
                  <a:rPr lang="ko-KR" altLang="en-US" sz="1400" dirty="0" err="1"/>
                  <a:t>임계값</a:t>
                </a:r>
                <a:r>
                  <a:rPr lang="en-US" altLang="ko-KR" sz="1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dirty="0"/>
                  <a:t>)</a:t>
                </a:r>
                <a:r>
                  <a:rPr lang="ko-KR" altLang="en-US" sz="1400" dirty="0"/>
                  <a:t>을 넘어가면 열적 손상 발생</a:t>
                </a:r>
                <a:endParaRPr lang="en-US" altLang="ko-KR" sz="1400" dirty="0"/>
              </a:p>
              <a:p>
                <a:pPr marL="777150" lvl="2" indent="-285750"/>
                <a:r>
                  <a:rPr lang="ko-KR" altLang="en-US" sz="1400" dirty="0"/>
                  <a:t>논문에서 제시하는 손상 </a:t>
                </a:r>
                <a:r>
                  <a:rPr lang="ko-KR" altLang="en-US" sz="1400" dirty="0" err="1"/>
                  <a:t>임계값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(at 1064 nm)</a:t>
                </a:r>
              </a:p>
              <a:p>
                <a:pPr marL="957150" lvl="3" indent="-28575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ko-KR" sz="1200" dirty="0"/>
                  <a:t>3</a:t>
                </a:r>
                <a14:m>
                  <m:oMath xmlns:m="http://schemas.openxmlformats.org/officeDocument/2006/math">
                    <m:r>
                      <a:rPr lang="en-US" altLang="ko-KR" sz="1200" b="1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200" dirty="0"/>
                  <a:t>10</a:t>
                </a:r>
                <a:r>
                  <a:rPr lang="en-US" altLang="ko-KR" sz="1200" baseline="30000" dirty="0"/>
                  <a:t>9  </a:t>
                </a:r>
                <a:r>
                  <a:rPr lang="en-US" altLang="ko-KR" sz="1200" dirty="0"/>
                  <a:t>W/cm</a:t>
                </a:r>
                <a:r>
                  <a:rPr lang="en-US" altLang="ko-KR" sz="1200" baseline="30000" dirty="0"/>
                  <a:t>2</a:t>
                </a:r>
                <a:r>
                  <a:rPr lang="en-US" altLang="ko-KR" sz="1200" dirty="0"/>
                  <a:t> 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𝑝𝑢𝑙𝑠𝑒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</m:e>
                    </m:d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en-US" altLang="ko-KR" sz="1200" b="0" i="0" smtClean="0">
                        <a:latin typeface="Cambria Math" panose="02040503050406030204" pitchFamily="18" charset="0"/>
                      </a:rPr>
                      <m:t>ns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dirty="0"/>
                  <a:t>)</a:t>
                </a:r>
              </a:p>
              <a:p>
                <a:pPr marL="957150" lvl="3" indent="-28575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ko-KR" sz="1200" b="1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200" dirty="0"/>
                  <a:t>10</a:t>
                </a:r>
                <a:r>
                  <a:rPr lang="en-US" altLang="ko-KR" sz="1200" baseline="30000" dirty="0"/>
                  <a:t>3  </a:t>
                </a:r>
                <a:r>
                  <a:rPr lang="en-US" altLang="ko-KR" sz="1200" dirty="0"/>
                  <a:t>W/cm</a:t>
                </a:r>
                <a:r>
                  <a:rPr lang="en-US" altLang="ko-KR" sz="1200" baseline="30000" dirty="0"/>
                  <a:t>2</a:t>
                </a:r>
                <a:r>
                  <a:rPr lang="en-US" altLang="ko-KR" sz="1200" dirty="0"/>
                  <a:t> 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𝑝𝑢𝑙𝑠𝑒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</m:e>
                    </m:d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ko-KR" sz="12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b="0" dirty="0"/>
                  <a:t>)</a:t>
                </a:r>
              </a:p>
              <a:p>
                <a:pPr marL="957150" lvl="3" indent="-285750"/>
                <a:r>
                  <a:rPr lang="en-US" altLang="ko-KR" sz="1200" dirty="0"/>
                  <a:t>Pulse duration</a:t>
                </a:r>
                <a:r>
                  <a:rPr lang="ko-KR" altLang="en-US" sz="1200" dirty="0"/>
                  <a:t>이 작을 수록 손상 </a:t>
                </a:r>
                <a:r>
                  <a:rPr lang="ko-KR" altLang="en-US" sz="1200" dirty="0" err="1"/>
                  <a:t>임계값</a:t>
                </a:r>
                <a:r>
                  <a:rPr lang="ko-KR" alt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200" dirty="0"/>
                  <a:t>는 커짐</a:t>
                </a:r>
                <a:endParaRPr lang="en-US" altLang="ko-KR" sz="1200" dirty="0"/>
              </a:p>
              <a:p>
                <a:pPr marL="957150" lvl="3" indent="-285750"/>
                <a:endParaRPr lang="en-US" altLang="ko-KR" sz="1200" dirty="0"/>
              </a:p>
              <a:p>
                <a:pPr marL="777150" lvl="2" indent="-285750"/>
                <a:r>
                  <a:rPr lang="ko-KR" altLang="en-US" sz="1400" dirty="0"/>
                  <a:t>현</a:t>
                </a:r>
                <a:r>
                  <a:rPr lang="en-US" altLang="ko-KR" sz="1400" dirty="0"/>
                  <a:t>, SLR Laser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1064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nm</a:t>
                </a:r>
                <a:r>
                  <a:rPr lang="ko-KR" altLang="en-US" sz="1400" dirty="0"/>
                  <a:t> </a:t>
                </a:r>
                <a:endParaRPr lang="en-US" altLang="ko-KR" sz="1400" dirty="0"/>
              </a:p>
              <a:p>
                <a:pPr marL="957150" lvl="3" indent="-285750"/>
                <a:r>
                  <a:rPr lang="en-US" altLang="ko-KR" sz="1200" dirty="0"/>
                  <a:t>Peak power : max </a:t>
                </a:r>
                <a:r>
                  <a:rPr lang="en-US" altLang="ko-KR" sz="1200" dirty="0">
                    <a:latin typeface="times" panose="02020603050405020304" pitchFamily="18" charset="0"/>
                    <a:cs typeface="times" panose="02020603050405020304" pitchFamily="18" charset="0"/>
                  </a:rPr>
                  <a:t>124</a:t>
                </a:r>
                <a:r>
                  <a:rPr lang="en-US" altLang="ko-KR" sz="1200" dirty="0"/>
                  <a:t> W/cm</a:t>
                </a:r>
                <a:r>
                  <a:rPr lang="en-US" altLang="ko-KR" sz="1200" baseline="30000" dirty="0"/>
                  <a:t>2</a:t>
                </a:r>
              </a:p>
              <a:p>
                <a:pPr marL="957150" lvl="3" indent="-285750"/>
                <a:r>
                  <a:rPr lang="en-US" altLang="ko-KR" sz="1200" dirty="0"/>
                  <a:t>Energy density : </a:t>
                </a:r>
                <a:r>
                  <a:rPr lang="en-US" altLang="ko-KR" sz="1200" dirty="0">
                    <a:latin typeface="times" panose="02020603050405020304" pitchFamily="18" charset="0"/>
                    <a:cs typeface="times" panose="02020603050405020304" pitchFamily="18" charset="0"/>
                  </a:rPr>
                  <a:t>2.49 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ko-KR" sz="1200" dirty="0"/>
                  <a:t>10</a:t>
                </a:r>
                <a:r>
                  <a:rPr lang="en-US" altLang="ko-KR" sz="1200" baseline="30000" dirty="0"/>
                  <a:t>-7</a:t>
                </a:r>
                <a:r>
                  <a:rPr lang="en-US" altLang="ko-KR" sz="12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:r>
                  <a:rPr lang="pl-PL" altLang="ko-KR" sz="1200" dirty="0"/>
                  <a:t>J/cm</a:t>
                </a:r>
                <a:r>
                  <a:rPr lang="pl-PL" altLang="ko-KR" sz="1200" baseline="30000" dirty="0"/>
                  <a:t>2</a:t>
                </a:r>
                <a:endParaRPr lang="en-US" altLang="ko-KR" sz="1200" baseline="30000" dirty="0"/>
              </a:p>
              <a:p>
                <a:pPr marL="957150" lvl="3" indent="-285750"/>
                <a:r>
                  <a:rPr lang="en-US" altLang="ko-KR" sz="1200" dirty="0"/>
                  <a:t>Pulse duration : 1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ko-KR" sz="1200" dirty="0"/>
                  <a:t>10</a:t>
                </a:r>
                <a:r>
                  <a:rPr lang="en-US" altLang="ko-KR" sz="1200" baseline="30000" dirty="0"/>
                  <a:t>-9  </a:t>
                </a:r>
                <a:r>
                  <a:rPr lang="en-US" altLang="ko-KR" sz="1200" dirty="0"/>
                  <a:t>sec</a:t>
                </a:r>
              </a:p>
              <a:p>
                <a:pPr marL="957150" lvl="3" indent="-285750"/>
                <a:r>
                  <a:rPr lang="ko-KR" altLang="en-US" sz="1200" dirty="0"/>
                  <a:t>현 </a:t>
                </a:r>
                <a:r>
                  <a:rPr lang="en-US" altLang="ko-KR" sz="1200" dirty="0"/>
                  <a:t>SLR Laser</a:t>
                </a:r>
                <a:r>
                  <a:rPr lang="ko-KR" altLang="en-US" sz="1200" dirty="0"/>
                  <a:t> </a:t>
                </a:r>
                <a:r>
                  <a:rPr lang="en-US" altLang="ko-KR" sz="1200" dirty="0"/>
                  <a:t>1064</a:t>
                </a:r>
                <a:r>
                  <a:rPr lang="ko-KR" altLang="en-US" sz="1200" dirty="0"/>
                  <a:t> </a:t>
                </a:r>
                <a:r>
                  <a:rPr lang="en-US" altLang="ko-KR" sz="1200" dirty="0"/>
                  <a:t>nm</a:t>
                </a:r>
                <a:r>
                  <a:rPr lang="ko-KR" altLang="en-US" sz="1200" dirty="0"/>
                  <a:t>의 </a:t>
                </a:r>
                <a:r>
                  <a:rPr lang="en-US" altLang="ko-KR" sz="1200" dirty="0"/>
                  <a:t>Peak power</a:t>
                </a:r>
                <a:r>
                  <a:rPr lang="ko-KR" altLang="en-US" sz="1200" dirty="0"/>
                  <a:t>은 논문과 비교했을 시 </a:t>
                </a:r>
                <a:r>
                  <a:rPr lang="en-US" altLang="ko-KR" sz="1200" dirty="0"/>
                  <a:t> </a:t>
                </a:r>
              </a:p>
              <a:p>
                <a:pPr marL="671400" lvl="3" indent="0">
                  <a:buNone/>
                </a:pPr>
                <a:r>
                  <a:rPr lang="en-US" altLang="ko-KR" sz="1200" dirty="0"/>
                  <a:t>       </a:t>
                </a:r>
                <a:r>
                  <a:rPr lang="ko-KR" altLang="en-US" sz="1200" dirty="0"/>
                  <a:t>최소 손상 </a:t>
                </a:r>
                <a:r>
                  <a:rPr lang="ko-KR" altLang="en-US" sz="1200" dirty="0" err="1"/>
                  <a:t>임계값</a:t>
                </a:r>
                <a:r>
                  <a:rPr lang="en-US" altLang="ko-KR" sz="1200" b="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altLang="ko-KR" sz="1200" dirty="0"/>
                  <a:t>x10</a:t>
                </a:r>
                <a:r>
                  <a:rPr lang="en-US" altLang="ko-KR" sz="1200" baseline="30000" dirty="0"/>
                  <a:t>3  </a:t>
                </a:r>
                <a:r>
                  <a:rPr lang="en-US" altLang="ko-KR" sz="1200" dirty="0"/>
                  <a:t>W/cm</a:t>
                </a:r>
                <a:r>
                  <a:rPr lang="en-US" altLang="ko-KR" sz="1200" baseline="30000" dirty="0"/>
                  <a:t>2</a:t>
                </a:r>
                <a:r>
                  <a:rPr lang="en-US" altLang="ko-KR" sz="1200" dirty="0"/>
                  <a:t> )</a:t>
                </a:r>
                <a:r>
                  <a:rPr lang="ko-KR" altLang="en-US" sz="1200" dirty="0"/>
                  <a:t>보다 약 </a:t>
                </a:r>
                <a:r>
                  <a:rPr lang="en-US" altLang="ko-KR" sz="1200" dirty="0"/>
                  <a:t>70</a:t>
                </a:r>
                <a:r>
                  <a:rPr lang="ko-KR" altLang="en-US" sz="1200" dirty="0"/>
                  <a:t>배 작음 </a:t>
                </a:r>
                <a:endParaRPr lang="en-US" altLang="ko-KR" sz="1200" dirty="0"/>
              </a:p>
              <a:p>
                <a:pPr marL="777150" lvl="2" indent="-285750"/>
                <a:endParaRPr lang="en-US" altLang="ko-KR" sz="1400" dirty="0"/>
              </a:p>
              <a:p>
                <a:pPr marL="777150" lvl="2" indent="-285750"/>
                <a:r>
                  <a:rPr lang="ko-KR" altLang="en-US" sz="1400" dirty="0"/>
                  <a:t>결론</a:t>
                </a:r>
                <a:endParaRPr lang="en-US" altLang="ko-KR" sz="1400" dirty="0"/>
              </a:p>
              <a:p>
                <a:pPr marL="957150" lvl="3" indent="-285750"/>
                <a:r>
                  <a:rPr lang="ko-KR" altLang="en-US" sz="1200" dirty="0"/>
                  <a:t>자체적 조사 결과</a:t>
                </a:r>
                <a:r>
                  <a:rPr lang="en-US" altLang="ko-KR" sz="1200" dirty="0"/>
                  <a:t>, peak power</a:t>
                </a:r>
                <a:r>
                  <a:rPr lang="ko-KR" altLang="en-US" sz="1200" dirty="0"/>
                  <a:t>에 의한 열손상은 미미할 것으로 예상</a:t>
                </a:r>
                <a:endParaRPr lang="en-US" altLang="ko-KR" sz="1200" dirty="0"/>
              </a:p>
              <a:p>
                <a:pPr marL="957150" lvl="3" indent="-285750"/>
                <a:r>
                  <a:rPr lang="ko-KR" altLang="en-US" sz="1200" dirty="0"/>
                  <a:t>제조사와의 협업을 통해 최종 판단 예정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20497F9-956F-4739-8B0F-492FB814F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B944A22C-460F-A7D7-7B40-CB2CBA0C07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6241"/>
          <a:stretch/>
        </p:blipFill>
        <p:spPr>
          <a:xfrm>
            <a:off x="5532746" y="2329375"/>
            <a:ext cx="3354172" cy="257558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EC48F9-F6CD-4E4E-9111-4889B632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64C05E3-8774-4467-9151-DC8449B0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Payload 2 : SLR Laser Detector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064A2-16DC-4F63-0C7E-523454558CE8}"/>
              </a:ext>
            </a:extLst>
          </p:cNvPr>
          <p:cNvSpPr txBox="1"/>
          <p:nvPr/>
        </p:nvSpPr>
        <p:spPr>
          <a:xfrm>
            <a:off x="5231173" y="4837587"/>
            <a:ext cx="3689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97150" lvl="1" indent="-285750" algn="ctr"/>
            <a:r>
              <a:rPr lang="en-US" altLang="ko-KR" sz="1200" dirty="0">
                <a:latin typeface="Cambria Math" panose="02040503050406030204" pitchFamily="18" charset="0"/>
              </a:rPr>
              <a:t>Laser</a:t>
            </a:r>
            <a:r>
              <a:rPr lang="ko-KR" altLang="en-US" sz="1200" dirty="0">
                <a:latin typeface="Cambria Math" panose="02040503050406030204" pitchFamily="18" charset="0"/>
              </a:rPr>
              <a:t> </a:t>
            </a:r>
            <a:r>
              <a:rPr lang="en-US" altLang="ko-KR" sz="1200" dirty="0">
                <a:latin typeface="Cambria Math" panose="02040503050406030204" pitchFamily="18" charset="0"/>
              </a:rPr>
              <a:t>damage in silicon photodiodes at</a:t>
            </a:r>
            <a:r>
              <a:rPr lang="ko-KR" altLang="en-US" sz="1200" dirty="0">
                <a:latin typeface="Cambria Math" panose="02040503050406030204" pitchFamily="18" charset="0"/>
              </a:rPr>
              <a:t> </a:t>
            </a:r>
            <a:r>
              <a:rPr lang="en-US" altLang="ko-KR" sz="1200" dirty="0">
                <a:latin typeface="Cambria Math" panose="02040503050406030204" pitchFamily="18" charset="0"/>
              </a:rPr>
              <a:t>1064</a:t>
            </a:r>
            <a:r>
              <a:rPr lang="ko-KR" altLang="en-US" sz="1200" dirty="0">
                <a:latin typeface="Cambria Math" panose="02040503050406030204" pitchFamily="18" charset="0"/>
              </a:rPr>
              <a:t> </a:t>
            </a:r>
            <a:r>
              <a:rPr lang="en-US" altLang="ko-KR" sz="1200" dirty="0">
                <a:latin typeface="Cambria Math" panose="02040503050406030204" pitchFamily="18" charset="0"/>
              </a:rPr>
              <a:t>nm with </a:t>
            </a:r>
            <a:r>
              <a:rPr lang="en-US" altLang="ko-KR" sz="1200" dirty="0">
                <a:latin typeface="times" panose="02020603050405020304" pitchFamily="18" charset="0"/>
                <a:cs typeface="times" panose="02020603050405020304" pitchFamily="18" charset="0"/>
              </a:rPr>
              <a:t>RCA Model C30807 pin Photodiode</a:t>
            </a:r>
          </a:p>
          <a:p>
            <a:pPr marL="597150" lvl="1" indent="-285750" algn="ctr"/>
            <a:r>
              <a:rPr lang="en-US" altLang="ko-KR" sz="1200" dirty="0">
                <a:latin typeface="Cambria Math" panose="02040503050406030204" pitchFamily="18" charset="0"/>
              </a:rPr>
              <a:t>(</a:t>
            </a:r>
            <a:r>
              <a:rPr lang="en-US" altLang="ko-KR" sz="1200" dirty="0"/>
              <a:t>M. KRUER et al., 1976)</a:t>
            </a:r>
          </a:p>
        </p:txBody>
      </p:sp>
    </p:spTree>
    <p:extLst>
      <p:ext uri="{BB962C8B-B14F-4D97-AF65-F5344CB8AC3E}">
        <p14:creationId xmlns:p14="http://schemas.microsoft.com/office/powerpoint/2010/main" val="21823039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2D3507-7E38-4E5C-A2A4-54253434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81178-3F4F-444B-A180-54AAECBF0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285750" indent="-285750"/>
            <a:r>
              <a:rPr lang="ko-KR" altLang="en-US" dirty="0"/>
              <a:t> 현 포토다이오드 성능</a:t>
            </a:r>
            <a:r>
              <a:rPr lang="en-US" altLang="ko-KR" dirty="0"/>
              <a:t> </a:t>
            </a:r>
          </a:p>
          <a:p>
            <a:pPr marL="285750" indent="-285750"/>
            <a:endParaRPr lang="en-US" altLang="ko-KR" sz="1400" dirty="0"/>
          </a:p>
          <a:p>
            <a:pPr marL="285750" indent="-285750"/>
            <a:endParaRPr lang="en-US" altLang="ko-KR" sz="1400" dirty="0"/>
          </a:p>
          <a:p>
            <a:pPr marL="285750" indent="-285750"/>
            <a:endParaRPr lang="en-US" altLang="ko-KR" sz="1400" dirty="0"/>
          </a:p>
          <a:p>
            <a:pPr marL="285750" indent="-285750"/>
            <a:endParaRPr lang="en-US" altLang="ko-KR" sz="1400" dirty="0"/>
          </a:p>
          <a:p>
            <a:pPr marL="285750" indent="-285750"/>
            <a:endParaRPr lang="en-US" altLang="ko-KR" sz="1400" dirty="0"/>
          </a:p>
          <a:p>
            <a:pPr marL="285750" indent="-285750"/>
            <a:endParaRPr lang="en-US" altLang="ko-KR" sz="1400" dirty="0"/>
          </a:p>
          <a:p>
            <a:pPr marL="311400" lvl="1" indent="0">
              <a:buNone/>
            </a:pPr>
            <a:endParaRPr lang="en-US" altLang="ko-KR" sz="1400" b="0" i="0" dirty="0">
              <a:latin typeface="Cambria Math" panose="02040503050406030204" pitchFamily="18" charset="0"/>
            </a:endParaRP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</p:txBody>
      </p:sp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A84EC7AC-A4F8-50E2-CE8E-A56EA74F4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684623"/>
              </p:ext>
            </p:extLst>
          </p:nvPr>
        </p:nvGraphicFramePr>
        <p:xfrm>
          <a:off x="373249" y="1481590"/>
          <a:ext cx="8164359" cy="50747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9987">
                  <a:extLst>
                    <a:ext uri="{9D8B030D-6E8A-4147-A177-3AD203B41FA5}">
                      <a16:colId xmlns:a16="http://schemas.microsoft.com/office/drawing/2014/main" val="1104330527"/>
                    </a:ext>
                  </a:extLst>
                </a:gridCol>
                <a:gridCol w="3071212">
                  <a:extLst>
                    <a:ext uri="{9D8B030D-6E8A-4147-A177-3AD203B41FA5}">
                      <a16:colId xmlns:a16="http://schemas.microsoft.com/office/drawing/2014/main" val="967377012"/>
                    </a:ext>
                  </a:extLst>
                </a:gridCol>
                <a:gridCol w="3033160">
                  <a:extLst>
                    <a:ext uri="{9D8B030D-6E8A-4147-A177-3AD203B41FA5}">
                      <a16:colId xmlns:a16="http://schemas.microsoft.com/office/drawing/2014/main" val="1350843931"/>
                    </a:ext>
                  </a:extLst>
                </a:gridCol>
              </a:tblGrid>
              <a:tr h="2449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Model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 Company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SFH2430 - OSRAM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SFH320 FA - OSRAM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409189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Radiant sensitive area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7.02 mm</a:t>
                      </a:r>
                      <a:r>
                        <a:rPr lang="en-US" altLang="ko-KR" sz="1100" baseline="30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0.038 mm</a:t>
                      </a:r>
                      <a:r>
                        <a:rPr lang="en-US" altLang="ko-KR" sz="1100" baseline="30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100" baseline="30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71053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Spectral sensitivity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6.3 </a:t>
                      </a:r>
                      <a:r>
                        <a:rPr lang="en-US" altLang="ko-KR" sz="11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nA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/lx (V</a:t>
                      </a:r>
                      <a:r>
                        <a:rPr lang="en-US" altLang="ko-KR" sz="1100" baseline="-25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=5 V, std light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da-DK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47310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Spectral sensitivity of chip 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0.17 A/W (at </a:t>
                      </a:r>
                      <a:r>
                        <a:rPr lang="ko-KR" altLang="pl-PL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𝜆</a:t>
                      </a:r>
                      <a:r>
                        <a:rPr lang="pl-PL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=550 </a:t>
                      </a:r>
                      <a:r>
                        <a:rPr lang="ko-KR" altLang="pl-PL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𝑛𝑚</a:t>
                      </a:r>
                      <a:r>
                        <a:rPr lang="pl-PL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 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l-GR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16 μ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 (at 950 nm, V</a:t>
                      </a:r>
                      <a:r>
                        <a:rPr lang="en-US" altLang="ko-KR" sz="1100" baseline="-25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CE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=5 V, </a:t>
                      </a:r>
                      <a:r>
                        <a:rPr lang="en-US" altLang="ko-KR" sz="11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r>
                        <a:rPr lang="en-US" altLang="ko-KR" sz="1100" baseline="-250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=0.1 </a:t>
                      </a:r>
                      <a:r>
                        <a:rPr lang="en-US" altLang="ko-KR" sz="11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mW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/cm2)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081047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Dark current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da-DK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max 5 nA (at V</a:t>
                      </a:r>
                      <a:r>
                        <a:rPr lang="da-DK" altLang="ko-KR" sz="1100" baseline="-25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</a:t>
                      </a:r>
                      <a:r>
                        <a:rPr lang="da-DK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=5 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max 50 nA (at V</a:t>
                      </a:r>
                      <a:r>
                        <a:rPr lang="da-DK" altLang="ko-KR" sz="1100" baseline="-25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ce</a:t>
                      </a:r>
                      <a:r>
                        <a:rPr lang="da-DK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=20 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363710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Rise time 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l-GR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200 μ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 (at V</a:t>
                      </a:r>
                      <a:r>
                        <a:rPr lang="en-US" altLang="ko-KR" sz="1100" baseline="-25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=5 V, R</a:t>
                      </a:r>
                      <a:r>
                        <a:rPr lang="en-US" altLang="ko-KR" sz="1100" baseline="-25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=50 </a:t>
                      </a:r>
                      <a:r>
                        <a:rPr lang="el-GR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Ω, </a:t>
                      </a:r>
                      <a:r>
                        <a:rPr lang="ko-KR" altLang="el-G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𝜆</a:t>
                      </a:r>
                      <a:r>
                        <a:rPr lang="el-GR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=550 </a:t>
                      </a:r>
                      <a:r>
                        <a:rPr lang="ko-KR" altLang="el-G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𝑛𝑚</a:t>
                      </a:r>
                      <a:r>
                        <a:rPr lang="el-GR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l-GR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 μ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 (at </a:t>
                      </a:r>
                      <a:r>
                        <a:rPr lang="en-US" altLang="ko-KR" sz="11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</a:t>
                      </a:r>
                      <a:r>
                        <a:rPr lang="en-US" altLang="ko-KR" sz="1100" baseline="-250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=1 mA, V</a:t>
                      </a:r>
                      <a:r>
                        <a:rPr lang="en-US" altLang="ko-KR" sz="1100" baseline="-25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CE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 5 V, R</a:t>
                      </a:r>
                      <a:r>
                        <a:rPr lang="en-US" altLang="ko-KR" sz="1100" baseline="-25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=1 k</a:t>
                      </a:r>
                      <a:r>
                        <a:rPr lang="el-GR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Ω)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326925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Capacitance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1000 pF </a:t>
                      </a:r>
                      <a:r>
                        <a:rPr lang="da-DK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(at V</a:t>
                      </a:r>
                      <a:r>
                        <a:rPr lang="da-DK" altLang="ko-KR" sz="1100" baseline="-25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</a:t>
                      </a:r>
                      <a:r>
                        <a:rPr lang="da-DK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=0 V, f=1 MHz, E 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da-DK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 pF (at V</a:t>
                      </a:r>
                      <a:r>
                        <a:rPr lang="da-DK" altLang="ko-KR" sz="1100" baseline="-25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</a:t>
                      </a:r>
                      <a:r>
                        <a:rPr lang="da-DK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= 0 V, f = 1 MHz, E = 0)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38324"/>
                  </a:ext>
                </a:extLst>
              </a:tr>
              <a:tr h="2449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Input voltage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max 6 V (Reverse</a:t>
                      </a:r>
                      <a:r>
                        <a:rPr lang="ko-KR" altLang="en-US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voltage)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max 35 V (collector-emitter voltage)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14742"/>
                  </a:ext>
                </a:extLst>
              </a:tr>
              <a:tr h="10006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Image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790035"/>
                  </a:ext>
                </a:extLst>
              </a:tr>
              <a:tr h="2001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Graph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Relative Spectral Sensitivity      Capacitance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en-US" altLang="ko-KR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r>
                        <a:rPr lang="en-US" altLang="ko-KR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Relative Spectral Sensitivity     Capacitance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844352"/>
                  </a:ext>
                </a:extLst>
              </a:tr>
            </a:tbl>
          </a:graphicData>
        </a:graphic>
      </p:graphicFrame>
      <p:sp>
        <p:nvSpPr>
          <p:cNvPr id="13" name="제목 3">
            <a:extLst>
              <a:ext uri="{FF2B5EF4-FFF2-40B4-BE49-F238E27FC236}">
                <a16:creationId xmlns:a16="http://schemas.microsoft.com/office/drawing/2014/main" id="{C0F04C88-8A12-836C-F45E-360058C02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7" y="71055"/>
            <a:ext cx="6705464" cy="687714"/>
          </a:xfrm>
        </p:spPr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Payload 2 : SLR Laser Detector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2D0230-54D0-BD50-4593-47C191C6C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356" y="4704121"/>
            <a:ext cx="1209205" cy="158322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339C1B3-D084-01CB-E9B2-54BF56E656A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9" r="6664"/>
          <a:stretch/>
        </p:blipFill>
        <p:spPr>
          <a:xfrm>
            <a:off x="3418369" y="3637405"/>
            <a:ext cx="1132847" cy="8542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5F92114-FF92-463F-E850-F902C4BFEA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9956" y="4673222"/>
            <a:ext cx="1132847" cy="161412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F98AC94-6072-BF5E-90D2-D72D2F73D7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9592" y="4730000"/>
            <a:ext cx="1132847" cy="150647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45B1306-B178-1786-F7D5-27379452AC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1355" y="4645816"/>
            <a:ext cx="1200781" cy="166893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5C15A13-3C39-1300-F372-D5942E1C761E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9" t="4692" r="17740"/>
          <a:stretch/>
        </p:blipFill>
        <p:spPr>
          <a:xfrm>
            <a:off x="6620264" y="3655686"/>
            <a:ext cx="865936" cy="8198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803D5-84B4-D541-C017-5CF5BC41E2CB}"/>
              </a:ext>
            </a:extLst>
          </p:cNvPr>
          <p:cNvSpPr txBox="1"/>
          <p:nvPr/>
        </p:nvSpPr>
        <p:spPr>
          <a:xfrm>
            <a:off x="323531" y="6570092"/>
            <a:ext cx="29384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times" panose="02020603050405020304" pitchFamily="18" charset="0"/>
                <a:cs typeface="times" panose="02020603050405020304" pitchFamily="18" charset="0"/>
              </a:rPr>
              <a:t>* </a:t>
            </a:r>
            <a:r>
              <a:rPr lang="ko-KR" altLang="en-US" sz="900" dirty="0">
                <a:latin typeface="times" panose="02020603050405020304" pitchFamily="18" charset="0"/>
                <a:cs typeface="times" panose="02020603050405020304" pitchFamily="18" charset="0"/>
              </a:rPr>
              <a:t>수치들을 제조사의 데이터 시트 참고</a:t>
            </a:r>
          </a:p>
        </p:txBody>
      </p:sp>
    </p:spTree>
    <p:extLst>
      <p:ext uri="{BB962C8B-B14F-4D97-AF65-F5344CB8AC3E}">
        <p14:creationId xmlns:p14="http://schemas.microsoft.com/office/powerpoint/2010/main" val="39573615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EC48F9-F6CD-4E4E-9111-4889B632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20497F9-956F-4739-8B0F-492FB814F7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SLR </a:t>
                </a:r>
                <a:r>
                  <a:rPr lang="ko-KR" altLang="en-US" dirty="0"/>
                  <a:t>레이저에 의한 </a:t>
                </a:r>
                <a:r>
                  <a:rPr lang="ko-KR" altLang="en-US" dirty="0" err="1"/>
                  <a:t>광전류</a:t>
                </a:r>
                <a:r>
                  <a:rPr lang="ko-KR" altLang="en-US" dirty="0"/>
                  <a:t> 분석</a:t>
                </a:r>
                <a:endParaRPr lang="en-US" altLang="ko-KR" dirty="0"/>
              </a:p>
              <a:p>
                <a:pPr marL="597150" lvl="1" indent="-285750"/>
                <a:r>
                  <a:rPr lang="ko-KR" altLang="en-US" dirty="0"/>
                  <a:t>포토다이오드</a:t>
                </a:r>
                <a:r>
                  <a:rPr lang="en-US" altLang="ko-KR" dirty="0"/>
                  <a:t> </a:t>
                </a:r>
                <a:r>
                  <a:rPr lang="ko-KR" altLang="en-US" dirty="0" err="1"/>
                  <a:t>광전류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해석적 분석</a:t>
                </a:r>
                <a:r>
                  <a:rPr lang="en-US" altLang="ko-KR" dirty="0"/>
                  <a:t>)</a:t>
                </a:r>
              </a:p>
              <a:p>
                <a:pPr marL="777150" lvl="2" indent="-285750"/>
                <a:r>
                  <a:rPr lang="ko-KR" altLang="en-US" dirty="0"/>
                  <a:t>지구복사조도 노출 환경에서 </a:t>
                </a:r>
                <a:r>
                  <a:rPr lang="en-US" altLang="ko-KR" dirty="0"/>
                  <a:t>SLR </a:t>
                </a:r>
                <a:r>
                  <a:rPr lang="ko-KR" altLang="en-US" dirty="0"/>
                  <a:t>레이저가 입사되었는지 확인하기 위해서는 포토다이오드에서 생성되는 </a:t>
                </a:r>
                <a:r>
                  <a:rPr lang="ko-KR" altLang="en-US" dirty="0">
                    <a:solidFill>
                      <a:srgbClr val="0033CC"/>
                    </a:solidFill>
                  </a:rPr>
                  <a:t>지구복사조도에 의한 </a:t>
                </a:r>
                <a:r>
                  <a:rPr lang="ko-KR" altLang="en-US" dirty="0" err="1">
                    <a:solidFill>
                      <a:srgbClr val="0033CC"/>
                    </a:solidFill>
                  </a:rPr>
                  <a:t>광전류</a:t>
                </a:r>
                <a:r>
                  <a:rPr lang="ko-KR" altLang="en-US" dirty="0">
                    <a:solidFill>
                      <a:srgbClr val="0033CC"/>
                    </a:solidFill>
                  </a:rPr>
                  <a:t> 오차범위보다 </a:t>
                </a:r>
                <a:r>
                  <a:rPr lang="en-US" altLang="ko-KR" dirty="0">
                    <a:solidFill>
                      <a:srgbClr val="0033CC"/>
                    </a:solidFill>
                  </a:rPr>
                  <a:t>SLR </a:t>
                </a:r>
                <a:r>
                  <a:rPr lang="ko-KR" altLang="en-US" dirty="0">
                    <a:solidFill>
                      <a:srgbClr val="0033CC"/>
                    </a:solidFill>
                  </a:rPr>
                  <a:t>레이저에 의한 </a:t>
                </a:r>
                <a:r>
                  <a:rPr lang="ko-KR" altLang="en-US" dirty="0" err="1">
                    <a:solidFill>
                      <a:srgbClr val="0033CC"/>
                    </a:solidFill>
                  </a:rPr>
                  <a:t>광전류</a:t>
                </a:r>
                <a:r>
                  <a:rPr lang="ko-KR" altLang="en-US" dirty="0">
                    <a:solidFill>
                      <a:srgbClr val="0033CC"/>
                    </a:solidFill>
                  </a:rPr>
                  <a:t> 값</a:t>
                </a:r>
                <a:r>
                  <a:rPr lang="ko-KR" altLang="en-US" dirty="0"/>
                  <a:t>이 </a:t>
                </a:r>
                <a:r>
                  <a:rPr lang="ko-KR" altLang="en-US" dirty="0">
                    <a:solidFill>
                      <a:srgbClr val="0033CC"/>
                    </a:solidFill>
                  </a:rPr>
                  <a:t>커야</a:t>
                </a:r>
                <a:r>
                  <a:rPr lang="ko-KR" altLang="en-US" dirty="0"/>
                  <a:t> 입사여부 확인 가능</a:t>
                </a:r>
                <a:endParaRPr lang="en-US" altLang="ko-KR" dirty="0"/>
              </a:p>
              <a:p>
                <a:pPr marL="491400" lvl="2" indent="0">
                  <a:buNone/>
                </a:pPr>
                <a:endParaRPr lang="en-US" altLang="ko-KR" dirty="0"/>
              </a:p>
              <a:p>
                <a:pPr marL="777150" lvl="2" indent="-285750"/>
                <a:r>
                  <a:rPr lang="ko-KR" altLang="en-US" b="0" dirty="0">
                    <a:latin typeface="Cambria Math" panose="02040503050406030204" pitchFamily="18" charset="0"/>
                  </a:rPr>
                  <a:t>양전효과 </a:t>
                </a:r>
                <a:r>
                  <a:rPr lang="en-US" altLang="ko-KR" b="0" dirty="0">
                    <a:latin typeface="Cambria Math" panose="02040503050406030204" pitchFamily="18" charset="0"/>
                  </a:rPr>
                  <a:t>(quantum efficiency)</a:t>
                </a:r>
              </a:p>
              <a:p>
                <a:pPr marL="491400" lvl="2" indent="0">
                  <a:buNone/>
                </a:pPr>
                <a:r>
                  <a:rPr lang="en-US" altLang="ko-KR" b="0" dirty="0">
                    <a:latin typeface="Cambria Math" panose="02040503050406030204" pitchFamily="18" charset="0"/>
                  </a:rPr>
                  <a:t>        : </a:t>
                </a:r>
                <a:r>
                  <a:rPr lang="ko-KR" altLang="en-US" b="0" dirty="0">
                    <a:latin typeface="Cambria Math" panose="02040503050406030204" pitchFamily="18" charset="0"/>
                  </a:rPr>
                  <a:t>양전효과 표현식을 이용하여 광전류를 구할 수 있음</a:t>
                </a:r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pPr marL="491400" lvl="2" indent="0">
                  <a:buNone/>
                </a:pPr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pPr marL="4320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𝑝h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h𝑣</m:t>
                          </m:r>
                        </m:den>
                      </m:f>
                    </m:oMath>
                  </m:oMathPara>
                </a14:m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pPr marL="432000" lvl="2" indent="0">
                  <a:buNone/>
                </a:pPr>
                <a:endParaRPr lang="en-US" altLang="ko-KR" sz="1100" dirty="0">
                  <a:latin typeface="Cambria Math" panose="02040503050406030204" pitchFamily="18" charset="0"/>
                </a:endParaRPr>
              </a:p>
              <a:p>
                <a:pPr marL="3598200" lvl="8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𝑜𝑝𝑡𝑖𝑐𝑎𝑙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𝑝𝑜𝑤𝑒𝑟</m:t>
                      </m:r>
                    </m:oMath>
                  </m:oMathPara>
                </a14:m>
                <a:endParaRPr lang="en-US" altLang="ko-KR" sz="1100" b="0" i="1" dirty="0">
                  <a:latin typeface="Cambria Math" panose="02040503050406030204" pitchFamily="18" charset="0"/>
                </a:endParaRPr>
              </a:p>
              <a:p>
                <a:pPr marL="3598200" lvl="8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dirty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dirty="0" smtClean="0">
                              <a:latin typeface="Cambria Math" panose="02040503050406030204" pitchFamily="18" charset="0"/>
                            </a:rPr>
                            <m:t>ph</m:t>
                          </m:r>
                        </m:sub>
                      </m:sSub>
                      <m:r>
                        <a:rPr lang="en-US" altLang="ko-KR" sz="11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𝑃h𝑜𝑡𝑜𝑐𝑢𝑟𝑟𝑒𝑛𝑡</m:t>
                      </m:r>
                    </m:oMath>
                  </m:oMathPara>
                </a14:m>
                <a:endParaRPr lang="en-US" altLang="ko-KR" sz="1100" b="0" i="1" dirty="0">
                  <a:latin typeface="Cambria Math" panose="02040503050406030204" pitchFamily="18" charset="0"/>
                </a:endParaRPr>
              </a:p>
              <a:p>
                <a:pPr marL="3598200" lvl="8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𝑃𝑙𝑎𝑛𝑐𝑘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6.6261×</m:t>
                          </m:r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−34</m:t>
                              </m:r>
                            </m:sup>
                          </m:s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𝐽𝑠</m:t>
                          </m:r>
                        </m:e>
                      </m:d>
                    </m:oMath>
                  </m:oMathPara>
                </a14:m>
                <a:endParaRPr lang="en-US" altLang="ko-KR" sz="1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598200" lvl="8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100" i="1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=1.60218 ×</m:t>
                      </m:r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−19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ko-KR" sz="1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598200" lvl="8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𝑓𝑟𝑒𝑞𝑢𝑒𝑛𝑐𝑦</m:t>
                      </m:r>
                    </m:oMath>
                  </m:oMathPara>
                </a14:m>
                <a:endParaRPr lang="en-US" altLang="ko-KR" sz="1100" b="0" i="0" dirty="0">
                  <a:latin typeface="Cambria Math" panose="02040503050406030204" pitchFamily="18" charset="0"/>
                </a:endParaRPr>
              </a:p>
              <a:p>
                <a:pPr marL="3598200" lvl="8" indent="0">
                  <a:lnSpc>
                    <a:spcPct val="100000"/>
                  </a:lnSpc>
                  <a:buNone/>
                </a:pPr>
                <a:endParaRPr lang="en-US" altLang="ko-KR" sz="1100" b="0" i="0" dirty="0">
                  <a:latin typeface="Cambria Math" panose="02040503050406030204" pitchFamily="18" charset="0"/>
                </a:endParaRPr>
              </a:p>
              <a:p>
                <a:pPr marL="777150" lvl="2" indent="-285750"/>
                <a:r>
                  <a:rPr lang="ko-KR" altLang="en-US" b="0" i="0" dirty="0">
                    <a:latin typeface="Cambria Math" panose="02040503050406030204" pitchFamily="18" charset="0"/>
                  </a:rPr>
                  <a:t>광</a:t>
                </a:r>
                <a14:m>
                  <m:oMath xmlns:m="http://schemas.openxmlformats.org/officeDocument/2006/math">
                    <m:r>
                      <a:rPr lang="ko-KR" altLang="en-US" dirty="0">
                        <a:latin typeface="Cambria Math" panose="02040503050406030204" pitchFamily="18" charset="0"/>
                      </a:rPr>
                      <m:t>전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류</m:t>
                    </m:r>
                  </m:oMath>
                </a14:m>
                <a:r>
                  <a:rPr lang="en-US" altLang="ko-KR" dirty="0"/>
                  <a:t> (Photocurrent)</a:t>
                </a:r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pPr marL="4320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𝑝h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h𝑣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20497F9-956F-4739-8B0F-492FB814F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18" t="-1020" b="-1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64C05E3-8774-4467-9151-DC8449B0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Payload 2 : SLR Laser Detector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73404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EC48F9-F6CD-4E4E-9111-4889B632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0497F9-956F-4739-8B0F-492FB814F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21818" cy="5376968"/>
          </a:xfrm>
        </p:spPr>
        <p:txBody>
          <a:bodyPr/>
          <a:lstStyle/>
          <a:p>
            <a:r>
              <a:rPr lang="en-US" altLang="ko-KR" dirty="0"/>
              <a:t>SLR </a:t>
            </a:r>
            <a:r>
              <a:rPr lang="ko-KR" altLang="en-US" dirty="0"/>
              <a:t>레이저에 의한 </a:t>
            </a:r>
            <a:r>
              <a:rPr lang="ko-KR" altLang="en-US" dirty="0" err="1"/>
              <a:t>광전류</a:t>
            </a:r>
            <a:r>
              <a:rPr lang="ko-KR" altLang="en-US" dirty="0"/>
              <a:t> 분석</a:t>
            </a:r>
            <a:endParaRPr lang="en-US" altLang="ko-KR" dirty="0"/>
          </a:p>
          <a:p>
            <a:pPr lvl="1"/>
            <a:r>
              <a:rPr lang="en-US" altLang="ko-KR" dirty="0"/>
              <a:t>Zenith</a:t>
            </a:r>
            <a:r>
              <a:rPr lang="ko-KR" altLang="en-US" dirty="0"/>
              <a:t>에 따른 </a:t>
            </a:r>
            <a:r>
              <a:rPr lang="ko-KR" altLang="en-US" dirty="0" err="1"/>
              <a:t>광전류</a:t>
            </a:r>
            <a:r>
              <a:rPr lang="ko-KR" altLang="en-US" dirty="0"/>
              <a:t> 분석 그래프</a:t>
            </a:r>
            <a:endParaRPr lang="en-US" altLang="ko-KR" dirty="0"/>
          </a:p>
          <a:p>
            <a:pPr lvl="2"/>
            <a:r>
              <a:rPr lang="en-US" altLang="ko-KR" sz="1400" dirty="0"/>
              <a:t>SLR average power</a:t>
            </a:r>
            <a:r>
              <a:rPr lang="ko-KR" altLang="en-US" sz="1400" dirty="0"/>
              <a:t>에 의한 광전류는 지구복사조도에 의한 </a:t>
            </a:r>
            <a:r>
              <a:rPr lang="ko-KR" altLang="en-US" sz="1400" dirty="0" err="1"/>
              <a:t>광전류</a:t>
            </a:r>
            <a:r>
              <a:rPr lang="ko-KR" altLang="en-US" sz="1400" dirty="0"/>
              <a:t> 오차범위보다 작음</a:t>
            </a:r>
            <a:endParaRPr lang="en-US" altLang="ko-KR" sz="1400" dirty="0"/>
          </a:p>
          <a:p>
            <a:pPr lvl="2"/>
            <a:r>
              <a:rPr lang="en-US" altLang="ko-KR" sz="1400" dirty="0"/>
              <a:t>SLR </a:t>
            </a:r>
            <a:r>
              <a:rPr lang="ko-KR" altLang="en-US" sz="1400" dirty="0"/>
              <a:t>레이저의 </a:t>
            </a:r>
            <a:r>
              <a:rPr lang="en-US" altLang="ko-KR" sz="1400" dirty="0"/>
              <a:t>average power</a:t>
            </a:r>
            <a:r>
              <a:rPr lang="ko-KR" altLang="en-US" sz="1400" dirty="0"/>
              <a:t>로 측정하는 경우</a:t>
            </a:r>
            <a:r>
              <a:rPr lang="en-US" altLang="ko-KR" sz="1400" dirty="0"/>
              <a:t>, </a:t>
            </a:r>
            <a:r>
              <a:rPr lang="ko-KR" altLang="en-US" sz="1400" dirty="0"/>
              <a:t>지구복사조도를 완전히 필터링하는 방법이 필요</a:t>
            </a:r>
            <a:endParaRPr lang="en-US" altLang="ko-KR" sz="1400" dirty="0"/>
          </a:p>
          <a:p>
            <a:pPr lvl="2"/>
            <a:r>
              <a:rPr lang="en-US" altLang="ko-KR" sz="1400" dirty="0"/>
              <a:t>SLR peak power</a:t>
            </a:r>
            <a:r>
              <a:rPr lang="ko-KR" altLang="en-US" sz="1400" dirty="0"/>
              <a:t>에 의한 광전류는 지구복사조도에 의한 </a:t>
            </a:r>
            <a:r>
              <a:rPr lang="ko-KR" altLang="en-US" sz="1400" dirty="0" err="1"/>
              <a:t>광전류</a:t>
            </a:r>
            <a:r>
              <a:rPr lang="ko-KR" altLang="en-US" sz="1400" dirty="0"/>
              <a:t> 오차범위보다 큼</a:t>
            </a:r>
            <a:endParaRPr lang="en-US" altLang="ko-KR" sz="1400" dirty="0"/>
          </a:p>
          <a:p>
            <a:pPr lvl="2"/>
            <a:r>
              <a:rPr lang="ko-KR" altLang="en-US" sz="1400" dirty="0"/>
              <a:t>추후</a:t>
            </a:r>
            <a:r>
              <a:rPr lang="en-US" altLang="ko-KR" sz="1400" dirty="0"/>
              <a:t>, </a:t>
            </a:r>
            <a:r>
              <a:rPr lang="ko-KR" altLang="en-US" sz="1400" dirty="0"/>
              <a:t>포토다이오드 회로 </a:t>
            </a:r>
            <a:r>
              <a:rPr lang="ko-KR" altLang="en-US" sz="1400" dirty="0" err="1"/>
              <a:t>설계값들을</a:t>
            </a:r>
            <a:r>
              <a:rPr lang="ko-KR" altLang="en-US" sz="1400" dirty="0"/>
              <a:t> 통해 </a:t>
            </a:r>
            <a:r>
              <a:rPr lang="en-US" altLang="ko-KR" sz="1400" dirty="0"/>
              <a:t>peak power</a:t>
            </a:r>
            <a:r>
              <a:rPr lang="ko-KR" altLang="en-US" sz="1400" dirty="0"/>
              <a:t>를 측정할 수 있는지 판단할 예정</a:t>
            </a:r>
            <a:endParaRPr lang="en-US" altLang="ko-KR" sz="1400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64C05E3-8774-4467-9151-DC8449B0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Payload 2 : SLR Laser Detector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7">
                <a:extLst>
                  <a:ext uri="{FF2B5EF4-FFF2-40B4-BE49-F238E27FC236}">
                    <a16:creationId xmlns:a16="http://schemas.microsoft.com/office/drawing/2014/main" id="{ED105F3D-FB35-A471-B789-2CB556E91B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0409996"/>
                  </p:ext>
                </p:extLst>
              </p:nvPr>
            </p:nvGraphicFramePr>
            <p:xfrm>
              <a:off x="564787" y="2979323"/>
              <a:ext cx="8014426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31110">
                      <a:extLst>
                        <a:ext uri="{9D8B030D-6E8A-4147-A177-3AD203B41FA5}">
                          <a16:colId xmlns:a16="http://schemas.microsoft.com/office/drawing/2014/main" val="2298062578"/>
                        </a:ext>
                      </a:extLst>
                    </a:gridCol>
                    <a:gridCol w="1959429">
                      <a:extLst>
                        <a:ext uri="{9D8B030D-6E8A-4147-A177-3AD203B41FA5}">
                          <a16:colId xmlns:a16="http://schemas.microsoft.com/office/drawing/2014/main" val="1037186829"/>
                        </a:ext>
                      </a:extLst>
                    </a:gridCol>
                    <a:gridCol w="1729472">
                      <a:extLst>
                        <a:ext uri="{9D8B030D-6E8A-4147-A177-3AD203B41FA5}">
                          <a16:colId xmlns:a16="http://schemas.microsoft.com/office/drawing/2014/main" val="2540181228"/>
                        </a:ext>
                      </a:extLst>
                    </a:gridCol>
                    <a:gridCol w="1794415">
                      <a:extLst>
                        <a:ext uri="{9D8B030D-6E8A-4147-A177-3AD203B41FA5}">
                          <a16:colId xmlns:a16="http://schemas.microsoft.com/office/drawing/2014/main" val="2366847732"/>
                        </a:ext>
                      </a:extLst>
                    </a:gridCol>
                  </a:tblGrid>
                  <a:tr h="38700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Wavelength</a:t>
                          </a:r>
                          <a:endParaRPr lang="ko-KR" altLang="en-US" sz="12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SLR Average power</a:t>
                          </a:r>
                          <a:r>
                            <a:rPr lang="ko-KR" altLang="en-US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에 의한 </a:t>
                          </a:r>
                          <a:endParaRPr lang="en-US" altLang="ko-KR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r>
                            <a:rPr lang="ko-KR" altLang="en-US" sz="1100" b="1" dirty="0" err="1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광전류</a:t>
                          </a:r>
                          <a:r>
                            <a:rPr lang="ko-KR" altLang="en-US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(A) 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SLR Peak power</a:t>
                          </a:r>
                          <a:r>
                            <a:rPr lang="ko-KR" altLang="en-US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에 의한 </a:t>
                          </a:r>
                          <a:endParaRPr lang="en-US" altLang="ko-KR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r>
                            <a:rPr lang="ko-KR" altLang="en-US" sz="1100" b="1" dirty="0" err="1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광전류</a:t>
                          </a:r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(A)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지구복사조도에 의한</a:t>
                          </a:r>
                          <a:endParaRPr lang="en-US" altLang="ko-KR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r>
                            <a:rPr lang="ko-KR" altLang="en-US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평균 </a:t>
                          </a:r>
                          <a:r>
                            <a:rPr lang="ko-KR" altLang="en-US" sz="1100" b="1" dirty="0" err="1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광전류</a:t>
                          </a:r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(A)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1123088"/>
                      </a:ext>
                    </a:extLst>
                  </a:tr>
                  <a:tr h="36120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532 nm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(pulse duration : 20 </a:t>
                          </a:r>
                          <a:r>
                            <a:rPr lang="en-US" altLang="ko-KR" sz="10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ps</a:t>
                          </a: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repetition rate : 60 Hz)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</a:t>
                          </a:r>
                          <a:r>
                            <a:rPr lang="en-US" altLang="ko-KR" sz="12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6.03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10</a:t>
                          </a:r>
                          <a:r>
                            <a:rPr lang="en-US" altLang="ko-KR" sz="1200" baseline="30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-10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 0.25136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0.00025641[TBC]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0545876"/>
                      </a:ext>
                    </a:extLst>
                  </a:tr>
                  <a:tr h="36120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1064 nm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(pulse duration : 1 ns, repetition rate : 10 Hz)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max</a:t>
                          </a:r>
                          <a:r>
                            <a:rPr lang="en-US" altLang="ko-KR" sz="12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2.23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10</a:t>
                          </a:r>
                          <a:r>
                            <a:rPr lang="en-US" altLang="ko-KR" sz="1200" baseline="30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-10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 0.0223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0.00025641[TBC]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942185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7">
                <a:extLst>
                  <a:ext uri="{FF2B5EF4-FFF2-40B4-BE49-F238E27FC236}">
                    <a16:creationId xmlns:a16="http://schemas.microsoft.com/office/drawing/2014/main" id="{ED105F3D-FB35-A471-B789-2CB556E91B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0409996"/>
                  </p:ext>
                </p:extLst>
              </p:nvPr>
            </p:nvGraphicFramePr>
            <p:xfrm>
              <a:off x="564787" y="2979323"/>
              <a:ext cx="8014426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31110">
                      <a:extLst>
                        <a:ext uri="{9D8B030D-6E8A-4147-A177-3AD203B41FA5}">
                          <a16:colId xmlns:a16="http://schemas.microsoft.com/office/drawing/2014/main" val="2298062578"/>
                        </a:ext>
                      </a:extLst>
                    </a:gridCol>
                    <a:gridCol w="1959429">
                      <a:extLst>
                        <a:ext uri="{9D8B030D-6E8A-4147-A177-3AD203B41FA5}">
                          <a16:colId xmlns:a16="http://schemas.microsoft.com/office/drawing/2014/main" val="1037186829"/>
                        </a:ext>
                      </a:extLst>
                    </a:gridCol>
                    <a:gridCol w="1729472">
                      <a:extLst>
                        <a:ext uri="{9D8B030D-6E8A-4147-A177-3AD203B41FA5}">
                          <a16:colId xmlns:a16="http://schemas.microsoft.com/office/drawing/2014/main" val="2540181228"/>
                        </a:ext>
                      </a:extLst>
                    </a:gridCol>
                    <a:gridCol w="1794415">
                      <a:extLst>
                        <a:ext uri="{9D8B030D-6E8A-4147-A177-3AD203B41FA5}">
                          <a16:colId xmlns:a16="http://schemas.microsoft.com/office/drawing/2014/main" val="2366847732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Wavelength</a:t>
                          </a:r>
                          <a:endParaRPr lang="ko-KR" altLang="en-US" sz="12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SLR Average power</a:t>
                          </a:r>
                          <a:r>
                            <a:rPr lang="ko-KR" altLang="en-US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에 의한 </a:t>
                          </a:r>
                          <a:endParaRPr lang="en-US" altLang="ko-KR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r>
                            <a:rPr lang="ko-KR" altLang="en-US" sz="1100" b="1" dirty="0" err="1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광전류</a:t>
                          </a:r>
                          <a:r>
                            <a:rPr lang="ko-KR" altLang="en-US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(A) 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SLR Peak power</a:t>
                          </a:r>
                          <a:r>
                            <a:rPr lang="ko-KR" altLang="en-US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에 의한 </a:t>
                          </a:r>
                          <a:endParaRPr lang="en-US" altLang="ko-KR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r>
                            <a:rPr lang="ko-KR" altLang="en-US" sz="1100" b="1" dirty="0" err="1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광전류</a:t>
                          </a:r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(A)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지구복사조도에 의한</a:t>
                          </a:r>
                          <a:endParaRPr lang="en-US" altLang="ko-KR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r>
                            <a:rPr lang="ko-KR" altLang="en-US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평균 </a:t>
                          </a:r>
                          <a:r>
                            <a:rPr lang="ko-KR" altLang="en-US" sz="1100" b="1" dirty="0" err="1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광전류</a:t>
                          </a:r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(A)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2F559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1123088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532 nm</a:t>
                          </a:r>
                        </a:p>
                        <a:p>
                          <a:pPr algn="ctr" latinLnBrk="1"/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(pulse duration : 20 </a:t>
                          </a:r>
                          <a:r>
                            <a:rPr lang="en-US" altLang="ko-KR" sz="10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ps</a:t>
                          </a: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repetition rate : 60 Hz)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29907" t="-100000" r="-180997" b="-10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 0.25136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0.00025641[TBC]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054587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1064 nm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(pulse duration : 1 ns, repetition rate : 10 Hz)</a:t>
                          </a:r>
                          <a:endParaRPr lang="ko-KR" altLang="en-US" sz="10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29907" t="-202857" r="-180997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 0.0223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0.00025641[TBC]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9421852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89DBA349-E42D-EE1B-FFC6-F91D5FF593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8680040"/>
              </p:ext>
            </p:extLst>
          </p:nvPr>
        </p:nvGraphicFramePr>
        <p:xfrm>
          <a:off x="4571999" y="4259484"/>
          <a:ext cx="4007213" cy="2527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DB7E9FB2-0E87-E904-2263-3695CD613D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3111298"/>
              </p:ext>
            </p:extLst>
          </p:nvPr>
        </p:nvGraphicFramePr>
        <p:xfrm>
          <a:off x="303073" y="4259483"/>
          <a:ext cx="4314918" cy="2653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1160518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대즐링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능동방어 시스템 시험 카메라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요구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제한 사항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16000" lvl="1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16000" lvl="1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16000" lvl="1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Main Function</a:t>
            </a:r>
          </a:p>
          <a:p>
            <a:pPr marL="738900" lvl="2" indent="-342900">
              <a:buFont typeface="+mj-lt"/>
              <a:buAutoNum type="arabicPeriod"/>
            </a:pP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520 nm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~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590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nm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와 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630 nm  ~ 690 nm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감지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path 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당 </a:t>
            </a:r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TBD 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회 사진 촬영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38900" lvl="2" indent="-342900">
              <a:buFont typeface="+mj-lt"/>
              <a:buAutoNum type="arabicPeriod"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Payload 3 : Dazzling Camera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8C39C7A-1407-2544-30E7-0DEE9E9DD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2692175"/>
                  </p:ext>
                </p:extLst>
              </p:nvPr>
            </p:nvGraphicFramePr>
            <p:xfrm>
              <a:off x="465088" y="1870486"/>
              <a:ext cx="8213818" cy="15804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5709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3894091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2194018">
                      <a:extLst>
                        <a:ext uri="{9D8B030D-6E8A-4147-A177-3AD203B41FA5}">
                          <a16:colId xmlns:a16="http://schemas.microsoft.com/office/drawing/2014/main" val="3530947212"/>
                        </a:ext>
                      </a:extLst>
                    </a:gridCol>
                  </a:tblGrid>
                  <a:tr h="2614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주요 특성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요구 조건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비고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카메라 </a:t>
                          </a:r>
                          <a:r>
                            <a:rPr lang="ko-KR" altLang="en-US" sz="1200" b="1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탑재체</a:t>
                          </a:r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규격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latinLnBrk="1">
                            <a:buAutoNum type="arabicParenBoth"/>
                          </a:pP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질량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0.3 kg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endParaRPr lang="en-US" altLang="ko-KR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342900" indent="-342900" latinLnBrk="1">
                            <a:buAutoNum type="arabicParenBoth"/>
                          </a:pP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크기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98</m:t>
                              </m:r>
                              <m:r>
                                <a:rPr lang="en-US" altLang="ko-KR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98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98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mm</a:t>
                          </a:r>
                          <a:r>
                            <a:rPr lang="en-US" altLang="ko-KR" sz="1200" baseline="30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r>
                            <a:rPr lang="en-US" altLang="ko-KR" sz="12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ko-KR" altLang="en-US" sz="12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이내 </a:t>
                          </a:r>
                          <a:endParaRPr lang="en-US" altLang="ko-KR" sz="1200" baseline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단</a:t>
                          </a:r>
                          <a:r>
                            <a:rPr lang="en-US" altLang="ko-KR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렌즈를 </a:t>
                          </a:r>
                          <a:r>
                            <a:rPr lang="ko-KR" altLang="en-US" sz="900" baseline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큐브위성</a:t>
                          </a:r>
                          <a:r>
                            <a:rPr lang="ko-KR" altLang="en-US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하단부에서 </a:t>
                          </a:r>
                          <a:r>
                            <a:rPr lang="en-US" altLang="ko-KR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30 mm </a:t>
                          </a:r>
                          <a:r>
                            <a:rPr lang="ko-KR" altLang="en-US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도출했을 시</a:t>
                          </a:r>
                          <a:endParaRPr lang="ko-KR" altLang="en-US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감지 파장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520 nm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~ 590 nm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와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630 nm ~690 nm [TBC] 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. </a:t>
                          </a: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체계 요구사항 표 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No. 5</a:t>
                          </a:r>
                          <a:endParaRPr lang="ko-KR" altLang="en-US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공간해상도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24 m/pixel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(@ 500 km) [TBC]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2022.01.13</a:t>
                          </a: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착수회의 요청사항</a:t>
                          </a:r>
                          <a:endParaRPr lang="en-US" altLang="ko-KR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: &lt; 60 m/ pixel (@ 650 km) </a:t>
                          </a: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→ </a:t>
                          </a: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24 m/pixel</a:t>
                          </a:r>
                          <a:r>
                            <a:rPr lang="ko-KR" altLang="en-US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(@ 500 km) </a:t>
                          </a:r>
                          <a:r>
                            <a:rPr lang="ko-KR" altLang="en-US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로 변경</a:t>
                          </a:r>
                          <a:endParaRPr lang="en-US" altLang="ko-KR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8C39C7A-1407-2544-30E7-0DEE9E9DD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2692175"/>
                  </p:ext>
                </p:extLst>
              </p:nvPr>
            </p:nvGraphicFramePr>
            <p:xfrm>
              <a:off x="465088" y="1870486"/>
              <a:ext cx="8213818" cy="15804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5709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3894091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2194018">
                      <a:extLst>
                        <a:ext uri="{9D8B030D-6E8A-4147-A177-3AD203B41FA5}">
                          <a16:colId xmlns:a16="http://schemas.microsoft.com/office/drawing/2014/main" val="3530947212"/>
                        </a:ext>
                      </a:extLst>
                    </a:gridCol>
                  </a:tblGrid>
                  <a:tr h="2614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주요 특성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요구 조건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비고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437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카메라 </a:t>
                          </a:r>
                          <a:r>
                            <a:rPr lang="ko-KR" altLang="en-US" sz="1200" b="1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탑재체</a:t>
                          </a:r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규격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4773" t="-62500" r="-56651" b="-209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단</a:t>
                          </a:r>
                          <a:r>
                            <a:rPr lang="en-US" altLang="ko-KR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렌즈를 </a:t>
                          </a:r>
                          <a:r>
                            <a:rPr lang="ko-KR" altLang="en-US" sz="900" baseline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큐브위성</a:t>
                          </a:r>
                          <a:r>
                            <a:rPr lang="ko-KR" altLang="en-US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하단부에서 </a:t>
                          </a:r>
                          <a:r>
                            <a:rPr lang="en-US" altLang="ko-KR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30 mm </a:t>
                          </a:r>
                          <a:r>
                            <a:rPr lang="ko-KR" altLang="en-US" sz="900" baseline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도출했을 시</a:t>
                          </a:r>
                          <a:endParaRPr lang="ko-KR" altLang="en-US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39782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감지 파장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520 nm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~ 590 nm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와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630 nm ~690 nm [TBC] 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. </a:t>
                          </a: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체계 요구사항 표 </a:t>
                          </a: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No. 5</a:t>
                          </a:r>
                          <a:endParaRPr lang="ko-KR" altLang="en-US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4834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공간해상도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24 m/pixel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(@ 500 km) [TBC]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2022.01.13</a:t>
                          </a:r>
                          <a:r>
                            <a:rPr lang="ko-KR" altLang="en-US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착수회의 요청사항</a:t>
                          </a:r>
                          <a:endParaRPr lang="en-US" altLang="ko-KR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: &lt; 60 m/ pixel (@ 650 km) </a:t>
                          </a: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→ </a:t>
                          </a: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24 m/pixel</a:t>
                          </a:r>
                          <a:r>
                            <a:rPr lang="ko-KR" altLang="en-US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(@ 500 km) </a:t>
                          </a:r>
                          <a:r>
                            <a:rPr lang="ko-KR" altLang="en-US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로 변경</a:t>
                          </a:r>
                          <a:endParaRPr lang="en-US" altLang="ko-KR" sz="9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E881E352-E354-896A-6791-4493BCF63CB7}"/>
              </a:ext>
            </a:extLst>
          </p:cNvPr>
          <p:cNvSpPr/>
          <p:nvPr/>
        </p:nvSpPr>
        <p:spPr>
          <a:xfrm>
            <a:off x="2156754" y="3540760"/>
            <a:ext cx="483048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</a:t>
            </a:r>
            <a:r>
              <a:rPr lang="ko-KR" altLang="en-US" sz="14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대즐링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능동방어 시스템 시험 카메라 요구조건 표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8956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대즐링</a:t>
            </a:r>
            <a:r>
              <a:rPr lang="ko-KR" altLang="en-US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능동방어 시스템 시험 카메라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WBS (Work Breakdown Structure)</a:t>
            </a:r>
          </a:p>
          <a:p>
            <a:pPr marL="216000" lvl="1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Payload 3 : Dazzling Camera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8C39C7A-1407-2544-30E7-0DEE9E9DD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025660"/>
              </p:ext>
            </p:extLst>
          </p:nvPr>
        </p:nvGraphicFramePr>
        <p:xfrm>
          <a:off x="465091" y="1940651"/>
          <a:ext cx="8421827" cy="1454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136">
                  <a:extLst>
                    <a:ext uri="{9D8B030D-6E8A-4147-A177-3AD203B41FA5}">
                      <a16:colId xmlns:a16="http://schemas.microsoft.com/office/drawing/2014/main" val="3358291018"/>
                    </a:ext>
                  </a:extLst>
                </a:gridCol>
                <a:gridCol w="1575616">
                  <a:extLst>
                    <a:ext uri="{9D8B030D-6E8A-4147-A177-3AD203B41FA5}">
                      <a16:colId xmlns:a16="http://schemas.microsoft.com/office/drawing/2014/main" val="735291838"/>
                    </a:ext>
                  </a:extLst>
                </a:gridCol>
                <a:gridCol w="4792257">
                  <a:extLst>
                    <a:ext uri="{9D8B030D-6E8A-4147-A177-3AD203B41FA5}">
                      <a16:colId xmlns:a16="http://schemas.microsoft.com/office/drawing/2014/main" val="4216081457"/>
                    </a:ext>
                  </a:extLst>
                </a:gridCol>
                <a:gridCol w="720818">
                  <a:extLst>
                    <a:ext uri="{9D8B030D-6E8A-4147-A177-3AD203B41FA5}">
                      <a16:colId xmlns:a16="http://schemas.microsoft.com/office/drawing/2014/main" val="3530947212"/>
                    </a:ext>
                  </a:extLst>
                </a:gridCol>
              </a:tblGrid>
              <a:tr h="261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 1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 3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Note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41221"/>
                  </a:ext>
                </a:extLst>
              </a:tr>
              <a:tr h="3978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H/W selection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Search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COTS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카메라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spec.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조사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315141"/>
                  </a:ext>
                </a:extLst>
              </a:tr>
              <a:tr h="397824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Select COTS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사용할 카메라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COTS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최종 선택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982338"/>
                  </a:ext>
                </a:extLst>
              </a:tr>
              <a:tr h="3978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Preliminary Design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Imaging sampling rate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1path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당 촬영할 수 있는 사진 장 수 분석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47291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B88B69D2-E03D-CFA3-A9EC-9B0F66BD780D}"/>
              </a:ext>
            </a:extLst>
          </p:cNvPr>
          <p:cNvSpPr/>
          <p:nvPr/>
        </p:nvSpPr>
        <p:spPr>
          <a:xfrm>
            <a:off x="2156756" y="3616250"/>
            <a:ext cx="483048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</a:t>
            </a:r>
            <a:r>
              <a:rPr lang="ko-KR" altLang="en-US" sz="14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대즐링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능동방어 시스템 시험 카메라 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WBS&gt;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9378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EC48F9-F6CD-4E4E-9111-4889B632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0497F9-956F-4739-8B0F-492FB814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대즐링</a:t>
            </a:r>
            <a:r>
              <a:rPr lang="ko-KR" altLang="en-US" dirty="0"/>
              <a:t> 능동방어 시스템 시험 카메라 </a:t>
            </a:r>
            <a:r>
              <a:rPr lang="en-US" altLang="ko-KR" dirty="0"/>
              <a:t>spec.</a:t>
            </a:r>
          </a:p>
          <a:p>
            <a:pPr lvl="1"/>
            <a:r>
              <a:rPr lang="ko-KR" altLang="en-US" dirty="0"/>
              <a:t> </a:t>
            </a:r>
            <a:r>
              <a:rPr lang="en-US" altLang="ko-KR" dirty="0"/>
              <a:t>3U</a:t>
            </a:r>
            <a:r>
              <a:rPr lang="ko-KR" altLang="en-US" dirty="0"/>
              <a:t> 큐브 위성용 카메라 중 고성능 카메라</a:t>
            </a:r>
          </a:p>
          <a:p>
            <a:pPr lvl="3"/>
            <a:endParaRPr lang="ko-KR" altLang="en-US" dirty="0"/>
          </a:p>
          <a:p>
            <a:pPr lvl="1"/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64C05E3-8774-4467-9151-DC8449B0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Payload 3 : Dazzling Camera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7036401-75B2-2D49-F198-AE007C7B127A}"/>
              </a:ext>
            </a:extLst>
          </p:cNvPr>
          <p:cNvGrpSpPr/>
          <p:nvPr/>
        </p:nvGrpSpPr>
        <p:grpSpPr>
          <a:xfrm>
            <a:off x="1801605" y="4621936"/>
            <a:ext cx="2435184" cy="1830113"/>
            <a:chOff x="622841" y="4526086"/>
            <a:chExt cx="2636890" cy="1981701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4858F289-6B1B-EAF5-F10C-EF033D0E3F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3219"/>
            <a:stretch/>
          </p:blipFill>
          <p:spPr>
            <a:xfrm>
              <a:off x="622841" y="4526086"/>
              <a:ext cx="1321463" cy="1981701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A51520BB-EBC6-16D8-A613-490765A47D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6334"/>
            <a:stretch/>
          </p:blipFill>
          <p:spPr>
            <a:xfrm>
              <a:off x="2050180" y="4526086"/>
              <a:ext cx="1209551" cy="1981701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표 7">
                <a:extLst>
                  <a:ext uri="{FF2B5EF4-FFF2-40B4-BE49-F238E27FC236}">
                    <a16:creationId xmlns:a16="http://schemas.microsoft.com/office/drawing/2014/main" id="{6104233E-2A6D-DC0C-878B-BF1028DEC7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1710098"/>
                  </p:ext>
                </p:extLst>
              </p:nvPr>
            </p:nvGraphicFramePr>
            <p:xfrm>
              <a:off x="884057" y="1784770"/>
              <a:ext cx="7268542" cy="2712904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634271">
                      <a:extLst>
                        <a:ext uri="{9D8B030D-6E8A-4147-A177-3AD203B41FA5}">
                          <a16:colId xmlns:a16="http://schemas.microsoft.com/office/drawing/2014/main" val="490541635"/>
                        </a:ext>
                      </a:extLst>
                    </a:gridCol>
                    <a:gridCol w="3634271">
                      <a:extLst>
                        <a:ext uri="{9D8B030D-6E8A-4147-A177-3AD203B41FA5}">
                          <a16:colId xmlns:a16="http://schemas.microsoft.com/office/drawing/2014/main" val="1180995030"/>
                        </a:ext>
                      </a:extLst>
                    </a:gridCol>
                  </a:tblGrid>
                  <a:tr h="233945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NanoCam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C1U – 70 mm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324113"/>
                      </a:ext>
                    </a:extLst>
                  </a:tr>
                  <a:tr h="2339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광학계 </a:t>
                          </a:r>
                          <a:r>
                            <a:rPr lang="en-US" altLang="ko-KR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(Tele-</a:t>
                          </a:r>
                          <a:r>
                            <a:rPr lang="en-US" altLang="ko-KR" sz="1200" b="1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Xenar</a:t>
                          </a:r>
                          <a:r>
                            <a:rPr lang="en-US" altLang="ko-KR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2.2/70-0902 )</a:t>
                          </a:r>
                          <a:endParaRPr lang="ko-KR" altLang="en-US" sz="12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검출기 </a:t>
                          </a:r>
                          <a:r>
                            <a:rPr lang="en-US" altLang="ko-KR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(MT9T031)</a:t>
                          </a:r>
                          <a:endParaRPr lang="ko-KR" altLang="en-US" sz="12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85426541"/>
                      </a:ext>
                    </a:extLst>
                  </a:tr>
                  <a:tr h="930302">
                    <a:tc>
                      <a:txBody>
                        <a:bodyPr/>
                        <a:lstStyle/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Focal length : 70.5 mm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F/# : 2.2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Wavelength : 400 – 750 nm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Transmittance :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약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90 % (500~700 nm)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Resolution : 2048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1536</a:t>
                          </a:r>
                        </a:p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Pixel pitch : 3.2 </a:t>
                          </a:r>
                          <a:r>
                            <a:rPr lang="el-GR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μ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3.2 </a:t>
                          </a:r>
                          <a:r>
                            <a:rPr lang="el-GR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μ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 </a:t>
                          </a:r>
                        </a:p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Dark current noise : 100 </a:t>
                          </a:r>
                        </a:p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Frame rate : up to 12 fps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042967967"/>
                      </a:ext>
                    </a:extLst>
                  </a:tr>
                  <a:tr h="1233962">
                    <a:tc gridSpan="2">
                      <a:txBody>
                        <a:bodyPr/>
                        <a:lstStyle/>
                        <a:p>
                          <a:pPr lvl="0" algn="ctr"/>
                          <a:r>
                            <a:rPr lang="en-US" altLang="ko-KR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Image Acquisition and Lens Performance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400-750 nm spectral transmission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Spatial Resolution &lt; 24 m/pixel from 500 km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½” (4:3) format color CMOS sensor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10-bit RGGB Bayer pattern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3-megapixel color sensor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l" latinLnBrk="1"/>
                          <a:endParaRPr lang="en-US" altLang="ko-KR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43411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표 7">
                <a:extLst>
                  <a:ext uri="{FF2B5EF4-FFF2-40B4-BE49-F238E27FC236}">
                    <a16:creationId xmlns:a16="http://schemas.microsoft.com/office/drawing/2014/main" id="{6104233E-2A6D-DC0C-878B-BF1028DEC7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1710098"/>
                  </p:ext>
                </p:extLst>
              </p:nvPr>
            </p:nvGraphicFramePr>
            <p:xfrm>
              <a:off x="884057" y="1784770"/>
              <a:ext cx="7268542" cy="2712904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634271">
                      <a:extLst>
                        <a:ext uri="{9D8B030D-6E8A-4147-A177-3AD203B41FA5}">
                          <a16:colId xmlns:a16="http://schemas.microsoft.com/office/drawing/2014/main" val="490541635"/>
                        </a:ext>
                      </a:extLst>
                    </a:gridCol>
                    <a:gridCol w="3634271">
                      <a:extLst>
                        <a:ext uri="{9D8B030D-6E8A-4147-A177-3AD203B41FA5}">
                          <a16:colId xmlns:a16="http://schemas.microsoft.com/office/drawing/2014/main" val="1180995030"/>
                        </a:ext>
                      </a:extLst>
                    </a:gridCol>
                  </a:tblGrid>
                  <a:tr h="274320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NanoCam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C1U – 70 mm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32411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광학계 </a:t>
                          </a:r>
                          <a:r>
                            <a:rPr lang="en-US" altLang="ko-KR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(Tele-</a:t>
                          </a:r>
                          <a:r>
                            <a:rPr lang="en-US" altLang="ko-KR" sz="1200" b="1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Xenar</a:t>
                          </a:r>
                          <a:r>
                            <a:rPr lang="en-US" altLang="ko-KR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2.2/70-0902 )</a:t>
                          </a:r>
                          <a:endParaRPr lang="ko-KR" altLang="en-US" sz="12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검출기 </a:t>
                          </a:r>
                          <a:r>
                            <a:rPr lang="en-US" altLang="ko-KR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(MT9T031)</a:t>
                          </a:r>
                          <a:endParaRPr lang="ko-KR" altLang="en-US" sz="12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85426541"/>
                      </a:ext>
                    </a:extLst>
                  </a:tr>
                  <a:tr h="930302">
                    <a:tc>
                      <a:txBody>
                        <a:bodyPr/>
                        <a:lstStyle/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Focal length : 70.5 mm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F/# : 2.2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Wavelength : 400 – 750 nm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Transmittance :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약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90 % (500~700 nm)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  <a:stretch>
                            <a:fillRect l="-100336" t="-58824" r="-168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2967967"/>
                      </a:ext>
                    </a:extLst>
                  </a:tr>
                  <a:tr h="1233962">
                    <a:tc gridSpan="2">
                      <a:txBody>
                        <a:bodyPr/>
                        <a:lstStyle/>
                        <a:p>
                          <a:pPr lvl="0" algn="ctr"/>
                          <a:r>
                            <a:rPr lang="en-US" altLang="ko-KR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Image Acquisition and Lens Performance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400-750 nm spectral transmission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Spatial Resolution &lt; 24 m/pixel from 500 km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½” (4:3) format color CMOS sensor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10-bit RGGB Bayer pattern</a:t>
                          </a:r>
                        </a:p>
                        <a:p>
                          <a:pPr lvl="0" algn="ctr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3-megapixel color sensor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l" latinLnBrk="1"/>
                          <a:endParaRPr lang="en-US" altLang="ko-KR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43411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" name="직사각형 36">
            <a:extLst>
              <a:ext uri="{FF2B5EF4-FFF2-40B4-BE49-F238E27FC236}">
                <a16:creationId xmlns:a16="http://schemas.microsoft.com/office/drawing/2014/main" id="{6037CC9F-C5C7-A31E-880D-833AE7F30A89}"/>
              </a:ext>
            </a:extLst>
          </p:cNvPr>
          <p:cNvSpPr/>
          <p:nvPr/>
        </p:nvSpPr>
        <p:spPr>
          <a:xfrm>
            <a:off x="1880547" y="6525892"/>
            <a:ext cx="5382905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</a:t>
            </a:r>
            <a:r>
              <a:rPr lang="en-US" altLang="ko-KR" sz="14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NanoCam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C1U-70 mm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렌즈와 구조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937219-4852-0FE9-7212-D82B3B609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5321" y="4548738"/>
            <a:ext cx="1588694" cy="1830113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04A5BB9-FAE6-8142-C81C-A666C618A8CE}"/>
              </a:ext>
            </a:extLst>
          </p:cNvPr>
          <p:cNvCxnSpPr>
            <a:cxnSpLocks/>
          </p:cNvCxnSpPr>
          <p:nvPr/>
        </p:nvCxnSpPr>
        <p:spPr>
          <a:xfrm flipH="1">
            <a:off x="6206348" y="4947575"/>
            <a:ext cx="437667" cy="325258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01B683E-A9EB-B796-5AC6-661101883C21}"/>
              </a:ext>
            </a:extLst>
          </p:cNvPr>
          <p:cNvSpPr txBox="1"/>
          <p:nvPr/>
        </p:nvSpPr>
        <p:spPr>
          <a:xfrm>
            <a:off x="6382598" y="4762143"/>
            <a:ext cx="12831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rPr>
              <a:t>70mm Lens</a:t>
            </a:r>
            <a:endParaRPr lang="ko-KR" altLang="en-US" sz="1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4223AD-6708-2337-A4FD-DC24D1F0556E}"/>
              </a:ext>
            </a:extLst>
          </p:cNvPr>
          <p:cNvSpPr txBox="1"/>
          <p:nvPr/>
        </p:nvSpPr>
        <p:spPr>
          <a:xfrm>
            <a:off x="6615444" y="5445453"/>
            <a:ext cx="12831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rPr>
              <a:t>Baffle</a:t>
            </a:r>
            <a:endParaRPr lang="ko-KR" altLang="en-US" sz="1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836C68-0C58-C964-D6C2-F51E0CE0C361}"/>
              </a:ext>
            </a:extLst>
          </p:cNvPr>
          <p:cNvSpPr txBox="1"/>
          <p:nvPr/>
        </p:nvSpPr>
        <p:spPr>
          <a:xfrm>
            <a:off x="6700820" y="5696217"/>
            <a:ext cx="12831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rPr>
              <a:t>Lens table</a:t>
            </a:r>
            <a:endParaRPr lang="ko-KR" altLang="en-US" sz="1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CF4EF1-91E9-DC36-D7DF-E50774DC2A75}"/>
              </a:ext>
            </a:extLst>
          </p:cNvPr>
          <p:cNvSpPr txBox="1"/>
          <p:nvPr/>
        </p:nvSpPr>
        <p:spPr>
          <a:xfrm>
            <a:off x="4338689" y="6096031"/>
            <a:ext cx="12831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rPr>
              <a:t>J2 connector</a:t>
            </a:r>
            <a:endParaRPr lang="ko-KR" altLang="en-US" sz="1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168D26-76D0-DECE-47BF-486CAC48F855}"/>
              </a:ext>
            </a:extLst>
          </p:cNvPr>
          <p:cNvSpPr txBox="1"/>
          <p:nvPr/>
        </p:nvSpPr>
        <p:spPr>
          <a:xfrm>
            <a:off x="6677780" y="5921534"/>
            <a:ext cx="12831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rPr>
              <a:t>J1 connector</a:t>
            </a:r>
            <a:endParaRPr lang="ko-KR" altLang="en-US" sz="1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648277-022E-9625-3531-C29447716B9C}"/>
              </a:ext>
            </a:extLst>
          </p:cNvPr>
          <p:cNvSpPr txBox="1"/>
          <p:nvPr/>
        </p:nvSpPr>
        <p:spPr>
          <a:xfrm>
            <a:off x="5415513" y="6338450"/>
            <a:ext cx="12831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rPr>
              <a:t>J3 connector</a:t>
            </a:r>
            <a:endParaRPr lang="ko-KR" altLang="en-US" sz="1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D3591F-6953-C5C2-BF22-451CEBB57F21}"/>
              </a:ext>
            </a:extLst>
          </p:cNvPr>
          <p:cNvSpPr txBox="1"/>
          <p:nvPr/>
        </p:nvSpPr>
        <p:spPr>
          <a:xfrm>
            <a:off x="6719072" y="6168464"/>
            <a:ext cx="12831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rPr>
              <a:t>PCB</a:t>
            </a:r>
            <a:endParaRPr lang="ko-KR" altLang="en-US" sz="1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74E3D6-DCAE-6FEE-DF15-D1E6330B9634}"/>
              </a:ext>
            </a:extLst>
          </p:cNvPr>
          <p:cNvSpPr txBox="1"/>
          <p:nvPr/>
        </p:nvSpPr>
        <p:spPr>
          <a:xfrm>
            <a:off x="6638760" y="6338757"/>
            <a:ext cx="12831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rPr>
              <a:t>Heat/EMI shield</a:t>
            </a:r>
            <a:endParaRPr lang="ko-KR" altLang="en-US" sz="1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D7F4957-E3CF-9AB4-3DB7-C86E0286F825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5905500" y="5568564"/>
            <a:ext cx="709944" cy="543791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87DC65E-1913-64E5-DE63-D9560F682AD7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6382598" y="5819328"/>
            <a:ext cx="318222" cy="153659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C8C5922-DC9B-7971-8F79-79A97440DB26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6270126" y="6044645"/>
            <a:ext cx="407654" cy="20971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8B0EC71-6571-05E6-7658-7AFF03A678AF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6206348" y="6291575"/>
            <a:ext cx="512724" cy="108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350C08F-49DD-195B-30D9-2C31CFA42FED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063079" y="6339059"/>
            <a:ext cx="575681" cy="122809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50B83A0-76C5-0046-ADCD-5726E8B952C5}"/>
              </a:ext>
            </a:extLst>
          </p:cNvPr>
          <p:cNvCxnSpPr>
            <a:cxnSpLocks/>
          </p:cNvCxnSpPr>
          <p:nvPr/>
        </p:nvCxnSpPr>
        <p:spPr>
          <a:xfrm flipH="1" flipV="1">
            <a:off x="5830183" y="6249506"/>
            <a:ext cx="15754" cy="170221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00B236D-2BA2-639E-4865-A965FA3E1C0E}"/>
              </a:ext>
            </a:extLst>
          </p:cNvPr>
          <p:cNvCxnSpPr>
            <a:cxnSpLocks/>
          </p:cNvCxnSpPr>
          <p:nvPr/>
        </p:nvCxnSpPr>
        <p:spPr>
          <a:xfrm>
            <a:off x="5098069" y="6242901"/>
            <a:ext cx="268787" cy="48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548CE12-860D-D612-BF34-9E2167298D02}"/>
              </a:ext>
            </a:extLst>
          </p:cNvPr>
          <p:cNvSpPr txBox="1"/>
          <p:nvPr/>
        </p:nvSpPr>
        <p:spPr>
          <a:xfrm>
            <a:off x="937967" y="6234011"/>
            <a:ext cx="14665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times" panose="02020603050405020304" pitchFamily="18" charset="0"/>
                <a:cs typeface="times" panose="02020603050405020304" pitchFamily="18" charset="0"/>
              </a:rPr>
              <a:t>Created by </a:t>
            </a:r>
            <a:r>
              <a:rPr lang="en-US" altLang="ko-KR" sz="1000" dirty="0" err="1">
                <a:latin typeface="times" panose="02020603050405020304" pitchFamily="18" charset="0"/>
                <a:cs typeface="times" panose="02020603050405020304" pitchFamily="18" charset="0"/>
              </a:rPr>
              <a:t>Gomspace</a:t>
            </a:r>
            <a:endParaRPr lang="ko-KR" altLang="en-US" sz="1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4144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783382" cy="5376968"/>
          </a:xfrm>
        </p:spPr>
        <p:txBody>
          <a:bodyPr/>
          <a:lstStyle/>
          <a:p>
            <a:pPr marL="285750" indent="-285750"/>
            <a:r>
              <a:rPr lang="ko-KR" altLang="en-US" dirty="0"/>
              <a:t> 추가 요청사항 </a:t>
            </a:r>
            <a:r>
              <a:rPr lang="en-US" altLang="ko-KR" dirty="0"/>
              <a:t>: Dazzling Camera Back-up System</a:t>
            </a:r>
          </a:p>
          <a:p>
            <a:pPr marL="597150" lvl="1" indent="-285750"/>
            <a:r>
              <a:rPr lang="ko-KR" altLang="en-US" dirty="0" err="1"/>
              <a:t>대즐링</a:t>
            </a:r>
            <a:r>
              <a:rPr lang="ko-KR" altLang="en-US" dirty="0"/>
              <a:t> 레이저와 지구복사조도 </a:t>
            </a:r>
            <a:r>
              <a:rPr lang="en-US" altLang="ko-KR" dirty="0"/>
              <a:t>spec.</a:t>
            </a:r>
            <a:r>
              <a:rPr lang="ko-KR" altLang="en-US" dirty="0"/>
              <a:t> 비교 분석</a:t>
            </a:r>
            <a:endParaRPr lang="en-US" altLang="ko-KR" dirty="0"/>
          </a:p>
          <a:p>
            <a:pPr marL="777150" lvl="2" indent="-285750"/>
            <a:r>
              <a:rPr lang="ko-KR" altLang="en-US" sz="1400" dirty="0" err="1"/>
              <a:t>대즐링</a:t>
            </a:r>
            <a:r>
              <a:rPr lang="ko-KR" altLang="en-US" sz="1400" dirty="0"/>
              <a:t> 레이저 </a:t>
            </a:r>
            <a:r>
              <a:rPr lang="en-US" altLang="ko-KR" sz="1400" dirty="0"/>
              <a:t>spec.</a:t>
            </a:r>
          </a:p>
          <a:p>
            <a:pPr marL="957150" lvl="3" indent="-285750"/>
            <a:r>
              <a:rPr lang="en-US" altLang="ko-KR" sz="1200" dirty="0"/>
              <a:t>Wavelength : 532 nm </a:t>
            </a:r>
            <a:r>
              <a:rPr lang="ko-KR" altLang="en-US" sz="1200" dirty="0"/>
              <a:t>만 측정하면 됨</a:t>
            </a:r>
            <a:endParaRPr lang="en-US" altLang="ko-KR" sz="1200" dirty="0"/>
          </a:p>
          <a:p>
            <a:pPr marL="957150" lvl="3" indent="-285750"/>
            <a:r>
              <a:rPr lang="en-US" altLang="ko-KR" sz="1200" b="0" dirty="0"/>
              <a:t>Power : 93 W (at 500 km)</a:t>
            </a:r>
          </a:p>
          <a:p>
            <a:pPr marL="957150" lvl="3" indent="-285750"/>
            <a:r>
              <a:rPr lang="en-US" altLang="ko-KR" sz="1200" b="0" dirty="0"/>
              <a:t>Beam size : 10.7 m (at 500 km)</a:t>
            </a:r>
          </a:p>
          <a:p>
            <a:pPr marL="957150" lvl="3" indent="-285750"/>
            <a:r>
              <a:rPr lang="en-US" altLang="ko-KR" sz="1200" b="0" dirty="0"/>
              <a:t>Light level : 1.304249958 W/m</a:t>
            </a:r>
            <a:r>
              <a:rPr lang="en-US" altLang="ko-KR" sz="1200" b="0" baseline="30000" dirty="0"/>
              <a:t>2</a:t>
            </a:r>
            <a:r>
              <a:rPr lang="en-US" altLang="ko-KR" sz="1200" b="0" dirty="0"/>
              <a:t> (at 500 km) ∼ </a:t>
            </a:r>
            <a:r>
              <a:rPr lang="en-US" altLang="ko-KR" sz="1200" b="0" dirty="0">
                <a:solidFill>
                  <a:srgbClr val="FF0000"/>
                </a:solidFill>
              </a:rPr>
              <a:t>8.9 lx </a:t>
            </a:r>
            <a:r>
              <a:rPr lang="en-US" altLang="ko-KR" sz="1200" b="0" dirty="0"/>
              <a:t>(</a:t>
            </a:r>
            <a:r>
              <a:rPr lang="ko-KR" altLang="en-US" sz="1200" b="0" dirty="0"/>
              <a:t>참고</a:t>
            </a:r>
            <a:r>
              <a:rPr lang="en-US" altLang="ko-KR" sz="1200" b="0" dirty="0"/>
              <a:t>. </a:t>
            </a:r>
            <a:r>
              <a:rPr lang="ko-KR" altLang="en-US" sz="1200" b="0" dirty="0"/>
              <a:t>광전자공학의 기초 </a:t>
            </a:r>
            <a:r>
              <a:rPr lang="en-US" altLang="ko-KR" sz="1200" b="0" dirty="0"/>
              <a:t>p.94)</a:t>
            </a:r>
          </a:p>
          <a:p>
            <a:pPr marL="957150" lvl="3" indent="-285750"/>
            <a:endParaRPr lang="en-US" altLang="ko-KR" dirty="0"/>
          </a:p>
          <a:p>
            <a:pPr marL="777150" lvl="2" indent="-285750"/>
            <a:r>
              <a:rPr lang="ko-KR" altLang="en-US" sz="1400" dirty="0"/>
              <a:t>지구복사조도 </a:t>
            </a:r>
            <a:r>
              <a:rPr lang="en-US" altLang="ko-KR" sz="1400" dirty="0"/>
              <a:t>spec.</a:t>
            </a:r>
          </a:p>
          <a:p>
            <a:pPr marL="957150" lvl="3" indent="-285750"/>
            <a:r>
              <a:rPr lang="en-US" altLang="ko-KR" sz="1200" dirty="0"/>
              <a:t>Solar constant : 1357 W/m</a:t>
            </a:r>
            <a:r>
              <a:rPr lang="en-US" altLang="ko-KR" sz="1200" baseline="30000" dirty="0"/>
              <a:t>2</a:t>
            </a:r>
          </a:p>
          <a:p>
            <a:pPr marL="957150" lvl="3" indent="-285750"/>
            <a:r>
              <a:rPr lang="en-US" altLang="ko-KR" sz="1200" dirty="0"/>
              <a:t>Albedo : 407.1 W/m</a:t>
            </a:r>
            <a:r>
              <a:rPr lang="en-US" altLang="ko-KR" sz="1200" baseline="30000" dirty="0"/>
              <a:t>2</a:t>
            </a:r>
            <a:r>
              <a:rPr lang="en-US" altLang="ko-KR" sz="1200" dirty="0"/>
              <a:t> (average) ∼ </a:t>
            </a:r>
            <a:r>
              <a:rPr lang="en-US" altLang="ko-KR" sz="1200" dirty="0">
                <a:solidFill>
                  <a:srgbClr val="FF0000"/>
                </a:solidFill>
              </a:rPr>
              <a:t>40710 lx (average)</a:t>
            </a:r>
          </a:p>
          <a:p>
            <a:pPr marL="1137150" lvl="4" indent="-285750"/>
            <a:r>
              <a:rPr lang="ko-KR" altLang="en-US" sz="1050" dirty="0"/>
              <a:t>일사량과 조도의 관계 </a:t>
            </a:r>
            <a:r>
              <a:rPr lang="en-US" altLang="ko-KR" sz="1050" dirty="0"/>
              <a:t>(</a:t>
            </a:r>
            <a:r>
              <a:rPr lang="ko-KR" altLang="en-US" sz="1050" dirty="0"/>
              <a:t>태양광 스위치 제안 및 효용성 평가</a:t>
            </a:r>
            <a:r>
              <a:rPr lang="en-US" altLang="ko-KR" sz="1050" dirty="0"/>
              <a:t>, </a:t>
            </a:r>
            <a:r>
              <a:rPr lang="ko-KR" altLang="en-US" sz="1050" dirty="0"/>
              <a:t>장준호 </a:t>
            </a:r>
            <a:r>
              <a:rPr lang="en-US" altLang="ko-KR" sz="1050" dirty="0"/>
              <a:t>et al., 2013)</a:t>
            </a:r>
          </a:p>
          <a:p>
            <a:pPr marL="1137150" lvl="4" indent="-285750"/>
            <a:r>
              <a:rPr lang="ko-KR" altLang="en-US" sz="1050" dirty="0"/>
              <a:t>일사량 </a:t>
            </a:r>
            <a:r>
              <a:rPr lang="en-US" altLang="ko-KR" sz="1050" dirty="0"/>
              <a:t>: </a:t>
            </a:r>
            <a:r>
              <a:rPr lang="ko-KR" altLang="en-US" sz="1050" dirty="0"/>
              <a:t>태양의 복사 세기</a:t>
            </a:r>
            <a:r>
              <a:rPr lang="en-US" altLang="ko-KR" sz="1050" dirty="0"/>
              <a:t>, </a:t>
            </a:r>
            <a:r>
              <a:rPr lang="ko-KR" altLang="en-US" sz="1050" dirty="0"/>
              <a:t>태양광선에 직각으로 놓은 </a:t>
            </a:r>
            <a:r>
              <a:rPr lang="en-US" altLang="ko-KR" sz="1050" dirty="0"/>
              <a:t>1cm</a:t>
            </a:r>
            <a:r>
              <a:rPr lang="en-US" altLang="ko-KR" sz="1050" baseline="30000" dirty="0"/>
              <a:t>2</a:t>
            </a:r>
            <a:r>
              <a:rPr lang="en-US" altLang="ko-KR" sz="1050" dirty="0"/>
              <a:t> </a:t>
            </a:r>
            <a:r>
              <a:rPr lang="ko-KR" altLang="en-US" sz="1050" dirty="0"/>
              <a:t>넓이에 </a:t>
            </a:r>
            <a:r>
              <a:rPr lang="en-US" altLang="ko-KR" sz="1050" dirty="0"/>
              <a:t>1</a:t>
            </a:r>
            <a:r>
              <a:rPr lang="ko-KR" altLang="en-US" sz="1050" dirty="0"/>
              <a:t>분 동안의 복사량</a:t>
            </a:r>
          </a:p>
          <a:p>
            <a:pPr marL="1137150" lvl="4" indent="-285750"/>
            <a:r>
              <a:rPr lang="ko-KR" altLang="en-US" sz="1050" dirty="0"/>
              <a:t>조도 </a:t>
            </a:r>
            <a:r>
              <a:rPr lang="en-US" altLang="ko-KR" sz="1050" dirty="0"/>
              <a:t>: </a:t>
            </a:r>
            <a:r>
              <a:rPr lang="ko-KR" altLang="en-US" sz="1050" dirty="0"/>
              <a:t>어떤 면에 투사되는 광속을 면의 면적으로 나눈 것   </a:t>
            </a:r>
            <a:r>
              <a:rPr lang="en-US" altLang="ko-KR" sz="1050" dirty="0"/>
              <a:t>(SI</a:t>
            </a:r>
            <a:r>
              <a:rPr lang="ko-KR" altLang="en-US" sz="1050" dirty="0"/>
              <a:t> 단위 </a:t>
            </a:r>
            <a:r>
              <a:rPr lang="en-US" altLang="ko-KR" sz="1050" dirty="0"/>
              <a:t>: lx)</a:t>
            </a:r>
            <a:endParaRPr lang="ko-KR" altLang="en-US" sz="1050" dirty="0"/>
          </a:p>
          <a:p>
            <a:pPr marL="1137150" lvl="4" indent="-285750"/>
            <a:r>
              <a:rPr lang="ko-KR" altLang="en-US" sz="1050" dirty="0"/>
              <a:t>일사량</a:t>
            </a:r>
            <a:r>
              <a:rPr lang="en-US" altLang="ko-KR" sz="1050" dirty="0"/>
              <a:t>(W/m</a:t>
            </a:r>
            <a:r>
              <a:rPr lang="en-US" altLang="ko-KR" sz="1050" baseline="30000" dirty="0"/>
              <a:t>2</a:t>
            </a:r>
            <a:r>
              <a:rPr lang="en-US" altLang="ko-KR" sz="1050" dirty="0"/>
              <a:t>)</a:t>
            </a:r>
            <a:r>
              <a:rPr lang="ko-KR" altLang="en-US" sz="1050" dirty="0"/>
              <a:t>과 조도</a:t>
            </a:r>
            <a:r>
              <a:rPr lang="en-US" altLang="ko-KR" sz="1050" dirty="0"/>
              <a:t>(lx)</a:t>
            </a:r>
            <a:r>
              <a:rPr lang="ko-KR" altLang="en-US" sz="1050" dirty="0"/>
              <a:t>의 관계는 바로 환산이 불가능하지만 일정 조건에서는 비례 관계</a:t>
            </a:r>
          </a:p>
          <a:p>
            <a:pPr marL="1137150" lvl="4" indent="-285750"/>
            <a:r>
              <a:rPr lang="ko-KR" altLang="en-US" sz="1050" dirty="0"/>
              <a:t>우리나라 여름철 최고 일사량 </a:t>
            </a:r>
            <a:r>
              <a:rPr lang="en-US" altLang="ko-KR" sz="1050" dirty="0"/>
              <a:t>: 1000 W/m</a:t>
            </a:r>
            <a:r>
              <a:rPr lang="en-US" altLang="ko-KR" sz="1050" baseline="30000" dirty="0"/>
              <a:t>2</a:t>
            </a:r>
          </a:p>
          <a:p>
            <a:pPr marL="1137150" lvl="4" indent="-285750"/>
            <a:r>
              <a:rPr lang="ko-KR" altLang="en-US" sz="1050" dirty="0"/>
              <a:t>우리나라 여름철 최고 측정 조도 </a:t>
            </a:r>
            <a:r>
              <a:rPr lang="en-US" altLang="ko-KR" sz="1050" dirty="0"/>
              <a:t>: 100,000 lux</a:t>
            </a:r>
          </a:p>
          <a:p>
            <a:pPr marL="1137150" lvl="4" indent="-285750"/>
            <a:endParaRPr lang="en-US" altLang="ko-KR" sz="1050" dirty="0"/>
          </a:p>
          <a:p>
            <a:pPr marL="777150" lvl="2" indent="-285750"/>
            <a:r>
              <a:rPr lang="ko-KR" altLang="en-US" sz="1400" dirty="0"/>
              <a:t>결론</a:t>
            </a:r>
            <a:endParaRPr lang="en-US" altLang="ko-KR" sz="1400" dirty="0"/>
          </a:p>
          <a:p>
            <a:pPr marL="957150" lvl="3" indent="-285750"/>
            <a:r>
              <a:rPr lang="ko-KR" altLang="en-US" sz="1200" dirty="0"/>
              <a:t>주어진 </a:t>
            </a:r>
            <a:r>
              <a:rPr lang="ko-KR" altLang="en-US" sz="1200" dirty="0" err="1"/>
              <a:t>대즐링</a:t>
            </a:r>
            <a:r>
              <a:rPr lang="ko-KR" altLang="en-US" sz="1200" dirty="0"/>
              <a:t> 레이저의 </a:t>
            </a:r>
            <a:r>
              <a:rPr lang="en-US" altLang="ko-KR" sz="1200" dirty="0"/>
              <a:t>spec. </a:t>
            </a:r>
            <a:r>
              <a:rPr lang="ko-KR" altLang="en-US" sz="1200" dirty="0"/>
              <a:t>으로는 </a:t>
            </a:r>
            <a:r>
              <a:rPr lang="ko-KR" altLang="en-US" sz="1200" b="1" dirty="0" err="1">
                <a:solidFill>
                  <a:srgbClr val="0033CC"/>
                </a:solidFill>
              </a:rPr>
              <a:t>연속파</a:t>
            </a:r>
            <a:r>
              <a:rPr lang="ko-KR" altLang="en-US" sz="1200" b="1" dirty="0">
                <a:solidFill>
                  <a:srgbClr val="0033CC"/>
                </a:solidFill>
              </a:rPr>
              <a:t> </a:t>
            </a:r>
            <a:r>
              <a:rPr lang="en-US" altLang="ko-KR" sz="1200" b="1" dirty="0">
                <a:solidFill>
                  <a:srgbClr val="0033CC"/>
                </a:solidFill>
              </a:rPr>
              <a:t>(CW)</a:t>
            </a:r>
            <a:r>
              <a:rPr lang="ko-KR" altLang="en-US" sz="1200" b="1" dirty="0">
                <a:solidFill>
                  <a:srgbClr val="0033CC"/>
                </a:solidFill>
              </a:rPr>
              <a:t>라는 가정</a:t>
            </a:r>
            <a:r>
              <a:rPr lang="ko-KR" altLang="en-US" sz="1200" dirty="0"/>
              <a:t>만 할 수 있음</a:t>
            </a:r>
            <a:endParaRPr lang="en-US" altLang="ko-KR" sz="1200" dirty="0"/>
          </a:p>
          <a:p>
            <a:pPr marL="957150" lvl="3" indent="-285750"/>
            <a:r>
              <a:rPr lang="ko-KR" altLang="en-US" sz="1200" dirty="0"/>
              <a:t>지구복사조도의 오차범위 보다 </a:t>
            </a:r>
            <a:r>
              <a:rPr lang="ko-KR" altLang="en-US" sz="1200" dirty="0" err="1"/>
              <a:t>대즐링</a:t>
            </a:r>
            <a:r>
              <a:rPr lang="ko-KR" altLang="en-US" sz="1200" dirty="0"/>
              <a:t> 레이저의 조도가 작아 </a:t>
            </a:r>
            <a:r>
              <a:rPr lang="ko-KR" altLang="en-US" sz="1200" dirty="0" err="1"/>
              <a:t>대즐링</a:t>
            </a:r>
            <a:r>
              <a:rPr lang="ko-KR" altLang="en-US" sz="1200" dirty="0"/>
              <a:t> 레이저 입사 여부 판단 어려움</a:t>
            </a:r>
            <a:endParaRPr lang="en-US" altLang="ko-KR" sz="1200" dirty="0"/>
          </a:p>
          <a:p>
            <a:pPr marL="957150" lvl="3" indent="-285750"/>
            <a:r>
              <a:rPr lang="ko-KR" altLang="en-US" sz="1200" b="1" dirty="0" err="1">
                <a:solidFill>
                  <a:srgbClr val="0033CC"/>
                </a:solidFill>
              </a:rPr>
              <a:t>대즐링</a:t>
            </a:r>
            <a:r>
              <a:rPr lang="ko-KR" altLang="en-US" sz="1200" b="1" dirty="0">
                <a:solidFill>
                  <a:srgbClr val="0033CC"/>
                </a:solidFill>
              </a:rPr>
              <a:t> 레이저가 </a:t>
            </a:r>
            <a:r>
              <a:rPr lang="en-US" altLang="ko-KR" sz="1200" b="1" dirty="0">
                <a:solidFill>
                  <a:srgbClr val="0033CC"/>
                </a:solidFill>
              </a:rPr>
              <a:t>pulsed laser</a:t>
            </a:r>
            <a:r>
              <a:rPr lang="ko-KR" altLang="en-US" sz="1200" b="1" dirty="0">
                <a:solidFill>
                  <a:srgbClr val="0033CC"/>
                </a:solidFill>
              </a:rPr>
              <a:t>라면</a:t>
            </a:r>
            <a:r>
              <a:rPr lang="en-US" altLang="ko-KR" sz="1200" b="1" dirty="0">
                <a:solidFill>
                  <a:srgbClr val="0033CC"/>
                </a:solidFill>
              </a:rPr>
              <a:t>, </a:t>
            </a:r>
            <a:r>
              <a:rPr lang="ko-KR" altLang="en-US" sz="1200" b="1" dirty="0">
                <a:solidFill>
                  <a:srgbClr val="0033CC"/>
                </a:solidFill>
              </a:rPr>
              <a:t>추후 분석을 통해서 확인 가능</a:t>
            </a:r>
            <a:endParaRPr lang="en-US" altLang="ko-KR" sz="1200" b="1" dirty="0">
              <a:solidFill>
                <a:srgbClr val="0033CC"/>
              </a:solidFill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89C5BEE-492C-E6D4-D7BD-479070250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Payload 3 : Dazzling Camera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66248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요구</a:t>
            </a:r>
            <a:r>
              <a:rPr lang="en-US" altLang="ko-KR" dirty="0"/>
              <a:t>/</a:t>
            </a:r>
            <a:r>
              <a:rPr lang="ko-KR" altLang="en-US" dirty="0"/>
              <a:t>제한사항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BUS (</a:t>
            </a:r>
            <a:r>
              <a:rPr lang="ko-KR" altLang="en-US" dirty="0"/>
              <a:t>본체</a:t>
            </a:r>
            <a:r>
              <a:rPr lang="en-US" altLang="ko-KR" dirty="0"/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49347B-B629-976F-F853-B89BB7618205}"/>
              </a:ext>
            </a:extLst>
          </p:cNvPr>
          <p:cNvSpPr/>
          <p:nvPr/>
        </p:nvSpPr>
        <p:spPr>
          <a:xfrm>
            <a:off x="2156756" y="6426292"/>
            <a:ext cx="483048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본체 요구조건 표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1045AE3-28E3-4655-81B1-54D535EFB8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374843"/>
                  </p:ext>
                </p:extLst>
              </p:nvPr>
            </p:nvGraphicFramePr>
            <p:xfrm>
              <a:off x="316369" y="1492868"/>
              <a:ext cx="8629838" cy="48528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3770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5448701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1717367">
                      <a:extLst>
                        <a:ext uri="{9D8B030D-6E8A-4147-A177-3AD203B41FA5}">
                          <a16:colId xmlns:a16="http://schemas.microsoft.com/office/drawing/2014/main" val="1019484584"/>
                        </a:ext>
                      </a:extLst>
                    </a:gridCol>
                  </a:tblGrid>
                  <a:tr h="26154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주요 특성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요구 조건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비고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BUS</a:t>
                          </a:r>
                          <a:r>
                            <a:rPr lang="ko-KR" altLang="en-US" sz="1200" b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규격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(1) 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질량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2 kg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총 질량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4 kg)</a:t>
                          </a: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(2) 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크기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100.0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100.0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340.5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mm</a:t>
                          </a:r>
                          <a:r>
                            <a:rPr lang="en-US" altLang="ko-KR" sz="1200" baseline="300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(3U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</a:t>
                          </a:r>
                          <a:r>
                            <a:rPr lang="ko-KR" altLang="en-US" sz="12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큐브위성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규격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자세 결정 및 제어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Knowledge &lt; 2.0  deg (3</a:t>
                          </a:r>
                          <a:r>
                            <a:rPr lang="el-GR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 , Pointing &lt; 5.0 deg (3</a:t>
                          </a:r>
                          <a:r>
                            <a:rPr lang="el-GR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각 축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임무 수명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(6</a:t>
                          </a: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개월이상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 </a:t>
                          </a: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만족을 위한 조건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58555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궤도 결정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Knowledge &lt; 9 m (1</a:t>
                          </a:r>
                          <a:r>
                            <a:rPr lang="el-GR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각 축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* 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실시간 </a:t>
                          </a:r>
                          <a:r>
                            <a:rPr lang="ko-KR" altLang="en-US" sz="1200" dirty="0" err="1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온보드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항법 데이터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2022.04. </a:t>
                          </a: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메일 요청사항 반영</a:t>
                          </a:r>
                          <a:endParaRPr lang="en-US" altLang="ko-KR" sz="9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: Knowledge &lt; 10 m (3</a:t>
                          </a:r>
                          <a:r>
                            <a:rPr lang="el-GR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각축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→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Knowledge &lt; 9 m (1</a:t>
                          </a:r>
                          <a:r>
                            <a:rPr lang="el-GR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각축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)</a:t>
                          </a: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으로 변경</a:t>
                          </a:r>
                          <a:endParaRPr lang="en-US" altLang="ko-KR" sz="9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데이터 통신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CAN-bus [TBC]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9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982338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데이터 저장용량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임무데이터 저장 용량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TBD bite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추후</a:t>
                          </a:r>
                          <a:r>
                            <a:rPr lang="en-US" altLang="ko-KR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9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대즐링</a:t>
                          </a:r>
                          <a:r>
                            <a:rPr lang="ko-KR" altLang="en-US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능동대응 시험 사진 데이터 용량 고려하여 결정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526315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RF </a:t>
                          </a:r>
                          <a:r>
                            <a:rPr lang="ko-KR" altLang="en-US" sz="1200" b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통신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(1)  UHF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대역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위성 상태 정보 및 명령 상향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/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하향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(2)  S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대역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영상 데이터 하향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탑재체의 데이터 하향 및 운용</a:t>
                          </a:r>
                          <a:endParaRPr lang="en-US" altLang="ko-KR" sz="9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6074078"/>
                      </a:ext>
                    </a:extLst>
                  </a:tr>
                  <a:tr h="58555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GNSS</a:t>
                          </a:r>
                          <a:endParaRPr lang="ko-KR" altLang="en-US" sz="12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(1)  L1 &amp; L2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사용</a:t>
                          </a:r>
                          <a:endParaRPr lang="en-US" altLang="ko-KR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(2)  GNSS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기반 지상 후처리 정밀 궤도결정 위치 정밀도 ≤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0.5 m 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(3</a:t>
                          </a:r>
                          <a:r>
                            <a:rPr lang="el-GR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각 축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en-US" altLang="ko-KR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</a:t>
                          </a:r>
                          <a:r>
                            <a:rPr lang="en-US" altLang="ko-KR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</a:t>
                          </a: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체계 요구사항 표 </a:t>
                          </a:r>
                          <a:r>
                            <a:rPr lang="en-US" altLang="ko-KR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No.5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3071313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전력 생산 및 소비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latinLnBrk="1">
                            <a:buAutoNum type="arabicParenBoth"/>
                          </a:pP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생산 전력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&gt; 20 W (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평균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&gt; 10 W) [TBC]</a:t>
                          </a: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(2)  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순간 최대 소비 전력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30 W @VBATT [TBC]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8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탑재체의 전력 공급을 위한 조건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3233640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구조적 안정성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latinLnBrk="1">
                            <a:buAutoNum type="arabicParenBoth"/>
                          </a:pP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 안전 여유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&gt; 0</a:t>
                          </a:r>
                        </a:p>
                        <a:p>
                          <a:pPr marL="228600" indent="-228600" latinLnBrk="1">
                            <a:buAutoNum type="arabicParenBoth"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 1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차 모드 고유진동수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&gt; 100 Hz (*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발사체에 따라 다름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latinLnBrk="1">
                            <a:buAutoNum type="arabicParenBoth"/>
                          </a:pP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7321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1045AE3-28E3-4655-81B1-54D535EFB8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374843"/>
                  </p:ext>
                </p:extLst>
              </p:nvPr>
            </p:nvGraphicFramePr>
            <p:xfrm>
              <a:off x="316369" y="1492868"/>
              <a:ext cx="8629838" cy="48528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3770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5448701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1717367">
                      <a:extLst>
                        <a:ext uri="{9D8B030D-6E8A-4147-A177-3AD203B41FA5}">
                          <a16:colId xmlns:a16="http://schemas.microsoft.com/office/drawing/2014/main" val="1019484584"/>
                        </a:ext>
                      </a:extLst>
                    </a:gridCol>
                  </a:tblGrid>
                  <a:tr h="26154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주요 특성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요구 조건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비고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BUS</a:t>
                          </a:r>
                          <a:r>
                            <a:rPr lang="ko-KR" altLang="en-US" sz="1200" b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규격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927" t="-56962" r="-31732" b="-8620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자세 결정 및 제어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Knowledge &lt; 2.0  deg (3</a:t>
                          </a:r>
                          <a:r>
                            <a:rPr lang="el-GR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 , Pointing &lt; 5.0 deg (3</a:t>
                          </a:r>
                          <a:r>
                            <a:rPr lang="el-GR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각 축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임무 수명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(6</a:t>
                          </a: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개월이상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 </a:t>
                          </a: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만족을 위한 조건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6206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궤도 결정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Knowledge &lt; 9 m (1</a:t>
                          </a:r>
                          <a:r>
                            <a:rPr lang="el-GR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각 축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* 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실시간 </a:t>
                          </a:r>
                          <a:r>
                            <a:rPr lang="ko-KR" altLang="en-US" sz="1200" dirty="0" err="1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온보드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항법 데이터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2022.04. </a:t>
                          </a: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메일 요청사항 반영</a:t>
                          </a:r>
                          <a:endParaRPr lang="en-US" altLang="ko-KR" sz="9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: Knowledge &lt; 10 m (3</a:t>
                          </a:r>
                          <a:r>
                            <a:rPr lang="el-GR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각축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→ 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Knowledge &lt; 9 m (1</a:t>
                          </a:r>
                          <a:r>
                            <a:rPr lang="el-GR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각축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)</a:t>
                          </a:r>
                          <a:r>
                            <a:rPr lang="ko-KR" altLang="en-US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으로 변경</a:t>
                          </a:r>
                          <a:endParaRPr lang="en-US" altLang="ko-KR" sz="9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데이터 통신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CAN-bus [TBC]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9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982338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데이터 저장용량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임무데이터 저장 용량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TBD bite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추후</a:t>
                          </a:r>
                          <a:r>
                            <a:rPr lang="en-US" altLang="ko-KR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90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대즐링</a:t>
                          </a:r>
                          <a:r>
                            <a:rPr lang="ko-KR" altLang="en-US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능동대응 시험 사진 데이터 용량 고려하여 결정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526315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RF </a:t>
                          </a:r>
                          <a:r>
                            <a:rPr lang="ko-KR" altLang="en-US" sz="1200" b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통신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(1)  UHF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대역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위성 상태 정보 및 명령 상향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/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하향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(2)  S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대역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영상 데이터 하향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탑재체의 데이터 하향 및 운용</a:t>
                          </a:r>
                          <a:endParaRPr lang="en-US" altLang="ko-KR" sz="9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6074078"/>
                      </a:ext>
                    </a:extLst>
                  </a:tr>
                  <a:tr h="58555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GNSS</a:t>
                          </a:r>
                          <a:endParaRPr lang="ko-KR" altLang="en-US" sz="1200" b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(1)  L1 &amp; L2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사용</a:t>
                          </a:r>
                          <a:endParaRPr lang="en-US" altLang="ko-KR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(2)  GNSS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기반 지상 후처리 정밀 궤도결정 위치 정밀도 ≤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0.5 m 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(3</a:t>
                          </a:r>
                          <a:r>
                            <a:rPr lang="el-GR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</a:t>
                          </a:r>
                          <a:r>
                            <a:rPr lang="ko-KR" altLang="en-US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각 축</a:t>
                          </a: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en-US" altLang="ko-KR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참고</a:t>
                          </a:r>
                          <a:r>
                            <a:rPr lang="en-US" altLang="ko-KR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,</a:t>
                          </a: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ko-KR" altLang="en-US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체계 요구사항 표 </a:t>
                          </a:r>
                          <a:r>
                            <a:rPr lang="en-US" altLang="ko-KR" sz="9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No.5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3071313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전력 생산 및 소비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latinLnBrk="1">
                            <a:buAutoNum type="arabicParenBoth"/>
                          </a:pP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생산 전력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&gt; 20 W (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평균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&gt; 10 W) [TBC]</a:t>
                          </a: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(2)  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순간 최대 소비 전력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&lt; 30 W @VBATT [TBC]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ko-KR" altLang="en-US" sz="8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탑재체의 전력 공급을 위한 조건</a:t>
                          </a: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3233640"/>
                      </a:ext>
                    </a:extLst>
                  </a:tr>
                  <a:tr h="48358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b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구조적 안정성</a:t>
                          </a:r>
                        </a:p>
                      </a:txBody>
                      <a:tcPr marL="36000" marR="36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latinLnBrk="1">
                            <a:buAutoNum type="arabicParenBoth"/>
                          </a:pP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 안전 여유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&gt; 0</a:t>
                          </a:r>
                        </a:p>
                        <a:p>
                          <a:pPr marL="228600" indent="-228600" latinLnBrk="1">
                            <a:buAutoNum type="arabicParenBoth"/>
                          </a:pP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 1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차 모드 고유진동수 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&gt; 100 Hz (* </a:t>
                          </a:r>
                          <a:r>
                            <a:rPr lang="ko-KR" altLang="en-US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발사체에 따라 다름</a:t>
                          </a:r>
                          <a:r>
                            <a:rPr lang="en-US" altLang="ko-KR" sz="120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</a:t>
                          </a: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latinLnBrk="1">
                            <a:buAutoNum type="arabicParenBoth"/>
                          </a:pPr>
                          <a:endPara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7321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62940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WBS (Work Breakdown Structure)</a:t>
            </a: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BUS (</a:t>
            </a:r>
            <a:r>
              <a:rPr lang="ko-KR" altLang="en-US" dirty="0"/>
              <a:t>본체</a:t>
            </a:r>
            <a:r>
              <a:rPr lang="en-US" altLang="ko-KR" dirty="0"/>
              <a:t>)</a:t>
            </a:r>
            <a:endParaRPr lang="en-US" altLang="ko-KR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8C39C7A-1407-2544-30E7-0DEE9E9DD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799930"/>
              </p:ext>
            </p:extLst>
          </p:nvPr>
        </p:nvGraphicFramePr>
        <p:xfrm>
          <a:off x="158495" y="1483273"/>
          <a:ext cx="8728423" cy="48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816">
                  <a:extLst>
                    <a:ext uri="{9D8B030D-6E8A-4147-A177-3AD203B41FA5}">
                      <a16:colId xmlns:a16="http://schemas.microsoft.com/office/drawing/2014/main" val="3358291018"/>
                    </a:ext>
                  </a:extLst>
                </a:gridCol>
                <a:gridCol w="2449689">
                  <a:extLst>
                    <a:ext uri="{9D8B030D-6E8A-4147-A177-3AD203B41FA5}">
                      <a16:colId xmlns:a16="http://schemas.microsoft.com/office/drawing/2014/main" val="735291838"/>
                    </a:ext>
                  </a:extLst>
                </a:gridCol>
                <a:gridCol w="3680935">
                  <a:extLst>
                    <a:ext uri="{9D8B030D-6E8A-4147-A177-3AD203B41FA5}">
                      <a16:colId xmlns:a16="http://schemas.microsoft.com/office/drawing/2014/main" val="4216081457"/>
                    </a:ext>
                  </a:extLst>
                </a:gridCol>
                <a:gridCol w="633983">
                  <a:extLst>
                    <a:ext uri="{9D8B030D-6E8A-4147-A177-3AD203B41FA5}">
                      <a16:colId xmlns:a16="http://schemas.microsoft.com/office/drawing/2014/main" val="3530947212"/>
                    </a:ext>
                  </a:extLst>
                </a:gridCol>
              </a:tblGrid>
              <a:tr h="1492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 3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Level 5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Note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41221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H/W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선정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COTS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조사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서브시스템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COTS spec.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조사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338467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COTS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선택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사용할 서브시스템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COTS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선택 및 구매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639449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임무 궤도 설계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임무 궤도 결정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운용궤도 선정 및  분석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643738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운용 개념 설계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운용 개념 정의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934001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임무 운용 개념 설계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임무 운용 개념 정의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376224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예비 설계 및 상세 설계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GNC </a:t>
                      </a:r>
                    </a:p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유도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항행 및 제어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ADCS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모듈 성능 추정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315141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온보드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항법 성능 추정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800802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EPS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운용 시나리오별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탑재체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/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본체 부품 소모전력 검토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717632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전력 서브시스템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운용 시나리오별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DoD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해석 및 에너지 균형 분석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982338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CNDH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OBC HW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개념 설계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103079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명령 및 데이터 처리 서브시스템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비행소프트웨어 개발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472915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RF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신호 기반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위성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지상간 통신 알고리즘 개발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448939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COMS</a:t>
                      </a:r>
                    </a:p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통신 서브시스템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Link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마진 분석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732568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SMS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Frame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설계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진행중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550522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구조 서브시스템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구속 분리 메커니즘 설계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93313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동역학적 특성 분석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27463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TCS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열적 특성 분석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68819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07D4F290-081B-503B-EDAA-30BD80BC4BDF}"/>
              </a:ext>
            </a:extLst>
          </p:cNvPr>
          <p:cNvSpPr/>
          <p:nvPr/>
        </p:nvSpPr>
        <p:spPr>
          <a:xfrm>
            <a:off x="2107462" y="6353079"/>
            <a:ext cx="483048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본체 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WBS&gt;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112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그룹 77">
            <a:extLst>
              <a:ext uri="{FF2B5EF4-FFF2-40B4-BE49-F238E27FC236}">
                <a16:creationId xmlns:a16="http://schemas.microsoft.com/office/drawing/2014/main" id="{02204FC4-5C0A-9015-964C-2E78E6A34851}"/>
              </a:ext>
            </a:extLst>
          </p:cNvPr>
          <p:cNvGrpSpPr/>
          <p:nvPr/>
        </p:nvGrpSpPr>
        <p:grpSpPr>
          <a:xfrm>
            <a:off x="7699952" y="5421899"/>
            <a:ext cx="1261587" cy="1260000"/>
            <a:chOff x="6739070" y="6889449"/>
            <a:chExt cx="1261587" cy="1260000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AC2195B3-BFCB-CDE2-79C6-04F8C7601C15}"/>
                </a:ext>
              </a:extLst>
            </p:cNvPr>
            <p:cNvSpPr/>
            <p:nvPr/>
          </p:nvSpPr>
          <p:spPr>
            <a:xfrm>
              <a:off x="6740102" y="6889449"/>
              <a:ext cx="1260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A69E365-BF24-A75B-7766-B5CA87291FB6}"/>
                </a:ext>
              </a:extLst>
            </p:cNvPr>
            <p:cNvSpPr/>
            <p:nvPr/>
          </p:nvSpPr>
          <p:spPr>
            <a:xfrm>
              <a:off x="6739070" y="6934544"/>
              <a:ext cx="1260000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S </a:t>
              </a:r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대역</a:t>
              </a:r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 </a:t>
              </a:r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안테나 </a:t>
              </a:r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&amp; </a:t>
              </a:r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송수신기</a:t>
              </a: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913DFF64-3CF0-707E-C8DB-9FE17EE76FE6}"/>
                </a:ext>
              </a:extLst>
            </p:cNvPr>
            <p:cNvSpPr/>
            <p:nvPr/>
          </p:nvSpPr>
          <p:spPr>
            <a:xfrm>
              <a:off x="6740657" y="7904505"/>
              <a:ext cx="1260000" cy="2309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80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28144" y="6073321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BUS (</a:t>
            </a:r>
            <a:r>
              <a:rPr lang="ko-KR" altLang="en-US" dirty="0"/>
              <a:t>본체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본체 시스템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COTS(Commercial Off-the-Shelf) </a:t>
            </a:r>
            <a:r>
              <a:rPr lang="ko-KR" altLang="en-US" dirty="0"/>
              <a:t>제품으로 구성</a:t>
            </a:r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개의 탑재체를 운용하기 위한 시스템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9CE2E98-675C-EA64-9AC1-4C3B332DAA28}"/>
              </a:ext>
            </a:extLst>
          </p:cNvPr>
          <p:cNvGrpSpPr/>
          <p:nvPr/>
        </p:nvGrpSpPr>
        <p:grpSpPr>
          <a:xfrm>
            <a:off x="1432954" y="2025761"/>
            <a:ext cx="6411757" cy="2753363"/>
            <a:chOff x="1260340" y="2981762"/>
            <a:chExt cx="6085077" cy="2613079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133B0B0-39ED-DE02-0229-C4ED916FC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0340" y="3135327"/>
              <a:ext cx="5952897" cy="2339946"/>
            </a:xfrm>
            <a:prstGeom prst="rect">
              <a:avLst/>
            </a:prstGeom>
          </p:spPr>
        </p:pic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A41F4B01-6B17-549D-3056-40E632FBEA70}"/>
                </a:ext>
              </a:extLst>
            </p:cNvPr>
            <p:cNvSpPr/>
            <p:nvPr/>
          </p:nvSpPr>
          <p:spPr>
            <a:xfrm>
              <a:off x="3292162" y="3160742"/>
              <a:ext cx="1054939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GNSS </a:t>
              </a:r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수신기</a:t>
              </a: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D9A8B8EC-D8B5-7DDC-6C7A-2FE0C9B1B899}"/>
                </a:ext>
              </a:extLst>
            </p:cNvPr>
            <p:cNvSpPr/>
            <p:nvPr/>
          </p:nvSpPr>
          <p:spPr>
            <a:xfrm>
              <a:off x="4711608" y="4002483"/>
              <a:ext cx="2633809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탑재컴퓨터 </a:t>
              </a:r>
              <a:r>
                <a:rPr lang="en-US" altLang="ko-KR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&amp; UHF </a:t>
              </a:r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송수신기 </a:t>
              </a:r>
              <a:r>
                <a:rPr lang="en-US" altLang="ko-KR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&amp; GNSS </a:t>
              </a:r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수신기</a:t>
              </a: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35C3D263-7A0E-C9E5-3A80-C5290A0DBAED}"/>
                </a:ext>
              </a:extLst>
            </p:cNvPr>
            <p:cNvSpPr/>
            <p:nvPr/>
          </p:nvSpPr>
          <p:spPr>
            <a:xfrm>
              <a:off x="2956451" y="4632862"/>
              <a:ext cx="1035302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3</a:t>
              </a:r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축 반작용 휠</a:t>
              </a: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CC05FE28-ADA8-CB1C-6C72-B436D0D54D3E}"/>
                </a:ext>
              </a:extLst>
            </p:cNvPr>
            <p:cNvSpPr/>
            <p:nvPr/>
          </p:nvSpPr>
          <p:spPr>
            <a:xfrm>
              <a:off x="4666442" y="4216311"/>
              <a:ext cx="938786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UHF </a:t>
              </a:r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안테나</a:t>
              </a: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FBC62918-675A-DA03-7B70-313EB097FC1C}"/>
                </a:ext>
              </a:extLst>
            </p:cNvPr>
            <p:cNvSpPr/>
            <p:nvPr/>
          </p:nvSpPr>
          <p:spPr>
            <a:xfrm>
              <a:off x="2510412" y="4284596"/>
              <a:ext cx="1328091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전력 제어 및 </a:t>
              </a:r>
              <a:endParaRPr lang="en-US" altLang="ko-KR" sz="800" b="1" dirty="0">
                <a:solidFill>
                  <a:schemeClr val="tx1"/>
                </a:solidFill>
                <a:cs typeface="times" panose="02020603050405020304" pitchFamily="18" charset="0"/>
              </a:endParaRPr>
            </a:p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분배 유닛</a:t>
              </a: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F34BBAEB-2F30-1396-3066-A86B3DDA59C4}"/>
                </a:ext>
              </a:extLst>
            </p:cNvPr>
            <p:cNvSpPr/>
            <p:nvPr/>
          </p:nvSpPr>
          <p:spPr>
            <a:xfrm>
              <a:off x="4711609" y="4450176"/>
              <a:ext cx="1035303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highlight>
                    <a:srgbClr val="FFFF00"/>
                  </a:highlight>
                  <a:cs typeface="times" panose="02020603050405020304" pitchFamily="18" charset="0"/>
                </a:rPr>
                <a:t>S </a:t>
              </a:r>
              <a:r>
                <a:rPr lang="ko-KR" altLang="en-US" sz="800" b="1" dirty="0">
                  <a:solidFill>
                    <a:schemeClr val="tx1"/>
                  </a:solidFill>
                  <a:highlight>
                    <a:srgbClr val="FFFF00"/>
                  </a:highlight>
                  <a:cs typeface="times" panose="02020603050405020304" pitchFamily="18" charset="0"/>
                </a:rPr>
                <a:t>대역 수신기</a:t>
              </a: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94EDA578-B498-96E6-8B37-12D29E87F32F}"/>
                </a:ext>
              </a:extLst>
            </p:cNvPr>
            <p:cNvSpPr/>
            <p:nvPr/>
          </p:nvSpPr>
          <p:spPr>
            <a:xfrm>
              <a:off x="3024685" y="5381269"/>
              <a:ext cx="1045674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 err="1">
                  <a:solidFill>
                    <a:schemeClr val="tx1"/>
                  </a:solidFill>
                  <a:cs typeface="times" panose="02020603050405020304" pitchFamily="18" charset="0"/>
                </a:rPr>
                <a:t>대즐링</a:t>
              </a:r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 능동방어 시스템 시험 카메라</a:t>
              </a: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E7C00279-A414-733A-3373-19ABD87C5319}"/>
                </a:ext>
              </a:extLst>
            </p:cNvPr>
            <p:cNvSpPr/>
            <p:nvPr/>
          </p:nvSpPr>
          <p:spPr>
            <a:xfrm>
              <a:off x="4433408" y="5299241"/>
              <a:ext cx="1003664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레이저 감지기</a:t>
              </a: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3CC65F96-3D38-47F7-934A-55AFB4D3A0C0}"/>
                </a:ext>
              </a:extLst>
            </p:cNvPr>
            <p:cNvSpPr/>
            <p:nvPr/>
          </p:nvSpPr>
          <p:spPr>
            <a:xfrm>
              <a:off x="4431651" y="3149465"/>
              <a:ext cx="1081147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자기장센서</a:t>
              </a: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12ACFB7E-CBA4-F340-EDBD-7C8503CC7EBB}"/>
                </a:ext>
              </a:extLst>
            </p:cNvPr>
            <p:cNvSpPr/>
            <p:nvPr/>
          </p:nvSpPr>
          <p:spPr>
            <a:xfrm>
              <a:off x="4072580" y="2981762"/>
              <a:ext cx="899642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태양 센서</a:t>
              </a: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0DCA69DA-603B-16A1-CA9A-C69DE89DB4F7}"/>
                </a:ext>
              </a:extLst>
            </p:cNvPr>
            <p:cNvSpPr/>
            <p:nvPr/>
          </p:nvSpPr>
          <p:spPr>
            <a:xfrm>
              <a:off x="2522340" y="3665861"/>
              <a:ext cx="912812" cy="1503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ADCS</a:t>
              </a:r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 모듈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5591E98F-A2AF-8409-A613-39DDCE41FADB}"/>
                </a:ext>
              </a:extLst>
            </p:cNvPr>
            <p:cNvSpPr/>
            <p:nvPr/>
          </p:nvSpPr>
          <p:spPr>
            <a:xfrm>
              <a:off x="5792515" y="3539314"/>
              <a:ext cx="1011325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박막 전개장치</a:t>
              </a: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9C8051E8-FE13-E2A1-A5F2-29A01B9952F3}"/>
                </a:ext>
              </a:extLst>
            </p:cNvPr>
            <p:cNvSpPr/>
            <p:nvPr/>
          </p:nvSpPr>
          <p:spPr>
            <a:xfrm>
              <a:off x="5235633" y="3256994"/>
              <a:ext cx="1011325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태양전지판</a:t>
              </a:r>
            </a:p>
          </p:txBody>
        </p:sp>
        <p:cxnSp>
          <p:nvCxnSpPr>
            <p:cNvPr id="132" name="직선 화살표 연결선 131">
              <a:extLst>
                <a:ext uri="{FF2B5EF4-FFF2-40B4-BE49-F238E27FC236}">
                  <a16:creationId xmlns:a16="http://schemas.microsoft.com/office/drawing/2014/main" id="{000F07F8-660A-BD05-C3AE-AB8124F6AE19}"/>
                </a:ext>
              </a:extLst>
            </p:cNvPr>
            <p:cNvCxnSpPr>
              <a:cxnSpLocks/>
            </p:cNvCxnSpPr>
            <p:nvPr/>
          </p:nvCxnSpPr>
          <p:spPr>
            <a:xfrm>
              <a:off x="4042890" y="3336072"/>
              <a:ext cx="172704" cy="196042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화살표 연결선 132">
              <a:extLst>
                <a:ext uri="{FF2B5EF4-FFF2-40B4-BE49-F238E27FC236}">
                  <a16:creationId xmlns:a16="http://schemas.microsoft.com/office/drawing/2014/main" id="{FCD1C15B-5473-85D1-45AA-771514177645}"/>
                </a:ext>
              </a:extLst>
            </p:cNvPr>
            <p:cNvCxnSpPr>
              <a:cxnSpLocks/>
              <a:stCxn id="128" idx="2"/>
            </p:cNvCxnSpPr>
            <p:nvPr/>
          </p:nvCxnSpPr>
          <p:spPr>
            <a:xfrm flipH="1">
              <a:off x="4335651" y="3195334"/>
              <a:ext cx="186750" cy="316345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A295327F-F2E1-621E-44F3-0019B108E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6516" y="3330277"/>
              <a:ext cx="509806" cy="201695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화살표 연결선 139">
              <a:extLst>
                <a:ext uri="{FF2B5EF4-FFF2-40B4-BE49-F238E27FC236}">
                  <a16:creationId xmlns:a16="http://schemas.microsoft.com/office/drawing/2014/main" id="{535F32F0-FE73-541D-BF35-3236F9CAA8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85852" y="3444469"/>
              <a:ext cx="141710" cy="112000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30787E9E-80BD-3DF3-DBEC-651FB8B6F3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8195" y="3677120"/>
              <a:ext cx="360857" cy="209346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화살표 연결선 148">
              <a:extLst>
                <a:ext uri="{FF2B5EF4-FFF2-40B4-BE49-F238E27FC236}">
                  <a16:creationId xmlns:a16="http://schemas.microsoft.com/office/drawing/2014/main" id="{4AF783C9-FB86-3EBF-0C7D-6226838CA4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7028" y="4072308"/>
              <a:ext cx="335105" cy="42675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E48F55FA-997E-6C1A-38D1-F4E766C6AE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7028" y="4130964"/>
              <a:ext cx="276384" cy="180459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화살표 연결선 154">
              <a:extLst>
                <a:ext uri="{FF2B5EF4-FFF2-40B4-BE49-F238E27FC236}">
                  <a16:creationId xmlns:a16="http://schemas.microsoft.com/office/drawing/2014/main" id="{EE131868-BA14-8992-B0B0-21776A166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11110" y="4438934"/>
              <a:ext cx="248300" cy="120596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화살표 연결선 158">
              <a:extLst>
                <a:ext uri="{FF2B5EF4-FFF2-40B4-BE49-F238E27FC236}">
                  <a16:creationId xmlns:a16="http://schemas.microsoft.com/office/drawing/2014/main" id="{481B5096-FC2B-1D02-CB34-6EAB439D23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2933" y="4310966"/>
              <a:ext cx="347426" cy="33483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화살표 연결선 161">
              <a:extLst>
                <a:ext uri="{FF2B5EF4-FFF2-40B4-BE49-F238E27FC236}">
                  <a16:creationId xmlns:a16="http://schemas.microsoft.com/office/drawing/2014/main" id="{BD7F8B3E-AA3C-6CCD-7331-7886903F93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4557" y="4632862"/>
              <a:ext cx="263155" cy="99322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화살표 연결선 164">
              <a:extLst>
                <a:ext uri="{FF2B5EF4-FFF2-40B4-BE49-F238E27FC236}">
                  <a16:creationId xmlns:a16="http://schemas.microsoft.com/office/drawing/2014/main" id="{B54A904F-98FC-54E5-378C-F099B6981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3155" y="5336935"/>
              <a:ext cx="311667" cy="89992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화살표 연결선 167">
              <a:extLst>
                <a:ext uri="{FF2B5EF4-FFF2-40B4-BE49-F238E27FC236}">
                  <a16:creationId xmlns:a16="http://schemas.microsoft.com/office/drawing/2014/main" id="{9840153D-ADD3-A7D2-A2DD-CCFDA3B7A1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31651" y="5198524"/>
              <a:ext cx="155055" cy="196208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화살표 연결선 170">
              <a:extLst>
                <a:ext uri="{FF2B5EF4-FFF2-40B4-BE49-F238E27FC236}">
                  <a16:creationId xmlns:a16="http://schemas.microsoft.com/office/drawing/2014/main" id="{5016DD20-71D4-1378-87CC-B4495A2413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9856" y="4784084"/>
              <a:ext cx="513616" cy="237641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733849B9-EDC2-CE0F-6FE6-271D9A3F4D9B}"/>
                </a:ext>
              </a:extLst>
            </p:cNvPr>
            <p:cNvSpPr/>
            <p:nvPr/>
          </p:nvSpPr>
          <p:spPr>
            <a:xfrm>
              <a:off x="5020797" y="4900669"/>
              <a:ext cx="1035303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S </a:t>
              </a:r>
              <a:r>
                <a:rPr lang="ko-KR" altLang="en-US" sz="800" b="1" dirty="0">
                  <a:solidFill>
                    <a:schemeClr val="tx1"/>
                  </a:solidFill>
                  <a:cs typeface="times" panose="02020603050405020304" pitchFamily="18" charset="0"/>
                </a:rPr>
                <a:t>대역 안테나</a:t>
              </a:r>
            </a:p>
          </p:txBody>
        </p:sp>
        <p:cxnSp>
          <p:nvCxnSpPr>
            <p:cNvPr id="176" name="직선 화살표 연결선 175">
              <a:extLst>
                <a:ext uri="{FF2B5EF4-FFF2-40B4-BE49-F238E27FC236}">
                  <a16:creationId xmlns:a16="http://schemas.microsoft.com/office/drawing/2014/main" id="{82AB0D57-4C1C-5E8D-F091-2B17BD6D1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0660" y="3687144"/>
              <a:ext cx="788328" cy="40878"/>
            </a:xfrm>
            <a:prstGeom prst="straightConnector1">
              <a:avLst/>
            </a:prstGeom>
            <a:ln w="12700" cap="rnd"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40D4C22A-CE90-8205-F203-031F4DE1AC76}"/>
              </a:ext>
            </a:extLst>
          </p:cNvPr>
          <p:cNvSpPr/>
          <p:nvPr/>
        </p:nvSpPr>
        <p:spPr>
          <a:xfrm>
            <a:off x="2153950" y="4938504"/>
            <a:ext cx="483048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본체 내부 구조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D571F73-7DB9-409D-A3D4-8BC1F0A86104}"/>
              </a:ext>
            </a:extLst>
          </p:cNvPr>
          <p:cNvGrpSpPr/>
          <p:nvPr/>
        </p:nvGrpSpPr>
        <p:grpSpPr>
          <a:xfrm>
            <a:off x="2667813" y="4077196"/>
            <a:ext cx="670156" cy="760958"/>
            <a:chOff x="1127760" y="5372174"/>
            <a:chExt cx="1159851" cy="1317004"/>
          </a:xfrm>
        </p:grpSpPr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DA6CA91B-107C-0564-ECF0-99496A86826B}"/>
                </a:ext>
              </a:extLst>
            </p:cNvPr>
            <p:cNvCxnSpPr/>
            <p:nvPr/>
          </p:nvCxnSpPr>
          <p:spPr>
            <a:xfrm flipH="1">
              <a:off x="1362502" y="6305654"/>
              <a:ext cx="5914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CBAA0247-893A-D48B-0E38-04D46B3467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6376" y="5748480"/>
              <a:ext cx="17539" cy="5571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A510EE-93E4-804F-86DF-5D3DD203B721}"/>
                </a:ext>
              </a:extLst>
            </p:cNvPr>
            <p:cNvSpPr txBox="1"/>
            <p:nvPr/>
          </p:nvSpPr>
          <p:spPr>
            <a:xfrm>
              <a:off x="1127760" y="6290905"/>
              <a:ext cx="449581" cy="398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latin typeface="times" panose="02020603050405020304" pitchFamily="18" charset="0"/>
                  <a:cs typeface="times" panose="02020603050405020304" pitchFamily="18" charset="0"/>
                </a:rPr>
                <a:t>Y</a:t>
              </a:r>
              <a:endParaRPr lang="ko-KR" altLang="en-US" sz="105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6AF9571-8104-F3F2-750B-CFCC3B4C4405}"/>
                </a:ext>
              </a:extLst>
            </p:cNvPr>
            <p:cNvSpPr txBox="1"/>
            <p:nvPr/>
          </p:nvSpPr>
          <p:spPr>
            <a:xfrm>
              <a:off x="1838030" y="5372174"/>
              <a:ext cx="449581" cy="398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latin typeface="times" panose="02020603050405020304" pitchFamily="18" charset="0"/>
                  <a:cs typeface="times" panose="02020603050405020304" pitchFamily="18" charset="0"/>
                </a:rPr>
                <a:t>Z</a:t>
              </a:r>
              <a:endParaRPr lang="ko-KR" altLang="en-US" sz="105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238DD8E-5E6B-C874-9585-FE10E578F64F}"/>
              </a:ext>
            </a:extLst>
          </p:cNvPr>
          <p:cNvGrpSpPr/>
          <p:nvPr/>
        </p:nvGrpSpPr>
        <p:grpSpPr>
          <a:xfrm>
            <a:off x="206855" y="2599859"/>
            <a:ext cx="1261587" cy="1260000"/>
            <a:chOff x="2358809" y="-1361587"/>
            <a:chExt cx="1261587" cy="1260000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1B2E178C-A1BB-E243-D596-25BDE2045525}"/>
                </a:ext>
              </a:extLst>
            </p:cNvPr>
            <p:cNvSpPr/>
            <p:nvPr/>
          </p:nvSpPr>
          <p:spPr>
            <a:xfrm>
              <a:off x="2359841" y="-1361587"/>
              <a:ext cx="1260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1840E882-9BEF-A987-1B6C-0950A4C61E81}"/>
                </a:ext>
              </a:extLst>
            </p:cNvPr>
            <p:cNvGrpSpPr/>
            <p:nvPr/>
          </p:nvGrpSpPr>
          <p:grpSpPr>
            <a:xfrm>
              <a:off x="2413786" y="-1111494"/>
              <a:ext cx="1110399" cy="764963"/>
              <a:chOff x="338738" y="2183106"/>
              <a:chExt cx="1617669" cy="1114425"/>
            </a:xfrm>
          </p:grpSpPr>
          <p:pic>
            <p:nvPicPr>
              <p:cNvPr id="47" name="그림 46">
                <a:extLst>
                  <a:ext uri="{FF2B5EF4-FFF2-40B4-BE49-F238E27FC236}">
                    <a16:creationId xmlns:a16="http://schemas.microsoft.com/office/drawing/2014/main" id="{469E9ACD-0531-C676-8C41-6E4D6125A4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738" y="2183106"/>
                <a:ext cx="1057275" cy="1114425"/>
              </a:xfrm>
              <a:prstGeom prst="rect">
                <a:avLst/>
              </a:prstGeom>
            </p:spPr>
          </p:pic>
          <p:pic>
            <p:nvPicPr>
              <p:cNvPr id="48" name="그림 47">
                <a:extLst>
                  <a:ext uri="{FF2B5EF4-FFF2-40B4-BE49-F238E27FC236}">
                    <a16:creationId xmlns:a16="http://schemas.microsoft.com/office/drawing/2014/main" id="{D9C38C25-CD06-5773-0A25-2482849428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6017" y="2192631"/>
                <a:ext cx="580390" cy="1095375"/>
              </a:xfrm>
              <a:prstGeom prst="rect">
                <a:avLst/>
              </a:prstGeom>
            </p:spPr>
          </p:pic>
        </p:grp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3294A10-DCC6-9AD9-E618-C04A8A33EA5F}"/>
                </a:ext>
              </a:extLst>
            </p:cNvPr>
            <p:cNvSpPr/>
            <p:nvPr/>
          </p:nvSpPr>
          <p:spPr>
            <a:xfrm>
              <a:off x="2358809" y="-1331732"/>
              <a:ext cx="1260000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지구 관측 카메라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C746ABC-7FAE-7BE7-0C20-00F10DF9AA8B}"/>
                </a:ext>
              </a:extLst>
            </p:cNvPr>
            <p:cNvSpPr/>
            <p:nvPr/>
          </p:nvSpPr>
          <p:spPr>
            <a:xfrm>
              <a:off x="2360396" y="-346531"/>
              <a:ext cx="1260000" cy="2309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Nanocam</a:t>
              </a:r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 </a:t>
              </a:r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70 mm</a:t>
              </a:r>
            </a:p>
            <a:p>
              <a:pPr algn="ctr"/>
              <a:r>
                <a:rPr lang="en-US" altLang="ko-KR" sz="800" i="1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GOMspace</a:t>
              </a:r>
              <a:endParaRPr lang="ko-KR" altLang="en-US" sz="80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F080C8C-6AFF-C384-A308-928097511FBC}"/>
              </a:ext>
            </a:extLst>
          </p:cNvPr>
          <p:cNvGrpSpPr/>
          <p:nvPr/>
        </p:nvGrpSpPr>
        <p:grpSpPr>
          <a:xfrm>
            <a:off x="206855" y="4010879"/>
            <a:ext cx="1261587" cy="1260000"/>
            <a:chOff x="3367128" y="-1613173"/>
            <a:chExt cx="1261587" cy="1260000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4039850-CCE0-1B2D-BCE3-2524297E1D22}"/>
                </a:ext>
              </a:extLst>
            </p:cNvPr>
            <p:cNvSpPr/>
            <p:nvPr/>
          </p:nvSpPr>
          <p:spPr>
            <a:xfrm>
              <a:off x="3368160" y="-1613173"/>
              <a:ext cx="1260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60A7EBD-BFD3-5A99-A882-1C3BBF7D4735}"/>
                </a:ext>
              </a:extLst>
            </p:cNvPr>
            <p:cNvSpPr/>
            <p:nvPr/>
          </p:nvSpPr>
          <p:spPr>
            <a:xfrm>
              <a:off x="3367128" y="-1583318"/>
              <a:ext cx="1260000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박막 전개장치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CB80478D-6F1B-11B0-D6B3-829202F19EF2}"/>
                </a:ext>
              </a:extLst>
            </p:cNvPr>
            <p:cNvSpPr/>
            <p:nvPr/>
          </p:nvSpPr>
          <p:spPr>
            <a:xfrm>
              <a:off x="3368715" y="-598117"/>
              <a:ext cx="1260000" cy="2309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800" i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Yonsei Univ.</a:t>
              </a:r>
              <a:endParaRPr lang="ko-KR" altLang="en-US" sz="80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C12A2AA-C9DD-8A15-27B6-714A3C38799C}"/>
              </a:ext>
            </a:extLst>
          </p:cNvPr>
          <p:cNvGrpSpPr/>
          <p:nvPr/>
        </p:nvGrpSpPr>
        <p:grpSpPr>
          <a:xfrm>
            <a:off x="206855" y="5421899"/>
            <a:ext cx="1261587" cy="1260000"/>
            <a:chOff x="5194970" y="-1586696"/>
            <a:chExt cx="1261587" cy="1260000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70B8DB75-C44D-C81E-E4FA-AC8327808B4F}"/>
                </a:ext>
              </a:extLst>
            </p:cNvPr>
            <p:cNvSpPr/>
            <p:nvPr/>
          </p:nvSpPr>
          <p:spPr>
            <a:xfrm>
              <a:off x="5196002" y="-1586696"/>
              <a:ext cx="1260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B5B4F410-56E8-11A3-B5F4-5DD0020BFD97}"/>
                </a:ext>
              </a:extLst>
            </p:cNvPr>
            <p:cNvSpPr/>
            <p:nvPr/>
          </p:nvSpPr>
          <p:spPr>
            <a:xfrm>
              <a:off x="5194970" y="-1556841"/>
              <a:ext cx="1260000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레이저 감지기</a:t>
              </a: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3ADF494-8167-C55A-A87F-F007D520FE0E}"/>
                </a:ext>
              </a:extLst>
            </p:cNvPr>
            <p:cNvSpPr/>
            <p:nvPr/>
          </p:nvSpPr>
          <p:spPr>
            <a:xfrm>
              <a:off x="5196557" y="-571640"/>
              <a:ext cx="1260000" cy="2309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SFH2430 &amp; SFH320FA</a:t>
              </a:r>
            </a:p>
            <a:p>
              <a:pPr algn="ctr"/>
              <a:r>
                <a:rPr lang="en-US" altLang="ko-KR" sz="800" i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Osram / Yonsei Univ.</a:t>
              </a:r>
              <a:endParaRPr lang="ko-KR" altLang="en-US" sz="80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31A719E7-EE41-7403-5642-E6DA902B2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39" t="4692" r="17740"/>
            <a:stretch/>
          </p:blipFill>
          <p:spPr>
            <a:xfrm>
              <a:off x="5867521" y="-1206179"/>
              <a:ext cx="547785" cy="518606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526E0044-94A0-8A73-8C97-7B283E26C5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79" r="6664"/>
            <a:stretch/>
          </p:blipFill>
          <p:spPr>
            <a:xfrm>
              <a:off x="5251296" y="-1177134"/>
              <a:ext cx="589618" cy="444627"/>
            </a:xfrm>
            <a:prstGeom prst="rect">
              <a:avLst/>
            </a:prstGeom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23DFB50-F41A-099B-8AED-06F46D99DCA2}"/>
              </a:ext>
            </a:extLst>
          </p:cNvPr>
          <p:cNvGrpSpPr/>
          <p:nvPr/>
        </p:nvGrpSpPr>
        <p:grpSpPr>
          <a:xfrm>
            <a:off x="7703997" y="1194929"/>
            <a:ext cx="1261587" cy="1260000"/>
            <a:chOff x="6722903" y="-1503148"/>
            <a:chExt cx="1261587" cy="1260000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D88532D8-98B8-E4B3-A3F8-0F39AE1A135B}"/>
                </a:ext>
              </a:extLst>
            </p:cNvPr>
            <p:cNvSpPr/>
            <p:nvPr/>
          </p:nvSpPr>
          <p:spPr>
            <a:xfrm>
              <a:off x="6723935" y="-1503148"/>
              <a:ext cx="1260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8D0D6928-0221-0455-F342-E840690C9A62}"/>
                </a:ext>
              </a:extLst>
            </p:cNvPr>
            <p:cNvSpPr/>
            <p:nvPr/>
          </p:nvSpPr>
          <p:spPr>
            <a:xfrm>
              <a:off x="6724490" y="-488092"/>
              <a:ext cx="1260000" cy="2309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NST- OBC 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NST</a:t>
              </a: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073ECE3F-4E11-8C87-A761-4C90B6EBE283}"/>
                </a:ext>
              </a:extLst>
            </p:cNvPr>
            <p:cNvSpPr/>
            <p:nvPr/>
          </p:nvSpPr>
          <p:spPr>
            <a:xfrm>
              <a:off x="6722903" y="-1473293"/>
              <a:ext cx="1260000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탑재 컴퓨터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CCB500D6-C78F-56A8-0D76-28C249A0137B}"/>
              </a:ext>
            </a:extLst>
          </p:cNvPr>
          <p:cNvGrpSpPr/>
          <p:nvPr/>
        </p:nvGrpSpPr>
        <p:grpSpPr>
          <a:xfrm>
            <a:off x="7703997" y="2603919"/>
            <a:ext cx="1261587" cy="1260000"/>
            <a:chOff x="5712105" y="-1451852"/>
            <a:chExt cx="1261587" cy="1260000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68F868EB-8C4B-4B95-9730-3BB95EFF8CD1}"/>
                </a:ext>
              </a:extLst>
            </p:cNvPr>
            <p:cNvSpPr/>
            <p:nvPr/>
          </p:nvSpPr>
          <p:spPr>
            <a:xfrm>
              <a:off x="5713137" y="-1451852"/>
              <a:ext cx="1260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DF8D5F49-655B-9803-5FF5-5CF9C0A5FD1B}"/>
                </a:ext>
              </a:extLst>
            </p:cNvPr>
            <p:cNvSpPr/>
            <p:nvPr/>
          </p:nvSpPr>
          <p:spPr>
            <a:xfrm>
              <a:off x="5713692" y="-436796"/>
              <a:ext cx="1260000" cy="2309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CubeADCS</a:t>
              </a:r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 3-axis</a:t>
              </a:r>
            </a:p>
            <a:p>
              <a:pPr algn="ctr"/>
              <a:r>
                <a:rPr lang="en-US" altLang="ko-KR" sz="800" i="1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Cubespace</a:t>
              </a:r>
              <a:endParaRPr lang="ko-KR" altLang="en-US" sz="80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0C8BDAFA-04E1-E048-C8FD-EAC89834E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53335" y="-1213502"/>
              <a:ext cx="977540" cy="766200"/>
            </a:xfrm>
            <a:prstGeom prst="rect">
              <a:avLst/>
            </a:prstGeom>
          </p:spPr>
        </p:pic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739607AD-1E9F-2544-374D-D5A44290270B}"/>
                </a:ext>
              </a:extLst>
            </p:cNvPr>
            <p:cNvSpPr/>
            <p:nvPr/>
          </p:nvSpPr>
          <p:spPr>
            <a:xfrm>
              <a:off x="5712105" y="-1401677"/>
              <a:ext cx="1260000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ADCS </a:t>
              </a:r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모듈</a:t>
              </a:r>
              <a:b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</a:br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&amp; 3</a:t>
              </a:r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축 반작용 휠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FE5FB286-1143-87F5-F38E-B4B0D5C034F1}"/>
              </a:ext>
            </a:extLst>
          </p:cNvPr>
          <p:cNvGrpSpPr/>
          <p:nvPr/>
        </p:nvGrpSpPr>
        <p:grpSpPr>
          <a:xfrm>
            <a:off x="7703997" y="4012909"/>
            <a:ext cx="1261587" cy="1260000"/>
            <a:chOff x="6863793" y="-112132"/>
            <a:chExt cx="1261587" cy="1260000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CA35F38D-D70B-3C12-9661-E1CB737AC026}"/>
                </a:ext>
              </a:extLst>
            </p:cNvPr>
            <p:cNvSpPr/>
            <p:nvPr/>
          </p:nvSpPr>
          <p:spPr>
            <a:xfrm>
              <a:off x="6864825" y="-112132"/>
              <a:ext cx="1260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FB2E169F-4EE2-822D-0FA1-838D79008B99}"/>
                </a:ext>
              </a:extLst>
            </p:cNvPr>
            <p:cNvSpPr/>
            <p:nvPr/>
          </p:nvSpPr>
          <p:spPr>
            <a:xfrm>
              <a:off x="6863793" y="-82277"/>
              <a:ext cx="1260000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UHF </a:t>
              </a:r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안테나 </a:t>
              </a:r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&amp; </a:t>
              </a:r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송수신기</a:t>
              </a: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93DD864-F9C8-6B50-1615-7B28C7BA66C8}"/>
                </a:ext>
              </a:extLst>
            </p:cNvPr>
            <p:cNvSpPr/>
            <p:nvPr/>
          </p:nvSpPr>
          <p:spPr>
            <a:xfrm>
              <a:off x="6865380" y="760886"/>
              <a:ext cx="1260000" cy="3729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spc="-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CubeSat antenna system for 1U/3U / </a:t>
              </a:r>
              <a:r>
                <a:rPr lang="en-US" altLang="ko-KR" sz="800" b="1" spc="-50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NanoCOM</a:t>
              </a:r>
              <a:r>
                <a:rPr lang="en-US" altLang="ko-KR" sz="800" b="1" spc="-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 AX100 </a:t>
              </a:r>
            </a:p>
            <a:p>
              <a:pPr algn="ctr"/>
              <a:r>
                <a:rPr lang="en-US" altLang="ko-KR" sz="800" spc="-50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ISISpace</a:t>
              </a:r>
              <a:r>
                <a:rPr lang="en-US" altLang="ko-KR" sz="800" spc="-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/ </a:t>
              </a:r>
              <a:r>
                <a:rPr lang="en-US" altLang="ko-KR" sz="800" spc="-50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GOMspace</a:t>
              </a:r>
              <a:endParaRPr lang="en-US" altLang="ko-KR" sz="800" spc="-5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7811DC9-FD2F-0002-1EC9-F0E86599EAEA}"/>
              </a:ext>
            </a:extLst>
          </p:cNvPr>
          <p:cNvGrpSpPr/>
          <p:nvPr/>
        </p:nvGrpSpPr>
        <p:grpSpPr>
          <a:xfrm>
            <a:off x="1711815" y="5421899"/>
            <a:ext cx="1261587" cy="1260000"/>
            <a:chOff x="1681718" y="5432318"/>
            <a:chExt cx="1261587" cy="1260000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6B797EA9-BBCB-61FB-2245-CC9455EA9A71}"/>
                </a:ext>
              </a:extLst>
            </p:cNvPr>
            <p:cNvSpPr/>
            <p:nvPr/>
          </p:nvSpPr>
          <p:spPr>
            <a:xfrm>
              <a:off x="1682750" y="5432318"/>
              <a:ext cx="1260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F32F140-A47B-01A3-6961-46806617EDCF}"/>
                </a:ext>
              </a:extLst>
            </p:cNvPr>
            <p:cNvSpPr/>
            <p:nvPr/>
          </p:nvSpPr>
          <p:spPr>
            <a:xfrm>
              <a:off x="1681718" y="5477413"/>
              <a:ext cx="1260000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전력 제어 및 분배 유닛 </a:t>
              </a:r>
              <a:b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</a:br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&amp; </a:t>
              </a:r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배터리</a:t>
              </a: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5F7EF1A4-A2F7-DDAC-DCAE-1F6CA43EA5BF}"/>
                </a:ext>
              </a:extLst>
            </p:cNvPr>
            <p:cNvSpPr/>
            <p:nvPr/>
          </p:nvSpPr>
          <p:spPr>
            <a:xfrm>
              <a:off x="1683305" y="6447374"/>
              <a:ext cx="1260000" cy="2309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Starbuck-Nano Plus</a:t>
              </a:r>
            </a:p>
            <a:p>
              <a:pPr algn="ctr"/>
              <a:r>
                <a:rPr lang="en-US" altLang="ko-KR" sz="800" i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AAC Clyde space</a:t>
              </a:r>
              <a:endParaRPr lang="ko-KR" altLang="en-US" sz="80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1B6D7826-72ED-723E-7C92-FF8542A42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8239" y="5720414"/>
              <a:ext cx="649763" cy="621260"/>
            </a:xfrm>
            <a:prstGeom prst="rect">
              <a:avLst/>
            </a:prstGeom>
          </p:spPr>
        </p:pic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33D4611F-14EE-8CF1-CB9D-069C87E3E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2336414" y="5715376"/>
              <a:ext cx="593994" cy="621259"/>
            </a:xfrm>
            <a:prstGeom prst="rect">
              <a:avLst/>
            </a:prstGeom>
          </p:spPr>
        </p:pic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78C3C2EB-AA4F-E078-5780-C108713A27AD}"/>
              </a:ext>
            </a:extLst>
          </p:cNvPr>
          <p:cNvGrpSpPr/>
          <p:nvPr/>
        </p:nvGrpSpPr>
        <p:grpSpPr>
          <a:xfrm>
            <a:off x="3209665" y="5421899"/>
            <a:ext cx="1261587" cy="1260000"/>
            <a:chOff x="3141282" y="5421631"/>
            <a:chExt cx="1261587" cy="1260000"/>
          </a:xfrm>
        </p:grpSpPr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616E203-89A3-19DE-0ACC-DD14BF8DBA4D}"/>
                </a:ext>
              </a:extLst>
            </p:cNvPr>
            <p:cNvSpPr/>
            <p:nvPr/>
          </p:nvSpPr>
          <p:spPr>
            <a:xfrm>
              <a:off x="3142314" y="5421631"/>
              <a:ext cx="1260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410ADEA4-A881-5439-EDE3-906926B89686}"/>
                </a:ext>
              </a:extLst>
            </p:cNvPr>
            <p:cNvSpPr/>
            <p:nvPr/>
          </p:nvSpPr>
          <p:spPr>
            <a:xfrm>
              <a:off x="3141282" y="5451486"/>
              <a:ext cx="1260000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GNSS </a:t>
              </a:r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안테나</a:t>
              </a:r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 &amp; </a:t>
              </a:r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수신기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303279F9-AF7E-4C46-6BFB-5513214363A8}"/>
                </a:ext>
              </a:extLst>
            </p:cNvPr>
            <p:cNvSpPr/>
            <p:nvPr/>
          </p:nvSpPr>
          <p:spPr>
            <a:xfrm>
              <a:off x="3142869" y="6436687"/>
              <a:ext cx="1260000" cy="2309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OEM719 &amp; TW1829</a:t>
              </a:r>
            </a:p>
            <a:p>
              <a:pPr algn="ctr"/>
              <a:r>
                <a:rPr lang="en-US" altLang="ko-KR" sz="800" i="1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NovAtel</a:t>
              </a:r>
              <a:r>
                <a:rPr lang="en-US" altLang="ko-KR" sz="800" i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 &amp; Tallysman</a:t>
              </a:r>
              <a:endParaRPr lang="ko-KR" altLang="en-US" sz="80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74FC8978-D0B4-1898-1E68-D4B62E8A3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3251" y="5919614"/>
              <a:ext cx="466178" cy="502401"/>
            </a:xfrm>
            <a:prstGeom prst="rect">
              <a:avLst/>
            </a:prstGeom>
          </p:spPr>
        </p:pic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5009EFC3-E376-B2B4-54B4-EE19549EE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7483" b="91837" l="5000" r="95455">
                          <a14:foregroundMark x1="6818" y1="8844" x2="68636" y2="10204"/>
                          <a14:foregroundMark x1="68636" y1="10204" x2="93636" y2="90476"/>
                          <a14:foregroundMark x1="93636" y1="90476" x2="92727" y2="91837"/>
                          <a14:foregroundMark x1="8636" y1="10884" x2="9091" y2="91156"/>
                          <a14:foregroundMark x1="9545" y1="90476" x2="87727" y2="93197"/>
                          <a14:foregroundMark x1="93636" y1="23810" x2="90455" y2="7483"/>
                          <a14:foregroundMark x1="95455" y1="11565" x2="95455" y2="8844"/>
                          <a14:foregroundMark x1="5909" y1="10204" x2="5455" y2="90476"/>
                          <a14:foregroundMark x1="5000" y1="8844" x2="5455" y2="90476"/>
                          <a14:foregroundMark x1="5909" y1="49660" x2="6364" y2="91156"/>
                          <a14:foregroundMark x1="5455" y1="50340" x2="5909" y2="897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4461" y="5725314"/>
              <a:ext cx="734963" cy="491188"/>
            </a:xfrm>
            <a:prstGeom prst="rect">
              <a:avLst/>
            </a:prstGeom>
          </p:spPr>
        </p:pic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103CB74C-E599-DE69-F25D-951E04050D17}"/>
              </a:ext>
            </a:extLst>
          </p:cNvPr>
          <p:cNvGrpSpPr/>
          <p:nvPr/>
        </p:nvGrpSpPr>
        <p:grpSpPr>
          <a:xfrm>
            <a:off x="4707515" y="5421899"/>
            <a:ext cx="1261587" cy="1260000"/>
            <a:chOff x="4518335" y="5456041"/>
            <a:chExt cx="1261587" cy="1260000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EE1B229A-AD92-C2B6-D69D-4D05FF90DF83}"/>
                </a:ext>
              </a:extLst>
            </p:cNvPr>
            <p:cNvSpPr/>
            <p:nvPr/>
          </p:nvSpPr>
          <p:spPr>
            <a:xfrm>
              <a:off x="4519367" y="5456041"/>
              <a:ext cx="1260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5BCAD91B-2A82-3E39-C018-E5EA1C75E85D}"/>
                </a:ext>
              </a:extLst>
            </p:cNvPr>
            <p:cNvSpPr/>
            <p:nvPr/>
          </p:nvSpPr>
          <p:spPr>
            <a:xfrm>
              <a:off x="4518335" y="5485896"/>
              <a:ext cx="1260000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태양 </a:t>
              </a:r>
              <a:r>
                <a:rPr lang="ko-KR" altLang="en-US" sz="800" b="1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전지판</a:t>
              </a:r>
              <a:endParaRPr lang="ko-KR" altLang="en-US" sz="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6248C3E1-6B11-79B6-A036-2D272428CB66}"/>
                </a:ext>
              </a:extLst>
            </p:cNvPr>
            <p:cNvSpPr/>
            <p:nvPr/>
          </p:nvSpPr>
          <p:spPr>
            <a:xfrm>
              <a:off x="4519922" y="6471097"/>
              <a:ext cx="1260000" cy="2309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latinLnBrk="1"/>
              <a:r>
                <a:rPr lang="en-US" altLang="ko-KR" sz="800" b="1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NanoPower</a:t>
              </a:r>
              <a:r>
                <a:rPr lang="en-US" altLang="ko-KR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 MSP</a:t>
              </a:r>
            </a:p>
            <a:p>
              <a:pPr algn="ctr" latinLnBrk="1"/>
              <a:r>
                <a:rPr lang="en-US" altLang="ko-KR" sz="800" b="0" i="1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GOMspace</a:t>
              </a:r>
              <a:endParaRPr lang="ko-KR" altLang="en-US" sz="800" b="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1BDD89D4-BCA4-44BA-5073-8AD3118F2731}"/>
              </a:ext>
            </a:extLst>
          </p:cNvPr>
          <p:cNvGrpSpPr/>
          <p:nvPr/>
        </p:nvGrpSpPr>
        <p:grpSpPr>
          <a:xfrm>
            <a:off x="6205365" y="5421899"/>
            <a:ext cx="1261587" cy="1260000"/>
            <a:chOff x="5976312" y="5442050"/>
            <a:chExt cx="1261587" cy="1260000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CA16EFFB-33AA-C6AE-BC5D-32AC19FAF1E5}"/>
                </a:ext>
              </a:extLst>
            </p:cNvPr>
            <p:cNvSpPr/>
            <p:nvPr/>
          </p:nvSpPr>
          <p:spPr>
            <a:xfrm>
              <a:off x="5977344" y="5442050"/>
              <a:ext cx="126000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408A748C-513D-B40F-0801-8BD18EF5FAC5}"/>
                </a:ext>
              </a:extLst>
            </p:cNvPr>
            <p:cNvSpPr/>
            <p:nvPr/>
          </p:nvSpPr>
          <p:spPr>
            <a:xfrm>
              <a:off x="5976312" y="5471905"/>
              <a:ext cx="1260000" cy="213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구조 및 메커니즘</a:t>
              </a: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7C0C10D1-7943-7E80-1A1F-5B044C3EA9B4}"/>
                </a:ext>
              </a:extLst>
            </p:cNvPr>
            <p:cNvSpPr/>
            <p:nvPr/>
          </p:nvSpPr>
          <p:spPr>
            <a:xfrm>
              <a:off x="5977899" y="6457106"/>
              <a:ext cx="1260000" cy="2309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800" i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Yonsei Univ.</a:t>
              </a:r>
              <a:endParaRPr lang="ko-KR" altLang="en-US" sz="80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pic>
          <p:nvPicPr>
            <p:cNvPr id="105" name="그림 104" descr="3U CubeSat Structure | CubeSat by EnduroSat">
              <a:extLst>
                <a:ext uri="{FF2B5EF4-FFF2-40B4-BE49-F238E27FC236}">
                  <a16:creationId xmlns:a16="http://schemas.microsoft.com/office/drawing/2014/main" id="{DF2AB0B4-E71A-DCCC-F327-1D28A4BA4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30213" y="5623352"/>
              <a:ext cx="952197" cy="95219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6" name="그림 105">
            <a:extLst>
              <a:ext uri="{FF2B5EF4-FFF2-40B4-BE49-F238E27FC236}">
                <a16:creationId xmlns:a16="http://schemas.microsoft.com/office/drawing/2014/main" id="{4013987A-D71A-D775-42E4-5CE99564C49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6192" y="5699397"/>
            <a:ext cx="995835" cy="648690"/>
          </a:xfrm>
          <a:prstGeom prst="rect">
            <a:avLst/>
          </a:prstGeom>
        </p:spPr>
      </p:pic>
      <p:pic>
        <p:nvPicPr>
          <p:cNvPr id="107" name="Picture 2" descr="3U Antenna System">
            <a:extLst>
              <a:ext uri="{FF2B5EF4-FFF2-40B4-BE49-F238E27FC236}">
                <a16:creationId xmlns:a16="http://schemas.microsoft.com/office/drawing/2014/main" id="{EC260227-001F-1B70-7068-FB30CE902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226" y="4243772"/>
            <a:ext cx="636411" cy="55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7EAF811F-1583-91BF-ADBA-4B1BA659FC0E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2143" l="2715" r="96833">
                        <a14:foregroundMark x1="64253" y1="90714" x2="64253" y2="90714"/>
                        <a14:foregroundMark x1="92308" y1="61429" x2="92308" y2="61429"/>
                        <a14:foregroundMark x1="97285" y1="58571" x2="97285" y2="58571"/>
                        <a14:foregroundMark x1="6787" y1="37143" x2="6787" y2="37143"/>
                        <a14:foregroundMark x1="3167" y1="38571" x2="3167" y2="38571"/>
                        <a14:foregroundMark x1="40724" y1="12143" x2="40724" y2="12143"/>
                        <a14:foregroundMark x1="42986" y1="10714" x2="42986" y2="10714"/>
                        <a14:foregroundMark x1="33937" y1="12143" x2="33937" y2="12143"/>
                        <a14:foregroundMark x1="31674" y1="11429" x2="31674" y2="11429"/>
                        <a14:foregroundMark x1="30769" y1="12143" x2="30769" y2="12143"/>
                        <a14:foregroundMark x1="27149" y1="15000" x2="27149" y2="15000"/>
                        <a14:foregroundMark x1="25792" y1="16429" x2="25792" y2="16429"/>
                        <a14:foregroundMark x1="24887" y1="16429" x2="24887" y2="16429"/>
                        <a14:foregroundMark x1="22624" y1="17143" x2="22624" y2="17143"/>
                        <a14:foregroundMark x1="6787" y1="27143" x2="30769" y2="12143"/>
                        <a14:foregroundMark x1="6335" y1="45714" x2="60181" y2="9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914" y="4464412"/>
            <a:ext cx="632871" cy="346359"/>
          </a:xfrm>
          <a:prstGeom prst="rect">
            <a:avLst/>
          </a:prstGeom>
        </p:spPr>
      </p:pic>
      <p:pic>
        <p:nvPicPr>
          <p:cNvPr id="109" name="Picture 6">
            <a:extLst>
              <a:ext uri="{FF2B5EF4-FFF2-40B4-BE49-F238E27FC236}">
                <a16:creationId xmlns:a16="http://schemas.microsoft.com/office/drawing/2014/main" id="{8BBEBFEC-084B-58C8-DA18-1925FDB08E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48150" r="942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389"/>
          <a:stretch/>
        </p:blipFill>
        <p:spPr bwMode="auto">
          <a:xfrm>
            <a:off x="7664936" y="5628678"/>
            <a:ext cx="558496" cy="71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4">
            <a:extLst>
              <a:ext uri="{FF2B5EF4-FFF2-40B4-BE49-F238E27FC236}">
                <a16:creationId xmlns:a16="http://schemas.microsoft.com/office/drawing/2014/main" id="{BAE6C1B3-BEBA-E757-8B20-3F8A3E31E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765" y="5670832"/>
            <a:ext cx="935503" cy="69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02E8BC59-45CD-D172-1733-5FBE03DE67C2}"/>
              </a:ext>
            </a:extLst>
          </p:cNvPr>
          <p:cNvSpPr txBox="1"/>
          <p:nvPr/>
        </p:nvSpPr>
        <p:spPr>
          <a:xfrm>
            <a:off x="7724904" y="6390241"/>
            <a:ext cx="12100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buNone/>
            </a:pPr>
            <a:r>
              <a:rPr lang="en-US" altLang="ko-KR" sz="800" b="1" i="0" dirty="0">
                <a:latin typeface="times" panose="02020603050405020304" pitchFamily="18" charset="0"/>
                <a:cs typeface="times" panose="02020603050405020304" pitchFamily="18" charset="0"/>
              </a:rPr>
              <a:t>PULSAR-SANT/STX</a:t>
            </a:r>
          </a:p>
          <a:p>
            <a:pPr marL="0" indent="0" algn="ctr" latinLnBrk="1">
              <a:buNone/>
            </a:pPr>
            <a:r>
              <a:rPr lang="en-US" altLang="ko-KR" sz="800" b="0" i="1" dirty="0">
                <a:latin typeface="times" panose="02020603050405020304" pitchFamily="18" charset="0"/>
                <a:cs typeface="times" panose="02020603050405020304" pitchFamily="18" charset="0"/>
              </a:rPr>
              <a:t>AAC Clyde space</a:t>
            </a: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73128B19-63AF-A805-0E52-B60CB06B4EF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72605" y="1459923"/>
            <a:ext cx="869441" cy="655171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28854EF4-764E-B8B8-2CCF-B3100F024A8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18002703">
            <a:off x="659104" y="4435757"/>
            <a:ext cx="789870" cy="455322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FF1D8C38-7C4C-C670-396A-D1A732E35AE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3028" y="4281355"/>
            <a:ext cx="551139" cy="463619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3C59B6E4-C0EF-7C34-B074-C53E4BC63032}"/>
              </a:ext>
            </a:extLst>
          </p:cNvPr>
          <p:cNvSpPr txBox="1"/>
          <p:nvPr/>
        </p:nvSpPr>
        <p:spPr>
          <a:xfrm>
            <a:off x="399392" y="4572403"/>
            <a:ext cx="3999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i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x4</a:t>
            </a:r>
            <a:endParaRPr lang="ko-KR" altLang="en-US" sz="800" i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원호 10">
            <a:extLst>
              <a:ext uri="{FF2B5EF4-FFF2-40B4-BE49-F238E27FC236}">
                <a16:creationId xmlns:a16="http://schemas.microsoft.com/office/drawing/2014/main" id="{F7C71B3F-38A2-6189-95F8-CD0F094525B5}"/>
              </a:ext>
            </a:extLst>
          </p:cNvPr>
          <p:cNvSpPr/>
          <p:nvPr/>
        </p:nvSpPr>
        <p:spPr>
          <a:xfrm>
            <a:off x="557990" y="4519554"/>
            <a:ext cx="377019" cy="268293"/>
          </a:xfrm>
          <a:prstGeom prst="arc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8509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E01462C-5FB7-7703-716E-D7BA70E93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944" y="1244185"/>
            <a:ext cx="3193460" cy="479018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GNC (</a:t>
            </a:r>
            <a:r>
              <a:rPr lang="ko-KR" altLang="en-US" dirty="0"/>
              <a:t>유도</a:t>
            </a:r>
            <a:r>
              <a:rPr lang="en-US" altLang="ko-KR" dirty="0"/>
              <a:t>, </a:t>
            </a:r>
            <a:r>
              <a:rPr lang="ko-KR" altLang="en-US" dirty="0"/>
              <a:t>항행 및 제어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유도</a:t>
            </a:r>
            <a:r>
              <a:rPr lang="en-US" altLang="ko-KR" dirty="0"/>
              <a:t>, </a:t>
            </a:r>
            <a:r>
              <a:rPr lang="ko-KR" altLang="en-US" dirty="0"/>
              <a:t>항행 및 제어 서브시스템</a:t>
            </a:r>
            <a:r>
              <a:rPr lang="en-US" altLang="ko-KR" dirty="0"/>
              <a:t>COTS </a:t>
            </a:r>
            <a:r>
              <a:rPr lang="ko-KR" altLang="en-US" dirty="0"/>
              <a:t>선정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BUS (</a:t>
            </a:r>
            <a:r>
              <a:rPr lang="ko-KR" altLang="en-US" dirty="0"/>
              <a:t>본체</a:t>
            </a:r>
            <a:r>
              <a:rPr lang="en-US" altLang="ko-KR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표 19">
                <a:extLst>
                  <a:ext uri="{FF2B5EF4-FFF2-40B4-BE49-F238E27FC236}">
                    <a16:creationId xmlns:a16="http://schemas.microsoft.com/office/drawing/2014/main" id="{12B93B11-9974-1319-4456-4078396514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4244920"/>
                  </p:ext>
                </p:extLst>
              </p:nvPr>
            </p:nvGraphicFramePr>
            <p:xfrm>
              <a:off x="349261" y="1753867"/>
              <a:ext cx="5586860" cy="46942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2161">
                      <a:extLst>
                        <a:ext uri="{9D8B030D-6E8A-4147-A177-3AD203B41FA5}">
                          <a16:colId xmlns:a16="http://schemas.microsoft.com/office/drawing/2014/main" val="316860475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826179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1397860">
                      <a:extLst>
                        <a:ext uri="{9D8B030D-6E8A-4147-A177-3AD203B41FA5}">
                          <a16:colId xmlns:a16="http://schemas.microsoft.com/office/drawing/2014/main" val="3329124570"/>
                        </a:ext>
                      </a:extLst>
                    </a:gridCol>
                    <a:gridCol w="1397860">
                      <a:extLst>
                        <a:ext uri="{9D8B030D-6E8A-4147-A177-3AD203B41FA5}">
                          <a16:colId xmlns:a16="http://schemas.microsoft.com/office/drawing/2014/main" val="1019484584"/>
                        </a:ext>
                      </a:extLst>
                    </a:gridCol>
                  </a:tblGrid>
                  <a:tr h="24079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Component</a:t>
                          </a:r>
                          <a:endParaRPr lang="ko-KR" altLang="en-US" sz="10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Specification</a:t>
                          </a:r>
                          <a:endParaRPr lang="ko-KR" altLang="en-US" sz="10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Value</a:t>
                          </a:r>
                          <a:endParaRPr lang="ko-KR" altLang="en-US" sz="10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Image</a:t>
                          </a:r>
                          <a:endParaRPr lang="ko-KR" altLang="en-US" sz="10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Note</a:t>
                          </a:r>
                          <a:endParaRPr lang="ko-KR" altLang="en-US" sz="10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553897">
                    <a:tc rowSpan="6">
                      <a:txBody>
                        <a:bodyPr/>
                        <a:lstStyle/>
                        <a:p>
                          <a:pPr marL="0" indent="0" algn="ctr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ADCS module</a:t>
                          </a:r>
                        </a:p>
                        <a:p>
                          <a:pPr marL="0" indent="0" algn="ctr" latinLnBrk="1">
                            <a:buFont typeface="Arial" panose="020B0604020202020204" pitchFamily="34" charset="0"/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CubeComputer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CubeRod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x 2</a:t>
                          </a: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CubeCoil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x 1</a:t>
                          </a:r>
                        </a:p>
                        <a:p>
                          <a:pPr marL="0" indent="0" algn="l" latinLnBrk="1">
                            <a:buFontTx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CubeMag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l" latinLnBrk="1">
                            <a:buFontTx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CubeSense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V3 x 2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Medium      </a:t>
                          </a: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CubeWheel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x 3</a:t>
                          </a: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MEMS Gyro x 3  </a:t>
                          </a: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Course Sun </a:t>
                          </a: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  Sensors x 10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CubeControl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ko-KR" altLang="en-US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 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: actuator and sensor interface module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Rate measurement accuracy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0.02°/s (3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𝜎</m:t>
                              </m:r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CubeADCS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3-axis</a:t>
                          </a: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i="1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Cubespace</a:t>
                          </a:r>
                          <a:endParaRPr lang="ko-KR" altLang="en-US" sz="1000" b="0" i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85783" marR="85783" marT="42892" marB="4289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Satisfy the requirement 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Knowledge &lt; 2.0 deg (3</a:t>
                          </a:r>
                          <a:r>
                            <a:rPr lang="el-GR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)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- Pointing &lt; 5.0 deg (3</a:t>
                          </a:r>
                          <a:r>
                            <a:rPr lang="el-GR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each axis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 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latinLnBrk="1">
                            <a:buNone/>
                          </a:pPr>
                          <a:endParaRPr lang="en-US" altLang="ko-KR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*Attitude control accuracy value is when medium </a:t>
                          </a:r>
                          <a:r>
                            <a:rPr lang="en-US" altLang="ko-KR" sz="9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CubeWheels</a:t>
                          </a: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are used.</a:t>
                          </a: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51688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Attitude measurement accuracy</a:t>
                          </a: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0.6° (3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𝜎</m:t>
                              </m:r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42069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Attitude control accuracy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1.5° (3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𝜎</m:t>
                              </m:r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*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05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  <a:tr h="488826">
                    <a:tc vMerge="1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Medium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CubeWheel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Maximum momentum storage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10.8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mNms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/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Medium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CubeWheel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i="1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Cubespace</a:t>
                          </a:r>
                          <a:endParaRPr lang="ko-KR" altLang="en-US" sz="1000" b="0" i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171450" indent="-171450" latinLnBrk="1">
                            <a:buFontTx/>
                            <a:buChar char="-"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Momentum is larger than other 3U CubeSat due to the deployment reflector.</a:t>
                          </a:r>
                        </a:p>
                        <a:p>
                          <a:pPr marL="171450" indent="-171450" latinLnBrk="1">
                            <a:buFontTx/>
                            <a:buChar char="-"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Need to high momentum storage for stable control.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982338"/>
                      </a:ext>
                    </a:extLst>
                  </a:tr>
                  <a:tr h="386738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Maximum wheel speed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±6000 rpm</a:t>
                          </a: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1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1077316"/>
                      </a:ext>
                    </a:extLst>
                  </a:tr>
                  <a:tr h="378609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Maximum torque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1.0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mNm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1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2003781"/>
                      </a:ext>
                    </a:extLst>
                  </a:tr>
                  <a:tr h="85389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OEM719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Horizontal </a:t>
                          </a:r>
                          <a:r>
                            <a:rPr lang="en-US" altLang="ko-KR" sz="900" b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position accuracy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1.2m RMS</a:t>
                          </a: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OEM719</a:t>
                          </a: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i="1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NovAtel</a:t>
                          </a:r>
                          <a:endParaRPr lang="en-US" altLang="ko-KR" sz="1000" b="0" i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Satisfy the requirement</a:t>
                          </a:r>
                        </a:p>
                        <a:p>
                          <a:pPr marL="171450" indent="-171450" latinLnBrk="1">
                            <a:buFontTx/>
                            <a:buChar char="-"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Using L1 and L2</a:t>
                          </a: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6074078"/>
                      </a:ext>
                    </a:extLst>
                  </a:tr>
                  <a:tr h="85389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TW1829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Gain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L1   4.0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dBic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L2   3.7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dBic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TW1829</a:t>
                          </a: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i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Tallysman</a:t>
                          </a:r>
                          <a:endParaRPr lang="ko-KR" altLang="en-US" sz="1000" b="0" i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Satisfy the requirement</a:t>
                          </a:r>
                        </a:p>
                        <a:p>
                          <a:pPr marL="171450" indent="-171450" latinLnBrk="1">
                            <a:buFontTx/>
                            <a:buChar char="-"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Using L1 and L2</a:t>
                          </a: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32336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표 19">
                <a:extLst>
                  <a:ext uri="{FF2B5EF4-FFF2-40B4-BE49-F238E27FC236}">
                    <a16:creationId xmlns:a16="http://schemas.microsoft.com/office/drawing/2014/main" id="{12B93B11-9974-1319-4456-4078396514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4244920"/>
                  </p:ext>
                </p:extLst>
              </p:nvPr>
            </p:nvGraphicFramePr>
            <p:xfrm>
              <a:off x="349261" y="1753867"/>
              <a:ext cx="5586860" cy="46942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2161">
                      <a:extLst>
                        <a:ext uri="{9D8B030D-6E8A-4147-A177-3AD203B41FA5}">
                          <a16:colId xmlns:a16="http://schemas.microsoft.com/office/drawing/2014/main" val="3168604753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358291018"/>
                        </a:ext>
                      </a:extLst>
                    </a:gridCol>
                    <a:gridCol w="826179">
                      <a:extLst>
                        <a:ext uri="{9D8B030D-6E8A-4147-A177-3AD203B41FA5}">
                          <a16:colId xmlns:a16="http://schemas.microsoft.com/office/drawing/2014/main" val="735291838"/>
                        </a:ext>
                      </a:extLst>
                    </a:gridCol>
                    <a:gridCol w="1397860">
                      <a:extLst>
                        <a:ext uri="{9D8B030D-6E8A-4147-A177-3AD203B41FA5}">
                          <a16:colId xmlns:a16="http://schemas.microsoft.com/office/drawing/2014/main" val="3329124570"/>
                        </a:ext>
                      </a:extLst>
                    </a:gridCol>
                    <a:gridCol w="1397860">
                      <a:extLst>
                        <a:ext uri="{9D8B030D-6E8A-4147-A177-3AD203B41FA5}">
                          <a16:colId xmlns:a16="http://schemas.microsoft.com/office/drawing/2014/main" val="1019484584"/>
                        </a:ext>
                      </a:extLst>
                    </a:gridCol>
                  </a:tblGrid>
                  <a:tr h="24079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Component</a:t>
                          </a:r>
                          <a:endParaRPr lang="ko-KR" altLang="en-US" sz="10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Specification</a:t>
                          </a:r>
                          <a:endParaRPr lang="ko-KR" altLang="en-US" sz="10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Value</a:t>
                          </a:r>
                          <a:endParaRPr lang="ko-KR" altLang="en-US" sz="10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Image</a:t>
                          </a:r>
                          <a:endParaRPr lang="ko-KR" altLang="en-US" sz="10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dirty="0">
                              <a:solidFill>
                                <a:schemeClr val="bg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Note</a:t>
                          </a:r>
                          <a:endParaRPr lang="ko-KR" altLang="en-US" sz="1000" dirty="0">
                            <a:solidFill>
                              <a:schemeClr val="bg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41221"/>
                      </a:ext>
                    </a:extLst>
                  </a:tr>
                  <a:tr h="553897">
                    <a:tc rowSpan="6">
                      <a:txBody>
                        <a:bodyPr/>
                        <a:lstStyle/>
                        <a:p>
                          <a:pPr marL="0" indent="0" algn="ctr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ADCS module</a:t>
                          </a:r>
                        </a:p>
                        <a:p>
                          <a:pPr marL="0" indent="0" algn="ctr" latinLnBrk="1">
                            <a:buFont typeface="Arial" panose="020B0604020202020204" pitchFamily="34" charset="0"/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CubeComputer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CubeRod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x 2</a:t>
                          </a: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CubeCoil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x 1</a:t>
                          </a:r>
                        </a:p>
                        <a:p>
                          <a:pPr marL="0" indent="0" algn="l" latinLnBrk="1">
                            <a:buFontTx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CubeMag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l" latinLnBrk="1">
                            <a:buFontTx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CubeSense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V3 x 2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Medium      </a:t>
                          </a: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CubeWheel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x 3</a:t>
                          </a: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MEMS Gyro x 3  </a:t>
                          </a: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Course Sun </a:t>
                          </a: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  Sensors x 10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CubeControl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l" latinLnBrk="1">
                            <a:buFont typeface="Arial" panose="020B0604020202020204" pitchFamily="34" charset="0"/>
                            <a:buNone/>
                          </a:pPr>
                          <a:r>
                            <a:rPr lang="ko-KR" altLang="en-US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 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: actuator and sensor interface module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Rate measurement accuracy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0000" t="-45055" r="-341481" b="-708791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CubeADCS</a:t>
                          </a: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3-axis</a:t>
                          </a: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i="1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Cubespace</a:t>
                          </a:r>
                          <a:endParaRPr lang="ko-KR" altLang="en-US" sz="1000" b="0" i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85783" marR="85783" marT="42892" marB="4289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Satisfy the requirement 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 Knowledge &lt; 2.0 deg (3</a:t>
                          </a:r>
                          <a:r>
                            <a:rPr lang="el-GR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)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- Pointing &lt; 5.0 deg (3</a:t>
                          </a:r>
                          <a:r>
                            <a:rPr lang="el-GR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σ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, each axis</a:t>
                          </a:r>
                          <a:r>
                            <a:rPr lang="en-US" altLang="ko-KR" sz="90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) </a:t>
                          </a:r>
                          <a:endParaRPr lang="ko-KR" altLang="en-US" sz="9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latinLnBrk="1">
                            <a:buNone/>
                          </a:pPr>
                          <a:endParaRPr lang="en-US" altLang="ko-KR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*Attitude control accuracy value is when medium </a:t>
                          </a:r>
                          <a:r>
                            <a:rPr lang="en-US" altLang="ko-KR" sz="9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CubeWheels</a:t>
                          </a: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 are used.</a:t>
                          </a: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9315141"/>
                      </a:ext>
                    </a:extLst>
                  </a:tr>
                  <a:tr h="51688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Attitude measurement accuracy</a:t>
                          </a: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0000" t="-157143" r="-341481" b="-6678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800802"/>
                      </a:ext>
                    </a:extLst>
                  </a:tr>
                  <a:tr h="42069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Attitude control accuracy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0000" t="-308571" r="-341481" b="-70142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05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717632"/>
                      </a:ext>
                    </a:extLst>
                  </a:tr>
                  <a:tr h="488826">
                    <a:tc vMerge="1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Medium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CubeWheel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Maximum momentum storage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10.8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mNms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/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algn="ctr" latinLnBrk="1"/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Medium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CubeWheel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i="1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Cubespace</a:t>
                          </a:r>
                          <a:endParaRPr lang="ko-KR" altLang="en-US" sz="1000" b="0" i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171450" indent="-171450" latinLnBrk="1">
                            <a:buFontTx/>
                            <a:buChar char="-"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Momentum is larger than other 3U CubeSat due to the deployment reflector.</a:t>
                          </a:r>
                        </a:p>
                        <a:p>
                          <a:pPr marL="171450" indent="-171450" latinLnBrk="1">
                            <a:buFontTx/>
                            <a:buChar char="-"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Need to high momentum storage for stable control.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982338"/>
                      </a:ext>
                    </a:extLst>
                  </a:tr>
                  <a:tr h="386738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Maximum wheel speed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±6000 rpm</a:t>
                          </a: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1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1077316"/>
                      </a:ext>
                    </a:extLst>
                  </a:tr>
                  <a:tr h="378609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Maximum torque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1.0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mNm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10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endParaRPr lang="en-US" altLang="ko-KR" sz="11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72000" marR="72000" marT="36000" marB="360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2003781"/>
                      </a:ext>
                    </a:extLst>
                  </a:tr>
                  <a:tr h="85389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OEM719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Horizontal </a:t>
                          </a:r>
                          <a:r>
                            <a:rPr lang="en-US" altLang="ko-KR" sz="900" b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position accuracy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1.2m RMS</a:t>
                          </a: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OEM719</a:t>
                          </a: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i="1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NovAtel</a:t>
                          </a:r>
                          <a:endParaRPr lang="en-US" altLang="ko-KR" sz="1000" b="0" i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Satisfy the requirement</a:t>
                          </a:r>
                        </a:p>
                        <a:p>
                          <a:pPr marL="171450" indent="-171450" latinLnBrk="1">
                            <a:buFontTx/>
                            <a:buChar char="-"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Using L1 and L2</a:t>
                          </a: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6074078"/>
                      </a:ext>
                    </a:extLst>
                  </a:tr>
                  <a:tr h="85389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TW1829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Gain</a:t>
                          </a:r>
                          <a:endParaRPr lang="ko-KR" altLang="en-US" sz="9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33773" marR="33773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L1   4.0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dBic</a:t>
                          </a: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L2   3.7 </a:t>
                          </a:r>
                          <a:r>
                            <a:rPr lang="en-US" altLang="ko-KR" sz="1000" b="0" dirty="0" err="1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dBic</a:t>
                          </a:r>
                          <a:endParaRPr lang="ko-KR" altLang="en-US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endParaRPr lang="en-US" altLang="ko-KR" sz="1000" b="0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TW1829</a:t>
                          </a:r>
                        </a:p>
                        <a:p>
                          <a:pPr marL="0" indent="0" algn="ctr" latinLnBrk="1">
                            <a:buNone/>
                          </a:pPr>
                          <a:r>
                            <a:rPr lang="en-US" altLang="ko-KR" sz="1000" b="0" i="1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Tallysman</a:t>
                          </a:r>
                          <a:endParaRPr lang="ko-KR" altLang="en-US" sz="1000" b="0" i="1" dirty="0"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latinLnBrk="1">
                            <a:buNone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Satisfy the requirement</a:t>
                          </a:r>
                        </a:p>
                        <a:p>
                          <a:pPr marL="171450" indent="-171450" latinLnBrk="1">
                            <a:buFontTx/>
                            <a:buChar char="-"/>
                          </a:pPr>
                          <a:r>
                            <a:rPr lang="en-US" altLang="ko-KR" sz="900" b="0" dirty="0"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Using L1 and L2</a:t>
                          </a:r>
                        </a:p>
                      </a:txBody>
                      <a:tcPr marL="67546" marR="67546" marT="33773" marB="3377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32336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5" name="그림 14">
            <a:extLst>
              <a:ext uri="{FF2B5EF4-FFF2-40B4-BE49-F238E27FC236}">
                <a16:creationId xmlns:a16="http://schemas.microsoft.com/office/drawing/2014/main" id="{F28F4976-231D-02DD-3D8E-BEAEECFF12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6349" y="2111610"/>
            <a:ext cx="1060536" cy="83125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7FE07EE-8C44-7550-1F30-8253F0BC857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483" b="91837" l="5000" r="95455">
                        <a14:foregroundMark x1="6818" y1="8844" x2="68636" y2="10204"/>
                        <a14:foregroundMark x1="68636" y1="10204" x2="93636" y2="90476"/>
                        <a14:foregroundMark x1="93636" y1="90476" x2="92727" y2="91837"/>
                        <a14:foregroundMark x1="8636" y1="10884" x2="9091" y2="91156"/>
                        <a14:foregroundMark x1="9545" y1="90476" x2="87727" y2="93197"/>
                        <a14:foregroundMark x1="93636" y1="23810" x2="90455" y2="7483"/>
                        <a14:foregroundMark x1="95455" y1="11565" x2="95455" y2="8844"/>
                        <a14:foregroundMark x1="5909" y1="10204" x2="5455" y2="90476"/>
                        <a14:foregroundMark x1="5000" y1="8844" x2="5455" y2="90476"/>
                        <a14:foregroundMark x1="5909" y1="49660" x2="6364" y2="91156"/>
                        <a14:foregroundMark x1="5455" y1="50340" x2="5909" y2="897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999" y="4768219"/>
            <a:ext cx="807701" cy="5398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1D72C8F-8CAA-E7BE-DBA5-EB13B0C87C2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075" y="5639819"/>
            <a:ext cx="333083" cy="3589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7F3F981-DFEB-D0FE-4B13-39886FA04DA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6471"/>
          <a:stretch/>
        </p:blipFill>
        <p:spPr>
          <a:xfrm>
            <a:off x="3360479" y="3557932"/>
            <a:ext cx="869221" cy="69900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66C038-D198-AD4A-63E5-73D48C519D67}"/>
              </a:ext>
            </a:extLst>
          </p:cNvPr>
          <p:cNvSpPr/>
          <p:nvPr/>
        </p:nvSpPr>
        <p:spPr>
          <a:xfrm>
            <a:off x="5992791" y="5717156"/>
            <a:ext cx="3193460" cy="6344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태양 지향 구동기 성능 분석</a:t>
            </a:r>
            <a:endParaRPr lang="en-US" altLang="ko-KR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with Medium </a:t>
            </a:r>
            <a:r>
              <a:rPr lang="en-US" altLang="ko-KR" sz="14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CubeWheel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B316C4-A942-DEFC-0883-694BBC38FD9E}"/>
              </a:ext>
            </a:extLst>
          </p:cNvPr>
          <p:cNvSpPr txBox="1"/>
          <p:nvPr/>
        </p:nvSpPr>
        <p:spPr>
          <a:xfrm>
            <a:off x="347671" y="6528019"/>
            <a:ext cx="29384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times" panose="02020603050405020304" pitchFamily="18" charset="0"/>
                <a:cs typeface="times" panose="02020603050405020304" pitchFamily="18" charset="0"/>
              </a:rPr>
              <a:t>* </a:t>
            </a:r>
            <a:r>
              <a:rPr lang="ko-KR" altLang="en-US" sz="900" dirty="0">
                <a:latin typeface="times" panose="02020603050405020304" pitchFamily="18" charset="0"/>
                <a:cs typeface="times" panose="02020603050405020304" pitchFamily="18" charset="0"/>
              </a:rPr>
              <a:t>수치는 각 제조사의 데이터 시트 참고</a:t>
            </a:r>
          </a:p>
        </p:txBody>
      </p:sp>
    </p:spTree>
    <p:extLst>
      <p:ext uri="{BB962C8B-B14F-4D97-AF65-F5344CB8AC3E}">
        <p14:creationId xmlns:p14="http://schemas.microsoft.com/office/powerpoint/2010/main" val="21406210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1" y="6398851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EPS (</a:t>
            </a:r>
            <a:r>
              <a:rPr lang="ko-KR" altLang="en-US" dirty="0"/>
              <a:t>전력 서브시스템</a:t>
            </a:r>
            <a:r>
              <a:rPr lang="en-US" altLang="ko-KR" dirty="0"/>
              <a:t>)</a:t>
            </a:r>
          </a:p>
          <a:p>
            <a:pPr marL="537750" lvl="1" indent="-285750"/>
            <a:r>
              <a:rPr lang="ko-KR" altLang="en-US" dirty="0"/>
              <a:t>전력 서브시스템 </a:t>
            </a:r>
            <a:r>
              <a:rPr lang="en-US" altLang="ko-KR" dirty="0"/>
              <a:t>COTS </a:t>
            </a:r>
            <a:r>
              <a:rPr lang="ko-KR" altLang="en-US" dirty="0"/>
              <a:t>선정</a:t>
            </a:r>
            <a:endParaRPr lang="en-US" altLang="ko-KR" dirty="0"/>
          </a:p>
          <a:p>
            <a:pPr marL="537750" lvl="1" indent="-285750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BUS (</a:t>
            </a:r>
            <a:r>
              <a:rPr lang="ko-KR" altLang="en-US" dirty="0"/>
              <a:t>본체</a:t>
            </a:r>
            <a:r>
              <a:rPr lang="en-US" altLang="ko-KR" dirty="0"/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CF5F56-A312-19F7-D726-52796D1263D2}"/>
              </a:ext>
            </a:extLst>
          </p:cNvPr>
          <p:cNvSpPr/>
          <p:nvPr/>
        </p:nvSpPr>
        <p:spPr>
          <a:xfrm>
            <a:off x="5987522" y="6201208"/>
            <a:ext cx="3029171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에너지 균형 분석 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[TBC] 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5FB99F4-9744-507F-A822-20C46253B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156834"/>
              </p:ext>
            </p:extLst>
          </p:nvPr>
        </p:nvGraphicFramePr>
        <p:xfrm>
          <a:off x="347671" y="1738658"/>
          <a:ext cx="5395311" cy="4790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120">
                  <a:extLst>
                    <a:ext uri="{9D8B030D-6E8A-4147-A177-3AD203B41FA5}">
                      <a16:colId xmlns:a16="http://schemas.microsoft.com/office/drawing/2014/main" val="3168604753"/>
                    </a:ext>
                  </a:extLst>
                </a:gridCol>
                <a:gridCol w="930430">
                  <a:extLst>
                    <a:ext uri="{9D8B030D-6E8A-4147-A177-3AD203B41FA5}">
                      <a16:colId xmlns:a16="http://schemas.microsoft.com/office/drawing/2014/main" val="3358291018"/>
                    </a:ext>
                  </a:extLst>
                </a:gridCol>
                <a:gridCol w="1217449">
                  <a:extLst>
                    <a:ext uri="{9D8B030D-6E8A-4147-A177-3AD203B41FA5}">
                      <a16:colId xmlns:a16="http://schemas.microsoft.com/office/drawing/2014/main" val="735291838"/>
                    </a:ext>
                  </a:extLst>
                </a:gridCol>
                <a:gridCol w="1146379">
                  <a:extLst>
                    <a:ext uri="{9D8B030D-6E8A-4147-A177-3AD203B41FA5}">
                      <a16:colId xmlns:a16="http://schemas.microsoft.com/office/drawing/2014/main" val="3329124570"/>
                    </a:ext>
                  </a:extLst>
                </a:gridCol>
                <a:gridCol w="1349933">
                  <a:extLst>
                    <a:ext uri="{9D8B030D-6E8A-4147-A177-3AD203B41FA5}">
                      <a16:colId xmlns:a16="http://schemas.microsoft.com/office/drawing/2014/main" val="1019484584"/>
                    </a:ext>
                  </a:extLst>
                </a:gridCol>
              </a:tblGrid>
              <a:tr h="359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Component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Specification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Value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Image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Note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41221"/>
                  </a:ext>
                </a:extLst>
              </a:tr>
              <a:tr h="305641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Battery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Capacity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40 </a:t>
                      </a:r>
                      <a:r>
                        <a:rPr lang="en-US" altLang="ko-KR" sz="1000" b="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Wh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Optimus-40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r>
                        <a:rPr lang="en-US" altLang="ko-KR" sz="800" b="0" i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AAC </a:t>
                      </a:r>
                      <a:r>
                        <a:rPr lang="en-US" altLang="ko-KR" sz="800" b="0" i="1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clyde</a:t>
                      </a:r>
                      <a:r>
                        <a:rPr lang="en-US" altLang="ko-KR" sz="800" b="0" i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space</a:t>
                      </a:r>
                      <a:endParaRPr lang="ko-KR" altLang="en-US" sz="8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85783" marR="85783" marT="42892" marB="4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Battery capacity required during operation (with margin)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315141"/>
                  </a:ext>
                </a:extLst>
              </a:tr>
              <a:tr h="3056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Charge voltage limit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8.4 V [max]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374161"/>
                  </a:ext>
                </a:extLst>
              </a:tr>
              <a:tr h="3056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Discharge voltage Limit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6.2 V [max]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797874"/>
                  </a:ext>
                </a:extLst>
              </a:tr>
              <a:tr h="3056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EoC</a:t>
                      </a:r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voltage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8.26 V [max]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297162"/>
                  </a:ext>
                </a:extLst>
              </a:tr>
              <a:tr h="3056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Chemistry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Lithium Polymer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180502"/>
                  </a:ext>
                </a:extLst>
              </a:tr>
              <a:tr h="3056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Charge/Discharge current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2.6A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809496"/>
                  </a:ext>
                </a:extLst>
              </a:tr>
              <a:tr h="35738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PCDU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Max. Battery voltage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8.2 V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Starbuck-Nano-Plus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en-US" altLang="ko-KR" sz="800" b="0" i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AAC </a:t>
                      </a:r>
                      <a:r>
                        <a:rPr lang="en-US" altLang="ko-KR" sz="800" b="0" i="1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clyde</a:t>
                      </a:r>
                      <a:r>
                        <a:rPr lang="en-US" altLang="ko-KR" sz="800" b="0" i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space</a:t>
                      </a:r>
                      <a:endParaRPr lang="ko-KR" altLang="en-US" sz="8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982338"/>
                  </a:ext>
                </a:extLst>
              </a:tr>
              <a:tr h="3573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Latching current limit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10 Configurable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62442"/>
                  </a:ext>
                </a:extLst>
              </a:tr>
              <a:tr h="4073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Output voltage bus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Vbat</a:t>
                      </a: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, 5V, 3.3V, 12V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Supply voltage bus required for each subsystem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80935"/>
                  </a:ext>
                </a:extLst>
              </a:tr>
              <a:tr h="1122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Solar panel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Output power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Max</a:t>
                      </a:r>
                      <a:r>
                        <a:rPr lang="ko-KR" altLang="en-US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24 W (@500 mA)</a:t>
                      </a: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NanoPower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MSP</a:t>
                      </a:r>
                    </a:p>
                    <a:p>
                      <a:pPr algn="ctr" latinLnBrk="1"/>
                      <a:r>
                        <a:rPr lang="en-US" altLang="ko-KR" sz="800" b="0" i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GOMspace</a:t>
                      </a:r>
                      <a:endParaRPr lang="ko-KR" altLang="en-US" sz="800" b="0" i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Generation power &gt; 20 W is satisfied</a:t>
                      </a: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074078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765A434E-3AD7-EDCC-AB83-73696C9719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169" y="4298747"/>
            <a:ext cx="739692" cy="7072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E569453-F120-20BF-7678-202F3D816B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414171" y="2546507"/>
            <a:ext cx="739691" cy="7736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39D682F-5C0D-2907-2C57-E18C18EB4C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098" y="5444571"/>
            <a:ext cx="995835" cy="648690"/>
          </a:xfrm>
          <a:prstGeom prst="rect">
            <a:avLst/>
          </a:prstGeom>
        </p:spPr>
      </p:pic>
      <p:graphicFrame>
        <p:nvGraphicFramePr>
          <p:cNvPr id="16" name="표 16">
            <a:extLst>
              <a:ext uri="{FF2B5EF4-FFF2-40B4-BE49-F238E27FC236}">
                <a16:creationId xmlns:a16="http://schemas.microsoft.com/office/drawing/2014/main" id="{EC02A4DD-3893-3C6D-FC27-37E581C08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362762"/>
              </p:ext>
            </p:extLst>
          </p:nvPr>
        </p:nvGraphicFramePr>
        <p:xfrm>
          <a:off x="5909575" y="1738658"/>
          <a:ext cx="3064717" cy="44664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4047">
                  <a:extLst>
                    <a:ext uri="{9D8B030D-6E8A-4147-A177-3AD203B41FA5}">
                      <a16:colId xmlns:a16="http://schemas.microsoft.com/office/drawing/2014/main" val="284910186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3945191191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1307256876"/>
                    </a:ext>
                  </a:extLst>
                </a:gridCol>
                <a:gridCol w="431647">
                  <a:extLst>
                    <a:ext uri="{9D8B030D-6E8A-4147-A177-3AD203B41FA5}">
                      <a16:colId xmlns:a16="http://schemas.microsoft.com/office/drawing/2014/main" val="1075132718"/>
                    </a:ext>
                  </a:extLst>
                </a:gridCol>
                <a:gridCol w="431647">
                  <a:extLst>
                    <a:ext uri="{9D8B030D-6E8A-4147-A177-3AD203B41FA5}">
                      <a16:colId xmlns:a16="http://schemas.microsoft.com/office/drawing/2014/main" val="2318846890"/>
                    </a:ext>
                  </a:extLst>
                </a:gridCol>
                <a:gridCol w="431647">
                  <a:extLst>
                    <a:ext uri="{9D8B030D-6E8A-4147-A177-3AD203B41FA5}">
                      <a16:colId xmlns:a16="http://schemas.microsoft.com/office/drawing/2014/main" val="2608742140"/>
                    </a:ext>
                  </a:extLst>
                </a:gridCol>
                <a:gridCol w="232580">
                  <a:extLst>
                    <a:ext uri="{9D8B030D-6E8A-4147-A177-3AD203B41FA5}">
                      <a16:colId xmlns:a16="http://schemas.microsoft.com/office/drawing/2014/main" val="738812321"/>
                    </a:ext>
                  </a:extLst>
                </a:gridCol>
              </a:tblGrid>
              <a:tr h="16727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Product</a:t>
                      </a:r>
                      <a:endParaRPr lang="en-US" sz="700" b="0" i="0" u="none" strike="noStrike" dirty="0">
                        <a:solidFill>
                          <a:srgbClr val="FFFFFF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Mode</a:t>
                      </a:r>
                      <a:endParaRPr lang="en-US" sz="700" b="0" i="0" u="none" strike="noStrike" dirty="0">
                        <a:solidFill>
                          <a:srgbClr val="FFFFFF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2F559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Consumption Power (W)</a:t>
                      </a:r>
                      <a:endParaRPr lang="en-US" sz="700" b="0" i="0" u="none" strike="noStrike" dirty="0">
                        <a:solidFill>
                          <a:srgbClr val="FFFFFF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FFFFFF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631720"/>
                  </a:ext>
                </a:extLst>
              </a:tr>
              <a:tr h="167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LEOP</a:t>
                      </a:r>
                      <a:endParaRPr lang="en-US" sz="700" b="0" i="0" u="none" strike="noStrike" dirty="0">
                        <a:solidFill>
                          <a:srgbClr val="FFFFFF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sun </a:t>
                      </a:r>
                    </a:p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pointing</a:t>
                      </a:r>
                      <a:endParaRPr lang="en-US" sz="700" b="0" i="0" u="none" strike="noStrike" dirty="0">
                        <a:solidFill>
                          <a:srgbClr val="FFFFFF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Mission</a:t>
                      </a:r>
                      <a:endParaRPr lang="en-US" sz="700" b="0" i="0" u="none" strike="noStrike" dirty="0">
                        <a:solidFill>
                          <a:srgbClr val="FFFFFF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S-band </a:t>
                      </a:r>
                    </a:p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FFFFFF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COM</a:t>
                      </a:r>
                      <a:endParaRPr lang="en-US" sz="700" b="0" i="0" u="none" strike="noStrike" dirty="0">
                        <a:solidFill>
                          <a:srgbClr val="FFFFFF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FFFFFF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896971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0.03171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1736031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0743125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NanoCam - 70 mm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0.20613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1599593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Cubecomputer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0.00012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0.12000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0.13268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0.13280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3313356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Cubesense V3 x 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0.23200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4352972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CubeTorquers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Rod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0.35000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0.35000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0.42689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0.42760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6129837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CubeTorquers coil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0.06400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0.06400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0.06400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0.06400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6982432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Cubecontrol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0231296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CubeMag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0.03500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0.03500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0.03500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0.03500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3623420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Wheel x 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0.57000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1.57353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1.58280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80940017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TW1829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0.03993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0.03993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0.03993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0760068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OEM719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1.30000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1.30000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1.30000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2439484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Optimus-40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2512251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Starbuck-Nano-Plus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7539787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GOMspace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8805037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NST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0.04290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0.42900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44237223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ISIS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0.00400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399879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NanoCom AX100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0.39600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734133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0.52800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0.52800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8167695"/>
                  </a:ext>
                </a:extLst>
              </a:tr>
              <a:tr h="167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PULSAR-STX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0.00000 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0.43200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2447072"/>
                  </a:ext>
                </a:extLst>
              </a:tr>
              <a:tr h="167276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total power consumption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1.7380 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4.71548 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6.75318 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6.97126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W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1279"/>
                  </a:ext>
                </a:extLst>
              </a:tr>
              <a:tr h="167276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Battery capacity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(Orbit average)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2.74072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7.43603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10.64936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10.99325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Wh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63891"/>
                  </a:ext>
                </a:extLst>
              </a:tr>
              <a:tr h="167276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Power margin value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2.19668 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15.60521 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12.39187 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12.04798 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20409"/>
                  </a:ext>
                </a:extLst>
              </a:tr>
              <a:tr h="167276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DoD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　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D2Coding" panose="020B0609020101020101" pitchFamily="49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6.85180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18.59006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26.62340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D2Coding" panose="020B0609020101020101" pitchFamily="49" charset="-127"/>
                          <a:cs typeface="times" panose="02020603050405020304" pitchFamily="18" charset="0"/>
                        </a:rPr>
                        <a:t>27.48313</a:t>
                      </a: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%</a:t>
                      </a:r>
                      <a:endParaRPr lang="ko-KR" altLang="en-US" sz="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8000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E8AC172-1D16-A66C-112F-E9CFCE8E2E3B}"/>
              </a:ext>
            </a:extLst>
          </p:cNvPr>
          <p:cNvSpPr txBox="1"/>
          <p:nvPr/>
        </p:nvSpPr>
        <p:spPr>
          <a:xfrm>
            <a:off x="347671" y="6528019"/>
            <a:ext cx="29384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times" panose="02020603050405020304" pitchFamily="18" charset="0"/>
                <a:cs typeface="times" panose="02020603050405020304" pitchFamily="18" charset="0"/>
              </a:rPr>
              <a:t>* </a:t>
            </a:r>
            <a:r>
              <a:rPr lang="ko-KR" altLang="en-US" sz="900" dirty="0">
                <a:latin typeface="times" panose="02020603050405020304" pitchFamily="18" charset="0"/>
                <a:cs typeface="times" panose="02020603050405020304" pitchFamily="18" charset="0"/>
              </a:rPr>
              <a:t>수치는 각 제조사의 데이터 시트 참고</a:t>
            </a:r>
          </a:p>
        </p:txBody>
      </p:sp>
    </p:spTree>
    <p:extLst>
      <p:ext uri="{BB962C8B-B14F-4D97-AF65-F5344CB8AC3E}">
        <p14:creationId xmlns:p14="http://schemas.microsoft.com/office/powerpoint/2010/main" val="32002240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BUS (</a:t>
            </a:r>
            <a:r>
              <a:rPr lang="ko-KR" altLang="en-US" dirty="0"/>
              <a:t>본체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CNDH (</a:t>
            </a:r>
            <a:r>
              <a:rPr lang="ko-KR" altLang="en-US" dirty="0"/>
              <a:t>명령 및 데이터 처리 서브시스템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명령 및 데이터 처리 서브시스템 주문제작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061F48-AC0F-6719-F6FA-537725773C22}"/>
              </a:ext>
            </a:extLst>
          </p:cNvPr>
          <p:cNvSpPr/>
          <p:nvPr/>
        </p:nvSpPr>
        <p:spPr>
          <a:xfrm>
            <a:off x="5874873" y="4517992"/>
            <a:ext cx="3269127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전력 및 데이터 인터페이스 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[TBC] 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E1C682-CD49-789E-051C-179AC5B35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269" y="1589362"/>
            <a:ext cx="2897867" cy="2958174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F3C3AC6-CB47-B9D4-8641-733721F20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096244"/>
              </p:ext>
            </p:extLst>
          </p:nvPr>
        </p:nvGraphicFramePr>
        <p:xfrm>
          <a:off x="395349" y="1787743"/>
          <a:ext cx="5479653" cy="4426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651">
                  <a:extLst>
                    <a:ext uri="{9D8B030D-6E8A-4147-A177-3AD203B41FA5}">
                      <a16:colId xmlns:a16="http://schemas.microsoft.com/office/drawing/2014/main" val="316860475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3358291018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735291838"/>
                    </a:ext>
                  </a:extLst>
                </a:gridCol>
                <a:gridCol w="1607802">
                  <a:extLst>
                    <a:ext uri="{9D8B030D-6E8A-4147-A177-3AD203B41FA5}">
                      <a16:colId xmlns:a16="http://schemas.microsoft.com/office/drawing/2014/main" val="1019484584"/>
                    </a:ext>
                  </a:extLst>
                </a:gridCol>
              </a:tblGrid>
              <a:tr h="3172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Component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Specification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Value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Note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41221"/>
                  </a:ext>
                </a:extLst>
              </a:tr>
              <a:tr h="728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OBC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Processor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Atmel ARM based Micro Processor Unit Clock speed: 400 MHz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315141"/>
                  </a:ext>
                </a:extLst>
              </a:tr>
              <a:tr h="16241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Memories &amp; Storage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64-Kbyte ROM (internal) 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32-Kbyte SRAM (internal) 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256-Mbyte DDR2 RAM (external) 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256-Mbyte NAND flash (external) 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MicroSD slot (SDXC, Max 2TB)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 Dazzling teat camera data storage [TBD]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982338"/>
                  </a:ext>
                </a:extLst>
              </a:tr>
              <a:tr h="102735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Data </a:t>
                      </a:r>
                    </a:p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interface</a:t>
                      </a:r>
                    </a:p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line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CAN Bus x 1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I2C x 3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RS 485 x 1 [TBD]</a:t>
                      </a: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 Data interface to each subsystem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979368"/>
                  </a:ext>
                </a:extLst>
              </a:tr>
              <a:tr h="72898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Function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NovAtel</a:t>
                      </a: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OEM710 add-on slot x 1</a:t>
                      </a:r>
                    </a:p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Gomspace</a:t>
                      </a: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AX100 add-on slot x 1</a:t>
                      </a: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074078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4DC59CE5-FF37-EFD5-3868-21FC3528F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553" y="4902966"/>
            <a:ext cx="1595940" cy="1202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7AA106-C4FE-AE54-F707-1CB73498947F}"/>
              </a:ext>
            </a:extLst>
          </p:cNvPr>
          <p:cNvSpPr txBox="1"/>
          <p:nvPr/>
        </p:nvSpPr>
        <p:spPr>
          <a:xfrm>
            <a:off x="5963045" y="6043590"/>
            <a:ext cx="31809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" panose="02020603050405020304" pitchFamily="18" charset="0"/>
                <a:cs typeface="times" panose="02020603050405020304" pitchFamily="18" charset="0"/>
              </a:rPr>
              <a:t>NST- OBC (On Board Computer)</a:t>
            </a:r>
          </a:p>
          <a:p>
            <a:pPr algn="ctr"/>
            <a:r>
              <a:rPr lang="en-US" altLang="ko-KR" sz="1400" b="1" i="1" dirty="0">
                <a:latin typeface="times" panose="02020603050405020304" pitchFamily="18" charset="0"/>
                <a:cs typeface="times" panose="02020603050405020304" pitchFamily="18" charset="0"/>
              </a:rPr>
              <a:t>NST</a:t>
            </a:r>
            <a:endParaRPr lang="ko-KR" altLang="en-US" sz="1400" b="1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4B5E55-50C2-04E3-BC70-907480B8DA3E}"/>
              </a:ext>
            </a:extLst>
          </p:cNvPr>
          <p:cNvSpPr txBox="1"/>
          <p:nvPr/>
        </p:nvSpPr>
        <p:spPr>
          <a:xfrm>
            <a:off x="395349" y="6250684"/>
            <a:ext cx="29384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times" panose="02020603050405020304" pitchFamily="18" charset="0"/>
                <a:cs typeface="times" panose="02020603050405020304" pitchFamily="18" charset="0"/>
              </a:rPr>
              <a:t>* </a:t>
            </a:r>
            <a:r>
              <a:rPr lang="ko-KR" altLang="en-US" sz="900" dirty="0">
                <a:latin typeface="times" panose="02020603050405020304" pitchFamily="18" charset="0"/>
                <a:cs typeface="times" panose="02020603050405020304" pitchFamily="18" charset="0"/>
              </a:rPr>
              <a:t>수치들을 각 제조사의 데이터 시트 참고</a:t>
            </a:r>
          </a:p>
        </p:txBody>
      </p:sp>
    </p:spTree>
    <p:extLst>
      <p:ext uri="{BB962C8B-B14F-4D97-AF65-F5344CB8AC3E}">
        <p14:creationId xmlns:p14="http://schemas.microsoft.com/office/powerpoint/2010/main" val="12786187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C43F7CC-2E3E-D9C1-8FF8-62D10235B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361922"/>
              </p:ext>
            </p:extLst>
          </p:nvPr>
        </p:nvGraphicFramePr>
        <p:xfrm>
          <a:off x="386337" y="1727101"/>
          <a:ext cx="4761749" cy="4951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460">
                  <a:extLst>
                    <a:ext uri="{9D8B030D-6E8A-4147-A177-3AD203B41FA5}">
                      <a16:colId xmlns:a16="http://schemas.microsoft.com/office/drawing/2014/main" val="3168604753"/>
                    </a:ext>
                  </a:extLst>
                </a:gridCol>
                <a:gridCol w="897625">
                  <a:extLst>
                    <a:ext uri="{9D8B030D-6E8A-4147-A177-3AD203B41FA5}">
                      <a16:colId xmlns:a16="http://schemas.microsoft.com/office/drawing/2014/main" val="3358291018"/>
                    </a:ext>
                  </a:extLst>
                </a:gridCol>
                <a:gridCol w="1061156">
                  <a:extLst>
                    <a:ext uri="{9D8B030D-6E8A-4147-A177-3AD203B41FA5}">
                      <a16:colId xmlns:a16="http://schemas.microsoft.com/office/drawing/2014/main" val="735291838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3329124570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1019484584"/>
                    </a:ext>
                  </a:extLst>
                </a:gridCol>
              </a:tblGrid>
              <a:tr h="2388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Component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Specification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Value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Image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Note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41221"/>
                  </a:ext>
                </a:extLst>
              </a:tr>
              <a:tr h="216234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UHF antenna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Band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&gt; 50 MHz (-10db)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r>
                        <a:rPr lang="nn-NO" altLang="ko-KR" sz="1000" b="0" i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CubeSat antenna system for 1U/3U</a:t>
                      </a:r>
                    </a:p>
                    <a:p>
                      <a:pPr marL="0" indent="0" algn="ctr" latinLnBrk="1">
                        <a:buNone/>
                      </a:pPr>
                      <a:r>
                        <a:rPr lang="en-US" altLang="ko-KR" sz="1000" b="0" i="1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ISISpace</a:t>
                      </a:r>
                      <a:endParaRPr lang="ko-KR" altLang="en-US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85783" marR="85783" marT="42892" marB="428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Need to uplink telecommand and downlink telemetry and data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315141"/>
                  </a:ext>
                </a:extLst>
              </a:tr>
              <a:tr h="216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Gain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 </a:t>
                      </a:r>
                      <a:r>
                        <a:rPr lang="en-US" altLang="ko-KR" sz="1000" b="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dBi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214664"/>
                  </a:ext>
                </a:extLst>
              </a:tr>
              <a:tr h="216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Max RF power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2W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965886"/>
                  </a:ext>
                </a:extLst>
              </a:tr>
              <a:tr h="4844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Power consumption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&lt; 40 </a:t>
                      </a:r>
                      <a:r>
                        <a:rPr lang="en-US" altLang="ko-KR" sz="1000" b="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mW</a:t>
                      </a: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(nominal)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199143"/>
                  </a:ext>
                </a:extLst>
              </a:tr>
              <a:tr h="216234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UHF transceiver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Band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430 -440 MHz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en-US" altLang="ko-KR" sz="1000" b="0" i="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NanoCOM</a:t>
                      </a:r>
                      <a:r>
                        <a:rPr lang="en-US" altLang="ko-KR" sz="1000" b="0" i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AX100</a:t>
                      </a:r>
                      <a:r>
                        <a:rPr lang="en-US" altLang="ko-KR" sz="1000" b="0" i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</a:p>
                    <a:p>
                      <a:pPr algn="ctr" latinLnBrk="1"/>
                      <a:r>
                        <a:rPr lang="en-US" altLang="ko-KR" sz="1000" b="0" i="1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GOMspace</a:t>
                      </a:r>
                      <a:endParaRPr lang="ko-KR" altLang="en-US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982338"/>
                  </a:ext>
                </a:extLst>
              </a:tr>
              <a:tr h="216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Modulation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GFSK/GMSK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09998"/>
                  </a:ext>
                </a:extLst>
              </a:tr>
              <a:tr h="216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Output power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24~30dBm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67171549"/>
                  </a:ext>
                </a:extLst>
              </a:tr>
              <a:tr h="3660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Data rate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0.1kbps ~ 38.4 kbps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4399112"/>
                  </a:ext>
                </a:extLst>
              </a:tr>
              <a:tr h="36606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S-band antenna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Band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2200 ~2300  or 2400 ~2450 MHz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000" b="1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endParaRPr lang="en-US" altLang="ko-KR" sz="1000" b="1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endParaRPr lang="en-US" altLang="ko-KR" sz="1000" b="1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endParaRPr lang="en-US" altLang="ko-KR" sz="1000" b="1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PULSAR-SANT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AAC Clyde space</a:t>
                      </a:r>
                      <a:endParaRPr lang="ko-KR" altLang="en-US" sz="1000" b="0" i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Need to downlink image data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979368"/>
                  </a:ext>
                </a:extLst>
              </a:tr>
              <a:tr h="216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Gain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 </a:t>
                      </a:r>
                      <a:r>
                        <a:rPr lang="en-US" altLang="ko-KR" sz="1000" b="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dBi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395716"/>
                  </a:ext>
                </a:extLst>
              </a:tr>
              <a:tr h="216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Beamwidth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60 degrees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86437461"/>
                  </a:ext>
                </a:extLst>
              </a:tr>
              <a:tr h="3360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RF input connector</a:t>
                      </a: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SMA female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7961420"/>
                  </a:ext>
                </a:extLst>
              </a:tr>
              <a:tr h="366062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S-band transmitter</a:t>
                      </a:r>
                      <a:endParaRPr lang="ko-KR" altLang="en-US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Band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2400 ~2450 or 2200~2300 MHz</a:t>
                      </a: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000" b="0" i="1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indent="0" algn="ctr" latinLnBrk="1">
                        <a:buNone/>
                      </a:pPr>
                      <a:r>
                        <a:rPr lang="en-US" altLang="ko-KR" sz="1000" b="0" i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PULSAR-STX</a:t>
                      </a:r>
                    </a:p>
                    <a:p>
                      <a:pPr marL="0" indent="0" algn="ctr" latinLnBrk="1">
                        <a:buNone/>
                      </a:pPr>
                      <a:r>
                        <a:rPr lang="en-US" altLang="ko-KR" sz="1000" b="0" i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AAC Clyde space</a:t>
                      </a: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0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074078"/>
                  </a:ext>
                </a:extLst>
              </a:tr>
              <a:tr h="216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Modulation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OQPSK or QPSK</a:t>
                      </a: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904200"/>
                  </a:ext>
                </a:extLst>
              </a:tr>
              <a:tr h="216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Output power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24~30 dBm</a:t>
                      </a: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39866718"/>
                  </a:ext>
                </a:extLst>
              </a:tr>
              <a:tr h="2162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Tx SNR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&gt; 20 dB</a:t>
                      </a: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1757503"/>
                  </a:ext>
                </a:extLst>
              </a:tr>
              <a:tr h="937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Transmission data rate</a:t>
                      </a:r>
                      <a:endParaRPr lang="ko-KR" altLang="en-US" sz="9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3773" marR="33773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00" b="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Up to 10 Mbps</a:t>
                      </a:r>
                    </a:p>
                  </a:txBody>
                  <a:tcPr marL="67546" marR="67546" marT="33773" marB="337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73967572"/>
                  </a:ext>
                </a:extLst>
              </a:tr>
            </a:tbl>
          </a:graphicData>
        </a:graphic>
      </p:graphicFrame>
      <p:pic>
        <p:nvPicPr>
          <p:cNvPr id="13" name="Picture 6">
            <a:extLst>
              <a:ext uri="{FF2B5EF4-FFF2-40B4-BE49-F238E27FC236}">
                <a16:creationId xmlns:a16="http://schemas.microsoft.com/office/drawing/2014/main" id="{0067BD83-BB97-5757-51BA-A6A66C268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48150" r="942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389"/>
          <a:stretch/>
        </p:blipFill>
        <p:spPr bwMode="auto">
          <a:xfrm>
            <a:off x="3403590" y="4380617"/>
            <a:ext cx="637682" cy="821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BUS (</a:t>
            </a:r>
            <a:r>
              <a:rPr lang="ko-KR" altLang="en-US" dirty="0"/>
              <a:t>본체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COMS (</a:t>
            </a:r>
            <a:r>
              <a:rPr lang="ko-KR" altLang="en-US" dirty="0"/>
              <a:t>통신 서브시스템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통신 서브시스템 </a:t>
            </a:r>
            <a:r>
              <a:rPr lang="en-US" altLang="ko-KR" dirty="0"/>
              <a:t>COTS </a:t>
            </a:r>
            <a:r>
              <a:rPr lang="ko-KR" altLang="en-US" dirty="0"/>
              <a:t>선정</a:t>
            </a:r>
            <a:endParaRPr lang="en-US" altLang="ko-KR" dirty="0"/>
          </a:p>
          <a:p>
            <a:pPr marL="396000" lvl="2" indent="0">
              <a:buNone/>
            </a:pPr>
            <a:endParaRPr lang="en-US" altLang="ko-KR" dirty="0"/>
          </a:p>
          <a:p>
            <a:pPr marL="681750" lvl="2" indent="-285750"/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289336-681F-E0CF-87C7-E4FE5F9132B8}"/>
              </a:ext>
            </a:extLst>
          </p:cNvPr>
          <p:cNvSpPr/>
          <p:nvPr/>
        </p:nvSpPr>
        <p:spPr>
          <a:xfrm>
            <a:off x="5174017" y="5208555"/>
            <a:ext cx="3797934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통신 링크 </a:t>
            </a:r>
            <a:r>
              <a:rPr lang="ko-KR" altLang="en-US" sz="14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버짓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분석 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[TBC]&gt;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9" name="Picture 2" descr="3U Antenna System">
            <a:extLst>
              <a:ext uri="{FF2B5EF4-FFF2-40B4-BE49-F238E27FC236}">
                <a16:creationId xmlns:a16="http://schemas.microsoft.com/office/drawing/2014/main" id="{1A81F5EB-565C-7ADD-FBF3-EFFD4AFFA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861" y="2119815"/>
            <a:ext cx="636411" cy="55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30A037-722F-EF2E-CA9F-93E77A0A24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2143" l="2715" r="96833">
                        <a14:foregroundMark x1="64253" y1="90714" x2="64253" y2="90714"/>
                        <a14:foregroundMark x1="92308" y1="61429" x2="92308" y2="61429"/>
                        <a14:foregroundMark x1="97285" y1="58571" x2="97285" y2="58571"/>
                        <a14:foregroundMark x1="6787" y1="37143" x2="6787" y2="37143"/>
                        <a14:foregroundMark x1="3167" y1="38571" x2="3167" y2="38571"/>
                        <a14:foregroundMark x1="40724" y1="12143" x2="40724" y2="12143"/>
                        <a14:foregroundMark x1="42986" y1="10714" x2="42986" y2="10714"/>
                        <a14:foregroundMark x1="33937" y1="12143" x2="33937" y2="12143"/>
                        <a14:foregroundMark x1="31674" y1="11429" x2="31674" y2="11429"/>
                        <a14:foregroundMark x1="30769" y1="12143" x2="30769" y2="12143"/>
                        <a14:foregroundMark x1="27149" y1="15000" x2="27149" y2="15000"/>
                        <a14:foregroundMark x1="25792" y1="16429" x2="25792" y2="16429"/>
                        <a14:foregroundMark x1="24887" y1="16429" x2="24887" y2="16429"/>
                        <a14:foregroundMark x1="22624" y1="17143" x2="22624" y2="17143"/>
                        <a14:foregroundMark x1="6787" y1="27143" x2="30769" y2="12143"/>
                        <a14:foregroundMark x1="6335" y1="45714" x2="60181" y2="9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801" y="3290264"/>
            <a:ext cx="861471" cy="471468"/>
          </a:xfrm>
          <a:prstGeom prst="rect">
            <a:avLst/>
          </a:prstGeom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FF1EB1DE-088A-0101-4BA1-56D5D7B5B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784" y="5473503"/>
            <a:ext cx="935503" cy="69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E4CA8C4-3D34-3D78-F4DF-3D03265D351B}"/>
              </a:ext>
            </a:extLst>
          </p:cNvPr>
          <p:cNvSpPr txBox="1"/>
          <p:nvPr/>
        </p:nvSpPr>
        <p:spPr>
          <a:xfrm>
            <a:off x="5005420" y="5566556"/>
            <a:ext cx="39074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1750" lvl="2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링크 </a:t>
            </a:r>
            <a:r>
              <a:rPr lang="ko-KR" altLang="en-US" sz="1400" dirty="0" err="1">
                <a:latin typeface="times" panose="02020603050405020304" pitchFamily="18" charset="0"/>
                <a:cs typeface="times" panose="02020603050405020304" pitchFamily="18" charset="0"/>
              </a:rPr>
              <a:t>버짓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&gt; 6 dB 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로 설계</a:t>
            </a:r>
            <a:endParaRPr lang="en-US" altLang="ko-KR" sz="1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861750" lvl="3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UHF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Downlink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고도 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20° 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이상 필요</a:t>
            </a:r>
            <a:endParaRPr lang="en-US" altLang="ko-KR" sz="1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861750" lvl="3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S-band Downlink 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고도 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30° 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이상 필요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graphicFrame>
        <p:nvGraphicFramePr>
          <p:cNvPr id="15" name="표 17">
            <a:extLst>
              <a:ext uri="{FF2B5EF4-FFF2-40B4-BE49-F238E27FC236}">
                <a16:creationId xmlns:a16="http://schemas.microsoft.com/office/drawing/2014/main" id="{8A2162CA-A37C-B226-8922-257B4E4AB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09731"/>
              </p:ext>
            </p:extLst>
          </p:nvPr>
        </p:nvGraphicFramePr>
        <p:xfrm>
          <a:off x="5272971" y="1727098"/>
          <a:ext cx="3650349" cy="3430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6783">
                  <a:extLst>
                    <a:ext uri="{9D8B030D-6E8A-4147-A177-3AD203B41FA5}">
                      <a16:colId xmlns:a16="http://schemas.microsoft.com/office/drawing/2014/main" val="371393031"/>
                    </a:ext>
                  </a:extLst>
                </a:gridCol>
                <a:gridCol w="1216783">
                  <a:extLst>
                    <a:ext uri="{9D8B030D-6E8A-4147-A177-3AD203B41FA5}">
                      <a16:colId xmlns:a16="http://schemas.microsoft.com/office/drawing/2014/main" val="2075827803"/>
                    </a:ext>
                  </a:extLst>
                </a:gridCol>
                <a:gridCol w="1216783">
                  <a:extLst>
                    <a:ext uri="{9D8B030D-6E8A-4147-A177-3AD203B41FA5}">
                      <a16:colId xmlns:a16="http://schemas.microsoft.com/office/drawing/2014/main" val="2321070226"/>
                    </a:ext>
                  </a:extLst>
                </a:gridCol>
              </a:tblGrid>
              <a:tr h="286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Band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UHF Downlink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S-band Downlink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282489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Altitude (km)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500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500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05608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Elevation (°)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077574"/>
                  </a:ext>
                </a:extLst>
              </a:tr>
              <a:tr h="2865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Frequency (MHz)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437.5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2245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556323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Data Rate (kbps)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4.8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1000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160043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Tx Power (W)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502993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Tx Gain (</a:t>
                      </a:r>
                      <a:r>
                        <a:rPr lang="en-US" altLang="ko-KR" sz="11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dBi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76539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EIRP (dBm)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28.2673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35.85714759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92068604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Path Loss (dB)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-146.8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-158.647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58877374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Rx Gain (</a:t>
                      </a:r>
                      <a:r>
                        <a:rPr lang="en-US" altLang="ko-KR" sz="11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dBi</a:t>
                      </a:r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18.9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37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211109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Eb/NO (dB)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7.8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34172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Margin (dB)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9.10873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7.804</a:t>
                      </a:r>
                      <a:endParaRPr lang="ko-KR" altLang="en-US" sz="11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2968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54303FA-CA7D-DB38-B507-FF1571106719}"/>
              </a:ext>
            </a:extLst>
          </p:cNvPr>
          <p:cNvSpPr txBox="1"/>
          <p:nvPr/>
        </p:nvSpPr>
        <p:spPr>
          <a:xfrm>
            <a:off x="360406" y="6642037"/>
            <a:ext cx="29384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times" panose="02020603050405020304" pitchFamily="18" charset="0"/>
                <a:cs typeface="times" panose="02020603050405020304" pitchFamily="18" charset="0"/>
              </a:rPr>
              <a:t>* </a:t>
            </a:r>
            <a:r>
              <a:rPr lang="ko-KR" altLang="en-US" sz="900" dirty="0">
                <a:latin typeface="times" panose="02020603050405020304" pitchFamily="18" charset="0"/>
                <a:cs typeface="times" panose="02020603050405020304" pitchFamily="18" charset="0"/>
              </a:rPr>
              <a:t>수치는 각 제조사의 데이터 시트 참고</a:t>
            </a:r>
          </a:p>
        </p:txBody>
      </p:sp>
    </p:spTree>
    <p:extLst>
      <p:ext uri="{BB962C8B-B14F-4D97-AF65-F5344CB8AC3E}">
        <p14:creationId xmlns:p14="http://schemas.microsoft.com/office/powerpoint/2010/main" val="1293721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BUS (</a:t>
            </a:r>
            <a:r>
              <a:rPr lang="ko-KR" altLang="en-US" dirty="0"/>
              <a:t>본체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SMS (</a:t>
            </a:r>
            <a:r>
              <a:rPr lang="ko-KR" altLang="en-US" dirty="0"/>
              <a:t>구조 서브시스템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대칭성을 고려한 </a:t>
            </a:r>
            <a:r>
              <a:rPr lang="en-US" altLang="ko-KR" dirty="0"/>
              <a:t>Solar panel </a:t>
            </a:r>
          </a:p>
          <a:p>
            <a:pPr lvl="1"/>
            <a:r>
              <a:rPr lang="ko-KR" altLang="en-US" dirty="0"/>
              <a:t>박막전개장치 및 </a:t>
            </a:r>
            <a:r>
              <a:rPr lang="en-US" altLang="ko-KR" dirty="0"/>
              <a:t>UHF </a:t>
            </a:r>
            <a:r>
              <a:rPr lang="ko-KR" altLang="en-US" dirty="0"/>
              <a:t>안테나</a:t>
            </a:r>
            <a:r>
              <a:rPr lang="en-US" altLang="ko-KR" dirty="0"/>
              <a:t>, S-band </a:t>
            </a:r>
            <a:r>
              <a:rPr lang="ko-KR" altLang="en-US" dirty="0"/>
              <a:t>안테나 전개를 고려한 배치</a:t>
            </a:r>
            <a:endParaRPr lang="en-US" altLang="ko-KR" dirty="0"/>
          </a:p>
          <a:p>
            <a:pPr lvl="1"/>
            <a:r>
              <a:rPr lang="ko-KR" altLang="en-US" dirty="0"/>
              <a:t>각 부품의 전선 연결성 고려</a:t>
            </a:r>
            <a:endParaRPr lang="en-US" altLang="ko-KR" dirty="0"/>
          </a:p>
          <a:p>
            <a:pPr lvl="1"/>
            <a:r>
              <a:rPr lang="en-US" altLang="ko-KR" dirty="0"/>
              <a:t>S-band </a:t>
            </a:r>
            <a:r>
              <a:rPr lang="ko-KR" altLang="en-US" dirty="0"/>
              <a:t>안테나 전개 후</a:t>
            </a:r>
            <a:r>
              <a:rPr lang="en-US" altLang="ko-KR" dirty="0"/>
              <a:t>, </a:t>
            </a:r>
            <a:r>
              <a:rPr lang="ko-KR" altLang="en-US" dirty="0"/>
              <a:t>외부와의 노출을 막기 위한 </a:t>
            </a:r>
            <a:r>
              <a:rPr lang="ko-KR" altLang="en-US" dirty="0" err="1"/>
              <a:t>실링</a:t>
            </a:r>
            <a:r>
              <a:rPr lang="ko-KR" altLang="en-US" dirty="0"/>
              <a:t> 고려</a:t>
            </a:r>
            <a:endParaRPr lang="en-US" altLang="ko-KR" dirty="0"/>
          </a:p>
          <a:p>
            <a:pPr lvl="1"/>
            <a:r>
              <a:rPr lang="en-US" altLang="ko-KR" dirty="0"/>
              <a:t>S-band </a:t>
            </a:r>
            <a:r>
              <a:rPr lang="ko-KR" altLang="en-US" dirty="0"/>
              <a:t>안테나 및 태양전지판의 전개 메커니즘 설계 예정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49B8301-5D57-AB3E-5A8E-BDC7FA873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292" y="3617170"/>
            <a:ext cx="1164363" cy="2420842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5B35F6-7BB3-9ABA-3C95-F3A079C68552}"/>
              </a:ext>
            </a:extLst>
          </p:cNvPr>
          <p:cNvSpPr/>
          <p:nvPr/>
        </p:nvSpPr>
        <p:spPr>
          <a:xfrm>
            <a:off x="358859" y="6051704"/>
            <a:ext cx="2050133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&lt;3U CubeSat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설계 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20A0E9-FEF8-346E-246A-4FD9249BE818}"/>
              </a:ext>
            </a:extLst>
          </p:cNvPr>
          <p:cNvSpPr/>
          <p:nvPr/>
        </p:nvSpPr>
        <p:spPr>
          <a:xfrm>
            <a:off x="2882817" y="6034082"/>
            <a:ext cx="2705521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&lt;3U CubeSat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설계 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전개 시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4F5E42-F49D-0FB1-AEC6-3D2D0A1EC0F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139" r="7132"/>
          <a:stretch/>
        </p:blipFill>
        <p:spPr>
          <a:xfrm>
            <a:off x="5149132" y="3938122"/>
            <a:ext cx="3949339" cy="20242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DDA811C-5151-4B75-A3F2-E658EA417E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313" b="90431" l="9153" r="95461">
                        <a14:foregroundMark x1="9228" y1="45822" x2="10666" y2="46496"/>
                        <a14:foregroundMark x1="57186" y1="10108" x2="56278" y2="12264"/>
                        <a14:foregroundMark x1="56884" y1="9973" x2="56127" y2="10377"/>
                        <a14:foregroundMark x1="48638" y1="4717" x2="49697" y2="4447"/>
                        <a14:foregroundMark x1="56732" y1="89623" x2="55825" y2="90566"/>
                        <a14:foregroundMark x1="49622" y1="88410" x2="49017" y2="89488"/>
                        <a14:foregroundMark x1="95461" y1="48518" x2="95234" y2="483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322107">
            <a:off x="2391769" y="3985355"/>
            <a:ext cx="3690041" cy="20711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E1474F4-2B08-68D6-56E5-05F84EE268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54" b="98560" l="9709" r="89806">
                        <a14:foregroundMark x1="30097" y1="11257" x2="65534" y2="7199"/>
                        <a14:foregroundMark x1="65534" y1="7199" x2="31796" y2="11518"/>
                        <a14:foregroundMark x1="37621" y1="8901" x2="42718" y2="7461"/>
                        <a14:foregroundMark x1="44417" y1="5890" x2="43204" y2="6675"/>
                        <a14:foregroundMark x1="53155" y1="393" x2="78641" y2="17016"/>
                        <a14:foregroundMark x1="78641" y1="17016" x2="47087" y2="916"/>
                        <a14:foregroundMark x1="47087" y1="916" x2="47087" y2="1047"/>
                        <a14:foregroundMark x1="87379" y1="16492" x2="82039" y2="42932"/>
                        <a14:foregroundMark x1="82039" y1="42932" x2="89563" y2="21728"/>
                        <a14:foregroundMark x1="89563" y1="21728" x2="88350" y2="16492"/>
                        <a14:foregroundMark x1="86650" y1="29581" x2="82039" y2="49869"/>
                        <a14:foregroundMark x1="82039" y1="49869" x2="86408" y2="31414"/>
                        <a14:foregroundMark x1="86408" y1="31414" x2="86893" y2="54058"/>
                        <a14:foregroundMark x1="86893" y1="54058" x2="86650" y2="54319"/>
                        <a14:foregroundMark x1="67961" y1="88613" x2="69903" y2="88874"/>
                        <a14:foregroundMark x1="66748" y1="88351" x2="68447" y2="87696"/>
                        <a14:foregroundMark x1="66748" y1="87958" x2="69417" y2="87435"/>
                        <a14:foregroundMark x1="54369" y1="88613" x2="52670" y2="89136"/>
                        <a14:foregroundMark x1="43204" y1="84948" x2="79854" y2="91492"/>
                        <a14:foregroundMark x1="79854" y1="91492" x2="47816" y2="83508"/>
                        <a14:foregroundMark x1="47816" y1="83508" x2="44903" y2="83770"/>
                        <a14:foregroundMark x1="44903" y1="87958" x2="42718" y2="88351"/>
                        <a14:foregroundMark x1="44417" y1="90314" x2="42233" y2="88351"/>
                        <a14:foregroundMark x1="43447" y1="90314" x2="45388" y2="89398"/>
                        <a14:foregroundMark x1="39563" y1="87696" x2="44417" y2="87958"/>
                        <a14:foregroundMark x1="40049" y1="84293" x2="66019" y2="98560"/>
                        <a14:foregroundMark x1="66019" y1="98560" x2="40777" y2="865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7100" y="3711574"/>
            <a:ext cx="1232044" cy="2284664"/>
          </a:xfrm>
          <a:prstGeom prst="rect">
            <a:avLst/>
          </a:prstGeom>
        </p:spPr>
      </p:pic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0E3895A0-037C-C4A5-7078-08A0641C319A}"/>
              </a:ext>
            </a:extLst>
          </p:cNvPr>
          <p:cNvSpPr/>
          <p:nvPr/>
        </p:nvSpPr>
        <p:spPr>
          <a:xfrm>
            <a:off x="5717284" y="6032937"/>
            <a:ext cx="2705521" cy="309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&lt;3U CubeSat </a:t>
            </a:r>
            <a:r>
              <a: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내부구조</a:t>
            </a:r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&gt;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0541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GRD (</a:t>
            </a:r>
            <a:r>
              <a:rPr lang="ko-KR" altLang="en-US" dirty="0" err="1"/>
              <a:t>지상체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구성 및 주요 기능</a:t>
            </a:r>
            <a:endParaRPr lang="en-US" altLang="ko-KR" dirty="0"/>
          </a:p>
          <a:p>
            <a:pPr lvl="1"/>
            <a:r>
              <a:rPr lang="ko-KR" altLang="en-US" dirty="0"/>
              <a:t>지상체는 </a:t>
            </a:r>
            <a:r>
              <a:rPr lang="en-US" altLang="ko-KR" dirty="0"/>
              <a:t>5</a:t>
            </a:r>
            <a:r>
              <a:rPr lang="ko-KR" altLang="en-US" dirty="0"/>
              <a:t>가지 하부 레벨로 구분하여 기능을 수행함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5D944C7-0DDD-8442-11A2-F6214181EA1F}"/>
              </a:ext>
            </a:extLst>
          </p:cNvPr>
          <p:cNvGrpSpPr/>
          <p:nvPr/>
        </p:nvGrpSpPr>
        <p:grpSpPr>
          <a:xfrm>
            <a:off x="991416" y="1829825"/>
            <a:ext cx="7590609" cy="3775025"/>
            <a:chOff x="628650" y="2137392"/>
            <a:chExt cx="7590609" cy="377502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F28D939-D822-2C14-EC67-6018CC6FE2C7}"/>
                </a:ext>
              </a:extLst>
            </p:cNvPr>
            <p:cNvSpPr/>
            <p:nvPr/>
          </p:nvSpPr>
          <p:spPr>
            <a:xfrm>
              <a:off x="628650" y="2137392"/>
              <a:ext cx="1575816" cy="5595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Level 2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7B8232A-C816-0A9D-F971-DB9857F0CA35}"/>
                </a:ext>
              </a:extLst>
            </p:cNvPr>
            <p:cNvSpPr/>
            <p:nvPr/>
          </p:nvSpPr>
          <p:spPr>
            <a:xfrm>
              <a:off x="3106374" y="2137392"/>
              <a:ext cx="1575816" cy="5595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Level 4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7A7600D-7D1B-25D9-3A6F-BFE22FA90357}"/>
                </a:ext>
              </a:extLst>
            </p:cNvPr>
            <p:cNvSpPr/>
            <p:nvPr/>
          </p:nvSpPr>
          <p:spPr>
            <a:xfrm>
              <a:off x="2968776" y="2586550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ICS</a:t>
              </a:r>
            </a:p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장비제어체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Instrument Control System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F020ED2-0D60-43B6-303C-79D595A7D1C1}"/>
                </a:ext>
              </a:extLst>
            </p:cNvPr>
            <p:cNvSpPr/>
            <p:nvPr/>
          </p:nvSpPr>
          <p:spPr>
            <a:xfrm>
              <a:off x="2968776" y="3949254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FDS</a:t>
              </a:r>
            </a:p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비행동역학체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Flight Dynamic System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685D6E-6223-3A65-4DDD-DF6553696197}"/>
                </a:ext>
              </a:extLst>
            </p:cNvPr>
            <p:cNvSpPr/>
            <p:nvPr/>
          </p:nvSpPr>
          <p:spPr>
            <a:xfrm>
              <a:off x="2968776" y="3267902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GSW</a:t>
              </a:r>
            </a:p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지상소프트웨어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Ground Station Software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B8545A9-CE9E-65F1-4173-44ED00EF2C3B}"/>
                </a:ext>
              </a:extLst>
            </p:cNvPr>
            <p:cNvSpPr/>
            <p:nvPr/>
          </p:nvSpPr>
          <p:spPr>
            <a:xfrm>
              <a:off x="2968776" y="4630606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MPS</a:t>
              </a:r>
            </a:p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임무계획체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Mission Planning System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EBCB2DA-A6ED-26C0-9974-7F53E76F9F21}"/>
                </a:ext>
              </a:extLst>
            </p:cNvPr>
            <p:cNvSpPr/>
            <p:nvPr/>
          </p:nvSpPr>
          <p:spPr>
            <a:xfrm>
              <a:off x="2968776" y="5352883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SOS</a:t>
              </a:r>
            </a:p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위성운용체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Spacecraft Operation System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8AEC5C6-C729-39BF-7D3E-9B806752D54B}"/>
                </a:ext>
              </a:extLst>
            </p:cNvPr>
            <p:cNvSpPr/>
            <p:nvPr/>
          </p:nvSpPr>
          <p:spPr>
            <a:xfrm>
              <a:off x="628650" y="2586550"/>
              <a:ext cx="1575816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GS</a:t>
              </a:r>
            </a:p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지상부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Ground Segment</a:t>
              </a:r>
              <a:endParaRPr lang="ko-KR" altLang="en-US" sz="105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1CA6461-4B07-08C1-D0B9-2530590E15CF}"/>
                </a:ext>
              </a:extLst>
            </p:cNvPr>
            <p:cNvSpPr/>
            <p:nvPr/>
          </p:nvSpPr>
          <p:spPr>
            <a:xfrm>
              <a:off x="628650" y="3500096"/>
              <a:ext cx="1575816" cy="5595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Level 3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8088263-6476-790C-D93A-D519041D8D05}"/>
                </a:ext>
              </a:extLst>
            </p:cNvPr>
            <p:cNvSpPr/>
            <p:nvPr/>
          </p:nvSpPr>
          <p:spPr>
            <a:xfrm>
              <a:off x="628650" y="3949254"/>
              <a:ext cx="1575816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GRD</a:t>
              </a:r>
            </a:p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지상체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Ground System</a:t>
              </a:r>
              <a:endParaRPr lang="ko-KR" altLang="en-US" sz="105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6D945749-C484-BBAC-5CB8-3DA5422F98BB}"/>
                </a:ext>
              </a:extLst>
            </p:cNvPr>
            <p:cNvCxnSpPr>
              <a:cxnSpLocks/>
            </p:cNvCxnSpPr>
            <p:nvPr/>
          </p:nvCxnSpPr>
          <p:spPr>
            <a:xfrm>
              <a:off x="1416558" y="3189014"/>
              <a:ext cx="0" cy="484915"/>
            </a:xfrm>
            <a:prstGeom prst="line">
              <a:avLst/>
            </a:prstGeom>
            <a:ln w="25400" cap="rnd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993E6302-6F0C-16FA-01ED-EFD2AD0EC5A1}"/>
                </a:ext>
              </a:extLst>
            </p:cNvPr>
            <p:cNvCxnSpPr>
              <a:cxnSpLocks/>
            </p:cNvCxnSpPr>
            <p:nvPr/>
          </p:nvCxnSpPr>
          <p:spPr>
            <a:xfrm>
              <a:off x="2554119" y="2868498"/>
              <a:ext cx="0" cy="2792018"/>
            </a:xfrm>
            <a:prstGeom prst="line">
              <a:avLst/>
            </a:prstGeom>
            <a:ln w="25400" cap="rnd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F60F3881-5DA0-843C-EA69-2D99325CA3B0}"/>
                </a:ext>
              </a:extLst>
            </p:cNvPr>
            <p:cNvCxnSpPr>
              <a:cxnSpLocks/>
            </p:cNvCxnSpPr>
            <p:nvPr/>
          </p:nvCxnSpPr>
          <p:spPr>
            <a:xfrm>
              <a:off x="2588082" y="2868498"/>
              <a:ext cx="350005" cy="0"/>
            </a:xfrm>
            <a:prstGeom prst="line">
              <a:avLst/>
            </a:prstGeom>
            <a:ln w="25400" cap="rnd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1289A95-C3EF-316B-CCFB-BC2D7FC3BDD9}"/>
                </a:ext>
              </a:extLst>
            </p:cNvPr>
            <p:cNvCxnSpPr>
              <a:cxnSpLocks/>
            </p:cNvCxnSpPr>
            <p:nvPr/>
          </p:nvCxnSpPr>
          <p:spPr>
            <a:xfrm>
              <a:off x="2588082" y="5660516"/>
              <a:ext cx="350005" cy="0"/>
            </a:xfrm>
            <a:prstGeom prst="line">
              <a:avLst/>
            </a:prstGeom>
            <a:ln w="25400" cap="rnd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088C5AD1-4441-5872-8472-82F2685A38EE}"/>
                </a:ext>
              </a:extLst>
            </p:cNvPr>
            <p:cNvCxnSpPr>
              <a:cxnSpLocks/>
            </p:cNvCxnSpPr>
            <p:nvPr/>
          </p:nvCxnSpPr>
          <p:spPr>
            <a:xfrm>
              <a:off x="2238077" y="4239930"/>
              <a:ext cx="316042" cy="0"/>
            </a:xfrm>
            <a:prstGeom prst="line">
              <a:avLst/>
            </a:prstGeom>
            <a:ln w="25400" cap="rnd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383EE2F-EE63-BC6B-7BAE-E635904B28DB}"/>
                </a:ext>
              </a:extLst>
            </p:cNvPr>
            <p:cNvSpPr txBox="1"/>
            <p:nvPr/>
          </p:nvSpPr>
          <p:spPr>
            <a:xfrm>
              <a:off x="4981303" y="2583444"/>
              <a:ext cx="2808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ko-KR" altLang="en-US" sz="900" dirty="0" err="1">
                  <a:latin typeface="times" panose="02020603050405020304" pitchFamily="18" charset="0"/>
                  <a:cs typeface="times" panose="02020603050405020304" pitchFamily="18" charset="0"/>
                </a:rPr>
                <a:t>지상체</a:t>
              </a: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 구성 장비 제어</a:t>
              </a:r>
              <a:endParaRPr lang="en-US" altLang="ko-KR" sz="900" dirty="0"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안테나 구동기</a:t>
              </a:r>
              <a:r>
                <a:rPr lang="en-US" altLang="ko-KR" sz="900" dirty="0">
                  <a:latin typeface="times" panose="02020603050405020304" pitchFamily="18" charset="0"/>
                  <a:cs typeface="times" panose="02020603050405020304" pitchFamily="18" charset="0"/>
                </a:rPr>
                <a:t>/</a:t>
              </a: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신호 송수신기</a:t>
              </a:r>
              <a:r>
                <a:rPr lang="en-US" altLang="ko-KR" sz="900" dirty="0">
                  <a:latin typeface="times" panose="02020603050405020304" pitchFamily="18" charset="0"/>
                  <a:cs typeface="times" panose="02020603050405020304" pitchFamily="18" charset="0"/>
                </a:rPr>
                <a:t>/PC </a:t>
              </a: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모듈</a:t>
              </a:r>
              <a:r>
                <a:rPr lang="en-US" altLang="ko-KR" sz="900" dirty="0">
                  <a:latin typeface="times" panose="02020603050405020304" pitchFamily="18" charset="0"/>
                  <a:cs typeface="times" panose="02020603050405020304" pitchFamily="18" charset="0"/>
                </a:rPr>
                <a:t>/…</a:t>
              </a:r>
              <a:endParaRPr lang="ko-KR" altLang="en-US" sz="9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9936320-91B8-E78A-CD0C-04438F08FB41}"/>
                </a:ext>
              </a:extLst>
            </p:cNvPr>
            <p:cNvSpPr txBox="1"/>
            <p:nvPr/>
          </p:nvSpPr>
          <p:spPr>
            <a:xfrm>
              <a:off x="4981303" y="3273819"/>
              <a:ext cx="280851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하향</a:t>
              </a:r>
              <a:r>
                <a:rPr lang="en-US" altLang="ko-KR" sz="900" dirty="0">
                  <a:latin typeface="times" panose="02020603050405020304" pitchFamily="18" charset="0"/>
                  <a:cs typeface="times" panose="02020603050405020304" pitchFamily="18" charset="0"/>
                </a:rPr>
                <a:t>/</a:t>
              </a: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상향 데이터 관리</a:t>
              </a:r>
              <a:endParaRPr lang="en-US" altLang="ko-KR" sz="900" dirty="0"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900" dirty="0" err="1">
                  <a:latin typeface="times" panose="02020603050405020304" pitchFamily="18" charset="0"/>
                  <a:cs typeface="times" panose="02020603050405020304" pitchFamily="18" charset="0"/>
                </a:rPr>
                <a:t>지상체</a:t>
              </a: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 내</a:t>
              </a:r>
              <a:r>
                <a:rPr lang="en-US" altLang="ko-KR" sz="900" dirty="0">
                  <a:latin typeface="times" panose="02020603050405020304" pitchFamily="18" charset="0"/>
                  <a:cs typeface="times" panose="02020603050405020304" pitchFamily="18" charset="0"/>
                </a:rPr>
                <a:t>/</a:t>
              </a: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외부 데이터 관리</a:t>
              </a:r>
              <a:endParaRPr lang="en-US" altLang="ko-KR" sz="900" dirty="0"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사용자 인터페이스</a:t>
              </a:r>
              <a:r>
                <a:rPr lang="en-US" altLang="ko-KR" sz="900" dirty="0">
                  <a:latin typeface="times" panose="02020603050405020304" pitchFamily="18" charset="0"/>
                  <a:cs typeface="times" panose="02020603050405020304" pitchFamily="18" charset="0"/>
                </a:rPr>
                <a:t> </a:t>
              </a: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지원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1FEE6FA-AF0F-86E6-B9E2-9294F3BA0FEF}"/>
                </a:ext>
              </a:extLst>
            </p:cNvPr>
            <p:cNvSpPr txBox="1"/>
            <p:nvPr/>
          </p:nvSpPr>
          <p:spPr>
            <a:xfrm>
              <a:off x="4981303" y="3945012"/>
              <a:ext cx="280851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위성 비행 동역학 분석 및 예측</a:t>
              </a:r>
              <a:endParaRPr lang="en-US" altLang="ko-KR" sz="900" dirty="0"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900" dirty="0">
                  <a:latin typeface="times" panose="02020603050405020304" pitchFamily="18" charset="0"/>
                  <a:cs typeface="times" panose="02020603050405020304" pitchFamily="18" charset="0"/>
                </a:rPr>
                <a:t>TLE, GNSS </a:t>
              </a: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원시 데이터를 바탕으로 궤도 결정</a:t>
              </a:r>
              <a:endParaRPr lang="en-US" altLang="ko-KR" sz="900" dirty="0"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정밀 동역학 모델 기반 궤도 및 사건 예측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9D405D0-63AF-03F4-E240-476B52A3E813}"/>
                </a:ext>
              </a:extLst>
            </p:cNvPr>
            <p:cNvSpPr txBox="1"/>
            <p:nvPr/>
          </p:nvSpPr>
          <p:spPr>
            <a:xfrm>
              <a:off x="4981302" y="4630119"/>
              <a:ext cx="314270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임무 운용 계획 수립</a:t>
              </a:r>
              <a:endParaRPr lang="en-US" altLang="ko-KR" sz="900" dirty="0"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900" dirty="0">
                  <a:latin typeface="times" panose="02020603050405020304" pitchFamily="18" charset="0"/>
                  <a:cs typeface="times" panose="02020603050405020304" pitchFamily="18" charset="0"/>
                </a:rPr>
                <a:t>SLR, </a:t>
              </a:r>
              <a:r>
                <a:rPr lang="ko-KR" altLang="en-US" sz="900" dirty="0" err="1">
                  <a:latin typeface="times" panose="02020603050405020304" pitchFamily="18" charset="0"/>
                  <a:cs typeface="times" panose="02020603050405020304" pitchFamily="18" charset="0"/>
                </a:rPr>
                <a:t>대즐링</a:t>
              </a: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 레이저 운용 계획 기반 임무 수행 일정 작성 및 임무 수행 가능성 분석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24DFFBD-F477-3FAA-0688-2437D47C09D7}"/>
                </a:ext>
              </a:extLst>
            </p:cNvPr>
            <p:cNvSpPr txBox="1"/>
            <p:nvPr/>
          </p:nvSpPr>
          <p:spPr>
            <a:xfrm>
              <a:off x="4981303" y="5352883"/>
              <a:ext cx="32379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ko-KR" altLang="en-US" sz="900" dirty="0" err="1">
                  <a:latin typeface="times" panose="02020603050405020304" pitchFamily="18" charset="0"/>
                  <a:cs typeface="times" panose="02020603050405020304" pitchFamily="18" charset="0"/>
                </a:rPr>
                <a:t>위성체</a:t>
              </a: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 운용 계획 수립 </a:t>
              </a:r>
              <a:endParaRPr lang="en-US" altLang="ko-KR" sz="900" dirty="0"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900" dirty="0" err="1">
                  <a:latin typeface="times" panose="02020603050405020304" pitchFamily="18" charset="0"/>
                  <a:cs typeface="times" panose="02020603050405020304" pitchFamily="18" charset="0"/>
                </a:rPr>
                <a:t>위성체</a:t>
              </a:r>
              <a:r>
                <a:rPr lang="ko-KR" altLang="en-US" sz="900" dirty="0">
                  <a:latin typeface="times" panose="02020603050405020304" pitchFamily="18" charset="0"/>
                  <a:cs typeface="times" panose="02020603050405020304" pitchFamily="18" charset="0"/>
                </a:rPr>
                <a:t> 상태 정보 및 임무 수행 일정 기반 원격 명령 작성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07784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Ground System (</a:t>
            </a:r>
            <a:r>
              <a:rPr lang="ko-KR" altLang="en-US" dirty="0" err="1"/>
              <a:t>지상체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35070-6961-41AA-9CAB-8E21FCA2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지상체</a:t>
            </a:r>
            <a:r>
              <a:rPr lang="ko-KR" altLang="en-US" dirty="0"/>
              <a:t> </a:t>
            </a:r>
            <a:r>
              <a:rPr lang="ko-KR" altLang="en-US" dirty="0" err="1"/>
              <a:t>설계안</a:t>
            </a:r>
            <a:endParaRPr lang="en-US" altLang="ko-KR" dirty="0"/>
          </a:p>
          <a:p>
            <a:pPr marL="597150" lvl="1" indent="-285750"/>
            <a:r>
              <a:rPr lang="ko-KR" altLang="en-US" dirty="0"/>
              <a:t>위성체는 장비제어체의 송수신기를 통해서 지상체와 통신</a:t>
            </a:r>
            <a:endParaRPr lang="en-US" altLang="ko-KR" dirty="0"/>
          </a:p>
          <a:p>
            <a:pPr marL="597150" lvl="1" indent="-285750"/>
            <a:r>
              <a:rPr lang="ko-KR" altLang="en-US" dirty="0" err="1"/>
              <a:t>비행동력학체의</a:t>
            </a:r>
            <a:r>
              <a:rPr lang="ko-KR" altLang="en-US" dirty="0"/>
              <a:t> 임무계획체에 </a:t>
            </a:r>
            <a:r>
              <a:rPr lang="en-US" altLang="ko-KR" dirty="0"/>
              <a:t>SLR </a:t>
            </a:r>
            <a:r>
              <a:rPr lang="ko-KR" altLang="en-US" dirty="0"/>
              <a:t>및 </a:t>
            </a:r>
            <a:r>
              <a:rPr lang="ko-KR" altLang="en-US" dirty="0" err="1"/>
              <a:t>대즐링</a:t>
            </a:r>
            <a:r>
              <a:rPr lang="ko-KR" altLang="en-US" dirty="0"/>
              <a:t> 운용계획 정보 전달 </a:t>
            </a:r>
            <a:endParaRPr lang="en-US" altLang="ko-KR" dirty="0"/>
          </a:p>
          <a:p>
            <a:pPr marL="597150" lvl="1" indent="-285750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9EDDB1D-960C-B1B2-CFA6-1808F276D530}"/>
              </a:ext>
            </a:extLst>
          </p:cNvPr>
          <p:cNvGrpSpPr/>
          <p:nvPr/>
        </p:nvGrpSpPr>
        <p:grpSpPr>
          <a:xfrm>
            <a:off x="22799" y="2337840"/>
            <a:ext cx="9121201" cy="3866777"/>
            <a:chOff x="152872" y="2310185"/>
            <a:chExt cx="9541634" cy="3866777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881A038A-1976-9B52-6584-B451D6F11FB5}"/>
                </a:ext>
              </a:extLst>
            </p:cNvPr>
            <p:cNvSpPr/>
            <p:nvPr/>
          </p:nvSpPr>
          <p:spPr>
            <a:xfrm>
              <a:off x="6350031" y="2580067"/>
              <a:ext cx="1987610" cy="3596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ECDA773-B5AB-C997-E331-2A0E32091B9F}"/>
                </a:ext>
              </a:extLst>
            </p:cNvPr>
            <p:cNvSpPr/>
            <p:nvPr/>
          </p:nvSpPr>
          <p:spPr>
            <a:xfrm>
              <a:off x="3786760" y="2580068"/>
              <a:ext cx="1987610" cy="28011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92EAC43-F791-0C29-B670-344708C3467B}"/>
                </a:ext>
              </a:extLst>
            </p:cNvPr>
            <p:cNvSpPr/>
            <p:nvPr/>
          </p:nvSpPr>
          <p:spPr>
            <a:xfrm>
              <a:off x="1206321" y="2580068"/>
              <a:ext cx="1987610" cy="28011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25D777D-F37C-7206-B5D4-A8DD058CF3F4}"/>
                </a:ext>
              </a:extLst>
            </p:cNvPr>
            <p:cNvSpPr/>
            <p:nvPr/>
          </p:nvSpPr>
          <p:spPr>
            <a:xfrm>
              <a:off x="1279829" y="2310185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ICS</a:t>
              </a:r>
            </a:p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장비제어체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Instrument Control System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6D8397C-163F-C59E-8438-A652A7582ABB}"/>
                </a:ext>
              </a:extLst>
            </p:cNvPr>
            <p:cNvSpPr/>
            <p:nvPr/>
          </p:nvSpPr>
          <p:spPr>
            <a:xfrm>
              <a:off x="6417138" y="2310185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FDS</a:t>
              </a:r>
            </a:p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비행동역학체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Flight Dynamic System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880791C8-0385-A75D-6D5D-1F25F9A4EE35}"/>
                </a:ext>
              </a:extLst>
            </p:cNvPr>
            <p:cNvSpPr/>
            <p:nvPr/>
          </p:nvSpPr>
          <p:spPr>
            <a:xfrm>
              <a:off x="3841909" y="2310185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GSW</a:t>
              </a:r>
            </a:p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지상소프트웨어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Ground Station Software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E76C4646-16C0-9CD1-C06A-E0F1B17B2D89}"/>
                </a:ext>
              </a:extLst>
            </p:cNvPr>
            <p:cNvSpPr/>
            <p:nvPr/>
          </p:nvSpPr>
          <p:spPr>
            <a:xfrm>
              <a:off x="6417137" y="4664877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MPS</a:t>
              </a:r>
            </a:p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임무계획체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Mission Planning System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F1DE2007-FB03-AD55-DF8B-176002BC45D2}"/>
                </a:ext>
              </a:extLst>
            </p:cNvPr>
            <p:cNvSpPr/>
            <p:nvPr/>
          </p:nvSpPr>
          <p:spPr>
            <a:xfrm>
              <a:off x="6417136" y="5452439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SOS</a:t>
              </a:r>
            </a:p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위성운용체</a:t>
              </a:r>
              <a:endParaRPr lang="en-US" altLang="ko-KR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Spacecraft Operation System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6771822-00D3-DE2F-7C78-09941CA6E680}"/>
                </a:ext>
              </a:extLst>
            </p:cNvPr>
            <p:cNvSpPr/>
            <p:nvPr/>
          </p:nvSpPr>
          <p:spPr>
            <a:xfrm>
              <a:off x="1279829" y="4664877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안테나 구동기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87DB1D1-E70A-2E68-89D6-78F28543B9B5}"/>
                </a:ext>
              </a:extLst>
            </p:cNvPr>
            <p:cNvSpPr/>
            <p:nvPr/>
          </p:nvSpPr>
          <p:spPr>
            <a:xfrm>
              <a:off x="3841909" y="3089754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데이터 처리 모듈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9D21465-20F5-2494-36EC-ABE2590C4F3F}"/>
                </a:ext>
              </a:extLst>
            </p:cNvPr>
            <p:cNvSpPr/>
            <p:nvPr/>
          </p:nvSpPr>
          <p:spPr>
            <a:xfrm>
              <a:off x="3841909" y="3877315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그래픽 모듈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4D1F764-7FF9-B7B5-15B0-BFD432F97090}"/>
                </a:ext>
              </a:extLst>
            </p:cNvPr>
            <p:cNvSpPr/>
            <p:nvPr/>
          </p:nvSpPr>
          <p:spPr>
            <a:xfrm>
              <a:off x="3841909" y="4664877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제어 모듈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F529ED00-A98F-A228-88EC-4C048936C9FB}"/>
                </a:ext>
              </a:extLst>
            </p:cNvPr>
            <p:cNvSpPr/>
            <p:nvPr/>
          </p:nvSpPr>
          <p:spPr>
            <a:xfrm>
              <a:off x="6417137" y="3089754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궤도 결정</a:t>
              </a:r>
              <a:endParaRPr lang="ko-KR" altLang="en-US" sz="12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44DB2FE-4F0B-2528-81AC-B25702E4005F}"/>
                </a:ext>
              </a:extLst>
            </p:cNvPr>
            <p:cNvSpPr/>
            <p:nvPr/>
          </p:nvSpPr>
          <p:spPr>
            <a:xfrm>
              <a:off x="6417137" y="3877315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궤도 및 사건 예측</a:t>
              </a: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4D0B75DA-F737-D14A-25B4-12C035808658}"/>
                </a:ext>
              </a:extLst>
            </p:cNvPr>
            <p:cNvCxnSpPr>
              <a:cxnSpLocks/>
            </p:cNvCxnSpPr>
            <p:nvPr/>
          </p:nvCxnSpPr>
          <p:spPr>
            <a:xfrm>
              <a:off x="3117694" y="3306311"/>
              <a:ext cx="72421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7545B2D8-BA36-F111-0619-040F8B1CB14E}"/>
                </a:ext>
              </a:extLst>
            </p:cNvPr>
            <p:cNvCxnSpPr>
              <a:stCxn id="49" idx="2"/>
              <a:endCxn id="50" idx="0"/>
            </p:cNvCxnSpPr>
            <p:nvPr/>
          </p:nvCxnSpPr>
          <p:spPr>
            <a:xfrm>
              <a:off x="4767416" y="3649288"/>
              <a:ext cx="0" cy="2280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DA63F80D-6236-C67A-6FBA-8EAE35F8BF0B}"/>
                </a:ext>
              </a:extLst>
            </p:cNvPr>
            <p:cNvCxnSpPr>
              <a:cxnSpLocks/>
            </p:cNvCxnSpPr>
            <p:nvPr/>
          </p:nvCxnSpPr>
          <p:spPr>
            <a:xfrm>
              <a:off x="5692922" y="3244830"/>
              <a:ext cx="72421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CB108A7E-2C85-B843-6293-95234D2A585E}"/>
                </a:ext>
              </a:extLst>
            </p:cNvPr>
            <p:cNvCxnSpPr>
              <a:stCxn id="52" idx="2"/>
              <a:endCxn id="53" idx="0"/>
            </p:cNvCxnSpPr>
            <p:nvPr/>
          </p:nvCxnSpPr>
          <p:spPr>
            <a:xfrm>
              <a:off x="7342644" y="3649288"/>
              <a:ext cx="0" cy="2280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167E8159-6C8E-871D-0B55-4E6374474F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7693" y="3454497"/>
              <a:ext cx="7242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BC0ADB2C-17D8-5DF8-3A52-26A5B6E917C0}"/>
                </a:ext>
              </a:extLst>
            </p:cNvPr>
            <p:cNvCxnSpPr>
              <a:cxnSpLocks/>
              <a:stCxn id="53" idx="1"/>
            </p:cNvCxnSpPr>
            <p:nvPr/>
          </p:nvCxnSpPr>
          <p:spPr>
            <a:xfrm rot="10800000">
              <a:off x="5692921" y="3514386"/>
              <a:ext cx="724217" cy="642697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F8A58110-9B32-C1E5-465C-700C37C38026}"/>
                </a:ext>
              </a:extLst>
            </p:cNvPr>
            <p:cNvCxnSpPr>
              <a:stCxn id="53" idx="1"/>
              <a:endCxn id="51" idx="3"/>
            </p:cNvCxnSpPr>
            <p:nvPr/>
          </p:nvCxnSpPr>
          <p:spPr>
            <a:xfrm rot="10800000" flipV="1">
              <a:off x="5692923" y="4157082"/>
              <a:ext cx="724215" cy="787562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00EBCA46-7EA8-7DC9-A028-FB421143D441}"/>
                </a:ext>
              </a:extLst>
            </p:cNvPr>
            <p:cNvCxnSpPr>
              <a:cxnSpLocks/>
              <a:stCxn id="51" idx="0"/>
              <a:endCxn id="50" idx="2"/>
            </p:cNvCxnSpPr>
            <p:nvPr/>
          </p:nvCxnSpPr>
          <p:spPr>
            <a:xfrm flipV="1">
              <a:off x="4767416" y="4436849"/>
              <a:ext cx="0" cy="2280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9242B98C-B26C-0272-9FF9-8424DE28E80F}"/>
                </a:ext>
              </a:extLst>
            </p:cNvPr>
            <p:cNvCxnSpPr>
              <a:cxnSpLocks/>
              <a:stCxn id="51" idx="1"/>
              <a:endCxn id="48" idx="3"/>
            </p:cNvCxnSpPr>
            <p:nvPr/>
          </p:nvCxnSpPr>
          <p:spPr>
            <a:xfrm flipH="1">
              <a:off x="3130842" y="4944644"/>
              <a:ext cx="7110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9F978872-0B37-274C-A10D-AF9F0A4C6E48}"/>
                </a:ext>
              </a:extLst>
            </p:cNvPr>
            <p:cNvCxnSpPr>
              <a:stCxn id="53" idx="2"/>
              <a:endCxn id="46" idx="0"/>
            </p:cNvCxnSpPr>
            <p:nvPr/>
          </p:nvCxnSpPr>
          <p:spPr>
            <a:xfrm>
              <a:off x="7342644" y="4436849"/>
              <a:ext cx="0" cy="2280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D431045F-28C6-DEB3-E0F1-BCD55BE1D0D5}"/>
                </a:ext>
              </a:extLst>
            </p:cNvPr>
            <p:cNvCxnSpPr>
              <a:stCxn id="46" idx="2"/>
              <a:endCxn id="47" idx="0"/>
            </p:cNvCxnSpPr>
            <p:nvPr/>
          </p:nvCxnSpPr>
          <p:spPr>
            <a:xfrm flipH="1">
              <a:off x="7342643" y="5224411"/>
              <a:ext cx="1" cy="2280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FA34A26B-EF81-E9C0-AE83-90B34D03FA76}"/>
                </a:ext>
              </a:extLst>
            </p:cNvPr>
            <p:cNvCxnSpPr>
              <a:cxnSpLocks/>
              <a:stCxn id="47" idx="1"/>
              <a:endCxn id="49" idx="3"/>
            </p:cNvCxnSpPr>
            <p:nvPr/>
          </p:nvCxnSpPr>
          <p:spPr>
            <a:xfrm rot="10800000">
              <a:off x="5692922" y="3369522"/>
              <a:ext cx="724214" cy="2362685"/>
            </a:xfrm>
            <a:prstGeom prst="bentConnector3">
              <a:avLst>
                <a:gd name="adj1" fmla="val 3507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4EEDC39-94D2-BD6D-DBAD-A3B6154228EC}"/>
                </a:ext>
              </a:extLst>
            </p:cNvPr>
            <p:cNvSpPr txBox="1"/>
            <p:nvPr/>
          </p:nvSpPr>
          <p:spPr>
            <a:xfrm>
              <a:off x="3153123" y="2964348"/>
              <a:ext cx="69791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000" dirty="0">
                  <a:latin typeface="times" panose="02020603050405020304" pitchFamily="18" charset="0"/>
                  <a:cs typeface="times" panose="02020603050405020304" pitchFamily="18" charset="0"/>
                </a:rPr>
                <a:t>하향 </a:t>
              </a:r>
              <a:endParaRPr lang="en-US" altLang="ko-KR" sz="1000" dirty="0"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ko-KR" altLang="en-US" sz="1000" dirty="0">
                  <a:latin typeface="times" panose="02020603050405020304" pitchFamily="18" charset="0"/>
                  <a:cs typeface="times" panose="02020603050405020304" pitchFamily="18" charset="0"/>
                </a:rPr>
                <a:t>데이터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5119B3E-E203-B620-A551-9D28F4E6FE08}"/>
                </a:ext>
              </a:extLst>
            </p:cNvPr>
            <p:cNvSpPr txBox="1"/>
            <p:nvPr/>
          </p:nvSpPr>
          <p:spPr>
            <a:xfrm>
              <a:off x="3130843" y="3475198"/>
              <a:ext cx="69791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000" dirty="0">
                  <a:latin typeface="times" panose="02020603050405020304" pitchFamily="18" charset="0"/>
                  <a:cs typeface="times" panose="02020603050405020304" pitchFamily="18" charset="0"/>
                </a:rPr>
                <a:t>상향 </a:t>
              </a:r>
              <a:endParaRPr lang="en-US" altLang="ko-KR" sz="1000" dirty="0"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ko-KR" altLang="en-US" sz="1000" dirty="0">
                  <a:latin typeface="times" panose="02020603050405020304" pitchFamily="18" charset="0"/>
                  <a:cs typeface="times" panose="02020603050405020304" pitchFamily="18" charset="0"/>
                </a:rPr>
                <a:t>데이터</a:t>
              </a: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8FBC332-3A05-BBB9-61DA-A0230D1FCF4E}"/>
                </a:ext>
              </a:extLst>
            </p:cNvPr>
            <p:cNvSpPr/>
            <p:nvPr/>
          </p:nvSpPr>
          <p:spPr>
            <a:xfrm>
              <a:off x="1266681" y="3089754"/>
              <a:ext cx="1851013" cy="55953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송수신기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03CA286-3C45-982B-2078-652F9564B59D}"/>
                </a:ext>
              </a:extLst>
            </p:cNvPr>
            <p:cNvSpPr txBox="1"/>
            <p:nvPr/>
          </p:nvSpPr>
          <p:spPr>
            <a:xfrm>
              <a:off x="152872" y="3272125"/>
              <a:ext cx="69791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400" b="1" dirty="0" err="1">
                  <a:latin typeface="times" panose="02020603050405020304" pitchFamily="18" charset="0"/>
                  <a:cs typeface="times" panose="02020603050405020304" pitchFamily="18" charset="0"/>
                </a:rPr>
                <a:t>위성체</a:t>
              </a:r>
              <a:endParaRPr lang="ko-KR" altLang="en-US" sz="1400" b="1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EC679765-4979-3925-353A-99FC6E19DB16}"/>
                </a:ext>
              </a:extLst>
            </p:cNvPr>
            <p:cNvGrpSpPr/>
            <p:nvPr/>
          </p:nvGrpSpPr>
          <p:grpSpPr>
            <a:xfrm>
              <a:off x="879868" y="3149223"/>
              <a:ext cx="373664" cy="440596"/>
              <a:chOff x="1027352" y="3183807"/>
              <a:chExt cx="373664" cy="440596"/>
            </a:xfrm>
          </p:grpSpPr>
          <p:sp>
            <p:nvSpPr>
              <p:cNvPr id="76" name="화살표: 오른쪽 75">
                <a:extLst>
                  <a:ext uri="{FF2B5EF4-FFF2-40B4-BE49-F238E27FC236}">
                    <a16:creationId xmlns:a16="http://schemas.microsoft.com/office/drawing/2014/main" id="{5064F7B4-7FF1-5A85-F0BB-0224DA08ED26}"/>
                  </a:ext>
                </a:extLst>
              </p:cNvPr>
              <p:cNvSpPr/>
              <p:nvPr/>
            </p:nvSpPr>
            <p:spPr>
              <a:xfrm>
                <a:off x="1027352" y="3183807"/>
                <a:ext cx="373664" cy="220035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77" name="화살표: 오른쪽 76">
                <a:extLst>
                  <a:ext uri="{FF2B5EF4-FFF2-40B4-BE49-F238E27FC236}">
                    <a16:creationId xmlns:a16="http://schemas.microsoft.com/office/drawing/2014/main" id="{2877DB0F-6BA2-868B-2D1A-A904F45AC2EA}"/>
                  </a:ext>
                </a:extLst>
              </p:cNvPr>
              <p:cNvSpPr/>
              <p:nvPr/>
            </p:nvSpPr>
            <p:spPr>
              <a:xfrm flipH="1">
                <a:off x="1027352" y="3404368"/>
                <a:ext cx="373664" cy="220035"/>
              </a:xfrm>
              <a:prstGeom prst="rightArrow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AC09491-0AB9-6F9D-D7AC-A98576FDA086}"/>
                </a:ext>
              </a:extLst>
            </p:cNvPr>
            <p:cNvSpPr txBox="1"/>
            <p:nvPr/>
          </p:nvSpPr>
          <p:spPr>
            <a:xfrm>
              <a:off x="3130842" y="4969083"/>
              <a:ext cx="69791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000" dirty="0">
                  <a:latin typeface="times" panose="02020603050405020304" pitchFamily="18" charset="0"/>
                  <a:cs typeface="times" panose="02020603050405020304" pitchFamily="18" charset="0"/>
                </a:rPr>
                <a:t>안테나 </a:t>
              </a:r>
              <a:br>
                <a:rPr lang="en-US" altLang="ko-KR" sz="1000" dirty="0">
                  <a:latin typeface="times" panose="02020603050405020304" pitchFamily="18" charset="0"/>
                  <a:cs typeface="times" panose="02020603050405020304" pitchFamily="18" charset="0"/>
                </a:rPr>
              </a:br>
              <a:r>
                <a:rPr lang="ko-KR" altLang="en-US" sz="1000" dirty="0">
                  <a:latin typeface="times" panose="02020603050405020304" pitchFamily="18" charset="0"/>
                  <a:cs typeface="times" panose="02020603050405020304" pitchFamily="18" charset="0"/>
                </a:rPr>
                <a:t>제어 입력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4DC1449-782E-3658-D159-838B212B3FA2}"/>
                </a:ext>
              </a:extLst>
            </p:cNvPr>
            <p:cNvSpPr txBox="1"/>
            <p:nvPr/>
          </p:nvSpPr>
          <p:spPr>
            <a:xfrm>
              <a:off x="5706071" y="2907887"/>
              <a:ext cx="69791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dirty="0">
                  <a:latin typeface="times" panose="02020603050405020304" pitchFamily="18" charset="0"/>
                  <a:cs typeface="times" panose="02020603050405020304" pitchFamily="18" charset="0"/>
                </a:rPr>
                <a:t>GNSS </a:t>
              </a:r>
            </a:p>
            <a:p>
              <a:pPr algn="ctr"/>
              <a:r>
                <a:rPr lang="ko-KR" altLang="en-US" sz="1000" dirty="0">
                  <a:latin typeface="times" panose="02020603050405020304" pitchFamily="18" charset="0"/>
                  <a:cs typeface="times" panose="02020603050405020304" pitchFamily="18" charset="0"/>
                </a:rPr>
                <a:t>원시데이터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D4F59E6-FEE6-5524-7699-21AB39147847}"/>
                </a:ext>
              </a:extLst>
            </p:cNvPr>
            <p:cNvSpPr txBox="1"/>
            <p:nvPr/>
          </p:nvSpPr>
          <p:spPr>
            <a:xfrm>
              <a:off x="5706071" y="5745498"/>
              <a:ext cx="69791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000" dirty="0">
                  <a:latin typeface="times" panose="02020603050405020304" pitchFamily="18" charset="0"/>
                  <a:cs typeface="times" panose="02020603050405020304" pitchFamily="18" charset="0"/>
                </a:rPr>
                <a:t>원격 명령</a:t>
              </a:r>
            </a:p>
          </p:txBody>
        </p:sp>
        <p:sp>
          <p:nvSpPr>
            <p:cNvPr id="74" name="화살표: 오른쪽 73">
              <a:extLst>
                <a:ext uri="{FF2B5EF4-FFF2-40B4-BE49-F238E27FC236}">
                  <a16:creationId xmlns:a16="http://schemas.microsoft.com/office/drawing/2014/main" id="{19BEBDD2-5C41-417C-0ECB-C93CE2B98740}"/>
                </a:ext>
              </a:extLst>
            </p:cNvPr>
            <p:cNvSpPr/>
            <p:nvPr/>
          </p:nvSpPr>
          <p:spPr>
            <a:xfrm flipH="1">
              <a:off x="8281299" y="4834626"/>
              <a:ext cx="373664" cy="220035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E22093D-71B6-E84E-E45E-538EF9DB40F8}"/>
                </a:ext>
              </a:extLst>
            </p:cNvPr>
            <p:cNvSpPr txBox="1"/>
            <p:nvPr/>
          </p:nvSpPr>
          <p:spPr>
            <a:xfrm>
              <a:off x="8668111" y="4807500"/>
              <a:ext cx="1026395" cy="323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50" b="1" dirty="0">
                  <a:latin typeface="times" panose="02020603050405020304" pitchFamily="18" charset="0"/>
                  <a:cs typeface="times" panose="02020603050405020304" pitchFamily="18" charset="0"/>
                </a:rPr>
                <a:t>SLR, </a:t>
              </a:r>
              <a:r>
                <a:rPr lang="ko-KR" altLang="en-US" sz="1050" b="1" dirty="0" err="1">
                  <a:latin typeface="times" panose="02020603050405020304" pitchFamily="18" charset="0"/>
                  <a:cs typeface="times" panose="02020603050405020304" pitchFamily="18" charset="0"/>
                </a:rPr>
                <a:t>대즐링</a:t>
              </a:r>
              <a:r>
                <a:rPr lang="ko-KR" altLang="en-US" sz="1050" b="1" dirty="0">
                  <a:latin typeface="times" panose="02020603050405020304" pitchFamily="18" charset="0"/>
                  <a:cs typeface="times" panose="02020603050405020304" pitchFamily="18" charset="0"/>
                </a:rPr>
                <a:t> </a:t>
              </a:r>
              <a:endParaRPr lang="en-US" altLang="ko-KR" sz="1050" b="1" dirty="0"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pPr algn="ctr"/>
              <a:r>
                <a:rPr lang="ko-KR" altLang="en-US" sz="1050" b="1" dirty="0">
                  <a:latin typeface="times" panose="02020603050405020304" pitchFamily="18" charset="0"/>
                  <a:cs typeface="times" panose="02020603050405020304" pitchFamily="18" charset="0"/>
                </a:rPr>
                <a:t>운용 계획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00732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945F1F-2279-4C2F-8D6D-AB250ACD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5153216-BF68-41E4-B240-2AAA3A01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큐브위성</a:t>
            </a:r>
            <a:r>
              <a:rPr lang="ko-KR" altLang="en-US" dirty="0"/>
              <a:t> 체계도</a:t>
            </a:r>
            <a:endParaRPr lang="en-US" altLang="ko-KR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16A7740-45A6-9074-E5FC-23892F2F9689}"/>
              </a:ext>
            </a:extLst>
          </p:cNvPr>
          <p:cNvGrpSpPr/>
          <p:nvPr/>
        </p:nvGrpSpPr>
        <p:grpSpPr>
          <a:xfrm>
            <a:off x="365687" y="1011477"/>
            <a:ext cx="7892538" cy="5406567"/>
            <a:chOff x="670484" y="972149"/>
            <a:chExt cx="7892538" cy="5406567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018D01F-18A2-8766-0DF0-8BE812715F7A}"/>
                </a:ext>
              </a:extLst>
            </p:cNvPr>
            <p:cNvSpPr/>
            <p:nvPr/>
          </p:nvSpPr>
          <p:spPr>
            <a:xfrm>
              <a:off x="6871022" y="1581363"/>
              <a:ext cx="1692000" cy="360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지상체</a:t>
              </a:r>
              <a:endParaRPr lang="ko-KR" altLang="en-US" sz="12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CD3C756-34A9-EDC8-3616-F8D0CB3DC439}"/>
                </a:ext>
              </a:extLst>
            </p:cNvPr>
            <p:cNvGrpSpPr/>
            <p:nvPr/>
          </p:nvGrpSpPr>
          <p:grpSpPr>
            <a:xfrm>
              <a:off x="670484" y="972149"/>
              <a:ext cx="7848191" cy="5406567"/>
              <a:chOff x="670484" y="972149"/>
              <a:chExt cx="7848191" cy="5406567"/>
            </a:xfrm>
          </p:grpSpPr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D62185DB-1636-13F8-0F97-65F5D8385105}"/>
                  </a:ext>
                </a:extLst>
              </p:cNvPr>
              <p:cNvSpPr/>
              <p:nvPr/>
            </p:nvSpPr>
            <p:spPr>
              <a:xfrm>
                <a:off x="3311499" y="972149"/>
                <a:ext cx="2521000" cy="468000"/>
              </a:xfrm>
              <a:prstGeom prst="rect">
                <a:avLst/>
              </a:prstGeom>
              <a:solidFill>
                <a:srgbClr val="2F559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bg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HYVRID</a:t>
                </a:r>
                <a:endParaRPr lang="ko-KR" altLang="en-US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DFE678B8-8C77-EE75-3174-2BCF500CE326}"/>
                  </a:ext>
                </a:extLst>
              </p:cNvPr>
              <p:cNvSpPr/>
              <p:nvPr/>
            </p:nvSpPr>
            <p:spPr>
              <a:xfrm>
                <a:off x="6898675" y="2059999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장비제어체</a:t>
                </a: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8F7F8F8D-4096-0C03-279A-7C768BDD9DFB}"/>
                  </a:ext>
                </a:extLst>
              </p:cNvPr>
              <p:cNvSpPr/>
              <p:nvPr/>
            </p:nvSpPr>
            <p:spPr>
              <a:xfrm>
                <a:off x="6898675" y="3424182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지상소프트웨어</a:t>
                </a: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F07ABB31-DAD2-8A50-8F82-2F1A5521E9B6}"/>
                  </a:ext>
                </a:extLst>
              </p:cNvPr>
              <p:cNvSpPr/>
              <p:nvPr/>
            </p:nvSpPr>
            <p:spPr>
              <a:xfrm>
                <a:off x="6898675" y="4148828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비행동역학체</a:t>
                </a:r>
                <a:endParaRPr lang="ko-KR" altLang="en-US" sz="10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14A0877E-A270-19AC-EB9F-94BC21B8408E}"/>
                  </a:ext>
                </a:extLst>
              </p:cNvPr>
              <p:cNvSpPr/>
              <p:nvPr/>
            </p:nvSpPr>
            <p:spPr>
              <a:xfrm>
                <a:off x="6898675" y="4816596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임무계획체</a:t>
                </a:r>
                <a:endParaRPr lang="ko-KR" altLang="en-US" sz="10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4517DD45-24DC-8C26-60FA-DC363DABF716}"/>
                  </a:ext>
                </a:extLst>
              </p:cNvPr>
              <p:cNvSpPr/>
              <p:nvPr/>
            </p:nvSpPr>
            <p:spPr>
              <a:xfrm>
                <a:off x="6898675" y="5692821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위성운용체</a:t>
                </a:r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9B627648-005A-31CC-5504-3047331782F8}"/>
                  </a:ext>
                </a:extLst>
              </p:cNvPr>
              <p:cNvSpPr/>
              <p:nvPr/>
            </p:nvSpPr>
            <p:spPr>
              <a:xfrm>
                <a:off x="7006743" y="2482723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UHF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안테나</a:t>
                </a:r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1E5606BB-904E-7F2C-945C-A996B7F49C33}"/>
                  </a:ext>
                </a:extLst>
              </p:cNvPr>
              <p:cNvSpPr/>
              <p:nvPr/>
            </p:nvSpPr>
            <p:spPr>
              <a:xfrm>
                <a:off x="7006743" y="2897787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S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대역 안테나</a:t>
                </a:r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DCE72A9D-A65E-BBB0-4B9D-DD72431EEABD}"/>
                  </a:ext>
                </a:extLst>
              </p:cNvPr>
              <p:cNvSpPr/>
              <p:nvPr/>
            </p:nvSpPr>
            <p:spPr>
              <a:xfrm>
                <a:off x="7006743" y="3112940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S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대역 송수신기</a:t>
                </a:r>
              </a:p>
            </p:txBody>
          </p:sp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4BC88997-1E89-1748-F3D8-98F320B03080}"/>
                  </a:ext>
                </a:extLst>
              </p:cNvPr>
              <p:cNvSpPr/>
              <p:nvPr/>
            </p:nvSpPr>
            <p:spPr>
              <a:xfrm>
                <a:off x="7006743" y="2682635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UHF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송수신기</a:t>
                </a:r>
              </a:p>
            </p:txBody>
          </p:sp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6D429FAB-C31B-92C4-1BF9-30329FB7B8A0}"/>
                  </a:ext>
                </a:extLst>
              </p:cNvPr>
              <p:cNvSpPr/>
              <p:nvPr/>
            </p:nvSpPr>
            <p:spPr>
              <a:xfrm>
                <a:off x="7002475" y="3804658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데이터 관리 모듈</a:t>
                </a:r>
              </a:p>
            </p:txBody>
          </p:sp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1F49EDD0-BBEB-17B8-D13C-95BDC521032A}"/>
                  </a:ext>
                </a:extLst>
              </p:cNvPr>
              <p:cNvSpPr/>
              <p:nvPr/>
            </p:nvSpPr>
            <p:spPr>
              <a:xfrm>
                <a:off x="7002475" y="4512641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비행동역학 모듈</a:t>
                </a:r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09234FEF-3E01-02C6-A57E-6307B546E6C4}"/>
                  </a:ext>
                </a:extLst>
              </p:cNvPr>
              <p:cNvSpPr/>
              <p:nvPr/>
            </p:nvSpPr>
            <p:spPr>
              <a:xfrm>
                <a:off x="7002475" y="5192238"/>
                <a:ext cx="1440000" cy="30108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임무 일정 </a:t>
                </a:r>
                <a:b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</a:b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생성 및 평가 모듈</a:t>
                </a:r>
              </a:p>
            </p:txBody>
          </p:sp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D1FE9120-0AC7-6A23-B046-F935457085D4}"/>
                  </a:ext>
                </a:extLst>
              </p:cNvPr>
              <p:cNvSpPr/>
              <p:nvPr/>
            </p:nvSpPr>
            <p:spPr>
              <a:xfrm>
                <a:off x="7002475" y="6062320"/>
                <a:ext cx="1440000" cy="30108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위성 운용 일정 </a:t>
                </a:r>
                <a:b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</a:b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생성 및 평가 모듈</a:t>
                </a:r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B409D3DB-3E03-9340-2C5A-BFDE7CF49C88}"/>
                  </a:ext>
                </a:extLst>
              </p:cNvPr>
              <p:cNvSpPr/>
              <p:nvPr/>
            </p:nvSpPr>
            <p:spPr>
              <a:xfrm>
                <a:off x="695676" y="2058563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박막전개장치</a:t>
                </a:r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1B534B66-BF92-051B-8DB9-6DF6B640DDB7}"/>
                  </a:ext>
                </a:extLst>
              </p:cNvPr>
              <p:cNvSpPr/>
              <p:nvPr/>
            </p:nvSpPr>
            <p:spPr>
              <a:xfrm>
                <a:off x="676085" y="3451507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SLR </a:t>
                </a:r>
                <a:r>
                  <a:rPr lang="ko-KR" alt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레이저 감지기</a:t>
                </a:r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FFF2C461-95DE-F3E3-9C68-99945F2DA6EE}"/>
                  </a:ext>
                </a:extLst>
              </p:cNvPr>
              <p:cNvSpPr/>
              <p:nvPr/>
            </p:nvSpPr>
            <p:spPr>
              <a:xfrm>
                <a:off x="676085" y="4381859"/>
                <a:ext cx="1620000" cy="3132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 err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대즐링</a:t>
                </a:r>
                <a:r>
                  <a:rPr lang="ko-KR" alt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 능동대응 시험 </a:t>
                </a:r>
                <a:endParaRPr lang="en-US" altLang="ko-KR" sz="10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카메라</a:t>
                </a:r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DD42FF72-2F59-89FF-D687-020C7483FE62}"/>
                  </a:ext>
                </a:extLst>
              </p:cNvPr>
              <p:cNvSpPr/>
              <p:nvPr/>
            </p:nvSpPr>
            <p:spPr>
              <a:xfrm>
                <a:off x="670484" y="1585092"/>
                <a:ext cx="1692000" cy="360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 dirty="0" err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탑재체</a:t>
                </a:r>
                <a:endParaRPr lang="ko-KR" altLang="en-US" sz="12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C2A1C743-3B10-FD9D-A2D0-7E6E2741F695}"/>
                  </a:ext>
                </a:extLst>
              </p:cNvPr>
              <p:cNvSpPr/>
              <p:nvPr/>
            </p:nvSpPr>
            <p:spPr>
              <a:xfrm>
                <a:off x="787505" y="2459999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반사용 박막</a:t>
                </a:r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E9E4B0D6-6778-E7E9-7EFF-A86B36E64585}"/>
                  </a:ext>
                </a:extLst>
              </p:cNvPr>
              <p:cNvSpPr/>
              <p:nvPr/>
            </p:nvSpPr>
            <p:spPr>
              <a:xfrm>
                <a:off x="787505" y="2680249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테이프 스프링</a:t>
                </a:r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3DA08C50-E176-9245-FF15-E75725C3284B}"/>
                  </a:ext>
                </a:extLst>
              </p:cNvPr>
              <p:cNvSpPr/>
              <p:nvPr/>
            </p:nvSpPr>
            <p:spPr>
              <a:xfrm>
                <a:off x="787505" y="2911932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박막 카트리지</a:t>
                </a:r>
                <a:endParaRPr lang="ko-KR" altLang="en-US" sz="8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D4C4D574-9B9F-DAF0-8317-9E749F544B86}"/>
                  </a:ext>
                </a:extLst>
              </p:cNvPr>
              <p:cNvSpPr/>
              <p:nvPr/>
            </p:nvSpPr>
            <p:spPr>
              <a:xfrm>
                <a:off x="787505" y="3145789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전개 모듈</a:t>
                </a:r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EEEB835B-6C53-757C-C63A-58161264A05A}"/>
                  </a:ext>
                </a:extLst>
              </p:cNvPr>
              <p:cNvSpPr/>
              <p:nvPr/>
            </p:nvSpPr>
            <p:spPr>
              <a:xfrm>
                <a:off x="779885" y="3843299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포토다이오드</a:t>
                </a:r>
              </a:p>
            </p:txBody>
          </p:sp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DEFC1AB4-D2DE-DBB2-9DB4-08B6BC02B863}"/>
                  </a:ext>
                </a:extLst>
              </p:cNvPr>
              <p:cNvSpPr/>
              <p:nvPr/>
            </p:nvSpPr>
            <p:spPr>
              <a:xfrm>
                <a:off x="779885" y="4059690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데이터 처리 회로</a:t>
                </a:r>
              </a:p>
            </p:txBody>
          </p:sp>
          <p:sp>
            <p:nvSpPr>
              <p:cNvPr id="211" name="직사각형 210">
                <a:extLst>
                  <a:ext uri="{FF2B5EF4-FFF2-40B4-BE49-F238E27FC236}">
                    <a16:creationId xmlns:a16="http://schemas.microsoft.com/office/drawing/2014/main" id="{CCE280BB-B6BF-A4C4-B865-274D0BA70842}"/>
                  </a:ext>
                </a:extLst>
              </p:cNvPr>
              <p:cNvSpPr/>
              <p:nvPr/>
            </p:nvSpPr>
            <p:spPr>
              <a:xfrm>
                <a:off x="772265" y="4812727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카메라</a:t>
                </a:r>
                <a:endParaRPr lang="ko-KR" altLang="en-US" sz="8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31C08235-C78F-B322-899B-3FFAF0BC6829}"/>
                  </a:ext>
                </a:extLst>
              </p:cNvPr>
              <p:cNvSpPr/>
              <p:nvPr/>
            </p:nvSpPr>
            <p:spPr>
              <a:xfrm>
                <a:off x="772265" y="5064043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렌즈</a:t>
                </a:r>
              </a:p>
            </p:txBody>
          </p:sp>
          <p:sp>
            <p:nvSpPr>
              <p:cNvPr id="246" name="직사각형 245">
                <a:extLst>
                  <a:ext uri="{FF2B5EF4-FFF2-40B4-BE49-F238E27FC236}">
                    <a16:creationId xmlns:a16="http://schemas.microsoft.com/office/drawing/2014/main" id="{84526BAA-8D45-EF47-C4BB-787C00BE6213}"/>
                  </a:ext>
                </a:extLst>
              </p:cNvPr>
              <p:cNvSpPr/>
              <p:nvPr/>
            </p:nvSpPr>
            <p:spPr>
              <a:xfrm>
                <a:off x="2763342" y="2068395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명령 및 데이터 </a:t>
                </a:r>
                <a:r>
                  <a:rPr lang="ko-KR" altLang="en-US" sz="1000" b="1" dirty="0" err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처리계</a:t>
                </a:r>
                <a:endParaRPr lang="ko-KR" altLang="en-US" sz="10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47" name="직사각형 246">
                <a:extLst>
                  <a:ext uri="{FF2B5EF4-FFF2-40B4-BE49-F238E27FC236}">
                    <a16:creationId xmlns:a16="http://schemas.microsoft.com/office/drawing/2014/main" id="{DA595D7B-DF66-92B1-9A7C-E5986FBF3866}"/>
                  </a:ext>
                </a:extLst>
              </p:cNvPr>
              <p:cNvSpPr/>
              <p:nvPr/>
            </p:nvSpPr>
            <p:spPr>
              <a:xfrm>
                <a:off x="2763342" y="2962622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전력계</a:t>
                </a:r>
              </a:p>
            </p:txBody>
          </p:sp>
          <p:sp>
            <p:nvSpPr>
              <p:cNvPr id="248" name="직사각형 247">
                <a:extLst>
                  <a:ext uri="{FF2B5EF4-FFF2-40B4-BE49-F238E27FC236}">
                    <a16:creationId xmlns:a16="http://schemas.microsoft.com/office/drawing/2014/main" id="{EDD6B4EC-48D2-0E4C-CEC2-0E0626FE093B}"/>
                  </a:ext>
                </a:extLst>
              </p:cNvPr>
              <p:cNvSpPr/>
              <p:nvPr/>
            </p:nvSpPr>
            <p:spPr>
              <a:xfrm>
                <a:off x="2763342" y="4122657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항법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, </a:t>
                </a:r>
                <a:r>
                  <a:rPr lang="ko-KR" alt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항행 및 </a:t>
                </a:r>
                <a:r>
                  <a:rPr lang="ko-KR" altLang="en-US" sz="1000" b="1" dirty="0" err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제어계</a:t>
                </a:r>
                <a:endParaRPr lang="ko-KR" altLang="en-US" sz="10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F057083D-B43A-1B08-9707-2EB45F69147C}"/>
                  </a:ext>
                </a:extLst>
              </p:cNvPr>
              <p:cNvSpPr/>
              <p:nvPr/>
            </p:nvSpPr>
            <p:spPr>
              <a:xfrm>
                <a:off x="4723829" y="2060999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 err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통신계</a:t>
                </a:r>
                <a:endParaRPr lang="ko-KR" altLang="en-US" sz="10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50" name="직사각형 249">
                <a:extLst>
                  <a:ext uri="{FF2B5EF4-FFF2-40B4-BE49-F238E27FC236}">
                    <a16:creationId xmlns:a16="http://schemas.microsoft.com/office/drawing/2014/main" id="{89F53F94-1F08-741D-A9C2-EF06E3F2A6AF}"/>
                  </a:ext>
                </a:extLst>
              </p:cNvPr>
              <p:cNvSpPr/>
              <p:nvPr/>
            </p:nvSpPr>
            <p:spPr>
              <a:xfrm>
                <a:off x="4723829" y="3468348"/>
                <a:ext cx="1620000" cy="306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구조계</a:t>
                </a:r>
                <a:endParaRPr lang="ko-KR" altLang="en-US" sz="10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0104FA70-6763-38D0-7919-9095444778A4}"/>
                  </a:ext>
                </a:extLst>
              </p:cNvPr>
              <p:cNvSpPr/>
              <p:nvPr/>
            </p:nvSpPr>
            <p:spPr>
              <a:xfrm>
                <a:off x="2592561" y="1573582"/>
                <a:ext cx="3960000" cy="360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본체</a:t>
                </a:r>
              </a:p>
            </p:txBody>
          </p:sp>
          <p:sp>
            <p:nvSpPr>
              <p:cNvPr id="256" name="직사각형 255">
                <a:extLst>
                  <a:ext uri="{FF2B5EF4-FFF2-40B4-BE49-F238E27FC236}">
                    <a16:creationId xmlns:a16="http://schemas.microsoft.com/office/drawing/2014/main" id="{A40F23C9-104F-BB8D-2983-65DC4105F18C}"/>
                  </a:ext>
                </a:extLst>
              </p:cNvPr>
              <p:cNvSpPr/>
              <p:nvPr/>
            </p:nvSpPr>
            <p:spPr>
              <a:xfrm>
                <a:off x="2867142" y="2461272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탑재컴퓨터</a:t>
                </a:r>
              </a:p>
            </p:txBody>
          </p:sp>
          <p:sp>
            <p:nvSpPr>
              <p:cNvPr id="257" name="직사각형 256">
                <a:extLst>
                  <a:ext uri="{FF2B5EF4-FFF2-40B4-BE49-F238E27FC236}">
                    <a16:creationId xmlns:a16="http://schemas.microsoft.com/office/drawing/2014/main" id="{3F6F750D-BF31-CD10-BA8E-64E53E23A344}"/>
                  </a:ext>
                </a:extLst>
              </p:cNvPr>
              <p:cNvSpPr/>
              <p:nvPr/>
            </p:nvSpPr>
            <p:spPr>
              <a:xfrm>
                <a:off x="2867142" y="2658934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데이터 저장 장치</a:t>
                </a:r>
              </a:p>
            </p:txBody>
          </p:sp>
          <p:sp>
            <p:nvSpPr>
              <p:cNvPr id="258" name="직사각형 257">
                <a:extLst>
                  <a:ext uri="{FF2B5EF4-FFF2-40B4-BE49-F238E27FC236}">
                    <a16:creationId xmlns:a16="http://schemas.microsoft.com/office/drawing/2014/main" id="{E3566227-33AC-7367-BA72-E9966335D14A}"/>
                  </a:ext>
                </a:extLst>
              </p:cNvPr>
              <p:cNvSpPr/>
              <p:nvPr/>
            </p:nvSpPr>
            <p:spPr>
              <a:xfrm>
                <a:off x="2867142" y="3338234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배터리</a:t>
                </a:r>
              </a:p>
            </p:txBody>
          </p:sp>
          <p:sp>
            <p:nvSpPr>
              <p:cNvPr id="259" name="직사각형 258">
                <a:extLst>
                  <a:ext uri="{FF2B5EF4-FFF2-40B4-BE49-F238E27FC236}">
                    <a16:creationId xmlns:a16="http://schemas.microsoft.com/office/drawing/2014/main" id="{504F0792-27AA-744F-528F-256749800982}"/>
                  </a:ext>
                </a:extLst>
              </p:cNvPr>
              <p:cNvSpPr/>
              <p:nvPr/>
            </p:nvSpPr>
            <p:spPr>
              <a:xfrm>
                <a:off x="2867142" y="3559355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전력 관리 모듈</a:t>
                </a:r>
                <a:endParaRPr lang="ko-KR" altLang="en-US" sz="8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60" name="직사각형 259">
                <a:extLst>
                  <a:ext uri="{FF2B5EF4-FFF2-40B4-BE49-F238E27FC236}">
                    <a16:creationId xmlns:a16="http://schemas.microsoft.com/office/drawing/2014/main" id="{9FB91CBA-73BE-2BA8-3A7F-F6D17DE20D99}"/>
                  </a:ext>
                </a:extLst>
              </p:cNvPr>
              <p:cNvSpPr/>
              <p:nvPr/>
            </p:nvSpPr>
            <p:spPr>
              <a:xfrm>
                <a:off x="2867142" y="3782621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태양 </a:t>
                </a:r>
                <a:r>
                  <a:rPr lang="ko-KR" altLang="en-US" sz="800" dirty="0" err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전지판</a:t>
                </a:r>
                <a:endParaRPr lang="ko-KR" altLang="en-US" sz="8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61" name="직사각형 260">
                <a:extLst>
                  <a:ext uri="{FF2B5EF4-FFF2-40B4-BE49-F238E27FC236}">
                    <a16:creationId xmlns:a16="http://schemas.microsoft.com/office/drawing/2014/main" id="{F51B4F93-9D63-09F8-0B4E-363C369AA71A}"/>
                  </a:ext>
                </a:extLst>
              </p:cNvPr>
              <p:cNvSpPr/>
              <p:nvPr/>
            </p:nvSpPr>
            <p:spPr>
              <a:xfrm>
                <a:off x="2867142" y="4549260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정밀 태양 센서</a:t>
                </a:r>
              </a:p>
            </p:txBody>
          </p:sp>
          <p:sp>
            <p:nvSpPr>
              <p:cNvPr id="262" name="직사각형 261">
                <a:extLst>
                  <a:ext uri="{FF2B5EF4-FFF2-40B4-BE49-F238E27FC236}">
                    <a16:creationId xmlns:a16="http://schemas.microsoft.com/office/drawing/2014/main" id="{7B39AA6B-ACF5-9C18-690D-63278966E8FB}"/>
                  </a:ext>
                </a:extLst>
              </p:cNvPr>
              <p:cNvSpPr/>
              <p:nvPr/>
            </p:nvSpPr>
            <p:spPr>
              <a:xfrm>
                <a:off x="2867142" y="4788263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err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비정밀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 태양 센서</a:t>
                </a:r>
              </a:p>
            </p:txBody>
          </p:sp>
          <p:sp>
            <p:nvSpPr>
              <p:cNvPr id="263" name="직사각형 262">
                <a:extLst>
                  <a:ext uri="{FF2B5EF4-FFF2-40B4-BE49-F238E27FC236}">
                    <a16:creationId xmlns:a16="http://schemas.microsoft.com/office/drawing/2014/main" id="{11D7169B-C4DA-1B22-88E9-3B7B4E3010A4}"/>
                  </a:ext>
                </a:extLst>
              </p:cNvPr>
              <p:cNvSpPr/>
              <p:nvPr/>
            </p:nvSpPr>
            <p:spPr>
              <a:xfrm>
                <a:off x="2867142" y="5031471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각속도 센서</a:t>
                </a:r>
              </a:p>
            </p:txBody>
          </p:sp>
          <p:sp>
            <p:nvSpPr>
              <p:cNvPr id="264" name="직사각형 263">
                <a:extLst>
                  <a:ext uri="{FF2B5EF4-FFF2-40B4-BE49-F238E27FC236}">
                    <a16:creationId xmlns:a16="http://schemas.microsoft.com/office/drawing/2014/main" id="{F31BFCD8-4495-5881-1CAE-DADC7CDDC422}"/>
                  </a:ext>
                </a:extLst>
              </p:cNvPr>
              <p:cNvSpPr/>
              <p:nvPr/>
            </p:nvSpPr>
            <p:spPr>
              <a:xfrm>
                <a:off x="2867142" y="5272661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자기장 센서</a:t>
                </a:r>
                <a:endParaRPr lang="ko-KR" altLang="en-US" sz="8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65" name="직사각형 264">
                <a:extLst>
                  <a:ext uri="{FF2B5EF4-FFF2-40B4-BE49-F238E27FC236}">
                    <a16:creationId xmlns:a16="http://schemas.microsoft.com/office/drawing/2014/main" id="{D1227C44-52CC-8F27-6C78-CE362AF102A1}"/>
                  </a:ext>
                </a:extLst>
              </p:cNvPr>
              <p:cNvSpPr/>
              <p:nvPr/>
            </p:nvSpPr>
            <p:spPr>
              <a:xfrm>
                <a:off x="2867142" y="5511664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자기장 </a:t>
                </a:r>
                <a:r>
                  <a:rPr lang="ko-KR" altLang="en-US" sz="800" dirty="0" err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토커</a:t>
                </a:r>
                <a:endParaRPr lang="ko-KR" altLang="en-US" sz="8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66" name="직사각형 265">
                <a:extLst>
                  <a:ext uri="{FF2B5EF4-FFF2-40B4-BE49-F238E27FC236}">
                    <a16:creationId xmlns:a16="http://schemas.microsoft.com/office/drawing/2014/main" id="{6497A12C-7892-AFCF-973B-147A7728F597}"/>
                  </a:ext>
                </a:extLst>
              </p:cNvPr>
              <p:cNvSpPr/>
              <p:nvPr/>
            </p:nvSpPr>
            <p:spPr>
              <a:xfrm>
                <a:off x="2867142" y="5750667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반작용 휠</a:t>
                </a:r>
              </a:p>
            </p:txBody>
          </p:sp>
          <p:sp>
            <p:nvSpPr>
              <p:cNvPr id="267" name="직사각형 266">
                <a:extLst>
                  <a:ext uri="{FF2B5EF4-FFF2-40B4-BE49-F238E27FC236}">
                    <a16:creationId xmlns:a16="http://schemas.microsoft.com/office/drawing/2014/main" id="{60EED0E4-42A7-828C-D3DA-B36CE87DAA30}"/>
                  </a:ext>
                </a:extLst>
              </p:cNvPr>
              <p:cNvSpPr/>
              <p:nvPr/>
            </p:nvSpPr>
            <p:spPr>
              <a:xfrm>
                <a:off x="4820009" y="2474165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UHF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안테나</a:t>
                </a:r>
              </a:p>
            </p:txBody>
          </p:sp>
          <p:sp>
            <p:nvSpPr>
              <p:cNvPr id="268" name="직사각형 267">
                <a:extLst>
                  <a:ext uri="{FF2B5EF4-FFF2-40B4-BE49-F238E27FC236}">
                    <a16:creationId xmlns:a16="http://schemas.microsoft.com/office/drawing/2014/main" id="{597F5C11-D87D-095F-6A0D-E403864ADE1C}"/>
                  </a:ext>
                </a:extLst>
              </p:cNvPr>
              <p:cNvSpPr/>
              <p:nvPr/>
            </p:nvSpPr>
            <p:spPr>
              <a:xfrm>
                <a:off x="4820009" y="2913832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S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대역 안테나</a:t>
                </a:r>
              </a:p>
            </p:txBody>
          </p:sp>
          <p:sp>
            <p:nvSpPr>
              <p:cNvPr id="269" name="직사각형 268">
                <a:extLst>
                  <a:ext uri="{FF2B5EF4-FFF2-40B4-BE49-F238E27FC236}">
                    <a16:creationId xmlns:a16="http://schemas.microsoft.com/office/drawing/2014/main" id="{83FC217F-815B-4DFF-A76A-98194E55FDC6}"/>
                  </a:ext>
                </a:extLst>
              </p:cNvPr>
              <p:cNvSpPr/>
              <p:nvPr/>
            </p:nvSpPr>
            <p:spPr>
              <a:xfrm>
                <a:off x="4820009" y="3149318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S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대역 </a:t>
                </a:r>
                <a:r>
                  <a:rPr lang="ko-KR" altLang="en-US" sz="800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times" panose="02020603050405020304" pitchFamily="18" charset="0"/>
                    <a:cs typeface="times" panose="02020603050405020304" pitchFamily="18" charset="0"/>
                  </a:rPr>
                  <a:t>수신기</a:t>
                </a:r>
              </a:p>
            </p:txBody>
          </p:sp>
          <p:sp>
            <p:nvSpPr>
              <p:cNvPr id="270" name="직사각형 269">
                <a:extLst>
                  <a:ext uri="{FF2B5EF4-FFF2-40B4-BE49-F238E27FC236}">
                    <a16:creationId xmlns:a16="http://schemas.microsoft.com/office/drawing/2014/main" id="{A405D575-57BA-267D-BB52-9360D6F8627E}"/>
                  </a:ext>
                </a:extLst>
              </p:cNvPr>
              <p:cNvSpPr/>
              <p:nvPr/>
            </p:nvSpPr>
            <p:spPr>
              <a:xfrm>
                <a:off x="4820009" y="2685966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UHF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송수신기</a:t>
                </a:r>
              </a:p>
            </p:txBody>
          </p:sp>
          <p:sp>
            <p:nvSpPr>
              <p:cNvPr id="271" name="직사각형 270">
                <a:extLst>
                  <a:ext uri="{FF2B5EF4-FFF2-40B4-BE49-F238E27FC236}">
                    <a16:creationId xmlns:a16="http://schemas.microsoft.com/office/drawing/2014/main" id="{7466591A-571C-D09F-E7B8-6338C185DFFB}"/>
                  </a:ext>
                </a:extLst>
              </p:cNvPr>
              <p:cNvSpPr/>
              <p:nvPr/>
            </p:nvSpPr>
            <p:spPr>
              <a:xfrm>
                <a:off x="4820009" y="3890830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프레임</a:t>
                </a:r>
              </a:p>
            </p:txBody>
          </p:sp>
          <p:sp>
            <p:nvSpPr>
              <p:cNvPr id="272" name="직사각형 271">
                <a:extLst>
                  <a:ext uri="{FF2B5EF4-FFF2-40B4-BE49-F238E27FC236}">
                    <a16:creationId xmlns:a16="http://schemas.microsoft.com/office/drawing/2014/main" id="{13F34CD0-C947-20EB-FCB2-C26E4036A6D5}"/>
                  </a:ext>
                </a:extLst>
              </p:cNvPr>
              <p:cNvSpPr/>
              <p:nvPr/>
            </p:nvSpPr>
            <p:spPr>
              <a:xfrm>
                <a:off x="4820009" y="4105529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err="1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힌지</a:t>
                </a:r>
                <a:endParaRPr lang="ko-KR" altLang="en-US" sz="80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77" name="직사각형 276">
                <a:extLst>
                  <a:ext uri="{FF2B5EF4-FFF2-40B4-BE49-F238E27FC236}">
                    <a16:creationId xmlns:a16="http://schemas.microsoft.com/office/drawing/2014/main" id="{607FE6B1-9A32-43BC-32D5-A1239913C904}"/>
                  </a:ext>
                </a:extLst>
              </p:cNvPr>
              <p:cNvSpPr/>
              <p:nvPr/>
            </p:nvSpPr>
            <p:spPr>
              <a:xfrm>
                <a:off x="2876094" y="5989670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GPS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안테나</a:t>
                </a:r>
              </a:p>
            </p:txBody>
          </p:sp>
          <p:sp>
            <p:nvSpPr>
              <p:cNvPr id="278" name="직사각형 277">
                <a:extLst>
                  <a:ext uri="{FF2B5EF4-FFF2-40B4-BE49-F238E27FC236}">
                    <a16:creationId xmlns:a16="http://schemas.microsoft.com/office/drawing/2014/main" id="{48E5EBB3-0667-CE15-C441-9DDA7A51C5BF}"/>
                  </a:ext>
                </a:extLst>
              </p:cNvPr>
              <p:cNvSpPr/>
              <p:nvPr/>
            </p:nvSpPr>
            <p:spPr>
              <a:xfrm>
                <a:off x="2876667" y="6228176"/>
                <a:ext cx="1440000" cy="150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GPS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수신기</a:t>
                </a:r>
              </a:p>
            </p:txBody>
          </p:sp>
          <p:cxnSp>
            <p:nvCxnSpPr>
              <p:cNvPr id="14" name="연결선: 꺾임 13">
                <a:extLst>
                  <a:ext uri="{FF2B5EF4-FFF2-40B4-BE49-F238E27FC236}">
                    <a16:creationId xmlns:a16="http://schemas.microsoft.com/office/drawing/2014/main" id="{CC9149F6-5E08-E203-F951-F87AD9DCE582}"/>
                  </a:ext>
                </a:extLst>
              </p:cNvPr>
              <p:cNvCxnSpPr>
                <a:cxnSpLocks/>
                <a:stCxn id="79" idx="2"/>
                <a:endCxn id="203" idx="0"/>
              </p:cNvCxnSpPr>
              <p:nvPr/>
            </p:nvCxnSpPr>
            <p:spPr>
              <a:xfrm rot="5400000">
                <a:off x="2971771" y="-15137"/>
                <a:ext cx="144943" cy="3055515"/>
              </a:xfrm>
              <a:prstGeom prst="bentConnector3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24E71FF1-CB46-534B-27B4-F57BFC4450E6}"/>
                  </a:ext>
                </a:extLst>
              </p:cNvPr>
              <p:cNvCxnSpPr>
                <a:cxnSpLocks/>
                <a:stCxn id="79" idx="2"/>
                <a:endCxn id="251" idx="0"/>
              </p:cNvCxnSpPr>
              <p:nvPr/>
            </p:nvCxnSpPr>
            <p:spPr>
              <a:xfrm>
                <a:off x="4571999" y="1440149"/>
                <a:ext cx="562" cy="133433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연결선: 꺾임 17">
                <a:extLst>
                  <a:ext uri="{FF2B5EF4-FFF2-40B4-BE49-F238E27FC236}">
                    <a16:creationId xmlns:a16="http://schemas.microsoft.com/office/drawing/2014/main" id="{7BD17EC3-BCB4-F015-A6F2-F4D8FEB376BF}"/>
                  </a:ext>
                </a:extLst>
              </p:cNvPr>
              <p:cNvCxnSpPr>
                <a:cxnSpLocks/>
                <a:stCxn id="79" idx="2"/>
                <a:endCxn id="109" idx="0"/>
              </p:cNvCxnSpPr>
              <p:nvPr/>
            </p:nvCxnSpPr>
            <p:spPr>
              <a:xfrm rot="16200000" flipH="1">
                <a:off x="6073903" y="-61756"/>
                <a:ext cx="141214" cy="3145023"/>
              </a:xfrm>
              <a:prstGeom prst="bentConnector3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783766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운용궤도 선정 및 임무 운용 개념</a:t>
            </a:r>
          </a:p>
        </p:txBody>
      </p:sp>
    </p:spTree>
    <p:extLst>
      <p:ext uri="{BB962C8B-B14F-4D97-AF65-F5344CB8AC3E}">
        <p14:creationId xmlns:p14="http://schemas.microsoft.com/office/powerpoint/2010/main" val="23816276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31AB5B-04C9-4FA2-BCC7-F7EA1AC21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궤도</a:t>
            </a:r>
            <a:r>
              <a:rPr lang="en-US" altLang="ko-KR" dirty="0"/>
              <a:t> </a:t>
            </a:r>
            <a:r>
              <a:rPr lang="ko-KR" altLang="en-US" dirty="0"/>
              <a:t>위성 운용 궤도</a:t>
            </a:r>
            <a:endParaRPr lang="en-US" altLang="ko-KR" dirty="0"/>
          </a:p>
          <a:p>
            <a:pPr marL="597150" lvl="1" indent="-285750"/>
            <a:r>
              <a:rPr lang="en-US" altLang="ko-KR" dirty="0"/>
              <a:t>LTAN 16:</a:t>
            </a:r>
            <a:r>
              <a:rPr lang="ko-KR" altLang="en-US" dirty="0"/>
              <a:t> </a:t>
            </a:r>
            <a:r>
              <a:rPr lang="en-US" altLang="ko-KR" dirty="0"/>
              <a:t>visible condition </a:t>
            </a:r>
          </a:p>
          <a:p>
            <a:pPr marL="777150" lvl="2" indent="-285750"/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 </a:t>
            </a:r>
            <a:r>
              <a:rPr lang="en-US" altLang="ko-KR" dirty="0"/>
              <a:t>~ + 90 </a:t>
            </a:r>
            <a:r>
              <a:rPr lang="ko-KR" altLang="en-US" dirty="0"/>
              <a:t>일</a:t>
            </a:r>
            <a:r>
              <a:rPr lang="en-US" altLang="ko-KR" dirty="0"/>
              <a:t> (red</a:t>
            </a:r>
            <a:r>
              <a:rPr lang="ko-KR" altLang="en-US" dirty="0"/>
              <a:t> </a:t>
            </a:r>
            <a:r>
              <a:rPr lang="en-US" altLang="ko-KR" dirty="0"/>
              <a:t>dot:</a:t>
            </a:r>
            <a:r>
              <a:rPr lang="ko-KR" altLang="en-US" dirty="0"/>
              <a:t> </a:t>
            </a:r>
            <a:r>
              <a:rPr lang="en-US" altLang="ko-KR" dirty="0"/>
              <a:t>satisfying</a:t>
            </a:r>
            <a:r>
              <a:rPr lang="ko-KR" altLang="en-US" dirty="0"/>
              <a:t> </a:t>
            </a:r>
            <a:r>
              <a:rPr lang="en-US" altLang="ko-KR" dirty="0"/>
              <a:t>condition)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03D7D0-320D-8203-C0EE-F5245EF9B83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0" r="11751"/>
          <a:stretch/>
        </p:blipFill>
        <p:spPr>
          <a:xfrm>
            <a:off x="3361363" y="4403631"/>
            <a:ext cx="5168121" cy="23024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6B9FDEC-A326-6705-9478-1EB998EF1F0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4" r="11751"/>
          <a:stretch/>
        </p:blipFill>
        <p:spPr>
          <a:xfrm>
            <a:off x="3438441" y="2094293"/>
            <a:ext cx="5091043" cy="230933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CA75F8D-2621-44C8-A75B-036949AF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55EA76-9C20-4EBE-8084-EF8CD089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큐브 위성시스템 운용 궤도 선정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92FC86-33DA-D82B-8ECF-C55E8C5DAA8D}"/>
              </a:ext>
            </a:extLst>
          </p:cNvPr>
          <p:cNvSpPr txBox="1"/>
          <p:nvPr/>
        </p:nvSpPr>
        <p:spPr>
          <a:xfrm>
            <a:off x="585018" y="2094293"/>
            <a:ext cx="3986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7150" lvl="2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거창 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  <a:sym typeface="Wingdings" panose="05000000000000000000" pitchFamily="2" charset="2"/>
              </a:rPr>
              <a:t>서울 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  <a:sym typeface="Wingdings" panose="05000000000000000000" pitchFamily="2" charset="2"/>
              </a:rPr>
              <a:t>(ascending)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97A834-3638-AB6F-DB2D-1E150E9E61FA}"/>
              </a:ext>
            </a:extLst>
          </p:cNvPr>
          <p:cNvSpPr txBox="1"/>
          <p:nvPr/>
        </p:nvSpPr>
        <p:spPr>
          <a:xfrm>
            <a:off x="585018" y="4449975"/>
            <a:ext cx="3986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7150" lvl="2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서울 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  <a:sym typeface="Wingdings" panose="05000000000000000000" pitchFamily="2" charset="2"/>
              </a:rPr>
              <a:t>거창 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  <a:sym typeface="Wingdings" panose="05000000000000000000" pitchFamily="2" charset="2"/>
              </a:rPr>
              <a:t>(descending)</a:t>
            </a:r>
          </a:p>
        </p:txBody>
      </p:sp>
    </p:spTree>
    <p:extLst>
      <p:ext uri="{BB962C8B-B14F-4D97-AF65-F5344CB8AC3E}">
        <p14:creationId xmlns:p14="http://schemas.microsoft.com/office/powerpoint/2010/main" val="24162775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CA75F8D-2621-44C8-A75B-036949AF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55EA76-9C20-4EBE-8084-EF8CD089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큐브 위성시스템 운용 궤도 선정</a:t>
            </a:r>
            <a:endParaRPr lang="en-US" altLang="ko-KR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2015190-3007-24A6-8E29-EF3BCA614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285750" indent="-285750"/>
            <a:r>
              <a:rPr lang="ko-KR" altLang="en-US" dirty="0"/>
              <a:t> 큐브 위성 운용 궤도</a:t>
            </a:r>
            <a:endParaRPr lang="en-US" altLang="ko-KR" sz="1200" dirty="0"/>
          </a:p>
          <a:p>
            <a:pPr marL="597150" lvl="1" indent="-285750"/>
            <a:r>
              <a:rPr lang="en-US" altLang="ko-KR" dirty="0"/>
              <a:t>LTAN 16:</a:t>
            </a:r>
            <a:r>
              <a:rPr lang="ko-KR" altLang="en-US" dirty="0"/>
              <a:t> </a:t>
            </a:r>
            <a:r>
              <a:rPr lang="en-US" altLang="ko-KR" dirty="0"/>
              <a:t>SLR/</a:t>
            </a:r>
            <a:r>
              <a:rPr lang="ko-KR" altLang="en-US" dirty="0" err="1"/>
              <a:t>대즐링</a:t>
            </a:r>
            <a:r>
              <a:rPr lang="en-US" altLang="ko-KR" dirty="0"/>
              <a:t> </a:t>
            </a:r>
            <a:r>
              <a:rPr lang="ko-KR" altLang="en-US" dirty="0"/>
              <a:t>시험 가능 구간 </a:t>
            </a:r>
            <a:br>
              <a:rPr lang="en-US" altLang="ko-KR" dirty="0"/>
            </a:br>
            <a:r>
              <a:rPr lang="en-US" altLang="ko-KR" dirty="0"/>
              <a:t>: </a:t>
            </a:r>
            <a:r>
              <a:rPr lang="ko-KR" altLang="en-US" dirty="0"/>
              <a:t>한반도 통과 구간</a:t>
            </a:r>
            <a:r>
              <a:rPr lang="en-US" altLang="ko-KR" dirty="0"/>
              <a:t>(El. &gt; 0 deg)</a:t>
            </a:r>
            <a:r>
              <a:rPr lang="ko-KR" altLang="en-US" dirty="0"/>
              <a:t> 중 </a:t>
            </a:r>
            <a:r>
              <a:rPr lang="en-US" altLang="ko-KR" b="1" dirty="0"/>
              <a:t>39.4 %</a:t>
            </a:r>
          </a:p>
          <a:p>
            <a:pPr marL="777150" lvl="2" indent="-285750"/>
            <a:r>
              <a:rPr lang="ko-KR" altLang="en-US" dirty="0"/>
              <a:t>접촉 경우 </a:t>
            </a:r>
            <a:r>
              <a:rPr lang="en-US" altLang="ko-KR" dirty="0"/>
              <a:t>1: SLR </a:t>
            </a:r>
            <a:r>
              <a:rPr lang="ko-KR" altLang="en-US" dirty="0"/>
              <a:t>가능 </a:t>
            </a:r>
            <a:r>
              <a:rPr lang="en-US" altLang="ko-KR" dirty="0"/>
              <a:t>/ </a:t>
            </a:r>
            <a:r>
              <a:rPr lang="ko-KR" altLang="en-US" dirty="0" err="1"/>
              <a:t>대즐링</a:t>
            </a:r>
            <a:r>
              <a:rPr lang="ko-KR" altLang="en-US" dirty="0"/>
              <a:t> 불가능</a:t>
            </a:r>
          </a:p>
          <a:p>
            <a:pPr marL="957150" lvl="3" indent="-285750"/>
            <a:r>
              <a:rPr lang="ko-KR" altLang="en-US" dirty="0"/>
              <a:t>발생 비율</a:t>
            </a:r>
            <a:r>
              <a:rPr lang="en-US" altLang="ko-KR" dirty="0"/>
              <a:t>: 28.8 %</a:t>
            </a:r>
          </a:p>
          <a:p>
            <a:pPr marL="957150" lvl="3" indent="-285750"/>
            <a:r>
              <a:rPr lang="ko-KR" altLang="en-US" dirty="0"/>
              <a:t>시험 가능 시간</a:t>
            </a:r>
          </a:p>
          <a:p>
            <a:pPr marL="1137150" lvl="4" indent="-285750"/>
            <a:r>
              <a:rPr lang="en-US" altLang="ko-KR" dirty="0"/>
              <a:t>(SLR) </a:t>
            </a:r>
            <a:r>
              <a:rPr lang="ko-KR" altLang="en-US" dirty="0"/>
              <a:t>평균</a:t>
            </a:r>
            <a:r>
              <a:rPr lang="en-US" altLang="ko-KR" dirty="0"/>
              <a:t>: 133.5 </a:t>
            </a:r>
            <a:r>
              <a:rPr lang="ko-KR" altLang="en-US" dirty="0"/>
              <a:t>초 </a:t>
            </a:r>
            <a:r>
              <a:rPr lang="en-US" altLang="ko-KR" dirty="0"/>
              <a:t>/ </a:t>
            </a:r>
            <a:r>
              <a:rPr lang="ko-KR" altLang="en-US" dirty="0"/>
              <a:t>최대</a:t>
            </a:r>
            <a:r>
              <a:rPr lang="en-US" altLang="ko-KR" dirty="0"/>
              <a:t>: 204.0 </a:t>
            </a:r>
            <a:r>
              <a:rPr lang="ko-KR" altLang="en-US" dirty="0"/>
              <a:t>초</a:t>
            </a:r>
          </a:p>
          <a:p>
            <a:pPr marL="777150" lvl="2" indent="-285750"/>
            <a:endParaRPr lang="ko-KR" altLang="en-US" dirty="0"/>
          </a:p>
          <a:p>
            <a:pPr marL="777150" lvl="2" indent="-285750"/>
            <a:r>
              <a:rPr lang="ko-KR" altLang="en-US" dirty="0"/>
              <a:t>접촉 경우 </a:t>
            </a:r>
            <a:r>
              <a:rPr lang="en-US" altLang="ko-KR" dirty="0"/>
              <a:t>2: SLR </a:t>
            </a:r>
            <a:r>
              <a:rPr lang="ko-KR" altLang="en-US" dirty="0"/>
              <a:t>가능 </a:t>
            </a:r>
            <a:r>
              <a:rPr lang="en-US" altLang="ko-KR" dirty="0"/>
              <a:t>/ </a:t>
            </a:r>
            <a:r>
              <a:rPr lang="ko-KR" altLang="en-US" dirty="0" err="1"/>
              <a:t>대즐링</a:t>
            </a:r>
            <a:r>
              <a:rPr lang="ko-KR" altLang="en-US" dirty="0"/>
              <a:t> 가능</a:t>
            </a:r>
          </a:p>
          <a:p>
            <a:pPr marL="957150" lvl="3" indent="-285750"/>
            <a:r>
              <a:rPr lang="ko-KR" altLang="en-US" dirty="0"/>
              <a:t>발생 비율</a:t>
            </a:r>
            <a:r>
              <a:rPr lang="en-US" altLang="ko-KR" dirty="0"/>
              <a:t>: 63.8 %</a:t>
            </a:r>
          </a:p>
          <a:p>
            <a:pPr marL="957150" lvl="3" indent="-285750"/>
            <a:r>
              <a:rPr lang="ko-KR" altLang="en-US" dirty="0"/>
              <a:t>시험 가능 시간</a:t>
            </a:r>
          </a:p>
          <a:p>
            <a:pPr marL="1137150" lvl="4" indent="-285750"/>
            <a:r>
              <a:rPr lang="en-US" altLang="ko-KR" dirty="0"/>
              <a:t>(SLR) </a:t>
            </a:r>
            <a:r>
              <a:rPr lang="ko-KR" altLang="en-US" dirty="0"/>
              <a:t>평균</a:t>
            </a:r>
            <a:r>
              <a:rPr lang="en-US" altLang="ko-KR" dirty="0"/>
              <a:t>: 251.4 </a:t>
            </a:r>
            <a:r>
              <a:rPr lang="ko-KR" altLang="en-US" dirty="0"/>
              <a:t>초 </a:t>
            </a:r>
            <a:r>
              <a:rPr lang="en-US" altLang="ko-KR" dirty="0"/>
              <a:t>/ </a:t>
            </a:r>
            <a:r>
              <a:rPr lang="ko-KR" altLang="en-US" dirty="0"/>
              <a:t>최대</a:t>
            </a:r>
            <a:r>
              <a:rPr lang="en-US" altLang="ko-KR" dirty="0"/>
              <a:t>: 292.0 </a:t>
            </a:r>
            <a:r>
              <a:rPr lang="ko-KR" altLang="en-US" dirty="0"/>
              <a:t>초</a:t>
            </a:r>
          </a:p>
          <a:p>
            <a:pPr marL="1137150" lvl="4" indent="-285750"/>
            <a:r>
              <a:rPr lang="en-US" altLang="ko-KR" dirty="0"/>
              <a:t>(</a:t>
            </a:r>
            <a:r>
              <a:rPr lang="ko-KR" altLang="en-US" dirty="0" err="1"/>
              <a:t>대즐링</a:t>
            </a:r>
            <a:r>
              <a:rPr lang="en-US" altLang="ko-KR" dirty="0"/>
              <a:t>) </a:t>
            </a:r>
            <a:r>
              <a:rPr lang="ko-KR" altLang="en-US" dirty="0"/>
              <a:t>평균</a:t>
            </a:r>
            <a:r>
              <a:rPr lang="en-US" altLang="ko-KR" dirty="0"/>
              <a:t>: 146.5 </a:t>
            </a:r>
            <a:r>
              <a:rPr lang="ko-KR" altLang="en-US" dirty="0"/>
              <a:t>초 </a:t>
            </a:r>
            <a:r>
              <a:rPr lang="en-US" altLang="ko-KR" dirty="0"/>
              <a:t>/ </a:t>
            </a:r>
            <a:r>
              <a:rPr lang="ko-KR" altLang="en-US" dirty="0"/>
              <a:t>최대</a:t>
            </a:r>
            <a:r>
              <a:rPr lang="en-US" altLang="ko-KR" dirty="0"/>
              <a:t>: 203.0 </a:t>
            </a:r>
            <a:r>
              <a:rPr lang="ko-KR" altLang="en-US" dirty="0"/>
              <a:t>초</a:t>
            </a:r>
          </a:p>
          <a:p>
            <a:pPr marL="777150" lvl="2" indent="-285750"/>
            <a:endParaRPr lang="ko-KR" altLang="en-US" dirty="0"/>
          </a:p>
          <a:p>
            <a:pPr marL="777150" lvl="2" indent="-285750"/>
            <a:r>
              <a:rPr lang="ko-KR" altLang="en-US" dirty="0"/>
              <a:t>접촉 경우 </a:t>
            </a:r>
            <a:r>
              <a:rPr lang="en-US" altLang="ko-KR" dirty="0"/>
              <a:t>3: SLR </a:t>
            </a:r>
            <a:r>
              <a:rPr lang="ko-KR" altLang="en-US" dirty="0"/>
              <a:t>가능 </a:t>
            </a:r>
            <a:r>
              <a:rPr lang="en-US" altLang="ko-KR" dirty="0"/>
              <a:t>(</a:t>
            </a:r>
            <a:r>
              <a:rPr lang="ko-KR" altLang="en-US" dirty="0"/>
              <a:t>불연속</a:t>
            </a:r>
            <a:r>
              <a:rPr lang="en-US" altLang="ko-KR" dirty="0"/>
              <a:t>) / </a:t>
            </a:r>
            <a:r>
              <a:rPr lang="ko-KR" altLang="en-US" dirty="0" err="1"/>
              <a:t>대즐링</a:t>
            </a:r>
            <a:r>
              <a:rPr lang="ko-KR" altLang="en-US" dirty="0"/>
              <a:t> 가능</a:t>
            </a:r>
          </a:p>
          <a:p>
            <a:pPr marL="957150" lvl="3" indent="-285750"/>
            <a:r>
              <a:rPr lang="ko-KR" altLang="en-US" dirty="0"/>
              <a:t>발생 비율</a:t>
            </a:r>
            <a:r>
              <a:rPr lang="en-US" altLang="ko-KR" dirty="0"/>
              <a:t>: 7.3 %</a:t>
            </a:r>
          </a:p>
          <a:p>
            <a:pPr marL="957150" lvl="3" indent="-285750"/>
            <a:r>
              <a:rPr lang="ko-KR" altLang="en-US" dirty="0"/>
              <a:t>시험 가능 시간</a:t>
            </a:r>
          </a:p>
          <a:p>
            <a:pPr marL="1137150" lvl="4" indent="-285750"/>
            <a:r>
              <a:rPr lang="en-US" altLang="ko-KR" dirty="0"/>
              <a:t>(SLR) </a:t>
            </a:r>
            <a:r>
              <a:rPr lang="ko-KR" altLang="en-US" dirty="0"/>
              <a:t>평균</a:t>
            </a:r>
            <a:r>
              <a:rPr lang="en-US" altLang="ko-KR" dirty="0"/>
              <a:t>: 263.0 </a:t>
            </a:r>
            <a:r>
              <a:rPr lang="ko-KR" altLang="en-US" dirty="0"/>
              <a:t>초 </a:t>
            </a:r>
            <a:r>
              <a:rPr lang="en-US" altLang="ko-KR" dirty="0"/>
              <a:t>/ </a:t>
            </a:r>
            <a:r>
              <a:rPr lang="ko-KR" altLang="en-US" dirty="0"/>
              <a:t>최대</a:t>
            </a:r>
            <a:r>
              <a:rPr lang="en-US" altLang="ko-KR" dirty="0"/>
              <a:t>: 278.0 </a:t>
            </a:r>
            <a:r>
              <a:rPr lang="ko-KR" altLang="en-US" dirty="0"/>
              <a:t>초</a:t>
            </a:r>
          </a:p>
          <a:p>
            <a:pPr marL="1137150" lvl="4" indent="-285750"/>
            <a:r>
              <a:rPr lang="en-US" altLang="ko-KR" dirty="0"/>
              <a:t>(</a:t>
            </a:r>
            <a:r>
              <a:rPr lang="ko-KR" altLang="en-US" dirty="0" err="1"/>
              <a:t>대즐링</a:t>
            </a:r>
            <a:r>
              <a:rPr lang="en-US" altLang="ko-KR" dirty="0"/>
              <a:t>) </a:t>
            </a:r>
            <a:r>
              <a:rPr lang="ko-KR" altLang="en-US" dirty="0"/>
              <a:t>평균</a:t>
            </a:r>
            <a:r>
              <a:rPr lang="en-US" altLang="ko-KR" dirty="0"/>
              <a:t>: 196.2 </a:t>
            </a:r>
            <a:r>
              <a:rPr lang="ko-KR" altLang="en-US" dirty="0"/>
              <a:t>초 </a:t>
            </a:r>
            <a:r>
              <a:rPr lang="en-US" altLang="ko-KR" dirty="0"/>
              <a:t>/ </a:t>
            </a:r>
            <a:r>
              <a:rPr lang="ko-KR" altLang="en-US" dirty="0"/>
              <a:t>최대</a:t>
            </a:r>
            <a:r>
              <a:rPr lang="en-US" altLang="ko-KR" dirty="0"/>
              <a:t>: 206.0 </a:t>
            </a:r>
            <a:r>
              <a:rPr lang="ko-KR" altLang="en-US" dirty="0"/>
              <a:t>초</a:t>
            </a:r>
            <a:endParaRPr lang="en-US" altLang="ko-KR" dirty="0"/>
          </a:p>
          <a:p>
            <a:pPr marL="1137150" lvl="4" indent="-285750"/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34ECC1-E1E0-CB0A-B3E2-352B1B37902E}"/>
              </a:ext>
            </a:extLst>
          </p:cNvPr>
          <p:cNvGrpSpPr/>
          <p:nvPr/>
        </p:nvGrpSpPr>
        <p:grpSpPr>
          <a:xfrm>
            <a:off x="5573694" y="1022441"/>
            <a:ext cx="3027834" cy="5701819"/>
            <a:chOff x="5780469" y="372841"/>
            <a:chExt cx="3333750" cy="62778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A27AA4-DE44-E244-0B9F-08BDA06DB57C}"/>
                </a:ext>
              </a:extLst>
            </p:cNvPr>
            <p:cNvSpPr txBox="1"/>
            <p:nvPr/>
          </p:nvSpPr>
          <p:spPr>
            <a:xfrm>
              <a:off x="6606097" y="6342963"/>
              <a:ext cx="168249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b="1" dirty="0"/>
                <a:t>&lt;</a:t>
              </a:r>
              <a:r>
                <a:rPr lang="ko-KR" altLang="en-US" sz="1200" b="1" dirty="0"/>
                <a:t>시험 가능 시간</a:t>
              </a:r>
              <a:r>
                <a:rPr lang="en-US" altLang="ko-KR" sz="1200" b="1" dirty="0"/>
                <a:t>&gt;</a:t>
              </a:r>
              <a:endParaRPr lang="ko-KR" altLang="en-US" sz="1200" b="1" dirty="0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BD45AF09-0445-03C6-695B-77A7DE8CEDAE}"/>
                </a:ext>
              </a:extLst>
            </p:cNvPr>
            <p:cNvGrpSpPr/>
            <p:nvPr/>
          </p:nvGrpSpPr>
          <p:grpSpPr>
            <a:xfrm>
              <a:off x="5780469" y="372841"/>
              <a:ext cx="3333750" cy="2000249"/>
              <a:chOff x="5780469" y="372841"/>
              <a:chExt cx="3333750" cy="2000249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CFAC261B-AB58-E9B3-0435-8382725577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780469" y="372841"/>
                <a:ext cx="3333750" cy="2000249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FA47CA1-E974-B510-0735-793DF9A482A7}"/>
                  </a:ext>
                </a:extLst>
              </p:cNvPr>
              <p:cNvSpPr txBox="1"/>
              <p:nvPr/>
            </p:nvSpPr>
            <p:spPr>
              <a:xfrm>
                <a:off x="6163705" y="1826887"/>
                <a:ext cx="116726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b="1" dirty="0"/>
                  <a:t>접촉 경우 </a:t>
                </a:r>
                <a:r>
                  <a:rPr lang="en-US" altLang="ko-KR" sz="1200" b="1" dirty="0"/>
                  <a:t>1</a:t>
                </a:r>
                <a:endParaRPr lang="ko-KR" altLang="en-US" sz="1200" b="1" dirty="0"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C797A95-3B1E-6FB5-8089-B84BE43DAC68}"/>
                </a:ext>
              </a:extLst>
            </p:cNvPr>
            <p:cNvGrpSpPr/>
            <p:nvPr/>
          </p:nvGrpSpPr>
          <p:grpSpPr>
            <a:xfrm>
              <a:off x="5780469" y="2354899"/>
              <a:ext cx="3333750" cy="2000249"/>
              <a:chOff x="5780469" y="2354899"/>
              <a:chExt cx="3333750" cy="2000249"/>
            </a:xfrm>
          </p:grpSpPr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852A0D82-0856-46FE-BF29-B4193FBEAE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780469" y="2354899"/>
                <a:ext cx="3333750" cy="2000249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331A91-23C8-B1A9-1142-578AD0B3274F}"/>
                  </a:ext>
                </a:extLst>
              </p:cNvPr>
              <p:cNvSpPr txBox="1"/>
              <p:nvPr/>
            </p:nvSpPr>
            <p:spPr>
              <a:xfrm>
                <a:off x="6163705" y="3794678"/>
                <a:ext cx="116726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b="1" dirty="0"/>
                  <a:t>접촉 경우 </a:t>
                </a:r>
                <a:r>
                  <a:rPr lang="en-US" altLang="ko-KR" sz="1200" b="1" dirty="0"/>
                  <a:t>2</a:t>
                </a:r>
                <a:endParaRPr lang="ko-KR" altLang="en-US" sz="1200" b="1" dirty="0"/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4DF7469-59E6-6228-8AC3-A776F82490A3}"/>
                </a:ext>
              </a:extLst>
            </p:cNvPr>
            <p:cNvGrpSpPr/>
            <p:nvPr/>
          </p:nvGrpSpPr>
          <p:grpSpPr>
            <a:xfrm>
              <a:off x="5780469" y="4381079"/>
              <a:ext cx="3333750" cy="2000249"/>
              <a:chOff x="5780469" y="4381079"/>
              <a:chExt cx="3333750" cy="2000249"/>
            </a:xfrm>
          </p:grpSpPr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0E2BAD6C-80D4-0185-7F7D-0A6EEF43A5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780469" y="4381079"/>
                <a:ext cx="3333750" cy="2000249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8416E9-CBAA-1FA2-0FE9-0F774749E804}"/>
                  </a:ext>
                </a:extLst>
              </p:cNvPr>
              <p:cNvSpPr txBox="1"/>
              <p:nvPr/>
            </p:nvSpPr>
            <p:spPr>
              <a:xfrm>
                <a:off x="6147933" y="5802666"/>
                <a:ext cx="116726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b="1" dirty="0"/>
                  <a:t>접촉 경우 </a:t>
                </a:r>
                <a:r>
                  <a:rPr lang="en-US" altLang="ko-KR" sz="1200" b="1" dirty="0"/>
                  <a:t>3</a:t>
                </a:r>
                <a:endParaRPr lang="ko-KR" altLang="en-US" sz="1200" b="1" dirty="0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16EA89A9-7DDD-E0C3-E47F-2008F944019B}"/>
                </a:ext>
              </a:extLst>
            </p:cNvPr>
            <p:cNvGrpSpPr/>
            <p:nvPr/>
          </p:nvGrpSpPr>
          <p:grpSpPr>
            <a:xfrm>
              <a:off x="7094641" y="5225173"/>
              <a:ext cx="1720144" cy="505648"/>
              <a:chOff x="7796011" y="359876"/>
              <a:chExt cx="1592688" cy="505648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7A316626-C473-DAE7-23F6-25AA68FDC888}"/>
                  </a:ext>
                </a:extLst>
              </p:cNvPr>
              <p:cNvSpPr/>
              <p:nvPr/>
            </p:nvSpPr>
            <p:spPr>
              <a:xfrm>
                <a:off x="7796011" y="384003"/>
                <a:ext cx="1541171" cy="44021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2440541E-DB41-5500-57CC-879B13519B03}"/>
                  </a:ext>
                </a:extLst>
              </p:cNvPr>
              <p:cNvGrpSpPr/>
              <p:nvPr/>
            </p:nvGrpSpPr>
            <p:grpSpPr>
              <a:xfrm>
                <a:off x="7858798" y="359876"/>
                <a:ext cx="1529901" cy="505648"/>
                <a:chOff x="7858798" y="359876"/>
                <a:chExt cx="1529901" cy="505648"/>
              </a:xfrm>
            </p:grpSpPr>
            <p:cxnSp>
              <p:nvCxnSpPr>
                <p:cNvPr id="18" name="직선 연결선 17">
                  <a:extLst>
                    <a:ext uri="{FF2B5EF4-FFF2-40B4-BE49-F238E27FC236}">
                      <a16:creationId xmlns:a16="http://schemas.microsoft.com/office/drawing/2014/main" id="{633BE16B-9B62-BAB3-66C3-7E54E4B566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58798" y="490681"/>
                  <a:ext cx="343437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3E44953-734D-A570-9F13-2A9FDAEB4399}"/>
                    </a:ext>
                  </a:extLst>
                </p:cNvPr>
                <p:cNvSpPr txBox="1"/>
                <p:nvPr/>
              </p:nvSpPr>
              <p:spPr>
                <a:xfrm>
                  <a:off x="8202234" y="359876"/>
                  <a:ext cx="1186465" cy="2710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000" dirty="0"/>
                    <a:t>SLR </a:t>
                  </a:r>
                  <a:r>
                    <a:rPr lang="ko-KR" altLang="en-US" sz="1000" dirty="0"/>
                    <a:t>가능 시간</a:t>
                  </a:r>
                </a:p>
              </p:txBody>
            </p:sp>
            <p:cxnSp>
              <p:nvCxnSpPr>
                <p:cNvPr id="20" name="직선 연결선 19">
                  <a:extLst>
                    <a:ext uri="{FF2B5EF4-FFF2-40B4-BE49-F238E27FC236}">
                      <a16:creationId xmlns:a16="http://schemas.microsoft.com/office/drawing/2014/main" id="{1BCAB094-D3BE-306B-5FA2-23ADBFB4BA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58798" y="721384"/>
                  <a:ext cx="343437" cy="0"/>
                </a:xfrm>
                <a:prstGeom prst="line">
                  <a:avLst/>
                </a:prstGeom>
                <a:ln w="28575">
                  <a:solidFill>
                    <a:srgbClr val="0000FF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4C1B965-BA3A-F7FF-DF53-7BC764CB91BA}"/>
                    </a:ext>
                  </a:extLst>
                </p:cNvPr>
                <p:cNvSpPr txBox="1"/>
                <p:nvPr/>
              </p:nvSpPr>
              <p:spPr>
                <a:xfrm>
                  <a:off x="8202235" y="594426"/>
                  <a:ext cx="1186464" cy="2710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1000" dirty="0" err="1"/>
                    <a:t>대즐링</a:t>
                  </a:r>
                  <a:r>
                    <a:rPr lang="ko-KR" altLang="en-US" sz="1000" dirty="0"/>
                    <a:t> 가능 시간</a:t>
                  </a:r>
                </a:p>
              </p:txBody>
            </p:sp>
          </p:grpSp>
        </p:grp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6685B75-A453-6D82-4066-2D85412386CE}"/>
              </a:ext>
            </a:extLst>
          </p:cNvPr>
          <p:cNvSpPr txBox="1"/>
          <p:nvPr/>
        </p:nvSpPr>
        <p:spPr>
          <a:xfrm>
            <a:off x="3611046" y="1020543"/>
            <a:ext cx="2154929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*visible condition </a:t>
            </a:r>
            <a:r>
              <a:rPr lang="ko-KR" altLang="en-US" sz="1400" b="1" dirty="0">
                <a:solidFill>
                  <a:srgbClr val="FF0000"/>
                </a:solidFill>
              </a:rPr>
              <a:t>무관</a:t>
            </a:r>
          </a:p>
        </p:txBody>
      </p:sp>
    </p:spTree>
    <p:extLst>
      <p:ext uri="{BB962C8B-B14F-4D97-AF65-F5344CB8AC3E}">
        <p14:creationId xmlns:p14="http://schemas.microsoft.com/office/powerpoint/2010/main" val="14074816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CA75F8D-2621-44C8-A75B-036949AF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31AB5B-04C9-4FA2-BCC7-F7EA1AC21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임무 운용 개념</a:t>
            </a:r>
            <a:endParaRPr lang="en-US" altLang="ko-KR" dirty="0"/>
          </a:p>
          <a:p>
            <a:pPr lvl="1"/>
            <a:r>
              <a:rPr lang="ko-KR" altLang="en-US" dirty="0"/>
              <a:t>임무 흐름도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55EA76-9C20-4EBE-8084-EF8CD089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큐브위성시스템</a:t>
            </a:r>
            <a:r>
              <a:rPr lang="ko-KR" altLang="en-US" dirty="0"/>
              <a:t> 운용 개념</a:t>
            </a:r>
            <a:endParaRPr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F187BD-AE74-4630-9459-AC0B877E54E7}"/>
              </a:ext>
            </a:extLst>
          </p:cNvPr>
          <p:cNvSpPr/>
          <p:nvPr/>
        </p:nvSpPr>
        <p:spPr>
          <a:xfrm>
            <a:off x="5794414" y="4243687"/>
            <a:ext cx="75442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D13DF6-2139-45D9-9459-AD9A45C64799}"/>
              </a:ext>
            </a:extLst>
          </p:cNvPr>
          <p:cNvSpPr/>
          <p:nvPr/>
        </p:nvSpPr>
        <p:spPr>
          <a:xfrm>
            <a:off x="6903645" y="4243687"/>
            <a:ext cx="75442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E436A9-0D2E-4CC3-8801-D356A4B62521}"/>
              </a:ext>
            </a:extLst>
          </p:cNvPr>
          <p:cNvSpPr/>
          <p:nvPr/>
        </p:nvSpPr>
        <p:spPr>
          <a:xfrm>
            <a:off x="7658069" y="4210601"/>
            <a:ext cx="13570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371828-283F-4283-919F-AABEBE9D1433}"/>
              </a:ext>
            </a:extLst>
          </p:cNvPr>
          <p:cNvSpPr/>
          <p:nvPr/>
        </p:nvSpPr>
        <p:spPr>
          <a:xfrm>
            <a:off x="7939488" y="4894020"/>
            <a:ext cx="75442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A29BD1CC-9FA2-3A73-8A4B-14633BD799B3}"/>
              </a:ext>
            </a:extLst>
          </p:cNvPr>
          <p:cNvGrpSpPr/>
          <p:nvPr/>
        </p:nvGrpSpPr>
        <p:grpSpPr>
          <a:xfrm>
            <a:off x="1288712" y="2207950"/>
            <a:ext cx="6566576" cy="3591492"/>
            <a:chOff x="1048947" y="2207950"/>
            <a:chExt cx="6566576" cy="3591492"/>
          </a:xfrm>
        </p:grpSpPr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F5819F49-A6FA-82A1-E7BC-FDEB4DCE030F}"/>
                </a:ext>
              </a:extLst>
            </p:cNvPr>
            <p:cNvCxnSpPr>
              <a:stCxn id="89" idx="2"/>
              <a:endCxn id="83" idx="0"/>
            </p:cNvCxnSpPr>
            <p:nvPr/>
          </p:nvCxnSpPr>
          <p:spPr>
            <a:xfrm>
              <a:off x="2000251" y="3206393"/>
              <a:ext cx="0" cy="287175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984B710-B84F-D858-5A5C-B544E64D02F9}"/>
                </a:ext>
              </a:extLst>
            </p:cNvPr>
            <p:cNvCxnSpPr>
              <a:cxnSpLocks/>
              <a:stCxn id="83" idx="2"/>
              <a:endCxn id="77" idx="0"/>
            </p:cNvCxnSpPr>
            <p:nvPr/>
          </p:nvCxnSpPr>
          <p:spPr>
            <a:xfrm flipH="1">
              <a:off x="2000250" y="4492011"/>
              <a:ext cx="1" cy="308988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789481FB-482E-6D8E-B6D8-27F3962FE8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1549" y="4492011"/>
              <a:ext cx="429385" cy="31958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F96BE353-A881-0E1E-3297-7BE1C3355951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7" y="3936824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B7D6B48F-F98E-6160-D686-207C2C65AA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3537" y="4063021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7123E6C0-AFEC-A77A-77BF-7B6B7F4DBA34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5" y="4384904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61A1C7D3-5874-5525-F3B0-94A818FF3A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3535" y="4491987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B1807AF5-77A8-9A50-ACF7-DA5403CFE263}"/>
                </a:ext>
              </a:extLst>
            </p:cNvPr>
            <p:cNvGrpSpPr/>
            <p:nvPr/>
          </p:nvGrpSpPr>
          <p:grpSpPr>
            <a:xfrm>
              <a:off x="1048948" y="2207950"/>
              <a:ext cx="1902604" cy="998443"/>
              <a:chOff x="2221279" y="2430557"/>
              <a:chExt cx="1902604" cy="998443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2BA7DE8F-337F-74E9-D49A-86DE772C61C2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E63CC913-753B-DA23-20B7-AEB6C474A63A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초기 궤도 운용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44331968-0C89-3D0C-BD95-E2C7E3BA3A70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시스템 초기화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UHF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안테나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각속도 감쇠 제어</a:t>
                </a: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FBB1947D-7845-31F8-16CA-7310A4492BDB}"/>
                </a:ext>
              </a:extLst>
            </p:cNvPr>
            <p:cNvGrpSpPr/>
            <p:nvPr/>
          </p:nvGrpSpPr>
          <p:grpSpPr>
            <a:xfrm>
              <a:off x="3380934" y="3493568"/>
              <a:ext cx="1902604" cy="998443"/>
              <a:chOff x="2221279" y="2430557"/>
              <a:chExt cx="1902604" cy="998443"/>
            </a:xfrm>
          </p:grpSpPr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ECBFC8F-C5DD-1791-C5B3-C491320A488A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4E245C8E-3603-7F51-C056-3507F915C5D9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대기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E91C57AC-94D7-68E8-DEAF-9F4F94928C7E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모멘텀 덤핑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통신 대기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태양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DC62B841-E901-963E-60D6-271B68F04413}"/>
                </a:ext>
              </a:extLst>
            </p:cNvPr>
            <p:cNvGrpSpPr/>
            <p:nvPr/>
          </p:nvGrpSpPr>
          <p:grpSpPr>
            <a:xfrm>
              <a:off x="1048948" y="3493568"/>
              <a:ext cx="1902604" cy="998443"/>
              <a:chOff x="2221279" y="2430557"/>
              <a:chExt cx="1902604" cy="998443"/>
            </a:xfrm>
          </p:grpSpPr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223906AC-AB50-27D9-1DA9-E480C3D27C94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9EDB98A7-8591-9C1D-C5AB-7A0EFA2406CC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시운전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5A0363F0-C8AD-C113-B21E-346E0CD6305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태양 </a:t>
                </a:r>
                <a:r>
                  <a:rPr lang="ko-KR" altLang="en-US" sz="1000" i="1" dirty="0" err="1">
                    <a:solidFill>
                      <a:schemeClr val="tx1"/>
                    </a:solidFill>
                  </a:rPr>
                  <a:t>전지판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안테나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박막 전개장치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6F21A970-0616-AB34-FB90-9F8E05DB8E75}"/>
                </a:ext>
              </a:extLst>
            </p:cNvPr>
            <p:cNvGrpSpPr/>
            <p:nvPr/>
          </p:nvGrpSpPr>
          <p:grpSpPr>
            <a:xfrm>
              <a:off x="5712919" y="3493568"/>
              <a:ext cx="1902604" cy="998443"/>
              <a:chOff x="2221279" y="2430557"/>
              <a:chExt cx="1902604" cy="998443"/>
            </a:xfrm>
          </p:grpSpPr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59A01B1B-7115-0874-027C-645453330D7C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96F23A3C-113D-3B69-BEBD-4EBF1F068C67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임무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9CEEAF2A-E991-12CD-9B29-145882E9AB5D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지상 지향 및 촬영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UHF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통신 대기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1E16A837-6D88-68BC-69A5-F449BF1AA726}"/>
                </a:ext>
              </a:extLst>
            </p:cNvPr>
            <p:cNvGrpSpPr/>
            <p:nvPr/>
          </p:nvGrpSpPr>
          <p:grpSpPr>
            <a:xfrm>
              <a:off x="1048947" y="4800999"/>
              <a:ext cx="1902604" cy="998443"/>
              <a:chOff x="2221279" y="2430557"/>
              <a:chExt cx="1902604" cy="998443"/>
            </a:xfrm>
          </p:grpSpPr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D763B4A1-48CF-4345-F6B0-0C2386ACA1B9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640DDD65-EC08-8F0E-2782-DF8FD60D5D9B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시운전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B75F22AD-59A8-CE85-8AE0-11F39DE9BF18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통신 시험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 err="1">
                    <a:solidFill>
                      <a:schemeClr val="tx1"/>
                    </a:solidFill>
                  </a:rPr>
                  <a:t>전장품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 시험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1AC2197C-F18D-5142-4101-05D2E4B6C4C8}"/>
                </a:ext>
              </a:extLst>
            </p:cNvPr>
            <p:cNvGrpSpPr/>
            <p:nvPr/>
          </p:nvGrpSpPr>
          <p:grpSpPr>
            <a:xfrm>
              <a:off x="5712919" y="4800999"/>
              <a:ext cx="1902604" cy="998443"/>
              <a:chOff x="2221279" y="2430557"/>
              <a:chExt cx="1902604" cy="998443"/>
            </a:xfrm>
          </p:grpSpPr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8F2A85EE-05F2-1F0A-FCBB-BD4A1D4BBC07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451C58A2-7C3C-937D-C39B-1068897BCFFC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통신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5DE1C913-EA1A-F751-CD32-34FCC1C4CD66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지상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통신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영상 데이터 하향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0E5D2CF8-B72C-7E47-6BEB-949E5ECB79A8}"/>
                </a:ext>
              </a:extLst>
            </p:cNvPr>
            <p:cNvGrpSpPr/>
            <p:nvPr/>
          </p:nvGrpSpPr>
          <p:grpSpPr>
            <a:xfrm>
              <a:off x="3380934" y="2210852"/>
              <a:ext cx="1902604" cy="998443"/>
              <a:chOff x="2221279" y="2430557"/>
              <a:chExt cx="1902604" cy="998443"/>
            </a:xfrm>
          </p:grpSpPr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FFF565C7-9DE9-9121-79DF-5A255F980EBA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rgbClr val="FFD1D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526300CB-06A9-91EC-8732-4B73C29BAD11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비상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40A34357-F560-B5D0-6BC9-788ED0C28721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전력 비상</a:t>
                </a:r>
                <a:r>
                  <a:rPr lang="en-US" altLang="ko-KR" sz="1000" i="1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태양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오류 관리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48766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CA75F8D-2621-44C8-A75B-036949AF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31AB5B-04C9-4FA2-BCC7-F7EA1AC21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임무 운용 개념</a:t>
            </a:r>
            <a:endParaRPr lang="en-US" altLang="ko-KR" dirty="0"/>
          </a:p>
          <a:p>
            <a:pPr lvl="1"/>
            <a:r>
              <a:rPr lang="ko-KR" altLang="en-US" dirty="0"/>
              <a:t>임무 흐름도</a:t>
            </a:r>
            <a:endParaRPr lang="en-US" altLang="ko-KR" dirty="0"/>
          </a:p>
          <a:p>
            <a:pPr lvl="2"/>
            <a:r>
              <a:rPr lang="ko-KR" altLang="en-US" dirty="0"/>
              <a:t>사출 후 초기 운용</a:t>
            </a:r>
            <a:endParaRPr lang="en-US" altLang="ko-KR" dirty="0"/>
          </a:p>
          <a:p>
            <a:pPr lvl="3"/>
            <a:r>
              <a:rPr lang="en-US" altLang="ko-KR" dirty="0"/>
              <a:t>~ +7 </a:t>
            </a:r>
            <a:r>
              <a:rPr lang="ko-KR" altLang="en-US" dirty="0"/>
              <a:t>일 </a:t>
            </a:r>
            <a:r>
              <a:rPr lang="en-US" altLang="ko-KR" dirty="0"/>
              <a:t>: </a:t>
            </a:r>
            <a:r>
              <a:rPr lang="ko-KR" altLang="en-US" dirty="0"/>
              <a:t>초기 궤도 운용</a:t>
            </a:r>
            <a:endParaRPr lang="en-US" altLang="ko-KR" dirty="0"/>
          </a:p>
          <a:p>
            <a:pPr lvl="3"/>
            <a:r>
              <a:rPr lang="en-US" altLang="ko-KR" dirty="0"/>
              <a:t>~ + 10 </a:t>
            </a:r>
            <a:r>
              <a:rPr lang="ko-KR" altLang="en-US" dirty="0"/>
              <a:t>일 </a:t>
            </a:r>
            <a:r>
              <a:rPr lang="en-US" altLang="ko-KR" dirty="0"/>
              <a:t>: </a:t>
            </a:r>
            <a:r>
              <a:rPr lang="ko-KR" altLang="en-US" dirty="0"/>
              <a:t>시운전 </a:t>
            </a:r>
            <a:r>
              <a:rPr lang="en-US" altLang="ko-KR" dirty="0"/>
              <a:t>1</a:t>
            </a:r>
          </a:p>
          <a:p>
            <a:pPr lvl="3"/>
            <a:r>
              <a:rPr lang="en-US" altLang="ko-KR" dirty="0"/>
              <a:t>~ + 14</a:t>
            </a:r>
            <a:r>
              <a:rPr lang="ko-KR" altLang="en-US" dirty="0"/>
              <a:t> 일 </a:t>
            </a:r>
            <a:r>
              <a:rPr lang="en-US" altLang="ko-KR" dirty="0"/>
              <a:t>: </a:t>
            </a:r>
            <a:r>
              <a:rPr lang="ko-KR" altLang="en-US" dirty="0"/>
              <a:t>시운전 </a:t>
            </a:r>
            <a:r>
              <a:rPr lang="en-US" altLang="ko-KR" dirty="0"/>
              <a:t>2</a:t>
            </a:r>
          </a:p>
          <a:p>
            <a:pPr lvl="2"/>
            <a:r>
              <a:rPr lang="ko-KR" altLang="en-US" dirty="0"/>
              <a:t>시운전 후 정상 운용</a:t>
            </a:r>
            <a:endParaRPr lang="en-US" altLang="ko-KR" dirty="0"/>
          </a:p>
          <a:p>
            <a:pPr lvl="3"/>
            <a:r>
              <a:rPr lang="en-US" altLang="ko-KR" dirty="0"/>
              <a:t>1</a:t>
            </a:r>
            <a:r>
              <a:rPr lang="ko-KR" altLang="en-US" dirty="0"/>
              <a:t>일 </a:t>
            </a:r>
            <a:r>
              <a:rPr lang="en-US" altLang="ko-KR" dirty="0"/>
              <a:t>2</a:t>
            </a:r>
            <a:r>
              <a:rPr lang="ko-KR" altLang="en-US" dirty="0"/>
              <a:t>회 한반도 상공 통과</a:t>
            </a:r>
            <a:endParaRPr lang="en-US" altLang="ko-KR" dirty="0"/>
          </a:p>
          <a:p>
            <a:pPr lvl="3"/>
            <a:r>
              <a:rPr lang="ko-KR" altLang="en-US" dirty="0"/>
              <a:t>임무 모드 </a:t>
            </a:r>
            <a:r>
              <a:rPr lang="en-US" altLang="ko-KR" dirty="0"/>
              <a:t>1</a:t>
            </a:r>
            <a:r>
              <a:rPr lang="ko-KR" altLang="en-US" dirty="0"/>
              <a:t>회</a:t>
            </a:r>
            <a:endParaRPr lang="en-US" altLang="ko-KR" dirty="0"/>
          </a:p>
          <a:p>
            <a:pPr lvl="3"/>
            <a:r>
              <a:rPr lang="ko-KR" altLang="en-US" dirty="0"/>
              <a:t>통신 모드 </a:t>
            </a:r>
            <a:r>
              <a:rPr lang="en-US" altLang="ko-KR" dirty="0"/>
              <a:t>1</a:t>
            </a:r>
            <a:r>
              <a:rPr lang="ko-KR" altLang="en-US" dirty="0"/>
              <a:t>회</a:t>
            </a:r>
            <a:endParaRPr lang="en-US" altLang="ko-KR" dirty="0"/>
          </a:p>
          <a:p>
            <a:pPr lvl="3"/>
            <a:r>
              <a:rPr lang="ko-KR" altLang="en-US" dirty="0"/>
              <a:t>그 외</a:t>
            </a:r>
            <a:r>
              <a:rPr lang="en-US" altLang="ko-KR" dirty="0"/>
              <a:t>, </a:t>
            </a:r>
            <a:r>
              <a:rPr lang="ko-KR" altLang="en-US" dirty="0"/>
              <a:t>대기 중 전력 충전</a:t>
            </a:r>
            <a:endParaRPr lang="en-US" altLang="ko-KR" dirty="0"/>
          </a:p>
          <a:p>
            <a:pPr lvl="2"/>
            <a:r>
              <a:rPr lang="ko-KR" altLang="en-US" dirty="0"/>
              <a:t>비상 모드</a:t>
            </a:r>
            <a:endParaRPr lang="en-US" altLang="ko-KR" dirty="0"/>
          </a:p>
          <a:p>
            <a:pPr lvl="3"/>
            <a:r>
              <a:rPr lang="ko-KR" altLang="en-US" dirty="0"/>
              <a:t>임무 중 이상 발생시 상시 비상 모드 진입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55EA76-9C20-4EBE-8084-EF8CD089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큐브 위성시스템 운용 개념</a:t>
            </a:r>
            <a:endParaRPr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F187BD-AE74-4630-9459-AC0B877E54E7}"/>
              </a:ext>
            </a:extLst>
          </p:cNvPr>
          <p:cNvSpPr/>
          <p:nvPr/>
        </p:nvSpPr>
        <p:spPr>
          <a:xfrm>
            <a:off x="5794414" y="4243687"/>
            <a:ext cx="75442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D13DF6-2139-45D9-9459-AD9A45C64799}"/>
              </a:ext>
            </a:extLst>
          </p:cNvPr>
          <p:cNvSpPr/>
          <p:nvPr/>
        </p:nvSpPr>
        <p:spPr>
          <a:xfrm>
            <a:off x="6903645" y="4243687"/>
            <a:ext cx="75442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E436A9-0D2E-4CC3-8801-D356A4B62521}"/>
              </a:ext>
            </a:extLst>
          </p:cNvPr>
          <p:cNvSpPr/>
          <p:nvPr/>
        </p:nvSpPr>
        <p:spPr>
          <a:xfrm>
            <a:off x="7658069" y="4210601"/>
            <a:ext cx="13570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371828-283F-4283-919F-AABEBE9D1433}"/>
              </a:ext>
            </a:extLst>
          </p:cNvPr>
          <p:cNvSpPr/>
          <p:nvPr/>
        </p:nvSpPr>
        <p:spPr>
          <a:xfrm>
            <a:off x="7939488" y="4894020"/>
            <a:ext cx="75442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A138F66-0284-9FF9-1041-29713D815F47}"/>
              </a:ext>
            </a:extLst>
          </p:cNvPr>
          <p:cNvGrpSpPr/>
          <p:nvPr/>
        </p:nvGrpSpPr>
        <p:grpSpPr>
          <a:xfrm>
            <a:off x="4634781" y="1116853"/>
            <a:ext cx="3828113" cy="5606708"/>
            <a:chOff x="4865799" y="623431"/>
            <a:chExt cx="4230040" cy="619537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F42FDA3-86E9-37A3-2008-3CC3FEE21505}"/>
                </a:ext>
              </a:extLst>
            </p:cNvPr>
            <p:cNvSpPr/>
            <p:nvPr/>
          </p:nvSpPr>
          <p:spPr>
            <a:xfrm>
              <a:off x="6397361" y="3373606"/>
              <a:ext cx="2117989" cy="3086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C53E1B6D-EE27-49BA-DC49-E552F1DABA65}"/>
                </a:ext>
              </a:extLst>
            </p:cNvPr>
            <p:cNvGrpSpPr/>
            <p:nvPr/>
          </p:nvGrpSpPr>
          <p:grpSpPr>
            <a:xfrm>
              <a:off x="4865799" y="2776875"/>
              <a:ext cx="1902603" cy="459387"/>
              <a:chOff x="2221280" y="2423861"/>
              <a:chExt cx="1902603" cy="459387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BB76ABE-28E1-21CD-FC07-1D39E20DB021}"/>
                  </a:ext>
                </a:extLst>
              </p:cNvPr>
              <p:cNvSpPr/>
              <p:nvPr/>
            </p:nvSpPr>
            <p:spPr>
              <a:xfrm>
                <a:off x="2221280" y="2423861"/>
                <a:ext cx="1902603" cy="459387"/>
              </a:xfrm>
              <a:prstGeom prst="rect">
                <a:avLst/>
              </a:prstGeom>
              <a:solidFill>
                <a:srgbClr val="FFD1D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3E3AE0C7-9E4A-5FA3-7127-9E5A81287EDF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비상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8EBB744-6592-1CA8-F65A-2570E123B341}"/>
                </a:ext>
              </a:extLst>
            </p:cNvPr>
            <p:cNvGrpSpPr/>
            <p:nvPr/>
          </p:nvGrpSpPr>
          <p:grpSpPr>
            <a:xfrm>
              <a:off x="6508957" y="623431"/>
              <a:ext cx="1902604" cy="2008363"/>
              <a:chOff x="683150" y="2289130"/>
              <a:chExt cx="1902604" cy="2008363"/>
            </a:xfrm>
          </p:grpSpPr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8092D928-D367-4AAE-AA1E-2F565F3DC149}"/>
                  </a:ext>
                </a:extLst>
              </p:cNvPr>
              <p:cNvCxnSpPr>
                <a:cxnSpLocks/>
                <a:stCxn id="29" idx="2"/>
                <a:endCxn id="27" idx="0"/>
              </p:cNvCxnSpPr>
              <p:nvPr/>
            </p:nvCxnSpPr>
            <p:spPr>
              <a:xfrm>
                <a:off x="1634453" y="2744723"/>
                <a:ext cx="0" cy="326866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610BCC09-B1B2-CAA0-42C7-528971FA79D3}"/>
                  </a:ext>
                </a:extLst>
              </p:cNvPr>
              <p:cNvGrpSpPr/>
              <p:nvPr/>
            </p:nvGrpSpPr>
            <p:grpSpPr>
              <a:xfrm>
                <a:off x="683151" y="2289130"/>
                <a:ext cx="1902603" cy="455593"/>
                <a:chOff x="2221280" y="2430557"/>
                <a:chExt cx="1902603" cy="455593"/>
              </a:xfrm>
            </p:grpSpPr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854A1FDD-F6BE-00C2-AB2E-7D1AE622DCF0}"/>
                    </a:ext>
                  </a:extLst>
                </p:cNvPr>
                <p:cNvSpPr/>
                <p:nvPr/>
              </p:nvSpPr>
              <p:spPr>
                <a:xfrm>
                  <a:off x="2221280" y="2430557"/>
                  <a:ext cx="1902603" cy="455593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C96798DA-D0C2-C117-A0CF-5C7A9F6525BC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초기 궤도 운용</a:t>
                  </a:r>
                  <a:endParaRPr lang="en-US" altLang="ko-KR" sz="14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DCB38BD6-D12F-887F-755E-E415BA2EE74E}"/>
                  </a:ext>
                </a:extLst>
              </p:cNvPr>
              <p:cNvGrpSpPr/>
              <p:nvPr/>
            </p:nvGrpSpPr>
            <p:grpSpPr>
              <a:xfrm>
                <a:off x="683151" y="3071589"/>
                <a:ext cx="1902603" cy="461624"/>
                <a:chOff x="2221280" y="2430558"/>
                <a:chExt cx="1902603" cy="461624"/>
              </a:xfrm>
            </p:grpSpPr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B25C26CF-EA86-8BDD-C1E3-FD6CA3A99FF5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1624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F0028F70-4213-3A76-D16B-1370F6C264EA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시운전 </a:t>
                  </a:r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4287CAFC-6E7E-AA92-4B8A-8142EA92210D}"/>
                  </a:ext>
                </a:extLst>
              </p:cNvPr>
              <p:cNvGrpSpPr/>
              <p:nvPr/>
            </p:nvGrpSpPr>
            <p:grpSpPr>
              <a:xfrm>
                <a:off x="683150" y="3841901"/>
                <a:ext cx="1902603" cy="455592"/>
                <a:chOff x="2221280" y="2430558"/>
                <a:chExt cx="1902603" cy="455592"/>
              </a:xfrm>
            </p:grpSpPr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E0766538-593A-22E3-8E8C-289E6FFDF322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55592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FA87242E-D7E1-4A64-423B-CAEB3A7A009C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시운전 </a:t>
                  </a:r>
                  <a:r>
                    <a:rPr lang="en-US" altLang="ko-KR" sz="1400" b="1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FD69642B-CBFC-BD35-D88B-1400CA99AE08}"/>
                  </a:ext>
                </a:extLst>
              </p:cNvPr>
              <p:cNvCxnSpPr>
                <a:cxnSpLocks/>
                <a:stCxn id="27" idx="2"/>
                <a:endCxn id="25" idx="0"/>
              </p:cNvCxnSpPr>
              <p:nvPr/>
            </p:nvCxnSpPr>
            <p:spPr>
              <a:xfrm flipH="1">
                <a:off x="1634452" y="3533213"/>
                <a:ext cx="1" cy="308688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DC1C685-2372-E142-1A88-191E6CF2541E}"/>
                </a:ext>
              </a:extLst>
            </p:cNvPr>
            <p:cNvSpPr txBox="1"/>
            <p:nvPr/>
          </p:nvSpPr>
          <p:spPr>
            <a:xfrm>
              <a:off x="8411560" y="1501662"/>
              <a:ext cx="634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+10</a:t>
              </a:r>
              <a:r>
                <a:rPr lang="ko-KR" altLang="en-US" sz="1400" dirty="0"/>
                <a:t>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BAA0E1E-AAAA-376C-0459-E6452E9BEB2B}"/>
                </a:ext>
              </a:extLst>
            </p:cNvPr>
            <p:cNvSpPr txBox="1"/>
            <p:nvPr/>
          </p:nvSpPr>
          <p:spPr>
            <a:xfrm>
              <a:off x="8411559" y="2250109"/>
              <a:ext cx="684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+14</a:t>
              </a:r>
              <a:r>
                <a:rPr lang="ko-KR" altLang="en-US" sz="1400" dirty="0"/>
                <a:t>일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3752878-9F01-1A19-0F03-D04274885BA5}"/>
                </a:ext>
              </a:extLst>
            </p:cNvPr>
            <p:cNvSpPr txBox="1"/>
            <p:nvPr/>
          </p:nvSpPr>
          <p:spPr>
            <a:xfrm>
              <a:off x="8411559" y="703413"/>
              <a:ext cx="684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+7</a:t>
              </a:r>
              <a:r>
                <a:rPr lang="ko-KR" altLang="en-US" sz="1400" dirty="0"/>
                <a:t>일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278A4D16-2EF7-092F-4DB2-F38D9D973B1D}"/>
                </a:ext>
              </a:extLst>
            </p:cNvPr>
            <p:cNvGrpSpPr/>
            <p:nvPr/>
          </p:nvGrpSpPr>
          <p:grpSpPr>
            <a:xfrm>
              <a:off x="6515013" y="3463822"/>
              <a:ext cx="1902606" cy="2889705"/>
              <a:chOff x="4221330" y="2289130"/>
              <a:chExt cx="1902606" cy="2889705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F17381E3-6161-8B8B-59DF-7145EB56F542}"/>
                  </a:ext>
                </a:extLst>
              </p:cNvPr>
              <p:cNvGrpSpPr/>
              <p:nvPr/>
            </p:nvGrpSpPr>
            <p:grpSpPr>
              <a:xfrm>
                <a:off x="4221331" y="2289130"/>
                <a:ext cx="1902603" cy="462370"/>
                <a:chOff x="2221280" y="2430558"/>
                <a:chExt cx="1902603" cy="462370"/>
              </a:xfrm>
            </p:grpSpPr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3A109AD0-7A32-EF47-6564-CE9BAD2C515A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2370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7DC92608-505C-8FE6-4503-886EA726E2D4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대기 모드</a:t>
                  </a:r>
                  <a:endParaRPr lang="en-US" altLang="ko-KR" sz="14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BDD975D3-6E78-4194-DCB7-98F72B71C58E}"/>
                  </a:ext>
                </a:extLst>
              </p:cNvPr>
              <p:cNvGrpSpPr/>
              <p:nvPr/>
            </p:nvGrpSpPr>
            <p:grpSpPr>
              <a:xfrm>
                <a:off x="4221333" y="3100749"/>
                <a:ext cx="1902603" cy="461625"/>
                <a:chOff x="2221280" y="2430557"/>
                <a:chExt cx="1902603" cy="461625"/>
              </a:xfrm>
            </p:grpSpPr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50EE945C-AE3E-8382-B0E1-1A44C6D5D434}"/>
                    </a:ext>
                  </a:extLst>
                </p:cNvPr>
                <p:cNvSpPr/>
                <p:nvPr/>
              </p:nvSpPr>
              <p:spPr>
                <a:xfrm>
                  <a:off x="2221280" y="2430557"/>
                  <a:ext cx="1902603" cy="46162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id="{E97B0A8C-3109-0197-1008-7CAD9F48EC4A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임무 모드</a:t>
                  </a:r>
                  <a:endParaRPr lang="en-US" altLang="ko-KR" sz="14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A93CCFAA-301E-C683-2CAB-42F84CDB4770}"/>
                  </a:ext>
                </a:extLst>
              </p:cNvPr>
              <p:cNvGrpSpPr/>
              <p:nvPr/>
            </p:nvGrpSpPr>
            <p:grpSpPr>
              <a:xfrm>
                <a:off x="4221330" y="4723243"/>
                <a:ext cx="1902603" cy="455592"/>
                <a:chOff x="2221280" y="2430558"/>
                <a:chExt cx="1902603" cy="455592"/>
              </a:xfrm>
            </p:grpSpPr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B40C9EB2-9259-82E7-38D0-79F47585316E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55592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F4129203-0AF8-1502-0889-343124CCD42D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통신 모드</a:t>
                  </a:r>
                  <a:endParaRPr lang="en-US" altLang="ko-KR" sz="14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AF737C1E-096B-459D-17EF-E03C933BC793}"/>
                  </a:ext>
                </a:extLst>
              </p:cNvPr>
              <p:cNvGrpSpPr/>
              <p:nvPr/>
            </p:nvGrpSpPr>
            <p:grpSpPr>
              <a:xfrm>
                <a:off x="4221332" y="3911623"/>
                <a:ext cx="1902603" cy="462370"/>
                <a:chOff x="2221280" y="2430558"/>
                <a:chExt cx="1902603" cy="462370"/>
              </a:xfrm>
            </p:grpSpPr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5D5EEB41-27C9-BE47-4297-0092290F132F}"/>
                    </a:ext>
                  </a:extLst>
                </p:cNvPr>
                <p:cNvSpPr/>
                <p:nvPr/>
              </p:nvSpPr>
              <p:spPr>
                <a:xfrm>
                  <a:off x="2221280" y="2430558"/>
                  <a:ext cx="1902603" cy="462370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i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76F3C0EC-D444-50E9-2733-A952770C0FD1}"/>
                    </a:ext>
                  </a:extLst>
                </p:cNvPr>
                <p:cNvSpPr/>
                <p:nvPr/>
              </p:nvSpPr>
              <p:spPr>
                <a:xfrm>
                  <a:off x="2221280" y="2497169"/>
                  <a:ext cx="1902603" cy="3731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400" b="1" dirty="0">
                      <a:solidFill>
                        <a:schemeClr val="tx1"/>
                      </a:solidFill>
                    </a:rPr>
                    <a:t>대기 모드</a:t>
                  </a:r>
                  <a:endParaRPr lang="en-US" altLang="ko-KR" sz="1400" b="1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26CD2488-02D9-6AB5-5290-0BCB6212F0F2}"/>
                  </a:ext>
                </a:extLst>
              </p:cNvPr>
              <p:cNvCxnSpPr>
                <a:cxnSpLocks/>
                <a:stCxn id="49" idx="2"/>
                <a:endCxn id="47" idx="0"/>
              </p:cNvCxnSpPr>
              <p:nvPr/>
            </p:nvCxnSpPr>
            <p:spPr>
              <a:xfrm>
                <a:off x="5172633" y="2751500"/>
                <a:ext cx="2" cy="349249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E780BE25-9D01-678C-07D5-8C4CA95D7802}"/>
                  </a:ext>
                </a:extLst>
              </p:cNvPr>
              <p:cNvCxnSpPr>
                <a:cxnSpLocks/>
                <a:stCxn id="47" idx="2"/>
                <a:endCxn id="43" idx="0"/>
              </p:cNvCxnSpPr>
              <p:nvPr/>
            </p:nvCxnSpPr>
            <p:spPr>
              <a:xfrm flipH="1">
                <a:off x="5172634" y="3562374"/>
                <a:ext cx="1" cy="349249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3ADEE817-80BC-38B0-4731-03024F3AB4DA}"/>
                  </a:ext>
                </a:extLst>
              </p:cNvPr>
              <p:cNvCxnSpPr>
                <a:cxnSpLocks/>
                <a:stCxn id="43" idx="2"/>
                <a:endCxn id="45" idx="0"/>
              </p:cNvCxnSpPr>
              <p:nvPr/>
            </p:nvCxnSpPr>
            <p:spPr>
              <a:xfrm flipH="1">
                <a:off x="5172632" y="4373993"/>
                <a:ext cx="2" cy="349250"/>
              </a:xfrm>
              <a:prstGeom prst="straightConnector1">
                <a:avLst/>
              </a:prstGeom>
              <a:ln w="25400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연결선: 꺾임 41">
                <a:extLst>
                  <a:ext uri="{FF2B5EF4-FFF2-40B4-BE49-F238E27FC236}">
                    <a16:creationId xmlns:a16="http://schemas.microsoft.com/office/drawing/2014/main" id="{1581B2AA-C1A0-B106-8ED9-3A7B13CBFB50}"/>
                  </a:ext>
                </a:extLst>
              </p:cNvPr>
              <p:cNvCxnSpPr>
                <a:cxnSpLocks/>
                <a:stCxn id="46" idx="3"/>
                <a:endCxn id="49" idx="3"/>
              </p:cNvCxnSpPr>
              <p:nvPr/>
            </p:nvCxnSpPr>
            <p:spPr>
              <a:xfrm flipV="1">
                <a:off x="6123933" y="2520315"/>
                <a:ext cx="1" cy="2456139"/>
              </a:xfrm>
              <a:prstGeom prst="bentConnector3">
                <a:avLst>
                  <a:gd name="adj1" fmla="val 22860100000"/>
                </a:avLst>
              </a:prstGeom>
              <a:ln w="22225">
                <a:tailEnd type="triangle" w="med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DC350AE4-5175-911E-D348-DE67EA41DA06}"/>
                </a:ext>
              </a:extLst>
            </p:cNvPr>
            <p:cNvCxnSpPr>
              <a:cxnSpLocks/>
              <a:stCxn id="25" idx="2"/>
              <a:endCxn id="49" idx="0"/>
            </p:cNvCxnSpPr>
            <p:nvPr/>
          </p:nvCxnSpPr>
          <p:spPr>
            <a:xfrm rot="16200000" flipH="1">
              <a:off x="7047273" y="3044779"/>
              <a:ext cx="832028" cy="6057"/>
            </a:xfrm>
            <a:prstGeom prst="bentConnector3">
              <a:avLst>
                <a:gd name="adj1" fmla="val 937"/>
              </a:avLst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43510A8-6640-15BE-B103-3D19B8317C44}"/>
                </a:ext>
              </a:extLst>
            </p:cNvPr>
            <p:cNvSpPr txBox="1"/>
            <p:nvPr/>
          </p:nvSpPr>
          <p:spPr>
            <a:xfrm>
              <a:off x="6768402" y="6471500"/>
              <a:ext cx="1746947" cy="347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약 </a:t>
              </a:r>
              <a:r>
                <a:rPr lang="en-US" altLang="ko-KR" sz="1400" dirty="0"/>
                <a:t>24 </a:t>
              </a:r>
              <a:r>
                <a:rPr lang="ko-KR" altLang="en-US" sz="1400" dirty="0"/>
                <a:t>시간 주기</a:t>
              </a:r>
            </a:p>
          </p:txBody>
        </p: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DC1D1BB6-7111-7B52-5A37-F92B4839F1BD}"/>
                </a:ext>
              </a:extLst>
            </p:cNvPr>
            <p:cNvCxnSpPr>
              <a:cxnSpLocks/>
              <a:stCxn id="28" idx="1"/>
              <a:endCxn id="16" idx="0"/>
            </p:cNvCxnSpPr>
            <p:nvPr/>
          </p:nvCxnSpPr>
          <p:spPr>
            <a:xfrm rot="10800000" flipV="1">
              <a:off x="5817102" y="1659101"/>
              <a:ext cx="691857" cy="1117774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676D8058-5749-DB90-9104-146C7D5B99E5}"/>
                </a:ext>
              </a:extLst>
            </p:cNvPr>
            <p:cNvCxnSpPr>
              <a:cxnSpLocks/>
              <a:stCxn id="25" idx="1"/>
              <a:endCxn id="16" idx="0"/>
            </p:cNvCxnSpPr>
            <p:nvPr/>
          </p:nvCxnSpPr>
          <p:spPr>
            <a:xfrm rot="10800000" flipV="1">
              <a:off x="5817101" y="2403997"/>
              <a:ext cx="691856" cy="372877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연결선: 꺾임 54">
              <a:extLst>
                <a:ext uri="{FF2B5EF4-FFF2-40B4-BE49-F238E27FC236}">
                  <a16:creationId xmlns:a16="http://schemas.microsoft.com/office/drawing/2014/main" id="{44242AA5-A704-C023-81EC-F4C569D97FB0}"/>
                </a:ext>
              </a:extLst>
            </p:cNvPr>
            <p:cNvCxnSpPr>
              <a:cxnSpLocks/>
              <a:stCxn id="14" idx="1"/>
              <a:endCxn id="17" idx="2"/>
            </p:cNvCxnSpPr>
            <p:nvPr/>
          </p:nvCxnSpPr>
          <p:spPr>
            <a:xfrm rot="10800000">
              <a:off x="5817101" y="3223382"/>
              <a:ext cx="580260" cy="1693274"/>
            </a:xfrm>
            <a:prstGeom prst="bentConnector2">
              <a:avLst/>
            </a:prstGeom>
            <a:ln w="22225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78149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EC48F9-F6CD-4E4E-9111-4889B632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0497F9-956F-4739-8B0F-492FB814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서울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거창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/>
              <a:t>시나리오</a:t>
            </a:r>
          </a:p>
          <a:p>
            <a:pPr lvl="2"/>
            <a:r>
              <a:rPr lang="en-US" altLang="ko-KR" dirty="0"/>
              <a:t>T1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T2	: SLR </a:t>
            </a:r>
            <a:r>
              <a:rPr lang="ko-KR" altLang="en-US" dirty="0"/>
              <a:t>시험</a:t>
            </a:r>
            <a:endParaRPr lang="en-US" altLang="ko-KR" dirty="0"/>
          </a:p>
          <a:p>
            <a:pPr lvl="2"/>
            <a:r>
              <a:rPr lang="en-US" altLang="ko-KR" dirty="0"/>
              <a:t>T3	: SLR </a:t>
            </a:r>
            <a:r>
              <a:rPr lang="ko-KR" altLang="en-US" dirty="0"/>
              <a:t>레이저 검출 데이터</a:t>
            </a:r>
            <a:r>
              <a:rPr lang="en-US" altLang="ko-KR" dirty="0"/>
              <a:t> </a:t>
            </a:r>
            <a:r>
              <a:rPr lang="ko-KR" altLang="en-US" dirty="0"/>
              <a:t>하향 </a:t>
            </a:r>
            <a:r>
              <a:rPr lang="en-US" altLang="ko-KR" dirty="0"/>
              <a:t>(UHF </a:t>
            </a:r>
            <a:r>
              <a:rPr lang="ko-KR" altLang="en-US" dirty="0"/>
              <a:t>통신</a:t>
            </a:r>
            <a:r>
              <a:rPr lang="en-US" altLang="ko-KR" dirty="0"/>
              <a:t>) </a:t>
            </a:r>
          </a:p>
          <a:p>
            <a:pPr lvl="2"/>
            <a:r>
              <a:rPr lang="en-US" altLang="ko-KR" dirty="0"/>
              <a:t>T4 – T5	: </a:t>
            </a:r>
            <a:r>
              <a:rPr lang="ko-KR" altLang="en-US" dirty="0" err="1"/>
              <a:t>대즐링</a:t>
            </a:r>
            <a:r>
              <a:rPr lang="ko-KR" altLang="en-US" dirty="0"/>
              <a:t> 시험</a:t>
            </a:r>
            <a:endParaRPr lang="en-US" altLang="ko-KR" dirty="0"/>
          </a:p>
          <a:p>
            <a:pPr lvl="3"/>
            <a:r>
              <a:rPr lang="ko-KR" altLang="en-US" dirty="0" err="1"/>
              <a:t>대즐링</a:t>
            </a:r>
            <a:r>
              <a:rPr lang="ko-KR" altLang="en-US" dirty="0"/>
              <a:t> 시험을 위한 사진 촬영은 </a:t>
            </a:r>
            <a:r>
              <a:rPr lang="en-US" altLang="ko-KR" dirty="0"/>
              <a:t>T4 – T5 </a:t>
            </a:r>
            <a:r>
              <a:rPr lang="ko-KR" altLang="en-US" dirty="0"/>
              <a:t>기간에 등간격으로 촬영</a:t>
            </a:r>
            <a:endParaRPr lang="en-US" altLang="ko-KR" dirty="0"/>
          </a:p>
          <a:p>
            <a:pPr lvl="3"/>
            <a:r>
              <a:rPr lang="ko-KR" altLang="en-US" dirty="0" err="1"/>
              <a:t>대즐링</a:t>
            </a:r>
            <a:r>
              <a:rPr lang="ko-KR" altLang="en-US" dirty="0"/>
              <a:t> 시험을 위한 사진 촬영은 한 </a:t>
            </a:r>
            <a:r>
              <a:rPr lang="en-US" altLang="ko-KR" dirty="0"/>
              <a:t>path </a:t>
            </a:r>
            <a:r>
              <a:rPr lang="ko-KR" altLang="en-US" dirty="0"/>
              <a:t>당 최대 </a:t>
            </a:r>
            <a:r>
              <a:rPr lang="en-US" altLang="ko-KR" dirty="0"/>
              <a:t>3</a:t>
            </a:r>
            <a:r>
              <a:rPr lang="ko-KR" altLang="en-US" dirty="0"/>
              <a:t>장 </a:t>
            </a:r>
            <a:r>
              <a:rPr lang="en-US" altLang="ko-KR" dirty="0"/>
              <a:t>[TBD] (S-band </a:t>
            </a:r>
            <a:r>
              <a:rPr lang="ko-KR" altLang="en-US" dirty="0"/>
              <a:t>통신을 통해 </a:t>
            </a:r>
            <a:r>
              <a:rPr lang="en-US" altLang="ko-KR" dirty="0"/>
              <a:t>1 path </a:t>
            </a:r>
            <a:r>
              <a:rPr lang="ko-KR" altLang="en-US" dirty="0"/>
              <a:t>당 하향 할 수 있는 최대 사진 장수를 고려했을 시</a:t>
            </a:r>
            <a:r>
              <a:rPr lang="en-US" altLang="ko-KR" dirty="0"/>
              <a:t>)  </a:t>
            </a:r>
            <a:r>
              <a:rPr lang="en-US" altLang="ko-KR" sz="1000" dirty="0"/>
              <a:t>※ </a:t>
            </a:r>
            <a:r>
              <a:rPr lang="ko-KR" altLang="en-US" sz="1000" dirty="0"/>
              <a:t>참고</a:t>
            </a:r>
            <a:r>
              <a:rPr lang="en-US" altLang="ko-KR" sz="1000" dirty="0"/>
              <a:t>.</a:t>
            </a:r>
            <a:r>
              <a:rPr lang="ko-KR" altLang="en-US" sz="1000" dirty="0"/>
              <a:t>검증용 </a:t>
            </a:r>
            <a:r>
              <a:rPr lang="ko-KR" altLang="en-US" sz="1000" dirty="0" err="1"/>
              <a:t>큐브위성</a:t>
            </a:r>
            <a:r>
              <a:rPr lang="en-US" altLang="ko-KR" sz="1000" dirty="0"/>
              <a:t>_SRR_</a:t>
            </a:r>
            <a:r>
              <a:rPr lang="ko-KR" altLang="en-US" sz="1000" dirty="0"/>
              <a:t>연세대학교</a:t>
            </a:r>
            <a:r>
              <a:rPr lang="en-US" altLang="ko-KR" sz="1000" dirty="0"/>
              <a:t>_</a:t>
            </a:r>
            <a:r>
              <a:rPr lang="ko-KR" altLang="en-US" sz="1000" dirty="0" err="1"/>
              <a:t>보완본</a:t>
            </a:r>
            <a:endParaRPr lang="ko-KR" altLang="en-US" sz="1000" dirty="0"/>
          </a:p>
          <a:p>
            <a:pPr lvl="1"/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64C05E3-8774-4467-9151-DC8449B0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임무 운용 계획</a:t>
            </a:r>
            <a:endParaRPr lang="en-US" altLang="ko-KR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2845D46-9C7A-6D67-4F9F-77855B6129FD}"/>
              </a:ext>
            </a:extLst>
          </p:cNvPr>
          <p:cNvGrpSpPr/>
          <p:nvPr/>
        </p:nvGrpSpPr>
        <p:grpSpPr>
          <a:xfrm>
            <a:off x="638761" y="3644933"/>
            <a:ext cx="7866477" cy="3213067"/>
            <a:chOff x="1818157" y="2340088"/>
            <a:chExt cx="7866477" cy="3213067"/>
          </a:xfrm>
        </p:grpSpPr>
        <p:sp>
          <p:nvSpPr>
            <p:cNvPr id="6" name="부분 원형 5">
              <a:extLst>
                <a:ext uri="{FF2B5EF4-FFF2-40B4-BE49-F238E27FC236}">
                  <a16:creationId xmlns:a16="http://schemas.microsoft.com/office/drawing/2014/main" id="{52313787-F4F3-D5A3-AE39-9E3428B3C5DC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pie">
              <a:avLst>
                <a:gd name="adj1" fmla="val 11501465"/>
                <a:gd name="adj2" fmla="val 13138414"/>
              </a:avLst>
            </a:prstGeom>
            <a:solidFill>
              <a:srgbClr val="4472C4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부분 원형 6">
              <a:extLst>
                <a:ext uri="{FF2B5EF4-FFF2-40B4-BE49-F238E27FC236}">
                  <a16:creationId xmlns:a16="http://schemas.microsoft.com/office/drawing/2014/main" id="{40DF590D-BED2-607C-B33A-AFABF051B47F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pie">
              <a:avLst>
                <a:gd name="adj1" fmla="val 19730290"/>
                <a:gd name="adj2" fmla="val 20927929"/>
              </a:avLst>
            </a:pr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8" name="그래픽 7" descr="위성 안테나 윤곽선">
              <a:extLst>
                <a:ext uri="{FF2B5EF4-FFF2-40B4-BE49-F238E27FC236}">
                  <a16:creationId xmlns:a16="http://schemas.microsoft.com/office/drawing/2014/main" id="{5712F393-AACB-85D6-EE9F-132D01D41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7086288" y="4193222"/>
              <a:ext cx="662249" cy="662249"/>
            </a:xfrm>
            <a:prstGeom prst="rect">
              <a:avLst/>
            </a:prstGeom>
          </p:spPr>
        </p:pic>
        <p:pic>
          <p:nvPicPr>
            <p:cNvPr id="9" name="그래픽 8" descr="사일로 윤곽선">
              <a:extLst>
                <a:ext uri="{FF2B5EF4-FFF2-40B4-BE49-F238E27FC236}">
                  <a16:creationId xmlns:a16="http://schemas.microsoft.com/office/drawing/2014/main" id="{7519CC00-A362-C20A-5642-C1DA285A3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20271" y="4193223"/>
              <a:ext cx="662249" cy="662249"/>
            </a:xfrm>
            <a:prstGeom prst="rect">
              <a:avLst/>
            </a:prstGeom>
          </p:spPr>
        </p:pic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8E60907D-865B-F3AA-C75A-5856FDF27F75}"/>
                </a:ext>
              </a:extLst>
            </p:cNvPr>
            <p:cNvSpPr/>
            <p:nvPr/>
          </p:nvSpPr>
          <p:spPr>
            <a:xfrm flipH="1">
              <a:off x="5326282" y="4100371"/>
              <a:ext cx="850225" cy="283408"/>
            </a:xfrm>
            <a:prstGeom prst="arc">
              <a:avLst>
                <a:gd name="adj1" fmla="val 11563436"/>
                <a:gd name="adj2" fmla="val 13094371"/>
              </a:avLst>
            </a:prstGeom>
            <a:ln w="12700" cap="rnd">
              <a:solidFill>
                <a:schemeClr val="tx1"/>
              </a:solidFill>
              <a:headEnd type="none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원호 10">
              <a:extLst>
                <a:ext uri="{FF2B5EF4-FFF2-40B4-BE49-F238E27FC236}">
                  <a16:creationId xmlns:a16="http://schemas.microsoft.com/office/drawing/2014/main" id="{300725DD-4CF2-54F4-3B96-055FA87A70AE}"/>
                </a:ext>
              </a:extLst>
            </p:cNvPr>
            <p:cNvSpPr/>
            <p:nvPr/>
          </p:nvSpPr>
          <p:spPr>
            <a:xfrm flipH="1">
              <a:off x="5326282" y="4100371"/>
              <a:ext cx="850225" cy="283408"/>
            </a:xfrm>
            <a:prstGeom prst="arc">
              <a:avLst>
                <a:gd name="adj1" fmla="val 19794156"/>
                <a:gd name="adj2" fmla="val 20896126"/>
              </a:avLst>
            </a:prstGeom>
            <a:ln w="12700" cap="rnd">
              <a:solidFill>
                <a:schemeClr val="tx1"/>
              </a:solidFill>
              <a:headEnd type="none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333A1C-D10B-2DEE-4085-FA515E7E7EAD}"/>
                </a:ext>
              </a:extLst>
            </p:cNvPr>
            <p:cNvSpPr txBox="1"/>
            <p:nvPr/>
          </p:nvSpPr>
          <p:spPr>
            <a:xfrm>
              <a:off x="4876774" y="4159437"/>
              <a:ext cx="801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30 ° - 50°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4CE7E4-00E3-9477-437B-9B69C424A62C}"/>
                </a:ext>
              </a:extLst>
            </p:cNvPr>
            <p:cNvSpPr txBox="1"/>
            <p:nvPr/>
          </p:nvSpPr>
          <p:spPr>
            <a:xfrm>
              <a:off x="5824085" y="4159437"/>
              <a:ext cx="801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20 ° - 80°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B9AAC0-7A07-274E-1794-6EC2C3DD6822}"/>
                </a:ext>
              </a:extLst>
            </p:cNvPr>
            <p:cNvSpPr txBox="1"/>
            <p:nvPr/>
          </p:nvSpPr>
          <p:spPr>
            <a:xfrm>
              <a:off x="7163248" y="3246124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SLR </a:t>
              </a:r>
              <a:r>
                <a:rPr lang="ko-KR" altLang="en-US" sz="1400" dirty="0"/>
                <a:t>시험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93989B-CD06-8CB7-740E-310F73BDC000}"/>
                </a:ext>
              </a:extLst>
            </p:cNvPr>
            <p:cNvSpPr txBox="1"/>
            <p:nvPr/>
          </p:nvSpPr>
          <p:spPr>
            <a:xfrm>
              <a:off x="3028001" y="3384604"/>
              <a:ext cx="11988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/>
                <a:t>대즐링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시험</a:t>
              </a: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6E4B4C9-4CE1-263F-A533-E25CAB36A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031122">
              <a:off x="2595704" y="2688851"/>
              <a:ext cx="899513" cy="57117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30C8871E-D100-A1F6-DD38-1ABCCDDE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435472">
              <a:off x="7881731" y="2635534"/>
              <a:ext cx="899513" cy="571173"/>
            </a:xfrm>
            <a:prstGeom prst="rect">
              <a:avLst/>
            </a:prstGeom>
          </p:spPr>
        </p:pic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C65C98A9-53D8-5B4E-BF1B-E0D248F8902C}"/>
                </a:ext>
              </a:extLst>
            </p:cNvPr>
            <p:cNvCxnSpPr>
              <a:cxnSpLocks/>
            </p:cNvCxnSpPr>
            <p:nvPr/>
          </p:nvCxnSpPr>
          <p:spPr>
            <a:xfrm>
              <a:off x="6653996" y="2968263"/>
              <a:ext cx="580975" cy="1330580"/>
            </a:xfrm>
            <a:prstGeom prst="straightConnector1">
              <a:avLst/>
            </a:prstGeom>
            <a:ln w="15875" cap="rnd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B1B6CF3-034F-D8D0-4D6D-0B1022D99E61}"/>
                </a:ext>
              </a:extLst>
            </p:cNvPr>
            <p:cNvSpPr txBox="1"/>
            <p:nvPr/>
          </p:nvSpPr>
          <p:spPr>
            <a:xfrm>
              <a:off x="6565492" y="4291882"/>
              <a:ext cx="7291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20 ° - 70°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0C8E1AF-A1B8-A92D-D793-D13DFC5BEE32}"/>
                </a:ext>
              </a:extLst>
            </p:cNvPr>
            <p:cNvSpPr txBox="1"/>
            <p:nvPr/>
          </p:nvSpPr>
          <p:spPr>
            <a:xfrm>
              <a:off x="3810237" y="2859787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T4</a:t>
              </a:r>
              <a:endParaRPr lang="ko-KR" altLang="en-US" sz="1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ABA429-15D7-A585-818F-D5A1BC0E1D9B}"/>
                </a:ext>
              </a:extLst>
            </p:cNvPr>
            <p:cNvSpPr txBox="1"/>
            <p:nvPr/>
          </p:nvSpPr>
          <p:spPr>
            <a:xfrm>
              <a:off x="7210145" y="2833026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T2</a:t>
              </a:r>
              <a:endParaRPr lang="ko-KR" altLang="en-US" sz="1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16CBC2-7B28-913C-AD56-0A16D3A7CEDD}"/>
                </a:ext>
              </a:extLst>
            </p:cNvPr>
            <p:cNvSpPr txBox="1"/>
            <p:nvPr/>
          </p:nvSpPr>
          <p:spPr>
            <a:xfrm>
              <a:off x="5254773" y="4808414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거창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092FA8-5DC2-A82A-4815-3AF16D3FC418}"/>
                </a:ext>
              </a:extLst>
            </p:cNvPr>
            <p:cNvSpPr txBox="1"/>
            <p:nvPr/>
          </p:nvSpPr>
          <p:spPr>
            <a:xfrm>
              <a:off x="7013485" y="4775917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서울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FF64D93-8362-D3D8-A9D6-1CE3D9990F5B}"/>
                </a:ext>
              </a:extLst>
            </p:cNvPr>
            <p:cNvSpPr txBox="1"/>
            <p:nvPr/>
          </p:nvSpPr>
          <p:spPr>
            <a:xfrm rot="3984666">
              <a:off x="5835775" y="3418109"/>
              <a:ext cx="174497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UHF </a:t>
              </a:r>
              <a:r>
                <a:rPr lang="ko-KR" altLang="en-US" sz="1100" dirty="0"/>
                <a:t>하향</a:t>
              </a:r>
              <a:r>
                <a:rPr lang="en-US" altLang="ko-KR" sz="1100" dirty="0"/>
                <a:t>: </a:t>
              </a:r>
              <a:br>
                <a:rPr lang="en-US" altLang="ko-KR" sz="1100" dirty="0"/>
              </a:br>
              <a:r>
                <a:rPr lang="ko-KR" altLang="en-US" sz="1100" dirty="0"/>
                <a:t>레이저 검출 데이터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43DFFD-1A04-057B-C5F1-64A8AC13632E}"/>
                </a:ext>
              </a:extLst>
            </p:cNvPr>
            <p:cNvSpPr txBox="1"/>
            <p:nvPr/>
          </p:nvSpPr>
          <p:spPr>
            <a:xfrm>
              <a:off x="8954645" y="3285713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T1</a:t>
              </a:r>
              <a:endParaRPr lang="ko-KR" altLang="en-US" sz="1400" dirty="0"/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2C1C6ACD-CA2B-CC1C-16D8-C22D614B6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525274">
              <a:off x="6109122" y="2340088"/>
              <a:ext cx="899513" cy="571173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CE5D6CD-9CFE-08D3-488C-1AF1282558DA}"/>
                </a:ext>
              </a:extLst>
            </p:cNvPr>
            <p:cNvSpPr txBox="1"/>
            <p:nvPr/>
          </p:nvSpPr>
          <p:spPr>
            <a:xfrm>
              <a:off x="6732824" y="2745838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T3</a:t>
              </a:r>
              <a:endParaRPr lang="ko-KR" altLang="en-US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E95145E-CB7C-E0E1-A88B-4CF327039243}"/>
                </a:ext>
              </a:extLst>
            </p:cNvPr>
            <p:cNvSpPr txBox="1"/>
            <p:nvPr/>
          </p:nvSpPr>
          <p:spPr>
            <a:xfrm>
              <a:off x="2150012" y="3364561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T5</a:t>
              </a:r>
              <a:endParaRPr lang="ko-KR" altLang="en-US" sz="1400" dirty="0"/>
            </a:p>
          </p:txBody>
        </p:sp>
        <p:sp>
          <p:nvSpPr>
            <p:cNvPr id="29" name="원호 28">
              <a:extLst>
                <a:ext uri="{FF2B5EF4-FFF2-40B4-BE49-F238E27FC236}">
                  <a16:creationId xmlns:a16="http://schemas.microsoft.com/office/drawing/2014/main" id="{86F33A80-A7A7-C5CD-8A2A-A3AD4C17AFE8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arc">
              <a:avLst>
                <a:gd name="adj1" fmla="val 11055508"/>
                <a:gd name="adj2" fmla="val 21301321"/>
              </a:avLst>
            </a:prstGeom>
            <a:ln w="28575" cap="rnd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45419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주파수 등록</a:t>
            </a:r>
          </a:p>
        </p:txBody>
      </p:sp>
    </p:spTree>
    <p:extLst>
      <p:ext uri="{BB962C8B-B14F-4D97-AF65-F5344CB8AC3E}">
        <p14:creationId xmlns:p14="http://schemas.microsoft.com/office/powerpoint/2010/main" val="40161139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CA75F8D-2621-44C8-A75B-036949AF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31AB5B-04C9-4FA2-BCC7-F7EA1AC21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주파수 등록</a:t>
            </a:r>
            <a:endParaRPr lang="en-US" altLang="ko-KR" dirty="0"/>
          </a:p>
          <a:p>
            <a:pPr lvl="1"/>
            <a:r>
              <a:rPr lang="ko-KR" altLang="en-US" dirty="0"/>
              <a:t>전파규칙</a:t>
            </a:r>
            <a:r>
              <a:rPr lang="en-US" altLang="ko-KR" dirty="0"/>
              <a:t>(Radio Regulations)</a:t>
            </a:r>
            <a:r>
              <a:rPr lang="ko-KR" altLang="en-US" dirty="0"/>
              <a:t>에 의해 실질적인 위성전파원 이용에 관계된 위성망과 전파 간섭 문제 해결을 위한 조정 과정을 거쳐 </a:t>
            </a:r>
            <a:r>
              <a:rPr lang="en-US" altLang="ko-KR" dirty="0"/>
              <a:t>ITU</a:t>
            </a:r>
            <a:r>
              <a:rPr lang="ko-KR" altLang="en-US" dirty="0"/>
              <a:t>의 </a:t>
            </a:r>
            <a:r>
              <a:rPr lang="ko-KR" altLang="en-US" dirty="0" err="1"/>
              <a:t>국제주파수등록원부</a:t>
            </a:r>
            <a:r>
              <a:rPr lang="en-US" altLang="ko-KR" dirty="0"/>
              <a:t>(MIFR)</a:t>
            </a:r>
            <a:r>
              <a:rPr lang="ko-KR" altLang="en-US" dirty="0"/>
              <a:t>에 </a:t>
            </a:r>
            <a:r>
              <a:rPr lang="ko-KR" altLang="en-US" dirty="0" err="1"/>
              <a:t>등제되어야만</a:t>
            </a:r>
            <a:r>
              <a:rPr lang="ko-KR" altLang="en-US" dirty="0"/>
              <a:t> 국제적 보호 권리를 확보</a:t>
            </a:r>
            <a:endParaRPr lang="en-US" altLang="ko-KR" dirty="0"/>
          </a:p>
          <a:p>
            <a:pPr lvl="1"/>
            <a:r>
              <a:rPr lang="ko-KR" altLang="en-US" dirty="0"/>
              <a:t>조정 완료 없이 사용하여 혼신 발생시 상대 주관청의 요구에 따라 즉시 운용 중단하여야 하며</a:t>
            </a:r>
            <a:r>
              <a:rPr lang="en-US" altLang="ko-KR" dirty="0"/>
              <a:t>, </a:t>
            </a:r>
            <a:r>
              <a:rPr lang="ko-KR" altLang="en-US" dirty="0"/>
              <a:t>다른 위성망의 혼신으로부터 보호를 요청할 수 없음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55EA76-9C20-4EBE-8084-EF8CD089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주파수 등록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371828-283F-4283-919F-AABEBE9D1433}"/>
              </a:ext>
            </a:extLst>
          </p:cNvPr>
          <p:cNvSpPr/>
          <p:nvPr/>
        </p:nvSpPr>
        <p:spPr>
          <a:xfrm>
            <a:off x="7939488" y="4894020"/>
            <a:ext cx="75442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EDAA4B3E-5BE8-71B9-2C93-21A20A1F605B}"/>
              </a:ext>
            </a:extLst>
          </p:cNvPr>
          <p:cNvSpPr/>
          <p:nvPr/>
        </p:nvSpPr>
        <p:spPr>
          <a:xfrm>
            <a:off x="731520" y="3060192"/>
            <a:ext cx="2036064" cy="829056"/>
          </a:xfrm>
          <a:prstGeom prst="flowChartTerminator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사전공표</a:t>
            </a:r>
            <a:endParaRPr lang="en-US" altLang="ko-KR" sz="1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(Advanced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Publication Information)</a:t>
            </a: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0E5E71D3-9757-659E-B474-D020BE836C04}"/>
              </a:ext>
            </a:extLst>
          </p:cNvPr>
          <p:cNvSpPr/>
          <p:nvPr/>
        </p:nvSpPr>
        <p:spPr>
          <a:xfrm>
            <a:off x="731520" y="4243687"/>
            <a:ext cx="2036064" cy="829056"/>
          </a:xfrm>
          <a:prstGeom prst="flowChartTerminator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조정</a:t>
            </a:r>
            <a:endParaRPr lang="en-US" altLang="ko-KR" sz="1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(Coordination)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F4547C03-0EDF-BC19-EF5F-14E413AD8317}"/>
              </a:ext>
            </a:extLst>
          </p:cNvPr>
          <p:cNvSpPr/>
          <p:nvPr/>
        </p:nvSpPr>
        <p:spPr>
          <a:xfrm>
            <a:off x="731520" y="5476598"/>
            <a:ext cx="2036064" cy="829056"/>
          </a:xfrm>
          <a:prstGeom prst="flowChartTerminator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통고</a:t>
            </a:r>
            <a:endParaRPr lang="en-US" altLang="ko-KR" sz="1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(Notification)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62886-9DB3-157D-C23F-62843E719E8E}"/>
              </a:ext>
            </a:extLst>
          </p:cNvPr>
          <p:cNvSpPr txBox="1"/>
          <p:nvPr/>
        </p:nvSpPr>
        <p:spPr>
          <a:xfrm>
            <a:off x="2894570" y="3060192"/>
            <a:ext cx="566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times" panose="02020603050405020304" pitchFamily="18" charset="0"/>
                <a:cs typeface="times" panose="02020603050405020304" pitchFamily="18" charset="0"/>
              </a:rPr>
              <a:t>신규 위성망의 주파수 사용 계획은 전 세계에 공표하는 단계</a:t>
            </a:r>
            <a:endParaRPr lang="en-US" altLang="ko-KR" sz="1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위성 운영 </a:t>
            </a:r>
            <a:r>
              <a:rPr lang="en-US" altLang="ko-KR" sz="1200" b="1" dirty="0">
                <a:latin typeface="times" panose="02020603050405020304" pitchFamily="18" charset="0"/>
                <a:cs typeface="times" panose="02020603050405020304" pitchFamily="18" charset="0"/>
              </a:rPr>
              <a:t>7</a:t>
            </a:r>
            <a:r>
              <a:rPr lang="ko-KR" altLang="en-US" sz="1200" b="1" dirty="0">
                <a:latin typeface="times" panose="02020603050405020304" pitchFamily="18" charset="0"/>
                <a:cs typeface="times" panose="02020603050405020304" pitchFamily="18" charset="0"/>
              </a:rPr>
              <a:t>년 전 </a:t>
            </a:r>
            <a:r>
              <a:rPr lang="en-US" altLang="ko-KR" sz="1200" b="1" dirty="0">
                <a:latin typeface="times" panose="02020603050405020304" pitchFamily="18" charset="0"/>
                <a:cs typeface="times" panose="02020603050405020304" pitchFamily="18" charset="0"/>
              </a:rPr>
              <a:t>~2</a:t>
            </a:r>
            <a:r>
              <a:rPr lang="ko-KR" altLang="en-US" sz="1200" b="1" dirty="0">
                <a:latin typeface="times" panose="02020603050405020304" pitchFamily="18" charset="0"/>
                <a:cs typeface="times" panose="02020603050405020304" pitchFamily="18" charset="0"/>
              </a:rPr>
              <a:t>년 전에 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사전공표 자료를 </a:t>
            </a:r>
            <a:r>
              <a:rPr lang="en-US" altLang="ko-KR" sz="1200" dirty="0">
                <a:latin typeface="times" panose="02020603050405020304" pitchFamily="18" charset="0"/>
                <a:cs typeface="times" panose="02020603050405020304" pitchFamily="18" charset="0"/>
              </a:rPr>
              <a:t>ITU-BR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에</a:t>
            </a:r>
            <a:r>
              <a:rPr lang="en-US" altLang="ko-KR" sz="12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제출</a:t>
            </a:r>
            <a:endParaRPr lang="en-US" altLang="ko-KR" sz="1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times" panose="02020603050405020304" pitchFamily="18" charset="0"/>
                <a:cs typeface="times" panose="02020603050405020304" pitchFamily="18" charset="0"/>
              </a:rPr>
              <a:t>위성망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 명</a:t>
            </a:r>
            <a:r>
              <a:rPr lang="en-US" altLang="ko-KR" sz="1200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궤도</a:t>
            </a:r>
            <a:r>
              <a:rPr lang="en-US" altLang="ko-KR" sz="1200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이용 주파수 대역</a:t>
            </a:r>
            <a:r>
              <a:rPr lang="en-US" altLang="ko-KR" sz="1200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서비스 지역</a:t>
            </a:r>
            <a:r>
              <a:rPr lang="en-US" altLang="ko-KR" sz="1200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운용 개시일 등의 정보 포함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0B8FDE-8093-FE09-4779-3769FD5E49F6}"/>
              </a:ext>
            </a:extLst>
          </p:cNvPr>
          <p:cNvSpPr txBox="1"/>
          <p:nvPr/>
        </p:nvSpPr>
        <p:spPr>
          <a:xfrm>
            <a:off x="2894570" y="4236622"/>
            <a:ext cx="5664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times" panose="02020603050405020304" pitchFamily="18" charset="0"/>
                <a:cs typeface="times" panose="02020603050405020304" pitchFamily="18" charset="0"/>
              </a:rPr>
              <a:t>국제등록을 먼저 신청한 위성망과의 혼신 조정 수행 단계</a:t>
            </a:r>
            <a:endParaRPr lang="en-US" altLang="ko-KR" sz="1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정지궤도 위성망과 일부 상업용 주파수를 사용하는 비정지궤도 </a:t>
            </a:r>
            <a:r>
              <a:rPr lang="ko-KR" altLang="en-US" sz="1200" dirty="0" err="1">
                <a:latin typeface="times" panose="02020603050405020304" pitchFamily="18" charset="0"/>
                <a:cs typeface="times" panose="02020603050405020304" pitchFamily="18" charset="0"/>
              </a:rPr>
              <a:t>위성망</a:t>
            </a:r>
            <a:endParaRPr lang="en-US" altLang="ko-KR" sz="1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사전공표자로 제출 후 </a:t>
            </a:r>
            <a:r>
              <a:rPr lang="en-US" altLang="ko-KR" sz="1200" b="1" dirty="0">
                <a:latin typeface="times" panose="02020603050405020304" pitchFamily="18" charset="0"/>
                <a:cs typeface="times" panose="02020603050405020304" pitchFamily="18" charset="0"/>
              </a:rPr>
              <a:t>6</a:t>
            </a:r>
            <a:r>
              <a:rPr lang="ko-KR" altLang="en-US" sz="1200" b="1" dirty="0">
                <a:latin typeface="times" panose="02020603050405020304" pitchFamily="18" charset="0"/>
                <a:cs typeface="times" panose="02020603050405020304" pitchFamily="18" charset="0"/>
              </a:rPr>
              <a:t>개월 후 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조정자료 제출 가능</a:t>
            </a:r>
            <a:endParaRPr lang="en-US" altLang="ko-KR" sz="1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조정 공표 후 </a:t>
            </a:r>
            <a:r>
              <a:rPr lang="en-US" altLang="ko-KR" sz="1200" b="1" dirty="0">
                <a:latin typeface="times" panose="02020603050405020304" pitchFamily="18" charset="0"/>
                <a:cs typeface="times" panose="02020603050405020304" pitchFamily="18" charset="0"/>
              </a:rPr>
              <a:t>4</a:t>
            </a:r>
            <a:r>
              <a:rPr lang="ko-KR" altLang="en-US" sz="1200" b="1" dirty="0">
                <a:latin typeface="times" panose="02020603050405020304" pitchFamily="18" charset="0"/>
                <a:cs typeface="times" panose="02020603050405020304" pitchFamily="18" charset="0"/>
              </a:rPr>
              <a:t>개월 이내에 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혼신 예상 위성망에 대한 이의제기</a:t>
            </a:r>
            <a:r>
              <a:rPr lang="en-US" altLang="ko-KR" sz="1200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이의제기가 없을 시 </a:t>
            </a:r>
            <a:r>
              <a:rPr lang="ko-KR" altLang="en-US" sz="1200" dirty="0" err="1">
                <a:latin typeface="times" panose="02020603050405020304" pitchFamily="18" charset="0"/>
                <a:cs typeface="times" panose="02020603050405020304" pitchFamily="18" charset="0"/>
              </a:rPr>
              <a:t>위성망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 등록에 동의하는 것으로 간주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1B6A62-FAE3-2E47-BD40-AA44443EB5FA}"/>
              </a:ext>
            </a:extLst>
          </p:cNvPr>
          <p:cNvSpPr txBox="1"/>
          <p:nvPr/>
        </p:nvSpPr>
        <p:spPr>
          <a:xfrm>
            <a:off x="2894570" y="5555040"/>
            <a:ext cx="566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latin typeface="times" panose="02020603050405020304" pitchFamily="18" charset="0"/>
                <a:cs typeface="times" panose="02020603050405020304" pitchFamily="18" charset="0"/>
              </a:rPr>
              <a:t>위성망</a:t>
            </a:r>
            <a:r>
              <a:rPr lang="ko-KR" altLang="en-US" sz="1200" b="1" dirty="0">
                <a:latin typeface="times" panose="02020603050405020304" pitchFamily="18" charset="0"/>
                <a:cs typeface="times" panose="02020603050405020304" pitchFamily="18" charset="0"/>
              </a:rPr>
              <a:t> 국제등록의 마지막 단계</a:t>
            </a:r>
            <a:endParaRPr lang="en-US" altLang="ko-KR" sz="1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전파규칙 준수 여부</a:t>
            </a:r>
            <a:r>
              <a:rPr lang="en-US" altLang="ko-KR" sz="1200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조정 완료 여부 등의 제출된 통고서 심사</a:t>
            </a:r>
            <a:endParaRPr lang="en-US" altLang="ko-KR" sz="1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심사 완료 후 </a:t>
            </a:r>
            <a:r>
              <a:rPr lang="ko-KR" altLang="en-US" sz="1200" dirty="0" err="1">
                <a:latin typeface="times" panose="02020603050405020304" pitchFamily="18" charset="0"/>
                <a:cs typeface="times" panose="02020603050405020304" pitchFamily="18" charset="0"/>
              </a:rPr>
              <a:t>국제주파수등록원부</a:t>
            </a:r>
            <a:r>
              <a:rPr lang="en-US" altLang="ko-KR" sz="1200" dirty="0">
                <a:latin typeface="times" panose="02020603050405020304" pitchFamily="18" charset="0"/>
                <a:cs typeface="times" panose="02020603050405020304" pitchFamily="18" charset="0"/>
              </a:rPr>
              <a:t>(MIFR)</a:t>
            </a:r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에 </a:t>
            </a:r>
            <a:r>
              <a:rPr lang="ko-KR" altLang="en-US" sz="1200" dirty="0" err="1">
                <a:latin typeface="times" panose="02020603050405020304" pitchFamily="18" charset="0"/>
                <a:cs typeface="times" panose="02020603050405020304" pitchFamily="18" charset="0"/>
              </a:rPr>
              <a:t>등제</a:t>
            </a:r>
            <a:endParaRPr lang="ko-KR" altLang="en-US" sz="1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70A5C20-D16F-58C5-D800-BBEF343B2FD6}"/>
              </a:ext>
            </a:extLst>
          </p:cNvPr>
          <p:cNvCxnSpPr>
            <a:stCxn id="5" idx="2"/>
            <a:endCxn id="13" idx="0"/>
          </p:cNvCxnSpPr>
          <p:nvPr/>
        </p:nvCxnSpPr>
        <p:spPr>
          <a:xfrm>
            <a:off x="1749552" y="3889248"/>
            <a:ext cx="0" cy="354439"/>
          </a:xfrm>
          <a:prstGeom prst="straightConnector1">
            <a:avLst/>
          </a:prstGeom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4476F2D-3E1F-07B4-ED8D-3592ACBA5685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749552" y="5072743"/>
            <a:ext cx="0" cy="403855"/>
          </a:xfrm>
          <a:prstGeom prst="straightConnector1">
            <a:avLst/>
          </a:prstGeom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5401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atinLnBrk="1"/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SRR/SDR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회의 일정</a:t>
            </a:r>
          </a:p>
        </p:txBody>
      </p:sp>
    </p:spTree>
    <p:extLst>
      <p:ext uri="{BB962C8B-B14F-4D97-AF65-F5344CB8AC3E}">
        <p14:creationId xmlns:p14="http://schemas.microsoft.com/office/powerpoint/2010/main" val="35934698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44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D88107-90D5-4EB4-9E10-044D74E7D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개발 일정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SDR (System Definition Review) :</a:t>
            </a:r>
            <a:r>
              <a:rPr lang="ko-KR" altLang="en-US" dirty="0"/>
              <a:t> </a:t>
            </a:r>
            <a:r>
              <a:rPr lang="en-US" altLang="ko-KR" dirty="0"/>
              <a:t>22.6</a:t>
            </a:r>
            <a:r>
              <a:rPr lang="ko-KR" altLang="en-US" dirty="0"/>
              <a:t>月 말에 시행</a:t>
            </a:r>
            <a:endParaRPr lang="en-US" altLang="ko-KR" dirty="0"/>
          </a:p>
          <a:p>
            <a:pPr lvl="2"/>
            <a:r>
              <a:rPr lang="en-US" altLang="ko-KR" dirty="0"/>
              <a:t>PDR (Preliminary Design Review) : 22.10 </a:t>
            </a:r>
            <a:r>
              <a:rPr lang="ko-KR" altLang="en-US" dirty="0"/>
              <a:t>月 말에 시행</a:t>
            </a:r>
            <a:endParaRPr lang="en-US" altLang="ko-KR" dirty="0"/>
          </a:p>
          <a:p>
            <a:pPr lvl="2"/>
            <a:r>
              <a:rPr lang="en-US" altLang="ko-KR" dirty="0"/>
              <a:t>CDR</a:t>
            </a:r>
            <a:r>
              <a:rPr lang="ko-KR" altLang="en-US" dirty="0"/>
              <a:t> </a:t>
            </a:r>
            <a:r>
              <a:rPr lang="en-US" altLang="ko-KR" dirty="0"/>
              <a:t>(Critical</a:t>
            </a:r>
            <a:r>
              <a:rPr lang="ko-KR" altLang="en-US" dirty="0"/>
              <a:t> </a:t>
            </a:r>
            <a:r>
              <a:rPr lang="en-US" altLang="ko-KR" dirty="0"/>
              <a:t>Design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  <a:r>
              <a:rPr lang="ko-KR" altLang="en-US" dirty="0"/>
              <a:t>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23. 3</a:t>
            </a:r>
            <a:r>
              <a:rPr lang="ko-KR" altLang="en-US" dirty="0"/>
              <a:t>月 말에 시행</a:t>
            </a:r>
            <a:endParaRPr lang="en-US" altLang="ko-KR" dirty="0"/>
          </a:p>
          <a:p>
            <a:pPr lvl="2"/>
            <a:r>
              <a:rPr lang="en-US" altLang="ko-KR" dirty="0"/>
              <a:t>TRR (Test</a:t>
            </a:r>
            <a:r>
              <a:rPr lang="ko-KR" altLang="en-US" dirty="0"/>
              <a:t> </a:t>
            </a:r>
            <a:r>
              <a:rPr lang="en-US" altLang="ko-KR" dirty="0"/>
              <a:t>Readiness</a:t>
            </a:r>
            <a:r>
              <a:rPr lang="ko-KR" altLang="en-US" dirty="0"/>
              <a:t> </a:t>
            </a:r>
            <a:r>
              <a:rPr lang="en-US" altLang="ko-KR" dirty="0"/>
              <a:t>Review) : 23. 9</a:t>
            </a:r>
            <a:r>
              <a:rPr lang="ko-KR" altLang="en-US" dirty="0"/>
              <a:t>月 중에 시행</a:t>
            </a:r>
            <a:endParaRPr lang="en-US" altLang="ko-KR" dirty="0"/>
          </a:p>
          <a:p>
            <a:pPr marL="0" indent="0">
              <a:buNone/>
            </a:pPr>
            <a:endParaRPr lang="en-US" altLang="ko-KR" b="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큐브 위성 시스템 개발일정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E1C8CFE1-BF03-4481-953A-91D7E6491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C7182E-BCF7-4850-B104-714066507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217477"/>
              </p:ext>
            </p:extLst>
          </p:nvPr>
        </p:nvGraphicFramePr>
        <p:xfrm>
          <a:off x="329281" y="1397000"/>
          <a:ext cx="8485436" cy="2519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6988">
                  <a:extLst>
                    <a:ext uri="{9D8B030D-6E8A-4147-A177-3AD203B41FA5}">
                      <a16:colId xmlns:a16="http://schemas.microsoft.com/office/drawing/2014/main" val="505280126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2987665036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1504826976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2113165706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3875231431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3257370857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1700235617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475234156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136047836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2009024648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3762049054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4040883023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1683185550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1276963769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3996905249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1366263598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2440630434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2260612568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3354736224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541376748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2780518755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1734619994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1312869169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1137927080"/>
                    </a:ext>
                  </a:extLst>
                </a:gridCol>
                <a:gridCol w="304102">
                  <a:extLst>
                    <a:ext uri="{9D8B030D-6E8A-4147-A177-3AD203B41FA5}">
                      <a16:colId xmlns:a16="http://schemas.microsoft.com/office/drawing/2014/main" val="272297827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주요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2022</a:t>
                      </a:r>
                      <a:r>
                        <a:rPr lang="ko-KR" altLang="en-US" sz="1200" b="1"/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2023</a:t>
                      </a:r>
                      <a:r>
                        <a:rPr lang="ko-KR" altLang="en-US" sz="1200" b="1"/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428558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8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380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추적 시스템 마일스톤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75561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주요활동</a:t>
                      </a:r>
                      <a:endParaRPr lang="en-US" altLang="ko-KR" sz="8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743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/>
                        <a:t>큐브위성</a:t>
                      </a:r>
                      <a:r>
                        <a:rPr lang="ko-KR" altLang="en-US" sz="800" b="1" dirty="0"/>
                        <a:t> 마일스톤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431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/>
                        <a:t>위성체</a:t>
                      </a:r>
                      <a:r>
                        <a:rPr lang="ko-KR" altLang="en-US" sz="800" b="1" dirty="0"/>
                        <a:t> 모듈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85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/>
                        <a:t>지상체</a:t>
                      </a:r>
                      <a:r>
                        <a:rPr lang="ko-KR" altLang="en-US" sz="800" b="1" dirty="0"/>
                        <a:t> 모듈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330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발사체 모듈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869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6D9B5A-1B1A-4F4E-AB10-59A332AF9EF9}"/>
              </a:ext>
            </a:extLst>
          </p:cNvPr>
          <p:cNvSpPr txBox="1"/>
          <p:nvPr/>
        </p:nvSpPr>
        <p:spPr>
          <a:xfrm>
            <a:off x="2242928" y="1908205"/>
            <a:ext cx="4940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◆</a:t>
            </a:r>
            <a:r>
              <a:rPr lang="en-US" altLang="ko-KR" sz="800" b="1" dirty="0"/>
              <a:t>PDR</a:t>
            </a:r>
            <a:endParaRPr lang="ko-KR" altLang="en-US" sz="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59D63-CACE-411C-B5F1-D7C6742984EA}"/>
              </a:ext>
            </a:extLst>
          </p:cNvPr>
          <p:cNvSpPr txBox="1"/>
          <p:nvPr/>
        </p:nvSpPr>
        <p:spPr>
          <a:xfrm>
            <a:off x="3164948" y="1908205"/>
            <a:ext cx="5565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/>
              <a:t>◆</a:t>
            </a:r>
            <a:r>
              <a:rPr lang="en-US" altLang="ko-KR" sz="800" b="1"/>
              <a:t>CDR1</a:t>
            </a:r>
            <a:endParaRPr lang="ko-KR" altLang="en-US" sz="8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3E80A-7507-435D-AE2C-354AAE658620}"/>
              </a:ext>
            </a:extLst>
          </p:cNvPr>
          <p:cNvSpPr txBox="1"/>
          <p:nvPr/>
        </p:nvSpPr>
        <p:spPr>
          <a:xfrm>
            <a:off x="6006689" y="1908205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/>
              <a:t>진도평가</a:t>
            </a:r>
            <a:r>
              <a:rPr lang="ko-KR" altLang="en-US" sz="800" b="1">
                <a:solidFill>
                  <a:schemeClr val="accent2"/>
                </a:solidFill>
              </a:rPr>
              <a:t>◆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83CFA-AB44-444E-8665-BFAEAB9C5EDA}"/>
              </a:ext>
            </a:extLst>
          </p:cNvPr>
          <p:cNvSpPr txBox="1"/>
          <p:nvPr/>
        </p:nvSpPr>
        <p:spPr>
          <a:xfrm>
            <a:off x="6610963" y="1908205"/>
            <a:ext cx="5565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/>
              <a:t>CDR2</a:t>
            </a:r>
            <a:r>
              <a:rPr lang="ko-KR" altLang="en-US" sz="800" b="1"/>
              <a:t>◆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76C2E8-909A-4F59-9162-5994B4222F2E}"/>
              </a:ext>
            </a:extLst>
          </p:cNvPr>
          <p:cNvSpPr/>
          <p:nvPr/>
        </p:nvSpPr>
        <p:spPr>
          <a:xfrm>
            <a:off x="1531620" y="2231295"/>
            <a:ext cx="1212974" cy="12954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</a:rPr>
              <a:t>기본설계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930C93-EA06-46A6-9A90-ECA6725FB0E7}"/>
              </a:ext>
            </a:extLst>
          </p:cNvPr>
          <p:cNvSpPr/>
          <p:nvPr/>
        </p:nvSpPr>
        <p:spPr>
          <a:xfrm>
            <a:off x="2752214" y="2231295"/>
            <a:ext cx="1212974" cy="12954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</a:rPr>
              <a:t>상세설계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B94FA9-FB73-4EE1-AB5F-B3F2DC6DA3DE}"/>
              </a:ext>
            </a:extLst>
          </p:cNvPr>
          <p:cNvSpPr/>
          <p:nvPr/>
        </p:nvSpPr>
        <p:spPr>
          <a:xfrm>
            <a:off x="3972808" y="2231295"/>
            <a:ext cx="3033782" cy="12954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</a:rPr>
              <a:t>기본시제 제작</a:t>
            </a:r>
            <a:r>
              <a:rPr lang="en-US" altLang="ko-KR" sz="800" b="1">
                <a:solidFill>
                  <a:schemeClr val="tx1"/>
                </a:solidFill>
              </a:rPr>
              <a:t>/</a:t>
            </a:r>
            <a:r>
              <a:rPr lang="ko-KR" altLang="en-US" sz="800" b="1">
                <a:solidFill>
                  <a:schemeClr val="tx1"/>
                </a:solidFill>
              </a:rPr>
              <a:t>조립</a:t>
            </a:r>
            <a:r>
              <a:rPr lang="en-US" altLang="ko-KR" sz="800" b="1">
                <a:solidFill>
                  <a:schemeClr val="tx1"/>
                </a:solidFill>
              </a:rPr>
              <a:t>/ </a:t>
            </a:r>
            <a:r>
              <a:rPr lang="ko-KR" altLang="en-US" sz="800" b="1">
                <a:solidFill>
                  <a:schemeClr val="tx1"/>
                </a:solidFill>
              </a:rPr>
              <a:t>보완사항 도출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DC023BA-2166-4213-BC8C-1FE9566D6D92}"/>
              </a:ext>
            </a:extLst>
          </p:cNvPr>
          <p:cNvSpPr/>
          <p:nvPr/>
        </p:nvSpPr>
        <p:spPr>
          <a:xfrm>
            <a:off x="6991350" y="2231295"/>
            <a:ext cx="1815747" cy="12954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</a:rPr>
              <a:t>완성시제 제작</a:t>
            </a:r>
            <a:r>
              <a:rPr lang="en-US" altLang="ko-KR" sz="800" b="1">
                <a:solidFill>
                  <a:schemeClr val="tx1"/>
                </a:solidFill>
              </a:rPr>
              <a:t>/</a:t>
            </a:r>
            <a:r>
              <a:rPr lang="ko-KR" altLang="en-US" sz="800" b="1">
                <a:solidFill>
                  <a:schemeClr val="tx1"/>
                </a:solidFill>
              </a:rPr>
              <a:t>조립</a:t>
            </a:r>
            <a:r>
              <a:rPr lang="en-US" altLang="ko-KR" sz="800" b="1">
                <a:solidFill>
                  <a:schemeClr val="tx1"/>
                </a:solidFill>
              </a:rPr>
              <a:t>/</a:t>
            </a:r>
            <a:r>
              <a:rPr lang="ko-KR" altLang="en-US" sz="800" b="1">
                <a:solidFill>
                  <a:schemeClr val="tx1"/>
                </a:solidFill>
              </a:rPr>
              <a:t>통합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516A349-F058-48E4-9AE5-4521673BB90E}"/>
              </a:ext>
            </a:extLst>
          </p:cNvPr>
          <p:cNvCxnSpPr>
            <a:cxnSpLocks/>
          </p:cNvCxnSpPr>
          <p:nvPr/>
        </p:nvCxnSpPr>
        <p:spPr>
          <a:xfrm>
            <a:off x="1516380" y="2965330"/>
            <a:ext cx="1830808" cy="0"/>
          </a:xfrm>
          <a:prstGeom prst="line">
            <a:avLst/>
          </a:prstGeom>
          <a:ln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E70D855-F282-4F20-ACE2-B3D905A2A038}"/>
              </a:ext>
            </a:extLst>
          </p:cNvPr>
          <p:cNvCxnSpPr>
            <a:cxnSpLocks/>
          </p:cNvCxnSpPr>
          <p:nvPr/>
        </p:nvCxnSpPr>
        <p:spPr>
          <a:xfrm flipV="1">
            <a:off x="3347188" y="2964268"/>
            <a:ext cx="1224812" cy="1062"/>
          </a:xfrm>
          <a:prstGeom prst="line">
            <a:avLst/>
          </a:prstGeom>
          <a:ln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9A69CC3-B66E-4519-A98F-0203C0F76D4E}"/>
              </a:ext>
            </a:extLst>
          </p:cNvPr>
          <p:cNvCxnSpPr>
            <a:cxnSpLocks/>
          </p:cNvCxnSpPr>
          <p:nvPr/>
        </p:nvCxnSpPr>
        <p:spPr>
          <a:xfrm>
            <a:off x="4572000" y="2964268"/>
            <a:ext cx="1513203" cy="0"/>
          </a:xfrm>
          <a:prstGeom prst="line">
            <a:avLst/>
          </a:prstGeom>
          <a:ln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6249FD7-7EB9-425D-A407-321F0A4FF0E1}"/>
              </a:ext>
            </a:extLst>
          </p:cNvPr>
          <p:cNvCxnSpPr>
            <a:cxnSpLocks/>
          </p:cNvCxnSpPr>
          <p:nvPr/>
        </p:nvCxnSpPr>
        <p:spPr>
          <a:xfrm>
            <a:off x="6085203" y="2964268"/>
            <a:ext cx="2729514" cy="0"/>
          </a:xfrm>
          <a:prstGeom prst="line">
            <a:avLst/>
          </a:prstGeom>
          <a:ln>
            <a:solidFill>
              <a:schemeClr val="tx1"/>
            </a:solidFill>
            <a:headEnd type="stealth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C086793-B63A-468A-BCBA-2C7E89AC79C9}"/>
              </a:ext>
            </a:extLst>
          </p:cNvPr>
          <p:cNvSpPr/>
          <p:nvPr/>
        </p:nvSpPr>
        <p:spPr>
          <a:xfrm>
            <a:off x="1949407" y="2818664"/>
            <a:ext cx="1050607" cy="129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>
                <a:solidFill>
                  <a:schemeClr val="tx1"/>
                </a:solidFill>
              </a:rPr>
              <a:t>임무 및 시스템 개념설계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F260EA8-DEF3-43EF-B4D4-27607602C3B4}"/>
              </a:ext>
            </a:extLst>
          </p:cNvPr>
          <p:cNvSpPr/>
          <p:nvPr/>
        </p:nvSpPr>
        <p:spPr>
          <a:xfrm>
            <a:off x="3396286" y="2826165"/>
            <a:ext cx="1050607" cy="129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>
                <a:solidFill>
                  <a:schemeClr val="tx1"/>
                </a:solidFill>
              </a:rPr>
              <a:t>예비 설계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6C61425-F5E5-4062-AF12-D15B65BB808B}"/>
              </a:ext>
            </a:extLst>
          </p:cNvPr>
          <p:cNvSpPr/>
          <p:nvPr/>
        </p:nvSpPr>
        <p:spPr>
          <a:xfrm>
            <a:off x="4261035" y="2818664"/>
            <a:ext cx="1809564" cy="129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>
                <a:solidFill>
                  <a:schemeClr val="tx1"/>
                </a:solidFill>
              </a:rPr>
              <a:t>상세 설계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5254727-423E-4F7B-AE37-465E7EF9000D}"/>
              </a:ext>
            </a:extLst>
          </p:cNvPr>
          <p:cNvSpPr/>
          <p:nvPr/>
        </p:nvSpPr>
        <p:spPr>
          <a:xfrm>
            <a:off x="6092823" y="2822802"/>
            <a:ext cx="2737134" cy="125392"/>
          </a:xfrm>
          <a:prstGeom prst="rect">
            <a:avLst/>
          </a:prstGeom>
          <a:noFill/>
          <a:ln>
            <a:noFill/>
            <a:round/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>
                <a:solidFill>
                  <a:schemeClr val="tx1"/>
                </a:solidFill>
              </a:rPr>
              <a:t>시스템 개발 및 검증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799E2EC-FFFD-4A69-88E6-AE950AAACD6D}"/>
              </a:ext>
            </a:extLst>
          </p:cNvPr>
          <p:cNvSpPr/>
          <p:nvPr/>
        </p:nvSpPr>
        <p:spPr>
          <a:xfrm>
            <a:off x="5179236" y="3546149"/>
            <a:ext cx="3639468" cy="129540"/>
          </a:xfrm>
          <a:prstGeom prst="rect">
            <a:avLst/>
          </a:prstGeom>
          <a:noFill/>
          <a:ln>
            <a:noFill/>
            <a:round/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>
                <a:solidFill>
                  <a:schemeClr val="tx1"/>
                </a:solidFill>
              </a:rPr>
              <a:t>발사체 계약 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7B3FA55-8162-4F6C-964E-36AC07B627C0}"/>
              </a:ext>
            </a:extLst>
          </p:cNvPr>
          <p:cNvCxnSpPr>
            <a:cxnSpLocks/>
          </p:cNvCxnSpPr>
          <p:nvPr/>
        </p:nvCxnSpPr>
        <p:spPr>
          <a:xfrm>
            <a:off x="1516380" y="3332568"/>
            <a:ext cx="1833983" cy="1062"/>
          </a:xfrm>
          <a:prstGeom prst="line">
            <a:avLst/>
          </a:prstGeom>
          <a:ln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597A3241-C009-4683-A116-0DC3BB680831}"/>
              </a:ext>
            </a:extLst>
          </p:cNvPr>
          <p:cNvCxnSpPr>
            <a:cxnSpLocks/>
          </p:cNvCxnSpPr>
          <p:nvPr/>
        </p:nvCxnSpPr>
        <p:spPr>
          <a:xfrm>
            <a:off x="3347188" y="3333630"/>
            <a:ext cx="1224812" cy="0"/>
          </a:xfrm>
          <a:prstGeom prst="line">
            <a:avLst/>
          </a:prstGeom>
          <a:ln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9E940DD1-8C2B-45D8-BD99-3070F691AEA3}"/>
              </a:ext>
            </a:extLst>
          </p:cNvPr>
          <p:cNvCxnSpPr>
            <a:cxnSpLocks/>
          </p:cNvCxnSpPr>
          <p:nvPr/>
        </p:nvCxnSpPr>
        <p:spPr>
          <a:xfrm>
            <a:off x="4572000" y="3332568"/>
            <a:ext cx="1516378" cy="0"/>
          </a:xfrm>
          <a:prstGeom prst="line">
            <a:avLst/>
          </a:prstGeom>
          <a:ln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D5287479-C0F2-475F-9391-EA17289DCFB0}"/>
              </a:ext>
            </a:extLst>
          </p:cNvPr>
          <p:cNvCxnSpPr>
            <a:cxnSpLocks/>
          </p:cNvCxnSpPr>
          <p:nvPr/>
        </p:nvCxnSpPr>
        <p:spPr>
          <a:xfrm>
            <a:off x="6088378" y="3332568"/>
            <a:ext cx="2726339" cy="0"/>
          </a:xfrm>
          <a:prstGeom prst="line">
            <a:avLst/>
          </a:prstGeom>
          <a:ln>
            <a:solidFill>
              <a:schemeClr val="tx1"/>
            </a:solidFill>
            <a:headEnd type="stealth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C3D1311-47AB-4E0C-BCA1-749FFC909413}"/>
              </a:ext>
            </a:extLst>
          </p:cNvPr>
          <p:cNvSpPr/>
          <p:nvPr/>
        </p:nvSpPr>
        <p:spPr>
          <a:xfrm>
            <a:off x="1917595" y="3186964"/>
            <a:ext cx="1050607" cy="129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>
                <a:solidFill>
                  <a:schemeClr val="tx1"/>
                </a:solidFill>
              </a:rPr>
              <a:t>임무 및 시스템 개념설계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3E4AA32-4A62-4950-9C9C-5CD6E62AAB2F}"/>
              </a:ext>
            </a:extLst>
          </p:cNvPr>
          <p:cNvSpPr/>
          <p:nvPr/>
        </p:nvSpPr>
        <p:spPr>
          <a:xfrm>
            <a:off x="3373967" y="3179432"/>
            <a:ext cx="1050607" cy="129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>
                <a:solidFill>
                  <a:schemeClr val="tx1"/>
                </a:solidFill>
              </a:rPr>
              <a:t>예비 설계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D64D90A-854B-4CBB-B8BB-07CD16CD23C7}"/>
              </a:ext>
            </a:extLst>
          </p:cNvPr>
          <p:cNvSpPr/>
          <p:nvPr/>
        </p:nvSpPr>
        <p:spPr>
          <a:xfrm>
            <a:off x="4264210" y="3186964"/>
            <a:ext cx="1809564" cy="129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>
                <a:solidFill>
                  <a:schemeClr val="tx1"/>
                </a:solidFill>
              </a:rPr>
              <a:t>상세 설계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B9B1D86-2F33-4614-9DE2-9EDF75DFA268}"/>
              </a:ext>
            </a:extLst>
          </p:cNvPr>
          <p:cNvSpPr/>
          <p:nvPr/>
        </p:nvSpPr>
        <p:spPr>
          <a:xfrm>
            <a:off x="6095998" y="3191102"/>
            <a:ext cx="2718719" cy="111703"/>
          </a:xfrm>
          <a:prstGeom prst="rect">
            <a:avLst/>
          </a:prstGeom>
          <a:noFill/>
          <a:ln>
            <a:noFill/>
            <a:round/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>
                <a:solidFill>
                  <a:schemeClr val="tx1"/>
                </a:solidFill>
              </a:rPr>
              <a:t>시스템 개발 및 검증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AD06040F-8EF5-4828-B36A-3B302981045E}"/>
              </a:ext>
            </a:extLst>
          </p:cNvPr>
          <p:cNvCxnSpPr>
            <a:cxnSpLocks/>
          </p:cNvCxnSpPr>
          <p:nvPr/>
        </p:nvCxnSpPr>
        <p:spPr>
          <a:xfrm>
            <a:off x="5167629" y="3705452"/>
            <a:ext cx="3647088" cy="0"/>
          </a:xfrm>
          <a:prstGeom prst="line">
            <a:avLst/>
          </a:prstGeom>
          <a:ln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AD16DA-6CE2-A1FA-D079-B1B1D28A4153}"/>
              </a:ext>
            </a:extLst>
          </p:cNvPr>
          <p:cNvSpPr/>
          <p:nvPr/>
        </p:nvSpPr>
        <p:spPr>
          <a:xfrm>
            <a:off x="2736974" y="1676400"/>
            <a:ext cx="300089" cy="224027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48A05CD-1A33-9031-9134-3D97F336C306}"/>
              </a:ext>
            </a:extLst>
          </p:cNvPr>
          <p:cNvSpPr txBox="1"/>
          <p:nvPr/>
        </p:nvSpPr>
        <p:spPr>
          <a:xfrm>
            <a:off x="3203594" y="2498966"/>
            <a:ext cx="4892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◆</a:t>
            </a:r>
            <a:r>
              <a:rPr lang="en-US" altLang="ko-KR" sz="800" b="1" dirty="0"/>
              <a:t>SDR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376D4F-FE6C-10FB-D5A2-B8C7F6E4C489}"/>
              </a:ext>
            </a:extLst>
          </p:cNvPr>
          <p:cNvSpPr txBox="1"/>
          <p:nvPr/>
        </p:nvSpPr>
        <p:spPr>
          <a:xfrm>
            <a:off x="4415428" y="2498074"/>
            <a:ext cx="4940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◆</a:t>
            </a:r>
            <a:r>
              <a:rPr lang="en-US" altLang="ko-KR" sz="800" b="1" dirty="0"/>
              <a:t>PDR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6257CC-A6CB-0AB9-B7BD-E3C837982A5C}"/>
              </a:ext>
            </a:extLst>
          </p:cNvPr>
          <p:cNvSpPr txBox="1"/>
          <p:nvPr/>
        </p:nvSpPr>
        <p:spPr>
          <a:xfrm>
            <a:off x="5930823" y="2482995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◆</a:t>
            </a:r>
            <a:r>
              <a:rPr lang="en-US" altLang="ko-KR" sz="800" b="1" dirty="0"/>
              <a:t>CDR</a:t>
            </a:r>
            <a:endParaRPr lang="ko-KR" altLang="en-US" sz="8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B5DAA6-6660-198F-E965-28FFEA145CAE}"/>
              </a:ext>
            </a:extLst>
          </p:cNvPr>
          <p:cNvSpPr txBox="1"/>
          <p:nvPr/>
        </p:nvSpPr>
        <p:spPr>
          <a:xfrm>
            <a:off x="7589521" y="249807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◆</a:t>
            </a:r>
            <a:r>
              <a:rPr lang="en-US" altLang="ko-KR" sz="800" b="1" dirty="0"/>
              <a:t>TRR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0942577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atinLnBrk="1"/>
            <a:r>
              <a:rPr lang="ko-KR" altLang="en-US" dirty="0"/>
              <a:t>결론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592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요약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285750" indent="-285750"/>
            <a:r>
              <a:rPr lang="ko-KR" altLang="en-US" sz="1600" dirty="0"/>
              <a:t> </a:t>
            </a:r>
            <a:r>
              <a:rPr lang="en-US" altLang="ko-KR" sz="1600" dirty="0"/>
              <a:t>Payload 1 : Deployment Reflector (</a:t>
            </a:r>
            <a:r>
              <a:rPr lang="ko-KR" altLang="en-US" sz="1600" dirty="0"/>
              <a:t>박막 전개장치</a:t>
            </a:r>
            <a:r>
              <a:rPr lang="en-US" altLang="ko-KR" sz="1600" dirty="0"/>
              <a:t>)</a:t>
            </a:r>
            <a:endParaRPr lang="en-US" altLang="ko-KR" sz="1000" dirty="0"/>
          </a:p>
          <a:p>
            <a:pPr marL="597150" lvl="1" indent="-285750"/>
            <a:r>
              <a:rPr lang="en-US" altLang="ko-KR" sz="1200" dirty="0"/>
              <a:t>HYVRID </a:t>
            </a:r>
            <a:r>
              <a:rPr lang="ko-KR" altLang="en-US" sz="1200" dirty="0" err="1"/>
              <a:t>큐브위성의</a:t>
            </a:r>
            <a:r>
              <a:rPr lang="ko-KR" altLang="en-US" sz="1200" dirty="0"/>
              <a:t> 박막 전개장치의 요구조건 및 검증 방안 수립</a:t>
            </a:r>
            <a:endParaRPr lang="en-US" altLang="ko-KR" sz="1200" dirty="0"/>
          </a:p>
          <a:p>
            <a:pPr marL="597150" lvl="1" indent="-285750"/>
            <a:r>
              <a:rPr lang="en-US" altLang="ko-KR" sz="1200" dirty="0"/>
              <a:t>CanX-7 </a:t>
            </a:r>
            <a:r>
              <a:rPr lang="ko-KR" altLang="en-US" sz="1200" dirty="0"/>
              <a:t>및 </a:t>
            </a:r>
            <a:r>
              <a:rPr lang="en-US" altLang="ko-KR" sz="1200" dirty="0" err="1"/>
              <a:t>Canyvel</a:t>
            </a:r>
            <a:r>
              <a:rPr lang="en-US" altLang="ko-KR" sz="1200" dirty="0"/>
              <a:t>-C </a:t>
            </a:r>
            <a:r>
              <a:rPr lang="ko-KR" altLang="en-US" sz="1200" dirty="0"/>
              <a:t>벤치 마킹을 통한 설계 방향성 수립</a:t>
            </a:r>
            <a:endParaRPr lang="en-US" altLang="ko-KR" sz="1200" dirty="0"/>
          </a:p>
          <a:p>
            <a:pPr marL="597150" lvl="1" indent="-285750"/>
            <a:r>
              <a:rPr lang="en-US" altLang="ko-KR" sz="1200" dirty="0"/>
              <a:t>CanX-7 </a:t>
            </a:r>
            <a:r>
              <a:rPr lang="ko-KR" altLang="en-US" sz="1200" dirty="0"/>
              <a:t>의 설계 수치를 참고하여 설계 진행</a:t>
            </a:r>
            <a:endParaRPr lang="en-US" altLang="ko-KR" sz="1200" dirty="0"/>
          </a:p>
          <a:p>
            <a:pPr marL="597150" lvl="1" indent="-285750"/>
            <a:r>
              <a:rPr lang="ko-KR" altLang="en-US" sz="1200" dirty="0"/>
              <a:t>박막 재질 선정을 위한 사전 조사</a:t>
            </a:r>
            <a:endParaRPr lang="en-US" altLang="ko-KR" sz="1200" dirty="0"/>
          </a:p>
          <a:p>
            <a:pPr marL="597150" lvl="1" indent="-285750"/>
            <a:endParaRPr lang="en-US" altLang="ko-KR" sz="1200" dirty="0"/>
          </a:p>
          <a:p>
            <a:pPr marL="285750" indent="-285750"/>
            <a:r>
              <a:rPr lang="en-US" altLang="ko-KR" sz="1600" dirty="0"/>
              <a:t>Payload 2 : SLR Laser Detector (SLR</a:t>
            </a:r>
            <a:r>
              <a:rPr lang="ko-KR" altLang="en-US" sz="1600" dirty="0"/>
              <a:t> 레이저 감지 장치</a:t>
            </a:r>
            <a:r>
              <a:rPr lang="en-US" altLang="ko-KR" sz="1600" dirty="0"/>
              <a:t>)</a:t>
            </a:r>
          </a:p>
          <a:p>
            <a:pPr marL="597150" lvl="1" indent="-285750"/>
            <a:r>
              <a:rPr lang="en-US" altLang="ko-KR" sz="1200" dirty="0"/>
              <a:t>HYVRID </a:t>
            </a:r>
            <a:r>
              <a:rPr lang="ko-KR" altLang="en-US" sz="1200" dirty="0" err="1"/>
              <a:t>큐브위성의</a:t>
            </a:r>
            <a:r>
              <a:rPr lang="ko-KR" altLang="en-US" sz="1200" dirty="0"/>
              <a:t> </a:t>
            </a:r>
            <a:r>
              <a:rPr lang="en-US" altLang="ko-KR" sz="1200" dirty="0"/>
              <a:t>SLR </a:t>
            </a:r>
            <a:r>
              <a:rPr lang="ko-KR" altLang="en-US" sz="1200" dirty="0"/>
              <a:t>레이저 감지 장치의 요구조건 및 검증 방안 수립</a:t>
            </a:r>
            <a:endParaRPr lang="en-US" altLang="ko-KR" sz="1200" dirty="0"/>
          </a:p>
          <a:p>
            <a:pPr marL="597150" lvl="1" indent="-285750"/>
            <a:r>
              <a:rPr lang="en-US" altLang="ko-KR" sz="1200" dirty="0"/>
              <a:t>SLR</a:t>
            </a:r>
            <a:r>
              <a:rPr lang="ko-KR" altLang="en-US" sz="1200" dirty="0"/>
              <a:t> 레이저의 조도 및 </a:t>
            </a:r>
            <a:r>
              <a:rPr lang="ko-KR" altLang="en-US" sz="1200" dirty="0" err="1"/>
              <a:t>광전류</a:t>
            </a:r>
            <a:r>
              <a:rPr lang="ko-KR" altLang="en-US" sz="1200" dirty="0"/>
              <a:t> 분석을 통한 설계 방향성 수립</a:t>
            </a:r>
            <a:endParaRPr lang="en-US" altLang="ko-KR" sz="1200" dirty="0"/>
          </a:p>
          <a:p>
            <a:pPr marL="597150" lvl="1" indent="-285750"/>
            <a:endParaRPr lang="en-US" altLang="ko-KR" sz="1200" dirty="0"/>
          </a:p>
          <a:p>
            <a:pPr marL="285750" indent="-285750"/>
            <a:r>
              <a:rPr lang="en-US" altLang="ko-KR" sz="1600" dirty="0"/>
              <a:t>Payload 3 : Dazzling Camera (</a:t>
            </a:r>
            <a:r>
              <a:rPr lang="ko-KR" altLang="en-US" sz="1600" dirty="0" err="1"/>
              <a:t>대즐링</a:t>
            </a:r>
            <a:r>
              <a:rPr lang="ko-KR" altLang="en-US" sz="1600" dirty="0"/>
              <a:t> 능동방어 시스템 시험 카메라</a:t>
            </a:r>
            <a:r>
              <a:rPr lang="en-US" altLang="ko-KR" sz="1600" dirty="0"/>
              <a:t>)</a:t>
            </a:r>
          </a:p>
          <a:p>
            <a:pPr marL="597150" lvl="1" indent="-285750"/>
            <a:r>
              <a:rPr lang="en-US" altLang="ko-KR" sz="1200" dirty="0"/>
              <a:t>HYVRID </a:t>
            </a:r>
            <a:r>
              <a:rPr lang="ko-KR" altLang="en-US" sz="1200" dirty="0" err="1"/>
              <a:t>큐브위성의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대즐링</a:t>
            </a:r>
            <a:r>
              <a:rPr lang="ko-KR" altLang="en-US" sz="1200" dirty="0"/>
              <a:t> 시험을 위한 카메라 요구조건 조정</a:t>
            </a:r>
            <a:endParaRPr lang="en-US" altLang="ko-KR" sz="1200" dirty="0"/>
          </a:p>
          <a:p>
            <a:pPr marL="597150" lvl="1" indent="-285750"/>
            <a:r>
              <a:rPr lang="en-US" altLang="ko-KR" sz="1200" dirty="0"/>
              <a:t>HYVRID </a:t>
            </a:r>
            <a:r>
              <a:rPr lang="ko-KR" altLang="en-US" sz="1200" dirty="0" err="1"/>
              <a:t>큐브위성의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대즐링</a:t>
            </a:r>
            <a:r>
              <a:rPr lang="ko-KR" altLang="en-US" sz="1200" dirty="0"/>
              <a:t> 시험을 위한 백업 시스템 분석</a:t>
            </a:r>
            <a:endParaRPr lang="en-US" altLang="ko-KR" sz="1200" dirty="0"/>
          </a:p>
          <a:p>
            <a:pPr marL="597150" lvl="1" indent="-285750"/>
            <a:endParaRPr lang="en-US" altLang="ko-KR" sz="1200" dirty="0"/>
          </a:p>
          <a:p>
            <a:pPr marL="285750" indent="-285750"/>
            <a:r>
              <a:rPr lang="en-US" altLang="ko-KR" sz="1600" dirty="0"/>
              <a:t>BUS (</a:t>
            </a:r>
            <a:r>
              <a:rPr lang="ko-KR" altLang="en-US" sz="1600" dirty="0"/>
              <a:t>본체</a:t>
            </a:r>
            <a:r>
              <a:rPr lang="en-US" altLang="ko-KR" sz="1600" dirty="0"/>
              <a:t>) </a:t>
            </a:r>
          </a:p>
          <a:p>
            <a:pPr marL="597150" lvl="1" indent="-285750"/>
            <a:r>
              <a:rPr lang="en-US" altLang="ko-KR" sz="1200" dirty="0"/>
              <a:t>3</a:t>
            </a:r>
            <a:r>
              <a:rPr lang="ko-KR" altLang="en-US" sz="1200" dirty="0"/>
              <a:t>개의 </a:t>
            </a:r>
            <a:r>
              <a:rPr lang="ko-KR" altLang="en-US" sz="1200" dirty="0" err="1"/>
              <a:t>탑재체</a:t>
            </a:r>
            <a:r>
              <a:rPr lang="ko-KR" altLang="en-US" sz="1200" dirty="0"/>
              <a:t> 운용을 위한 각 서브시스템 요구조건 및 검증 방안 수립</a:t>
            </a:r>
            <a:endParaRPr lang="en-US" altLang="ko-KR" sz="1200" dirty="0"/>
          </a:p>
          <a:p>
            <a:pPr marL="597150" lvl="1" indent="-285750"/>
            <a:r>
              <a:rPr lang="ko-KR" altLang="en-US" sz="1200" dirty="0"/>
              <a:t>각 서브시스템 성능 분석 및 </a:t>
            </a:r>
            <a:r>
              <a:rPr lang="en-US" altLang="ko-KR" sz="1200" dirty="0"/>
              <a:t>3D </a:t>
            </a:r>
            <a:r>
              <a:rPr lang="ko-KR" altLang="en-US" sz="1200" dirty="0"/>
              <a:t>모델링 구현</a:t>
            </a:r>
            <a:endParaRPr lang="en-US" altLang="ko-KR" sz="1200" dirty="0"/>
          </a:p>
          <a:p>
            <a:pPr marL="597150" lvl="1" indent="-285750"/>
            <a:r>
              <a:rPr lang="ko-KR" altLang="en-US" sz="1200" dirty="0"/>
              <a:t>운용궤도 선정을 위한 궤도 분석 진행</a:t>
            </a:r>
            <a:endParaRPr lang="en-US" altLang="ko-KR" sz="1200" dirty="0"/>
          </a:p>
          <a:p>
            <a:pPr marL="597150" lvl="1" indent="-285750"/>
            <a:r>
              <a:rPr lang="ko-KR" altLang="en-US" sz="1200" dirty="0"/>
              <a:t>임무 운용 개념 설계를 위한 분석</a:t>
            </a:r>
            <a:endParaRPr lang="en-US" altLang="ko-KR" sz="1200" dirty="0"/>
          </a:p>
          <a:p>
            <a:pPr marL="597150" lvl="1" indent="-285750"/>
            <a:r>
              <a:rPr lang="ko-KR" altLang="en-US" sz="1200" dirty="0"/>
              <a:t>주파수 등록 절차 조사</a:t>
            </a:r>
            <a:endParaRPr lang="en-US" altLang="ko-KR" sz="1200" dirty="0"/>
          </a:p>
          <a:p>
            <a:pPr marL="597150" lvl="1" indent="-285750"/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2641189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개발 진척도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285750" indent="-285750"/>
            <a:r>
              <a:rPr lang="ko-KR" altLang="en-US" dirty="0"/>
              <a:t> </a:t>
            </a:r>
            <a:r>
              <a:rPr lang="en-US" altLang="ko-KR" dirty="0"/>
              <a:t>Gantt chart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CCD94A4-CD3E-B456-EBA2-ACD47C4BAAA4}"/>
              </a:ext>
            </a:extLst>
          </p:cNvPr>
          <p:cNvGrpSpPr/>
          <p:nvPr/>
        </p:nvGrpSpPr>
        <p:grpSpPr>
          <a:xfrm>
            <a:off x="257081" y="1423487"/>
            <a:ext cx="8335684" cy="5277000"/>
            <a:chOff x="265396" y="1494235"/>
            <a:chExt cx="8335684" cy="52770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8F6B631-98B3-F3DA-EDE8-CF404C83E2F0}"/>
                </a:ext>
              </a:extLst>
            </p:cNvPr>
            <p:cNvSpPr/>
            <p:nvPr/>
          </p:nvSpPr>
          <p:spPr>
            <a:xfrm>
              <a:off x="5029200" y="2009775"/>
              <a:ext cx="771525" cy="2000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529D482-77BE-48FC-E31F-9C63D532F8E1}"/>
                </a:ext>
              </a:extLst>
            </p:cNvPr>
            <p:cNvSpPr/>
            <p:nvPr/>
          </p:nvSpPr>
          <p:spPr>
            <a:xfrm>
              <a:off x="5029199" y="2209800"/>
              <a:ext cx="771525" cy="2000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E43B3DB-E964-2213-7748-CC8E1B1DED0D}"/>
                </a:ext>
              </a:extLst>
            </p:cNvPr>
            <p:cNvSpPr/>
            <p:nvPr/>
          </p:nvSpPr>
          <p:spPr>
            <a:xfrm>
              <a:off x="5800724" y="2416763"/>
              <a:ext cx="471489" cy="2000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F840F63-BD03-C9CE-6AAE-AF4F53534513}"/>
                </a:ext>
              </a:extLst>
            </p:cNvPr>
            <p:cNvSpPr/>
            <p:nvPr/>
          </p:nvSpPr>
          <p:spPr>
            <a:xfrm>
              <a:off x="5800724" y="2606915"/>
              <a:ext cx="471489" cy="2000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77CEFB0-BBD1-5F88-9053-D65B7B72304B}"/>
                </a:ext>
              </a:extLst>
            </p:cNvPr>
            <p:cNvSpPr/>
            <p:nvPr/>
          </p:nvSpPr>
          <p:spPr>
            <a:xfrm>
              <a:off x="5800724" y="2812072"/>
              <a:ext cx="471489" cy="20002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C70CA71-CB30-54B4-1C20-FE885FF3A632}"/>
                </a:ext>
              </a:extLst>
            </p:cNvPr>
            <p:cNvSpPr/>
            <p:nvPr/>
          </p:nvSpPr>
          <p:spPr>
            <a:xfrm>
              <a:off x="6272213" y="3005471"/>
              <a:ext cx="666750" cy="201254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C42F13D-C07A-5EFC-4ACA-E6DD3A7A1D15}"/>
                </a:ext>
              </a:extLst>
            </p:cNvPr>
            <p:cNvSpPr/>
            <p:nvPr/>
          </p:nvSpPr>
          <p:spPr>
            <a:xfrm>
              <a:off x="6940338" y="3206725"/>
              <a:ext cx="1144482" cy="201254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39B0185-81A9-2C7E-66B7-A794EC6187A1}"/>
                </a:ext>
              </a:extLst>
            </p:cNvPr>
            <p:cNvSpPr/>
            <p:nvPr/>
          </p:nvSpPr>
          <p:spPr>
            <a:xfrm>
              <a:off x="5029199" y="2009794"/>
              <a:ext cx="771525" cy="21679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3931033-8C8D-C3F0-1E84-81C5CB146F89}"/>
                </a:ext>
              </a:extLst>
            </p:cNvPr>
            <p:cNvSpPr/>
            <p:nvPr/>
          </p:nvSpPr>
          <p:spPr>
            <a:xfrm>
              <a:off x="5029198" y="2226592"/>
              <a:ext cx="654051" cy="183214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AA7888D-793A-C966-AAF1-A181B0272155}"/>
                </a:ext>
              </a:extLst>
            </p:cNvPr>
            <p:cNvSpPr/>
            <p:nvPr/>
          </p:nvSpPr>
          <p:spPr>
            <a:xfrm>
              <a:off x="5800725" y="2415269"/>
              <a:ext cx="90488" cy="18974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406987D-69B6-C124-5174-6C1F4EF23E53}"/>
                </a:ext>
              </a:extLst>
            </p:cNvPr>
            <p:cNvSpPr/>
            <p:nvPr/>
          </p:nvSpPr>
          <p:spPr>
            <a:xfrm>
              <a:off x="5800725" y="2611955"/>
              <a:ext cx="90488" cy="18974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DEA8199-B6E8-0257-33CF-548C46710B41}"/>
                </a:ext>
              </a:extLst>
            </p:cNvPr>
            <p:cNvSpPr/>
            <p:nvPr/>
          </p:nvSpPr>
          <p:spPr>
            <a:xfrm>
              <a:off x="5029198" y="3400966"/>
              <a:ext cx="771525" cy="200025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4D235EA-ED27-6332-E9EE-C1AE2304AEB8}"/>
                </a:ext>
              </a:extLst>
            </p:cNvPr>
            <p:cNvSpPr/>
            <p:nvPr/>
          </p:nvSpPr>
          <p:spPr>
            <a:xfrm>
              <a:off x="5029198" y="3598056"/>
              <a:ext cx="771525" cy="200025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D4CBB30-94B3-84B4-AB1C-E931245498C4}"/>
                </a:ext>
              </a:extLst>
            </p:cNvPr>
            <p:cNvSpPr/>
            <p:nvPr/>
          </p:nvSpPr>
          <p:spPr>
            <a:xfrm>
              <a:off x="5800723" y="3798081"/>
              <a:ext cx="471489" cy="200025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3426B18-5724-5DE2-C941-8ACE33E19822}"/>
                </a:ext>
              </a:extLst>
            </p:cNvPr>
            <p:cNvSpPr/>
            <p:nvPr/>
          </p:nvSpPr>
          <p:spPr>
            <a:xfrm>
              <a:off x="6272212" y="3995171"/>
              <a:ext cx="666750" cy="200025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3245DC2-FF8F-9478-D0E2-0EC076F72ED0}"/>
                </a:ext>
              </a:extLst>
            </p:cNvPr>
            <p:cNvSpPr/>
            <p:nvPr/>
          </p:nvSpPr>
          <p:spPr>
            <a:xfrm>
              <a:off x="6938962" y="4189799"/>
              <a:ext cx="1144482" cy="201254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9F70762-F01B-8585-BCB1-7F404D3104A9}"/>
                </a:ext>
              </a:extLst>
            </p:cNvPr>
            <p:cNvSpPr/>
            <p:nvPr/>
          </p:nvSpPr>
          <p:spPr>
            <a:xfrm>
              <a:off x="6938962" y="4393698"/>
              <a:ext cx="1144482" cy="201254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D4F915C-CC04-0477-2EF9-A240EAD3296C}"/>
                </a:ext>
              </a:extLst>
            </p:cNvPr>
            <p:cNvSpPr/>
            <p:nvPr/>
          </p:nvSpPr>
          <p:spPr>
            <a:xfrm>
              <a:off x="5029199" y="4592132"/>
              <a:ext cx="771525" cy="20125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2F99247-E978-61C5-F130-A0DF3FDC5DCD}"/>
                </a:ext>
              </a:extLst>
            </p:cNvPr>
            <p:cNvSpPr/>
            <p:nvPr/>
          </p:nvSpPr>
          <p:spPr>
            <a:xfrm>
              <a:off x="5029198" y="4789222"/>
              <a:ext cx="771525" cy="20125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7CAB7A5A-21DB-CCD7-5096-32929471E62E}"/>
                </a:ext>
              </a:extLst>
            </p:cNvPr>
            <p:cNvSpPr/>
            <p:nvPr/>
          </p:nvSpPr>
          <p:spPr>
            <a:xfrm>
              <a:off x="5795960" y="4978145"/>
              <a:ext cx="471489" cy="20125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02B6AC0-E51C-0757-B68D-5D07EC3D85DD}"/>
                </a:ext>
              </a:extLst>
            </p:cNvPr>
            <p:cNvSpPr/>
            <p:nvPr/>
          </p:nvSpPr>
          <p:spPr>
            <a:xfrm>
              <a:off x="6267449" y="5185108"/>
              <a:ext cx="666750" cy="20125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7AE688C-58A0-7116-33A5-AD3C64A95283}"/>
                </a:ext>
              </a:extLst>
            </p:cNvPr>
            <p:cNvSpPr/>
            <p:nvPr/>
          </p:nvSpPr>
          <p:spPr>
            <a:xfrm>
              <a:off x="6938963" y="5380965"/>
              <a:ext cx="1144481" cy="20125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4AB8DE4-9DB2-D5C5-899F-AA38FE41F175}"/>
                </a:ext>
              </a:extLst>
            </p:cNvPr>
            <p:cNvSpPr/>
            <p:nvPr/>
          </p:nvSpPr>
          <p:spPr>
            <a:xfrm>
              <a:off x="5029199" y="5575408"/>
              <a:ext cx="771525" cy="201254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DCCDFD6-9B20-B708-EE09-D86B4DC0D257}"/>
                </a:ext>
              </a:extLst>
            </p:cNvPr>
            <p:cNvSpPr/>
            <p:nvPr/>
          </p:nvSpPr>
          <p:spPr>
            <a:xfrm>
              <a:off x="5029198" y="5772498"/>
              <a:ext cx="771525" cy="201254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0ACD6DB-A9C4-B815-4034-48B51D5C7F2B}"/>
                </a:ext>
              </a:extLst>
            </p:cNvPr>
            <p:cNvSpPr/>
            <p:nvPr/>
          </p:nvSpPr>
          <p:spPr>
            <a:xfrm>
              <a:off x="5795960" y="5980388"/>
              <a:ext cx="471489" cy="201254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152E4F1-AD6C-3C32-8AE9-FD3072DD7F9E}"/>
                </a:ext>
              </a:extLst>
            </p:cNvPr>
            <p:cNvSpPr/>
            <p:nvPr/>
          </p:nvSpPr>
          <p:spPr>
            <a:xfrm>
              <a:off x="6267449" y="6374124"/>
              <a:ext cx="666750" cy="201254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AD08706B-5773-3BE6-108B-7A715262562B}"/>
                </a:ext>
              </a:extLst>
            </p:cNvPr>
            <p:cNvSpPr/>
            <p:nvPr/>
          </p:nvSpPr>
          <p:spPr>
            <a:xfrm>
              <a:off x="6938963" y="6569981"/>
              <a:ext cx="1144481" cy="201254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D6C76AF-618F-7258-693D-F758A898E2D6}"/>
                </a:ext>
              </a:extLst>
            </p:cNvPr>
            <p:cNvSpPr/>
            <p:nvPr/>
          </p:nvSpPr>
          <p:spPr>
            <a:xfrm>
              <a:off x="5029197" y="3390525"/>
              <a:ext cx="771525" cy="21679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01850382-8398-B025-F7EA-D7D27F274922}"/>
                </a:ext>
              </a:extLst>
            </p:cNvPr>
            <p:cNvSpPr/>
            <p:nvPr/>
          </p:nvSpPr>
          <p:spPr>
            <a:xfrm>
              <a:off x="5029198" y="3589349"/>
              <a:ext cx="709615" cy="21679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9FA391CB-0E9A-BCCA-B053-001E5F6F537A}"/>
                </a:ext>
              </a:extLst>
            </p:cNvPr>
            <p:cNvSpPr/>
            <p:nvPr/>
          </p:nvSpPr>
          <p:spPr>
            <a:xfrm>
              <a:off x="5795960" y="3806801"/>
              <a:ext cx="152403" cy="18974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158EE84-7A94-BE84-ECEA-1338B0A500E2}"/>
                </a:ext>
              </a:extLst>
            </p:cNvPr>
            <p:cNvSpPr/>
            <p:nvPr/>
          </p:nvSpPr>
          <p:spPr>
            <a:xfrm>
              <a:off x="5029198" y="4590726"/>
              <a:ext cx="654051" cy="191932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C8ADC08-5F79-7C62-8DE2-01239FBB6A07}"/>
                </a:ext>
              </a:extLst>
            </p:cNvPr>
            <p:cNvSpPr/>
            <p:nvPr/>
          </p:nvSpPr>
          <p:spPr>
            <a:xfrm>
              <a:off x="5032354" y="4779600"/>
              <a:ext cx="771525" cy="21679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8EAEA38-8ED3-5097-0858-0D857E41A930}"/>
                </a:ext>
              </a:extLst>
            </p:cNvPr>
            <p:cNvSpPr/>
            <p:nvPr/>
          </p:nvSpPr>
          <p:spPr>
            <a:xfrm>
              <a:off x="5034915" y="5567236"/>
              <a:ext cx="771525" cy="21679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1A6F69EB-4D7C-1F9E-F5CF-B11F8A0426AE}"/>
                </a:ext>
              </a:extLst>
            </p:cNvPr>
            <p:cNvSpPr/>
            <p:nvPr/>
          </p:nvSpPr>
          <p:spPr>
            <a:xfrm>
              <a:off x="5034915" y="5770962"/>
              <a:ext cx="771525" cy="21679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774C3D1-F265-75AA-FC7B-86B389A5E0B9}"/>
                </a:ext>
              </a:extLst>
            </p:cNvPr>
            <p:cNvSpPr/>
            <p:nvPr/>
          </p:nvSpPr>
          <p:spPr>
            <a:xfrm>
              <a:off x="5795960" y="5969225"/>
              <a:ext cx="45719" cy="19915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DF3D713-75E9-3F93-337F-C94202374465}"/>
                </a:ext>
              </a:extLst>
            </p:cNvPr>
            <p:cNvSpPr/>
            <p:nvPr/>
          </p:nvSpPr>
          <p:spPr>
            <a:xfrm>
              <a:off x="5795960" y="6178295"/>
              <a:ext cx="471489" cy="201254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942A4A5-35D9-6E91-1251-DEFBF76EE692}"/>
                </a:ext>
              </a:extLst>
            </p:cNvPr>
            <p:cNvSpPr/>
            <p:nvPr/>
          </p:nvSpPr>
          <p:spPr>
            <a:xfrm>
              <a:off x="5794096" y="6172951"/>
              <a:ext cx="45719" cy="19915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F79D258-6C92-EBCF-2067-DC2648F95BDA}"/>
                </a:ext>
              </a:extLst>
            </p:cNvPr>
            <p:cNvSpPr/>
            <p:nvPr/>
          </p:nvSpPr>
          <p:spPr>
            <a:xfrm>
              <a:off x="5791196" y="4991403"/>
              <a:ext cx="45719" cy="19915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5" name="내용 개체 틀 4">
              <a:extLst>
                <a:ext uri="{FF2B5EF4-FFF2-40B4-BE49-F238E27FC236}">
                  <a16:creationId xmlns:a16="http://schemas.microsoft.com/office/drawing/2014/main" id="{51F022BC-BD29-3D74-4BB0-EB7F59C2594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390070"/>
                </p:ext>
              </p:extLst>
            </p:nvPr>
          </p:nvGraphicFramePr>
          <p:xfrm>
            <a:off x="265396" y="1494235"/>
            <a:ext cx="8335684" cy="5277000"/>
          </p:xfrm>
          <a:graphic>
            <a:graphicData uri="http://schemas.openxmlformats.org/drawingml/2006/table">
              <a:tbl>
                <a:tblPr firstRow="1" bandRow="1">
                  <a:tableStyleId>{69012ECD-51FC-41F1-AA8D-1B2483CD663E}</a:tableStyleId>
                </a:tblPr>
                <a:tblGrid>
                  <a:gridCol w="624538">
                    <a:extLst>
                      <a:ext uri="{9D8B030D-6E8A-4147-A177-3AD203B41FA5}">
                        <a16:colId xmlns:a16="http://schemas.microsoft.com/office/drawing/2014/main" val="1212386791"/>
                      </a:ext>
                    </a:extLst>
                  </a:gridCol>
                  <a:gridCol w="147833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898930">
                    <a:extLst>
                      <a:ext uri="{9D8B030D-6E8A-4147-A177-3AD203B41FA5}">
                        <a16:colId xmlns:a16="http://schemas.microsoft.com/office/drawing/2014/main" val="1388641342"/>
                      </a:ext>
                    </a:extLst>
                  </a:gridCol>
                  <a:gridCol w="771525">
                    <a:extLst>
                      <a:ext uri="{9D8B030D-6E8A-4147-A177-3AD203B41FA5}">
                        <a16:colId xmlns:a16="http://schemas.microsoft.com/office/drawing/2014/main" val="1971889906"/>
                      </a:ext>
                    </a:extLst>
                  </a:gridCol>
                  <a:gridCol w="37940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379405">
                    <a:extLst>
                      <a:ext uri="{9D8B030D-6E8A-4147-A177-3AD203B41FA5}">
                        <a16:colId xmlns:a16="http://schemas.microsoft.com/office/drawing/2014/main" val="2992796117"/>
                      </a:ext>
                    </a:extLst>
                  </a:gridCol>
                  <a:gridCol w="379405">
                    <a:extLst>
                      <a:ext uri="{9D8B030D-6E8A-4147-A177-3AD203B41FA5}">
                        <a16:colId xmlns:a16="http://schemas.microsoft.com/office/drawing/2014/main" val="1931493143"/>
                      </a:ext>
                    </a:extLst>
                  </a:gridCol>
                  <a:gridCol w="37940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379405">
                    <a:extLst>
                      <a:ext uri="{9D8B030D-6E8A-4147-A177-3AD203B41FA5}">
                        <a16:colId xmlns:a16="http://schemas.microsoft.com/office/drawing/2014/main" val="166646490"/>
                      </a:ext>
                    </a:extLst>
                  </a:gridCol>
                  <a:gridCol w="379405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379405">
                    <a:extLst>
                      <a:ext uri="{9D8B030D-6E8A-4147-A177-3AD203B41FA5}">
                        <a16:colId xmlns:a16="http://schemas.microsoft.com/office/drawing/2014/main" val="510013080"/>
                      </a:ext>
                    </a:extLst>
                  </a:gridCol>
                  <a:gridCol w="379405">
                    <a:extLst>
                      <a:ext uri="{9D8B030D-6E8A-4147-A177-3AD203B41FA5}">
                        <a16:colId xmlns:a16="http://schemas.microsoft.com/office/drawing/2014/main" val="4288236169"/>
                      </a:ext>
                    </a:extLst>
                  </a:gridCol>
                  <a:gridCol w="527115">
                    <a:extLst>
                      <a:ext uri="{9D8B030D-6E8A-4147-A177-3AD203B41FA5}">
                        <a16:colId xmlns:a16="http://schemas.microsoft.com/office/drawing/2014/main" val="3418462888"/>
                      </a:ext>
                    </a:extLst>
                  </a:gridCol>
                </a:tblGrid>
                <a:tr h="324000">
                  <a:tc rowSpan="2" gridSpan="3"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항목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solidFill>
                        <a:srgbClr val="2F5597"/>
                      </a:solidFill>
                    </a:tcPr>
                  </a:tc>
                  <a:tc rowSpan="2" hMerge="1"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700" dirty="0"/>
                          <a:t>항목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1E46"/>
                      </a:solidFill>
                    </a:tcPr>
                  </a:tc>
                  <a:tc rowSpan="2" h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 rowSpan="2"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상태</a:t>
                        </a:r>
                      </a:p>
                    </a:txBody>
                    <a:tcPr anchor="ctr"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2F5597"/>
                      </a:solidFill>
                    </a:tcPr>
                  </a:tc>
                  <a:tc gridSpan="4">
                    <a:txBody>
                      <a:bodyPr/>
                      <a:lstStyle/>
                      <a:p>
                        <a:pPr algn="ctr" latinLnBrk="1"/>
                        <a:r>
                          <a:rPr kumimoji="0" lang="en-US" altLang="ko-KR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times" panose="02020603050405020304" pitchFamily="18" charset="0"/>
                            <a:ea typeface="맑은 고딕" panose="020B0503020000020004" pitchFamily="50" charset="-127"/>
                            <a:cs typeface="times" panose="02020603050405020304" pitchFamily="18" charset="0"/>
                          </a:rPr>
                          <a:t>2022</a:t>
                        </a:r>
                        <a:endParaRPr lang="ko-KR" altLang="en-US" sz="12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2F5597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 gridSpan="4"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2023</a:t>
                        </a:r>
                        <a:endParaRPr lang="ko-KR" altLang="en-US" sz="12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2F5597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 rowSpan="2"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1200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비고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2F5597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 gridSpan="3" v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 hMerge="1" vMerge="1">
                    <a:txBody>
                      <a:bodyPr/>
                      <a:lstStyle/>
                      <a:p>
                        <a:pPr algn="ctr" latinLnBrk="1"/>
                        <a:endParaRPr lang="ko-KR" altLang="en-US" sz="1100" dirty="0"/>
                      </a:p>
                    </a:txBody>
                    <a:tcPr anchor="ctr"/>
                  </a:tc>
                  <a:tc hMerge="1" v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pPr latinLnBrk="1"/>
                        <a:endParaRPr lang="ko-KR" altLang="en-US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700" b="1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1</a:t>
                        </a:r>
                        <a:endParaRPr lang="ko-KR" altLang="en-US" sz="700" b="1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700" b="1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2</a:t>
                        </a:r>
                        <a:endParaRPr lang="ko-KR" altLang="en-US" sz="700" b="1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700" b="1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3</a:t>
                        </a:r>
                        <a:endParaRPr lang="ko-KR" altLang="en-US" sz="700" b="1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700" b="1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4</a:t>
                        </a:r>
                        <a:endParaRPr lang="ko-KR" altLang="en-US" sz="700" b="1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700" b="1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1</a:t>
                        </a:r>
                        <a:endParaRPr lang="ko-KR" altLang="en-US" sz="700" b="1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700" b="1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2</a:t>
                        </a:r>
                        <a:endParaRPr lang="ko-KR" altLang="en-US" sz="700" b="1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700" b="1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3</a:t>
                        </a:r>
                        <a:endParaRPr lang="ko-KR" altLang="en-US" sz="700" b="1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700" b="1" dirty="0"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4</a:t>
                        </a:r>
                        <a:endParaRPr lang="ko-KR" altLang="en-US" sz="700" b="1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 vMerge="1">
                    <a:txBody>
                      <a:bodyPr/>
                      <a:lstStyle/>
                      <a:p>
                        <a:pPr algn="ctr" latinLnBrk="1"/>
                        <a:endParaRPr lang="ko-KR" altLang="en-US" sz="1000" b="1" dirty="0"/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PAY1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임무 및 시스템 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요구조건 정의 및 검증 방법 정의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100 %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noFill/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noFill/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noFill/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noFill/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noFill/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선행 연구 조사 및 부품 시장 조사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80 %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noFill/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noFill/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noFill/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noFill/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noFill/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547055056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예비설계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박막 전개 장치 메커니즘 설계 및 분석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20 %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H/W </a:t>
                        </a: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선정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20 %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698059828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조립 및 작동 시험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3409142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상세설계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박막 전개장치 메커니즘 설계 보완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시스템 개발 및 검증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우주 환경 시험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PAY2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임무 및 시스템 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요구조건 정의 및 검증 방법 정의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100 % 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선행 연구 조사 및 부품 시장 조사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90 %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5211664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예비설계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 </a:t>
                        </a: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조도 및 </a:t>
                        </a:r>
                        <a:r>
                          <a:rPr lang="ko-KR" altLang="en-US" sz="700" b="1" dirty="0" err="1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광전류</a:t>
                        </a: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 분석 및 </a:t>
                        </a:r>
                        <a:r>
                          <a:rPr lang="ko-KR" altLang="en-US" sz="700" b="1" dirty="0" err="1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설계값</a:t>
                        </a: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 도출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30 %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상세설계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SLR </a:t>
                        </a: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레이저 감지 회로 제작 </a:t>
                        </a: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[TBC]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시스템 개발 및 검증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SLR </a:t>
                        </a: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레이저 감지 장치 민감도 시험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우주 환경 시험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085409166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PAY3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임무 및 시스템 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요구조건 정의 및 검증 방법 정의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80 %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60529420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선행 연구 조사 및 부품 시장 조사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100 %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814036433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예비설계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백업 시스템 실현 가능성 분석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10 %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5979087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허용 가능한 임무 데이터 용량 분석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40341164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시스템 개발 및 검증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우주 환경 시험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04586039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BUS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임무 및 시스템 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요구조건 정의 및 검증 방법 정의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100 %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78591918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부품 시장 조사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100 %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802315066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예비설계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임무 운용 계획 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10 %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05153385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각 서브시스템 시스템 설계 및 분석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10 %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752478419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상세설계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각 서브시스템 설계 보완 및 작동 시험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39125775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시스템 개발 및 검증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ko-KR" altLang="en-US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우주 환경 시험</a:t>
                        </a: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1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ko-KR" sz="700" b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rPr>
                          <a:t>0 %</a:t>
                        </a:r>
                        <a:endParaRPr lang="ko-KR" altLang="en-US" sz="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700" dirty="0">
                          <a:latin typeface="times" panose="02020603050405020304" pitchFamily="18" charset="0"/>
                          <a:cs typeface="times" panose="02020603050405020304" pitchFamily="18" charset="0"/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501690435"/>
                    </a:ext>
                  </a:extLst>
                </a:tr>
              </a:tbl>
            </a:graphicData>
          </a:graphic>
        </p:graphicFrame>
      </p:grp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4F71DCB-426A-2CAA-44E4-BD63CE864D30}"/>
              </a:ext>
            </a:extLst>
          </p:cNvPr>
          <p:cNvCxnSpPr>
            <a:cxnSpLocks/>
            <a:stCxn id="50" idx="0"/>
          </p:cNvCxnSpPr>
          <p:nvPr/>
        </p:nvCxnSpPr>
        <p:spPr>
          <a:xfrm>
            <a:off x="5674934" y="1411816"/>
            <a:ext cx="0" cy="528867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722FEAA2-DD01-C3BD-2D2E-512CD1158445}"/>
              </a:ext>
            </a:extLst>
          </p:cNvPr>
          <p:cNvSpPr/>
          <p:nvPr/>
        </p:nvSpPr>
        <p:spPr>
          <a:xfrm flipV="1">
            <a:off x="5602065" y="1305316"/>
            <a:ext cx="145737" cy="106500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B60A2D-EDD7-942E-CB3A-1FC719EF78A0}"/>
              </a:ext>
            </a:extLst>
          </p:cNvPr>
          <p:cNvSpPr txBox="1"/>
          <p:nvPr/>
        </p:nvSpPr>
        <p:spPr>
          <a:xfrm>
            <a:off x="5422137" y="1053893"/>
            <a:ext cx="6667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times" panose="02020603050405020304" pitchFamily="18" charset="0"/>
                <a:cs typeface="times" panose="02020603050405020304" pitchFamily="18" charset="0"/>
              </a:rPr>
              <a:t>현재</a:t>
            </a:r>
          </a:p>
        </p:txBody>
      </p:sp>
    </p:spTree>
    <p:extLst>
      <p:ext uri="{BB962C8B-B14F-4D97-AF65-F5344CB8AC3E}">
        <p14:creationId xmlns:p14="http://schemas.microsoft.com/office/powerpoint/2010/main" val="8128961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토의 안건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285750" indent="-285750"/>
            <a:r>
              <a:rPr lang="ko-KR" altLang="en-US" dirty="0"/>
              <a:t> 큐브 위성 운용</a:t>
            </a:r>
            <a:endParaRPr lang="en-US" altLang="ko-KR" sz="1200" dirty="0"/>
          </a:p>
          <a:p>
            <a:pPr marL="597150" lvl="1" indent="-285750"/>
            <a:r>
              <a:rPr lang="ko-KR" altLang="en-US" dirty="0"/>
              <a:t>운용 궤도 선정</a:t>
            </a:r>
            <a:endParaRPr lang="en-US" altLang="ko-KR" dirty="0"/>
          </a:p>
          <a:p>
            <a:pPr marL="777150" lvl="2" indent="-285750"/>
            <a:r>
              <a:rPr lang="en-US" altLang="ko-KR" dirty="0"/>
              <a:t>Visible </a:t>
            </a:r>
            <a:r>
              <a:rPr lang="ko-KR" altLang="en-US" dirty="0"/>
              <a:t>상태가 최대가 되는 궤도 분석 진행 중</a:t>
            </a:r>
            <a:endParaRPr lang="en-US" altLang="ko-KR" dirty="0"/>
          </a:p>
          <a:p>
            <a:pPr marL="777150" lvl="2" indent="-285750"/>
            <a:r>
              <a:rPr lang="ko-KR" altLang="en-US" dirty="0"/>
              <a:t>큐브 위성 운용 중 태양동기궤도 선택 시 열적 측면과 전력 측면 유리</a:t>
            </a:r>
            <a:endParaRPr lang="en-US" altLang="ko-KR" dirty="0"/>
          </a:p>
          <a:p>
            <a:pPr marL="777150" lvl="2" indent="-285750"/>
            <a:r>
              <a:rPr lang="en-US" altLang="ko-KR" dirty="0"/>
              <a:t>LTAN16 </a:t>
            </a:r>
            <a:r>
              <a:rPr lang="ko-KR" altLang="en-US" dirty="0"/>
              <a:t>선택 시</a:t>
            </a:r>
            <a:r>
              <a:rPr lang="en-US" altLang="ko-KR" dirty="0"/>
              <a:t>, Visible </a:t>
            </a:r>
            <a:r>
              <a:rPr lang="ko-KR" altLang="en-US" dirty="0"/>
              <a:t>궤도는 </a:t>
            </a:r>
            <a:r>
              <a:rPr lang="en-US" altLang="ko-KR" b="1" dirty="0"/>
              <a:t>3</a:t>
            </a:r>
            <a:r>
              <a:rPr lang="ko-KR" altLang="en-US" b="1" dirty="0"/>
              <a:t>월 </a:t>
            </a:r>
            <a:r>
              <a:rPr lang="en-US" altLang="ko-KR" b="1" dirty="0"/>
              <a:t>~6</a:t>
            </a:r>
            <a:r>
              <a:rPr lang="ko-KR" altLang="en-US" b="1" dirty="0"/>
              <a:t>월 </a:t>
            </a:r>
            <a:r>
              <a:rPr lang="ko-KR" altLang="en-US" dirty="0"/>
              <a:t>사이 </a:t>
            </a:r>
            <a:r>
              <a:rPr lang="ko-KR" altLang="en-US" sz="1600" dirty="0">
                <a:latin typeface="times" panose="02020603050405020304" pitchFamily="18" charset="0"/>
                <a:cs typeface="times" panose="02020603050405020304" pitchFamily="18" charset="0"/>
              </a:rPr>
              <a:t>서울 </a:t>
            </a:r>
            <a:r>
              <a:rPr lang="en-US" altLang="ko-KR" sz="1600" dirty="0">
                <a:latin typeface="times" panose="02020603050405020304" pitchFamily="18" charset="0"/>
                <a:cs typeface="times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times" panose="02020603050405020304" pitchFamily="18" charset="0"/>
                <a:cs typeface="times" panose="02020603050405020304" pitchFamily="18" charset="0"/>
                <a:sym typeface="Wingdings" panose="05000000000000000000" pitchFamily="2" charset="2"/>
              </a:rPr>
              <a:t>거창 궤도 가능</a:t>
            </a:r>
            <a:endParaRPr lang="en-US" altLang="ko-KR" sz="1600" dirty="0">
              <a:latin typeface="times" panose="02020603050405020304" pitchFamily="18" charset="0"/>
              <a:cs typeface="times" panose="02020603050405020304" pitchFamily="18" charset="0"/>
              <a:sym typeface="Wingdings" panose="05000000000000000000" pitchFamily="2" charset="2"/>
            </a:endParaRPr>
          </a:p>
          <a:p>
            <a:pPr marL="777150" lvl="2" indent="-285750"/>
            <a:r>
              <a:rPr lang="en-US" altLang="ko-KR" dirty="0"/>
              <a:t>LTAN16 </a:t>
            </a:r>
            <a:r>
              <a:rPr lang="ko-KR" altLang="en-US" dirty="0"/>
              <a:t>선택 시</a:t>
            </a:r>
            <a:r>
              <a:rPr lang="en-US" altLang="ko-KR" dirty="0"/>
              <a:t>, SLR/</a:t>
            </a:r>
            <a:r>
              <a:rPr lang="ko-KR" altLang="en-US" dirty="0" err="1"/>
              <a:t>대즐링</a:t>
            </a:r>
            <a:r>
              <a:rPr lang="en-US" altLang="ko-KR" dirty="0"/>
              <a:t> </a:t>
            </a:r>
            <a:r>
              <a:rPr lang="ko-KR" altLang="en-US" dirty="0"/>
              <a:t>시험 가능 구간은 한반도 통과 구간</a:t>
            </a:r>
            <a:r>
              <a:rPr lang="en-US" altLang="ko-KR" dirty="0"/>
              <a:t>(El. &gt; 0 deg)</a:t>
            </a:r>
            <a:r>
              <a:rPr lang="ko-KR" altLang="en-US" dirty="0"/>
              <a:t> 중 </a:t>
            </a:r>
            <a:r>
              <a:rPr lang="en-US" altLang="ko-KR" b="1" dirty="0"/>
              <a:t>39.4 %</a:t>
            </a:r>
          </a:p>
          <a:p>
            <a:pPr marL="491400" lvl="2" indent="0">
              <a:buNone/>
            </a:pPr>
            <a:r>
              <a:rPr lang="en-US" altLang="ko-KR" dirty="0"/>
              <a:t>     (</a:t>
            </a:r>
            <a:r>
              <a:rPr lang="ko-KR" altLang="en-US" dirty="0"/>
              <a:t>단</a:t>
            </a:r>
            <a:r>
              <a:rPr lang="en-US" altLang="ko-KR" dirty="0"/>
              <a:t>, Visible </a:t>
            </a:r>
            <a:r>
              <a:rPr lang="ko-KR" altLang="en-US" dirty="0"/>
              <a:t>조건과는 무관</a:t>
            </a:r>
            <a:r>
              <a:rPr lang="en-US" altLang="ko-KR" dirty="0"/>
              <a:t>)</a:t>
            </a:r>
          </a:p>
          <a:p>
            <a:pPr marL="491400" lvl="2" indent="0">
              <a:buNone/>
            </a:pPr>
            <a:endParaRPr lang="en-US" altLang="ko-KR" sz="1600" dirty="0">
              <a:latin typeface="times" panose="02020603050405020304" pitchFamily="18" charset="0"/>
              <a:cs typeface="times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227619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토의 안건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285750" indent="-285750"/>
            <a:r>
              <a:rPr lang="ko-KR" altLang="en-US" dirty="0"/>
              <a:t> </a:t>
            </a:r>
            <a:r>
              <a:rPr lang="en-US" altLang="ko-KR" dirty="0"/>
              <a:t>S</a:t>
            </a:r>
            <a:r>
              <a:rPr lang="ko-KR" altLang="en-US" dirty="0"/>
              <a:t>대역 주파수 등록 절차 이슈</a:t>
            </a:r>
            <a:endParaRPr lang="en-US" altLang="ko-KR" sz="1200" dirty="0"/>
          </a:p>
          <a:p>
            <a:pPr marL="597150" lvl="1" indent="-285750"/>
            <a:r>
              <a:rPr lang="ko-KR" altLang="en-US" dirty="0"/>
              <a:t>상용주파수 등록 기간</a:t>
            </a:r>
            <a:endParaRPr lang="en-US" altLang="ko-KR" dirty="0"/>
          </a:p>
          <a:p>
            <a:pPr marL="777150" lvl="2" indent="-285750"/>
            <a:r>
              <a:rPr lang="ko-KR" altLang="en-US" dirty="0"/>
              <a:t>상용주파수 등록 기간까지 최소 </a:t>
            </a:r>
            <a:r>
              <a:rPr lang="en-US" altLang="ko-KR" dirty="0"/>
              <a:t>2</a:t>
            </a:r>
            <a:r>
              <a:rPr lang="ko-KR" altLang="en-US" dirty="0"/>
              <a:t>년이라는 기간 소요 예상</a:t>
            </a:r>
            <a:endParaRPr lang="en-US" altLang="ko-KR" dirty="0"/>
          </a:p>
          <a:p>
            <a:pPr marL="777150" lvl="2" indent="-285750"/>
            <a:r>
              <a:rPr lang="ko-KR" altLang="en-US" dirty="0"/>
              <a:t>상용주파수 등록 절차에 대하여 기관</a:t>
            </a:r>
            <a:r>
              <a:rPr lang="en-US" altLang="ko-KR" dirty="0"/>
              <a:t>(</a:t>
            </a:r>
            <a:r>
              <a:rPr lang="ko-KR" altLang="en-US" dirty="0"/>
              <a:t>등록 대행기관</a:t>
            </a:r>
            <a:r>
              <a:rPr lang="en-US" altLang="ko-KR" dirty="0"/>
              <a:t>)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문의</a:t>
            </a:r>
            <a:endParaRPr lang="en-US" altLang="ko-KR" dirty="0"/>
          </a:p>
          <a:p>
            <a:pPr marL="777150" lvl="2" indent="-285750"/>
            <a:endParaRPr lang="en-US" altLang="ko-KR" dirty="0"/>
          </a:p>
          <a:p>
            <a:pPr marL="597150" lvl="1" indent="-285750"/>
            <a:r>
              <a:rPr lang="ko-KR" altLang="en-US" dirty="0"/>
              <a:t>상용주파수 미등록 및 아마추어 주파수 사용시</a:t>
            </a:r>
            <a:endParaRPr lang="en-US" altLang="ko-KR" dirty="0"/>
          </a:p>
          <a:p>
            <a:pPr marL="777150" lvl="2" indent="-285750"/>
            <a:r>
              <a:rPr lang="ko-KR" altLang="en-US" dirty="0"/>
              <a:t>아마추어 주파수 사용시 상용주파수에 비하여 주파수 대역의 잡음이 심함</a:t>
            </a:r>
            <a:endParaRPr lang="en-US" altLang="ko-KR" dirty="0"/>
          </a:p>
          <a:p>
            <a:pPr marL="777150" lvl="2" indent="-285750"/>
            <a:r>
              <a:rPr lang="ko-KR" altLang="en-US" dirty="0" err="1"/>
              <a:t>대즐링</a:t>
            </a:r>
            <a:r>
              <a:rPr lang="ko-KR" altLang="en-US" dirty="0"/>
              <a:t> 시험 데이터 하향시</a:t>
            </a:r>
            <a:r>
              <a:rPr lang="en-US" altLang="ko-KR" dirty="0"/>
              <a:t> </a:t>
            </a:r>
            <a:r>
              <a:rPr lang="ko-KR" altLang="en-US" dirty="0"/>
              <a:t>더 적은 장수의 데이터 </a:t>
            </a:r>
            <a:r>
              <a:rPr lang="ko-KR" altLang="en-US" dirty="0" err="1"/>
              <a:t>하향해야할</a:t>
            </a:r>
            <a:r>
              <a:rPr lang="ko-KR" altLang="en-US" dirty="0"/>
              <a:t> 가능성 있음</a:t>
            </a:r>
            <a:endParaRPr lang="en-US" altLang="ko-KR" dirty="0"/>
          </a:p>
          <a:p>
            <a:pPr marL="777150" lvl="2" indent="-285750"/>
            <a:r>
              <a:rPr lang="ko-KR" altLang="en-US" dirty="0"/>
              <a:t>현재</a:t>
            </a:r>
            <a:r>
              <a:rPr lang="en-US" altLang="ko-KR" dirty="0"/>
              <a:t>, S </a:t>
            </a:r>
            <a:r>
              <a:rPr lang="ko-KR" altLang="en-US" dirty="0"/>
              <a:t>대역 주파수 신뢰성 확보는 </a:t>
            </a:r>
            <a:r>
              <a:rPr lang="en-US" altLang="ko-KR" dirty="0"/>
              <a:t>2022.06 </a:t>
            </a:r>
            <a:r>
              <a:rPr lang="ko-KR" altLang="en-US" dirty="0"/>
              <a:t>발사 예정인 </a:t>
            </a:r>
            <a:r>
              <a:rPr lang="ko-KR" altLang="en-US" dirty="0" err="1"/>
              <a:t>큐브위성으로</a:t>
            </a:r>
            <a:r>
              <a:rPr lang="ko-KR" altLang="en-US" dirty="0"/>
              <a:t> 입증 가능</a:t>
            </a:r>
            <a:endParaRPr lang="en-US" altLang="ko-KR" dirty="0"/>
          </a:p>
          <a:p>
            <a:pPr marL="491400" lvl="2" indent="0">
              <a:buNone/>
            </a:pPr>
            <a:endParaRPr lang="en-US" altLang="ko-KR" dirty="0"/>
          </a:p>
          <a:p>
            <a:pPr marL="491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962785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토의 안건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285750" indent="-285750"/>
            <a:r>
              <a:rPr lang="ko-KR" altLang="en-US" dirty="0"/>
              <a:t> </a:t>
            </a:r>
            <a:r>
              <a:rPr lang="en-US" altLang="ko-KR" dirty="0"/>
              <a:t>RCS (Radar Cross Section)</a:t>
            </a:r>
            <a:endParaRPr lang="en-US" altLang="ko-KR" sz="1200" dirty="0"/>
          </a:p>
          <a:p>
            <a:pPr marL="597150" lvl="1" indent="-285750"/>
            <a:r>
              <a:rPr lang="en-US" altLang="ko-KR" dirty="0"/>
              <a:t>RCS</a:t>
            </a:r>
            <a:r>
              <a:rPr lang="ko-KR" altLang="en-US" dirty="0"/>
              <a:t>의 값 산출 이유</a:t>
            </a:r>
            <a:endParaRPr lang="en-US" altLang="ko-KR" dirty="0"/>
          </a:p>
          <a:p>
            <a:pPr marL="777150" lvl="2" indent="-285750"/>
            <a:r>
              <a:rPr lang="ko-KR" altLang="en-US" dirty="0"/>
              <a:t>박막 전개장치의 반사도 해석에 관하여 필요한 지표인지 문의</a:t>
            </a:r>
            <a:endParaRPr lang="en-US" altLang="ko-KR" dirty="0"/>
          </a:p>
          <a:p>
            <a:pPr marL="311400" lvl="1" indent="0">
              <a:buNone/>
            </a:pPr>
            <a:endParaRPr lang="en-US" altLang="ko-KR" dirty="0"/>
          </a:p>
          <a:p>
            <a:pPr marL="342900" indent="-342900"/>
            <a:r>
              <a:rPr lang="en-US" altLang="ko-KR" dirty="0"/>
              <a:t>Payload 3 : Dazzling Camera Back-up System</a:t>
            </a:r>
          </a:p>
          <a:p>
            <a:pPr marL="654300" lvl="1" indent="-342900"/>
            <a:r>
              <a:rPr lang="ko-KR" altLang="en-US" dirty="0" err="1"/>
              <a:t>대즐링</a:t>
            </a:r>
            <a:r>
              <a:rPr lang="ko-KR" altLang="en-US" dirty="0"/>
              <a:t> 레이저의 특성 </a:t>
            </a:r>
            <a:r>
              <a:rPr lang="en-US" altLang="ko-KR" dirty="0"/>
              <a:t>CW</a:t>
            </a:r>
            <a:r>
              <a:rPr lang="ko-KR" altLang="en-US" dirty="0"/>
              <a:t> </a:t>
            </a:r>
            <a:r>
              <a:rPr lang="en-US" altLang="ko-KR" dirty="0"/>
              <a:t>vs</a:t>
            </a:r>
            <a:r>
              <a:rPr lang="ko-KR" altLang="en-US" dirty="0"/>
              <a:t> </a:t>
            </a:r>
            <a:r>
              <a:rPr lang="en-US" altLang="ko-KR" dirty="0"/>
              <a:t>Pulsed</a:t>
            </a:r>
            <a:r>
              <a:rPr lang="ko-KR" altLang="en-US" dirty="0"/>
              <a:t> </a:t>
            </a:r>
            <a:r>
              <a:rPr lang="en-US" altLang="ko-KR" dirty="0"/>
              <a:t>laser </a:t>
            </a:r>
            <a:r>
              <a:rPr lang="ko-KR" altLang="en-US" dirty="0"/>
              <a:t>확인 요청</a:t>
            </a:r>
            <a:endParaRPr lang="en-US" altLang="ko-KR" dirty="0"/>
          </a:p>
          <a:p>
            <a:pPr marL="654300" lvl="1" indent="-342900"/>
            <a:r>
              <a:rPr lang="ko-KR" altLang="en-US" dirty="0" err="1"/>
              <a:t>대즐링</a:t>
            </a:r>
            <a:r>
              <a:rPr lang="ko-KR" altLang="en-US" dirty="0"/>
              <a:t> 레이저의 특성에 따라 </a:t>
            </a:r>
            <a:r>
              <a:rPr lang="en-US" altLang="ko-KR" dirty="0"/>
              <a:t>back-up system </a:t>
            </a:r>
            <a:r>
              <a:rPr lang="ko-KR" altLang="en-US" dirty="0"/>
              <a:t>가능 여부도 달라질 수 있음 </a:t>
            </a:r>
            <a:endParaRPr lang="en-US" altLang="ko-KR" dirty="0"/>
          </a:p>
          <a:p>
            <a:pPr marL="491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352109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atinLnBrk="1"/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Appendix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7919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시스템 요구조건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171450" indent="-171450"/>
            <a:r>
              <a:rPr lang="en-US" altLang="ko-KR" dirty="0">
                <a:latin typeface="Cambria Math" panose="02040503050406030204" pitchFamily="18" charset="0"/>
              </a:rPr>
              <a:t> </a:t>
            </a:r>
            <a:r>
              <a:rPr lang="en-US" altLang="ko-KR" dirty="0"/>
              <a:t>Payload 1 : </a:t>
            </a:r>
            <a:r>
              <a:rPr lang="ko-KR" altLang="en-US" dirty="0"/>
              <a:t>박막 전개장치</a:t>
            </a:r>
            <a:endParaRPr lang="en-US" altLang="ko-KR" dirty="0"/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842850" lvl="3" indent="-171450"/>
            <a:endParaRPr lang="en-US" altLang="ko-KR" sz="1000" dirty="0">
              <a:latin typeface="Cambria Math" panose="02040503050406030204" pitchFamily="18" charset="0"/>
            </a:endParaRPr>
          </a:p>
          <a:p>
            <a:pPr marL="311400" lvl="1" indent="0">
              <a:buNone/>
            </a:pPr>
            <a:endParaRPr lang="en-US" altLang="ko-KR" sz="1400" b="0" i="0" dirty="0">
              <a:latin typeface="Cambria Math" panose="02040503050406030204" pitchFamily="18" charset="0"/>
            </a:endParaRP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8350C59-E22C-DE7E-5FDB-C065F2453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073916"/>
              </p:ext>
            </p:extLst>
          </p:nvPr>
        </p:nvGraphicFramePr>
        <p:xfrm>
          <a:off x="268509" y="1573889"/>
          <a:ext cx="8640000" cy="4752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08407665"/>
                    </a:ext>
                  </a:extLst>
                </a:gridCol>
                <a:gridCol w="1371528">
                  <a:extLst>
                    <a:ext uri="{9D8B030D-6E8A-4147-A177-3AD203B41FA5}">
                      <a16:colId xmlns:a16="http://schemas.microsoft.com/office/drawing/2014/main" val="1168760302"/>
                    </a:ext>
                  </a:extLst>
                </a:gridCol>
                <a:gridCol w="3668472">
                  <a:extLst>
                    <a:ext uri="{9D8B030D-6E8A-4147-A177-3AD203B41FA5}">
                      <a16:colId xmlns:a16="http://schemas.microsoft.com/office/drawing/2014/main" val="4257064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52770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08459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25424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5703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6502586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Title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Requirement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Verification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069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PAYR01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박막 크기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전개시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 m x 1 m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이상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3D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모델링 및 </a:t>
                      </a:r>
                      <a:b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</a:br>
                      <a:r>
                        <a:rPr lang="ko-KR" altLang="en-US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전개 시험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59676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PAYR02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반사도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박막은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1064nm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의 파장에 대해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16%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의 반사도를 가짐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조립 후 반사도 측정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842746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PAYR03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안전성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궤도상에서 박막이 안전하게 전개될 수 있어야 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및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전개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4596312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PAYR04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전개 확인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전개를 확인할 수 있는 시스템이 필요함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3D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모델링 및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전개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0901246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PAYR05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우주환경 조건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임무 궤도의 열 및 방사선 환경을 견딤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열 해석 및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열진공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H/W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후처리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544383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PAYR06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조립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발사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궤도 진입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운용관점에서 본체와 구조적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전기적으로 결합됨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및 조립 확인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작동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70170442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PAYR07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kg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이하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 계산 및 조립 후 질량 측정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74388168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PAYR08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전개 전 크기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비전개시의 크기는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1U (TBD)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이하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3D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모델링 및 조립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40032124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PAYR09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소모 전력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전력 소모는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W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이하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및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소모 전력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93019204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PAYR10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인터페이스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인터페이스는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CAN-bus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순위로 사용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서브시스템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H/W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MCU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핀 검토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645336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3330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시스템 요구조건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171450" indent="-171450"/>
            <a:r>
              <a:rPr lang="en-US" altLang="ko-KR" dirty="0"/>
              <a:t> Payload 2 : SLR</a:t>
            </a:r>
            <a:r>
              <a:rPr lang="ko-KR" altLang="en-US" dirty="0"/>
              <a:t> 레이저 감지기</a:t>
            </a:r>
            <a:endParaRPr lang="en-US" altLang="ko-KR" dirty="0"/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842850" lvl="3" indent="-171450"/>
            <a:endParaRPr lang="en-US" altLang="ko-KR" sz="1000" dirty="0">
              <a:latin typeface="Cambria Math" panose="02040503050406030204" pitchFamily="18" charset="0"/>
            </a:endParaRPr>
          </a:p>
          <a:p>
            <a:pPr marL="311400" lvl="1" indent="0">
              <a:buNone/>
            </a:pPr>
            <a:endParaRPr lang="en-US" altLang="ko-KR" sz="1400" b="0" i="0" dirty="0">
              <a:latin typeface="Cambria Math" panose="02040503050406030204" pitchFamily="18" charset="0"/>
            </a:endParaRP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</p:txBody>
      </p:sp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08F4D31A-8872-8ACB-4043-A994EBC3A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182535"/>
              </p:ext>
            </p:extLst>
          </p:nvPr>
        </p:nvGraphicFramePr>
        <p:xfrm>
          <a:off x="257081" y="1594817"/>
          <a:ext cx="8640000" cy="3888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08407665"/>
                    </a:ext>
                  </a:extLst>
                </a:gridCol>
                <a:gridCol w="1371528">
                  <a:extLst>
                    <a:ext uri="{9D8B030D-6E8A-4147-A177-3AD203B41FA5}">
                      <a16:colId xmlns:a16="http://schemas.microsoft.com/office/drawing/2014/main" val="1168760302"/>
                    </a:ext>
                  </a:extLst>
                </a:gridCol>
                <a:gridCol w="3668472">
                  <a:extLst>
                    <a:ext uri="{9D8B030D-6E8A-4147-A177-3AD203B41FA5}">
                      <a16:colId xmlns:a16="http://schemas.microsoft.com/office/drawing/2014/main" val="4257064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52770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08459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25424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5703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6502586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Title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Requirement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Verification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069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PAYS01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파장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532nm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1064nm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파장을 감지함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레이저 감지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59676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PAYS02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민감도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이상의 민감도로 레이저를 감지함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레이저 감지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842746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PAYS03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우주환경 조건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임무 궤도의 열 및 방사선 환경을 견딤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열 해석 및 열진공 시험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양자 노출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4596312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PAYS04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조립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발사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궤도 진입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운용관점에서 본체와 구조적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전기적으로 결합됨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및 조립 확인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0901246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PAYS05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kg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차원 모델링 및 위성 질량 측정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544383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PAYS06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크기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크기는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X TBD X TBD mm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차원 모델링 및 위성 질량 측정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70170442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PAYS07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소모 전력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전력 소모는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및 소모 전력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74388168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PAYS08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인터페이스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인터페이스는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CAN-bus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순위로 사용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서브 시스템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H/W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MCU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핀 검토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400321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748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시스템 요구조건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171450" indent="-171450"/>
            <a:r>
              <a:rPr lang="en-US" altLang="ko-KR" dirty="0">
                <a:latin typeface="Cambria Math" panose="02040503050406030204" pitchFamily="18" charset="0"/>
              </a:rPr>
              <a:t> </a:t>
            </a:r>
            <a:r>
              <a:rPr lang="en-US" altLang="ko-KR" dirty="0"/>
              <a:t>Payload 3 : </a:t>
            </a:r>
            <a:r>
              <a:rPr lang="ko-KR" altLang="en-US" dirty="0" err="1"/>
              <a:t>대즐링</a:t>
            </a:r>
            <a:r>
              <a:rPr lang="ko-KR" altLang="en-US" dirty="0"/>
              <a:t> 능동방어 시험 카메라</a:t>
            </a:r>
            <a:endParaRPr lang="en-US" altLang="ko-KR" dirty="0"/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842850" lvl="3" indent="-171450"/>
            <a:endParaRPr lang="en-US" altLang="ko-KR" sz="1000" dirty="0">
              <a:latin typeface="Cambria Math" panose="02040503050406030204" pitchFamily="18" charset="0"/>
            </a:endParaRPr>
          </a:p>
          <a:p>
            <a:pPr marL="311400" lvl="1" indent="0">
              <a:buNone/>
            </a:pPr>
            <a:endParaRPr lang="en-US" altLang="ko-KR" sz="1400" b="0" i="0" dirty="0">
              <a:latin typeface="Cambria Math" panose="02040503050406030204" pitchFamily="18" charset="0"/>
            </a:endParaRP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</p:txBody>
      </p:sp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4EAE4EE9-C78E-676F-9954-CA258E0C2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868028"/>
              </p:ext>
            </p:extLst>
          </p:nvPr>
        </p:nvGraphicFramePr>
        <p:xfrm>
          <a:off x="257081" y="1589079"/>
          <a:ext cx="8640000" cy="3888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08407665"/>
                    </a:ext>
                  </a:extLst>
                </a:gridCol>
                <a:gridCol w="1371528">
                  <a:extLst>
                    <a:ext uri="{9D8B030D-6E8A-4147-A177-3AD203B41FA5}">
                      <a16:colId xmlns:a16="http://schemas.microsoft.com/office/drawing/2014/main" val="1168760302"/>
                    </a:ext>
                  </a:extLst>
                </a:gridCol>
                <a:gridCol w="3668472">
                  <a:extLst>
                    <a:ext uri="{9D8B030D-6E8A-4147-A177-3AD203B41FA5}">
                      <a16:colId xmlns:a16="http://schemas.microsoft.com/office/drawing/2014/main" val="4257064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52770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08459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25424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5703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6502586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Title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Requirement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Verification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069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PAYC01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파장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520 - 590 nm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630 - 690 nm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의 파장을 감지함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파장 별 촬영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59676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PAYC02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관측 빈도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path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당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회 이상 지상 촬영을 진행함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S/W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시뮬레이션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842746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PAYC03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우주환경 조건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임무 궤도의 열 및 방사선 환경을 견딤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열 해석 및 열 진공 시험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양자 노출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0901246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PAYC04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조립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발사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궤도 진입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운용관점에서 본체와 구조적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전기적으로 결합 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및 조립 확인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544383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PAYC05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크기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크기는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mm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차원 모델링 및 위성 크기 측정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70170442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PAYC06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kg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 계산 및 조립 후 질량 측정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74388168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PAYC07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전력 소모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소모 전력은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및 소모 전력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40032124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PAYC08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인터페이스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인터페이스는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CAN-bus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순위로 사용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서브 시스템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H/W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MCU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핀 검토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930192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4110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시스템 요구조건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171450" indent="-171450"/>
            <a:r>
              <a:rPr lang="en-US" altLang="ko-KR" dirty="0">
                <a:latin typeface="Cambria Math" panose="02040503050406030204" pitchFamily="18" charset="0"/>
              </a:rPr>
              <a:t> Bus (</a:t>
            </a:r>
            <a:r>
              <a:rPr lang="ko-KR" altLang="en-US" dirty="0">
                <a:latin typeface="Cambria Math" panose="02040503050406030204" pitchFamily="18" charset="0"/>
              </a:rPr>
              <a:t>본체</a:t>
            </a:r>
            <a:r>
              <a:rPr lang="en-US" altLang="ko-KR" dirty="0">
                <a:latin typeface="Cambria Math" panose="02040503050406030204" pitchFamily="18" charset="0"/>
              </a:rPr>
              <a:t>)</a:t>
            </a:r>
            <a:r>
              <a:rPr lang="ko-KR" altLang="en-US" dirty="0">
                <a:latin typeface="Cambria Math" panose="02040503050406030204" pitchFamily="18" charset="0"/>
              </a:rPr>
              <a:t> </a:t>
            </a:r>
            <a:r>
              <a:rPr lang="en-US" altLang="ko-KR" dirty="0">
                <a:latin typeface="Cambria Math" panose="02040503050406030204" pitchFamily="18" charset="0"/>
              </a:rPr>
              <a:t>[1/3]</a:t>
            </a: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842850" lvl="3" indent="-171450"/>
            <a:endParaRPr lang="en-US" altLang="ko-KR" sz="1000" dirty="0">
              <a:latin typeface="Cambria Math" panose="02040503050406030204" pitchFamily="18" charset="0"/>
            </a:endParaRPr>
          </a:p>
          <a:p>
            <a:pPr marL="311400" lvl="1" indent="0">
              <a:buNone/>
            </a:pPr>
            <a:endParaRPr lang="en-US" altLang="ko-KR" sz="1400" b="0" i="0" dirty="0">
              <a:latin typeface="Cambria Math" panose="02040503050406030204" pitchFamily="18" charset="0"/>
            </a:endParaRP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</p:txBody>
      </p:sp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56271C31-77FD-D4CE-6AC4-290901F83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670508"/>
              </p:ext>
            </p:extLst>
          </p:nvPr>
        </p:nvGraphicFramePr>
        <p:xfrm>
          <a:off x="241205" y="1594817"/>
          <a:ext cx="8640000" cy="444208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08407665"/>
                    </a:ext>
                  </a:extLst>
                </a:gridCol>
                <a:gridCol w="1371528">
                  <a:extLst>
                    <a:ext uri="{9D8B030D-6E8A-4147-A177-3AD203B41FA5}">
                      <a16:colId xmlns:a16="http://schemas.microsoft.com/office/drawing/2014/main" val="1168760302"/>
                    </a:ext>
                  </a:extLst>
                </a:gridCol>
                <a:gridCol w="3668472">
                  <a:extLst>
                    <a:ext uri="{9D8B030D-6E8A-4147-A177-3AD203B41FA5}">
                      <a16:colId xmlns:a16="http://schemas.microsoft.com/office/drawing/2014/main" val="4257064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52770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08459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25424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5703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6502586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Title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Requirement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Verification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069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SYS01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수명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모든 부품과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하네스는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임무기간인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개월 이상 우주에서 정상 작동함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분석 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TID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확인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9959676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SYS02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우주환경 조건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임무 궤도의 열 및 방사선 환경을 견뎌야 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열해석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및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열진공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주기 시험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후처리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842746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SYS03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 보관 기간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모든 부품과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하네스는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개발 완료 후 최소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개월간 지상 보관 후에도 정상 작동함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배터리 수명 분석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4596312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SYS04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kg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미만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 계산 및 조립 후 질량 측정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0901246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SYS05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크기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크기는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100.0 x 100.0 x 340.5 mm3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차원 모델링 및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 크기 측정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544383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SYS06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좌표계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몸통 좌표계는 원점을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3U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큐브위성의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형상중심으로 설정하고 사출방향을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+Z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 PCI-104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의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헤더소켓이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쌓여 있는 방향을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+X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축으로 설정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차원 모델링 기준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70170442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SYS07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인터페이스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인터페이스 버스는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CAN-bus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순위로 사용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서브시스템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HW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MCU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핀 검토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74388168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SYS08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조립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모든 부품과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하네스는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발사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궤도진입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운용 과정에서 위성체와 구조적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전기적으로 결합됨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및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조립 확인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40032124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SYS09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전력 여유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전력 여유는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이상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</a:t>
                      </a:r>
                      <a:b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및 소모전력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930192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507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시스템 요구조건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171450" indent="-171450"/>
            <a:r>
              <a:rPr lang="en-US" altLang="ko-KR" dirty="0">
                <a:latin typeface="Cambria Math" panose="02040503050406030204" pitchFamily="18" charset="0"/>
              </a:rPr>
              <a:t> Bus (</a:t>
            </a:r>
            <a:r>
              <a:rPr lang="ko-KR" altLang="en-US" dirty="0">
                <a:latin typeface="Cambria Math" panose="02040503050406030204" pitchFamily="18" charset="0"/>
              </a:rPr>
              <a:t>본체</a:t>
            </a:r>
            <a:r>
              <a:rPr lang="en-US" altLang="ko-KR" dirty="0">
                <a:latin typeface="Cambria Math" panose="02040503050406030204" pitchFamily="18" charset="0"/>
              </a:rPr>
              <a:t>)</a:t>
            </a:r>
            <a:r>
              <a:rPr lang="ko-KR" altLang="en-US" dirty="0">
                <a:latin typeface="Cambria Math" panose="02040503050406030204" pitchFamily="18" charset="0"/>
              </a:rPr>
              <a:t> </a:t>
            </a:r>
            <a:r>
              <a:rPr lang="en-US" altLang="ko-KR" dirty="0">
                <a:latin typeface="Cambria Math" panose="02040503050406030204" pitchFamily="18" charset="0"/>
              </a:rPr>
              <a:t>[2/3]</a:t>
            </a: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842850" lvl="3" indent="-171450"/>
            <a:endParaRPr lang="en-US" altLang="ko-KR" sz="1000" dirty="0">
              <a:latin typeface="Cambria Math" panose="02040503050406030204" pitchFamily="18" charset="0"/>
            </a:endParaRPr>
          </a:p>
          <a:p>
            <a:pPr marL="311400" lvl="1" indent="0">
              <a:buNone/>
            </a:pPr>
            <a:endParaRPr lang="en-US" altLang="ko-KR" sz="1400" b="0" i="0" dirty="0">
              <a:latin typeface="Cambria Math" panose="02040503050406030204" pitchFamily="18" charset="0"/>
            </a:endParaRP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7E56625D-BDB9-2E57-CD15-295FEF716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430354"/>
              </p:ext>
            </p:extLst>
          </p:nvPr>
        </p:nvGraphicFramePr>
        <p:xfrm>
          <a:off x="257081" y="1476829"/>
          <a:ext cx="8640000" cy="4752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08407665"/>
                    </a:ext>
                  </a:extLst>
                </a:gridCol>
                <a:gridCol w="1371528">
                  <a:extLst>
                    <a:ext uri="{9D8B030D-6E8A-4147-A177-3AD203B41FA5}">
                      <a16:colId xmlns:a16="http://schemas.microsoft.com/office/drawing/2014/main" val="1168760302"/>
                    </a:ext>
                  </a:extLst>
                </a:gridCol>
                <a:gridCol w="3668472">
                  <a:extLst>
                    <a:ext uri="{9D8B030D-6E8A-4147-A177-3AD203B41FA5}">
                      <a16:colId xmlns:a16="http://schemas.microsoft.com/office/drawing/2014/main" val="4257064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52770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08459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25424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5703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6502586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Title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Requirement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Verification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069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SYS10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전력 인터페이스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모든 서브시스템이 정상 작동하도록 전력이 공급됨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9959676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SYS11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무게 중심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질량중심은 형상중심의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x, y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축 방향으로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mm, z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축방향으로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mm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이내에 있음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차원 모델링 기준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842746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SYS12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수집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일 이상의 주요 전자 부품 상태 데이터 및 임무 데이터 수집이 가능함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OBC/FSW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기능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4596312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SYS13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자율 임무 수행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예약된 명령으로 자율적인 임무 수행이 가능함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OBC/FSW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기능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0901246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SYS14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오류 감지 및 분리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스스로 각 서브시스템 수준의 고장을 시스템에서 검출 및 분리함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FSW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내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EADC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탑재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544383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SYS15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매개 변수 변경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지상국의 명령에 의해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변경이 가능함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H/W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70170442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SYS16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신호 송신 시작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모든 신호는 사출장치에서 사출 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후에 발생됨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OBC/FSW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기능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74388168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SYS17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통신 주파수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지상국과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UHF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 및 상용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S-band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주파수를 이용하여 통신함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RF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계측기를 이용한 주파수 측정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40032124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SYS18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원격측정 및 명령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UHF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S-band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주파수 통해 상태 정보 및 명령 송수신을 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H/W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93019204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SYS19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발사 요구조건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진동 특성은 발사체 요구조건을 만족함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구조해석 및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발사환경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645336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8757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시스템 요구조건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171450" indent="-171450"/>
            <a:r>
              <a:rPr lang="en-US" altLang="ko-KR" dirty="0">
                <a:latin typeface="Cambria Math" panose="02040503050406030204" pitchFamily="18" charset="0"/>
              </a:rPr>
              <a:t> Bus (</a:t>
            </a:r>
            <a:r>
              <a:rPr lang="ko-KR" altLang="en-US" dirty="0">
                <a:latin typeface="Cambria Math" panose="02040503050406030204" pitchFamily="18" charset="0"/>
              </a:rPr>
              <a:t>본체</a:t>
            </a:r>
            <a:r>
              <a:rPr lang="en-US" altLang="ko-KR" dirty="0">
                <a:latin typeface="Cambria Math" panose="02040503050406030204" pitchFamily="18" charset="0"/>
              </a:rPr>
              <a:t>)</a:t>
            </a:r>
            <a:r>
              <a:rPr lang="ko-KR" altLang="en-US" dirty="0">
                <a:latin typeface="Cambria Math" panose="02040503050406030204" pitchFamily="18" charset="0"/>
              </a:rPr>
              <a:t> </a:t>
            </a:r>
            <a:r>
              <a:rPr lang="en-US" altLang="ko-KR" dirty="0">
                <a:latin typeface="Cambria Math" panose="02040503050406030204" pitchFamily="18" charset="0"/>
              </a:rPr>
              <a:t>[3/3]</a:t>
            </a: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842850" lvl="3" indent="-171450"/>
            <a:endParaRPr lang="en-US" altLang="ko-KR" sz="1000" dirty="0">
              <a:latin typeface="Cambria Math" panose="02040503050406030204" pitchFamily="18" charset="0"/>
            </a:endParaRPr>
          </a:p>
          <a:p>
            <a:pPr marL="311400" lvl="1" indent="0">
              <a:buNone/>
            </a:pPr>
            <a:endParaRPr lang="en-US" altLang="ko-KR" sz="1400" b="0" i="0" dirty="0">
              <a:latin typeface="Cambria Math" panose="02040503050406030204" pitchFamily="18" charset="0"/>
            </a:endParaRP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72B36AED-E0CA-66ED-809A-584ACB3C9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710276"/>
              </p:ext>
            </p:extLst>
          </p:nvPr>
        </p:nvGraphicFramePr>
        <p:xfrm>
          <a:off x="241205" y="1555488"/>
          <a:ext cx="8640000" cy="2592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08407665"/>
                    </a:ext>
                  </a:extLst>
                </a:gridCol>
                <a:gridCol w="1371528">
                  <a:extLst>
                    <a:ext uri="{9D8B030D-6E8A-4147-A177-3AD203B41FA5}">
                      <a16:colId xmlns:a16="http://schemas.microsoft.com/office/drawing/2014/main" val="1168760302"/>
                    </a:ext>
                  </a:extLst>
                </a:gridCol>
                <a:gridCol w="3668472">
                  <a:extLst>
                    <a:ext uri="{9D8B030D-6E8A-4147-A177-3AD203B41FA5}">
                      <a16:colId xmlns:a16="http://schemas.microsoft.com/office/drawing/2014/main" val="4257064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52770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08459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25424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5703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6502586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Title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Requirement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Verification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069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SYS20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온보드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항법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온보드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항법으로는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Knowledge &lt; 9 m 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각 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1σ)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(TBD)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9959676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SYS21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GPS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신호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큐브 위성은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GPS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신호로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L1, L2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사용함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GPS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신호 수신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842746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SYS22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지향 성능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임무모드에서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큐브위성의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pointing &lt; 5.0 deg 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각 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3 σ) (TBD)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4596312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SYS23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UHF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하향 시간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큐브 위성의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UHF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이용하여 데이터를 송신하기 위해서는 최대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sec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동안 통신함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H/W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0901246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SYS24</a:t>
                      </a:r>
                      <a:endParaRPr lang="ko-KR" altLang="en-US" sz="12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 하향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시간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큐브 위성의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S-band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이용하여 데이터를 송신하기 위해서는 최대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sec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동안 통신함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H/W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54438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3596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시스템 요구조건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171450" indent="-171450"/>
            <a:r>
              <a:rPr lang="en-US" altLang="ko-KR" dirty="0">
                <a:latin typeface="Cambria Math" panose="02040503050406030204" pitchFamily="18" charset="0"/>
              </a:rPr>
              <a:t> Ground system (</a:t>
            </a:r>
            <a:r>
              <a:rPr lang="ko-KR" altLang="en-US" dirty="0" err="1">
                <a:latin typeface="Cambria Math" panose="02040503050406030204" pitchFamily="18" charset="0"/>
              </a:rPr>
              <a:t>지상체</a:t>
            </a:r>
            <a:r>
              <a:rPr lang="en-US" altLang="ko-KR" dirty="0">
                <a:latin typeface="Cambria Math" panose="02040503050406030204" pitchFamily="18" charset="0"/>
              </a:rPr>
              <a:t>)</a:t>
            </a:r>
            <a:r>
              <a:rPr lang="ko-KR" altLang="en-US" dirty="0">
                <a:latin typeface="Cambria Math" panose="02040503050406030204" pitchFamily="18" charset="0"/>
              </a:rPr>
              <a:t> </a:t>
            </a:r>
            <a:r>
              <a:rPr lang="en-US" altLang="ko-KR" dirty="0">
                <a:latin typeface="Cambria Math" panose="02040503050406030204" pitchFamily="18" charset="0"/>
              </a:rPr>
              <a:t>[1/2]</a:t>
            </a: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842850" lvl="3" indent="-171450"/>
            <a:endParaRPr lang="en-US" altLang="ko-KR" sz="1000" dirty="0">
              <a:latin typeface="Cambria Math" panose="02040503050406030204" pitchFamily="18" charset="0"/>
            </a:endParaRPr>
          </a:p>
          <a:p>
            <a:pPr marL="311400" lvl="1" indent="0">
              <a:buNone/>
            </a:pPr>
            <a:endParaRPr lang="en-US" altLang="ko-KR" sz="1400" b="0" i="0" dirty="0">
              <a:latin typeface="Cambria Math" panose="02040503050406030204" pitchFamily="18" charset="0"/>
            </a:endParaRP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</p:txBody>
      </p:sp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52D64762-3EA9-3201-3F9C-3912A5060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660306"/>
              </p:ext>
            </p:extLst>
          </p:nvPr>
        </p:nvGraphicFramePr>
        <p:xfrm>
          <a:off x="235491" y="1565320"/>
          <a:ext cx="8640000" cy="3888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08407665"/>
                    </a:ext>
                  </a:extLst>
                </a:gridCol>
                <a:gridCol w="1371528">
                  <a:extLst>
                    <a:ext uri="{9D8B030D-6E8A-4147-A177-3AD203B41FA5}">
                      <a16:colId xmlns:a16="http://schemas.microsoft.com/office/drawing/2014/main" val="1168760302"/>
                    </a:ext>
                  </a:extLst>
                </a:gridCol>
                <a:gridCol w="3668472">
                  <a:extLst>
                    <a:ext uri="{9D8B030D-6E8A-4147-A177-3AD203B41FA5}">
                      <a16:colId xmlns:a16="http://schemas.microsoft.com/office/drawing/2014/main" val="4257064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52770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08459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25424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5703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6502586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Title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Requirement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Verification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069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GRD01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주파수 추적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도플러 효과에 의한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큐브위성시스템의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주파수 변화를 추적할 수 있어야 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주파수 측정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9959676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GRD02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UHF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주파수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UHF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대역을 이용하여 통신함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통신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842746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GRD03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 주파수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대역을 이용하여 통신함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통신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4596312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GRD04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UHF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원격 명령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UHF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대역으로 최대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sec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동안 위성제어변수 변경 명령을 송신할 수 있어야 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통신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0901246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GRD05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 원격 명령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대역으로 최대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sec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동안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S/W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변경 명령을 송신할 수 있어야 함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[TBC]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통신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544383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GRD06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원격 측정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UHF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대역으로 최대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sec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동안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상태정보를 수신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통신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70170442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GRD07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UHF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임무 데이터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하향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UHF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대역으로 최대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sec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동안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임무데이터를 수신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통신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74388168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GRD08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임무 데이터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하향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대역으로 최대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sec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동안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임무데이터를 수신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통신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400321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6902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ko-KR" altLang="en-US" dirty="0"/>
              <a:t>시스템 요구조건</a:t>
            </a:r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marL="171450" indent="-171450"/>
            <a:r>
              <a:rPr lang="en-US" altLang="ko-KR" dirty="0">
                <a:latin typeface="Cambria Math" panose="02040503050406030204" pitchFamily="18" charset="0"/>
              </a:rPr>
              <a:t> Ground system (</a:t>
            </a:r>
            <a:r>
              <a:rPr lang="ko-KR" altLang="en-US" dirty="0" err="1">
                <a:latin typeface="Cambria Math" panose="02040503050406030204" pitchFamily="18" charset="0"/>
              </a:rPr>
              <a:t>지상체</a:t>
            </a:r>
            <a:r>
              <a:rPr lang="en-US" altLang="ko-KR" dirty="0">
                <a:latin typeface="Cambria Math" panose="02040503050406030204" pitchFamily="18" charset="0"/>
              </a:rPr>
              <a:t>)</a:t>
            </a:r>
            <a:r>
              <a:rPr lang="ko-KR" altLang="en-US" dirty="0">
                <a:latin typeface="Cambria Math" panose="02040503050406030204" pitchFamily="18" charset="0"/>
              </a:rPr>
              <a:t> </a:t>
            </a:r>
            <a:r>
              <a:rPr lang="en-US" altLang="ko-KR" dirty="0">
                <a:latin typeface="Cambria Math" panose="02040503050406030204" pitchFamily="18" charset="0"/>
              </a:rPr>
              <a:t>[2/2]</a:t>
            </a: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ko-KR" dirty="0">
              <a:latin typeface="Cambria Math" panose="02040503050406030204" pitchFamily="18" charset="0"/>
            </a:endParaRPr>
          </a:p>
          <a:p>
            <a:pPr marL="842850" lvl="3" indent="-171450"/>
            <a:endParaRPr lang="en-US" altLang="ko-KR" sz="1000" dirty="0">
              <a:latin typeface="Cambria Math" panose="02040503050406030204" pitchFamily="18" charset="0"/>
            </a:endParaRPr>
          </a:p>
          <a:p>
            <a:pPr marL="311400" lvl="1" indent="0">
              <a:buNone/>
            </a:pPr>
            <a:endParaRPr lang="en-US" altLang="ko-KR" sz="1400" b="0" i="0" dirty="0">
              <a:latin typeface="Cambria Math" panose="02040503050406030204" pitchFamily="18" charset="0"/>
            </a:endParaRP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26328C84-1838-2BE7-ED03-858C3F114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467981"/>
              </p:ext>
            </p:extLst>
          </p:nvPr>
        </p:nvGraphicFramePr>
        <p:xfrm>
          <a:off x="235491" y="1604649"/>
          <a:ext cx="8640000" cy="3888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08407665"/>
                    </a:ext>
                  </a:extLst>
                </a:gridCol>
                <a:gridCol w="1371528">
                  <a:extLst>
                    <a:ext uri="{9D8B030D-6E8A-4147-A177-3AD203B41FA5}">
                      <a16:colId xmlns:a16="http://schemas.microsoft.com/office/drawing/2014/main" val="1168760302"/>
                    </a:ext>
                  </a:extLst>
                </a:gridCol>
                <a:gridCol w="3668472">
                  <a:extLst>
                    <a:ext uri="{9D8B030D-6E8A-4147-A177-3AD203B41FA5}">
                      <a16:colId xmlns:a16="http://schemas.microsoft.com/office/drawing/2014/main" val="4257064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527709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084594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25424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5703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6502586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Title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Requirement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Verification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ko-KR" altLang="en-US" sz="16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0694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GRD09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상태 모니터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수신되고 있는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상태정보를 시각적으로 보여줄 수 있어야 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GUI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9959676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GRD10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저장공간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송수신한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상태정보를 기록하고 관리할 수 있는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이상의 저장공간이 필요함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관리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842746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GRD11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임무 데이터 저장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수신한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임무데이터를 기록하고 관리할 수 있는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이상의 저장공간이 필요함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관리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4596312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GRD12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동기화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저장된 임무데이터를 레이저 능동방어 시스템에 전달 할 수 있어야 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동기화 시험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20901246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GRD13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궤도 모니터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궤도를 관찰할 수 있어야 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FDS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성능 검증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544383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GRD14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추적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궤도를 예측하여 다음 통신 시간을 </a:t>
                      </a:r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TBDsec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의 오차 이내로 결정해야 함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FDS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성능 검증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70170442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GRD15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임무 타임라인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임무 타임라인을 확인하고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상태에 따라 변경할 수 있음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MPS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성능 검증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74388168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GRD16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하향 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</a:b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데이터 하향 시나리오를 확인하고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상태에 따라 변경할 수 있음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SOS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성능 검증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O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1400321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3384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163FB9-E218-401F-9D24-EAE23457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9F592E-258E-4B72-80E4-271ACE7B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056" y="71055"/>
            <a:ext cx="7459843" cy="687714"/>
          </a:xfrm>
        </p:spPr>
        <p:txBody>
          <a:bodyPr>
            <a:normAutofit/>
          </a:bodyPr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41" name="내용 개체 틀 2">
            <a:extLst>
              <a:ext uri="{FF2B5EF4-FFF2-40B4-BE49-F238E27FC236}">
                <a16:creationId xmlns:a16="http://schemas.microsoft.com/office/drawing/2014/main" id="{9F840875-C083-FA65-5F75-65832EF4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91" y="948921"/>
            <a:ext cx="8651428" cy="5376968"/>
          </a:xfrm>
        </p:spPr>
        <p:txBody>
          <a:bodyPr/>
          <a:lstStyle/>
          <a:p>
            <a:pPr indent="-228600">
              <a:buAutoNum type="arabicPeriod"/>
            </a:pPr>
            <a:r>
              <a:rPr lang="en-US" altLang="ko-KR" sz="1200" b="0" dirty="0"/>
              <a:t>Nanosatellites: CanX-7, </a:t>
            </a:r>
            <a:r>
              <a:rPr lang="en-US" altLang="ko-KR" sz="1200" b="0" dirty="0">
                <a:hlinkClick r:id="rId3"/>
              </a:rPr>
              <a:t>https://youtu.be/JEWQFsqkwFc</a:t>
            </a:r>
            <a:endParaRPr lang="en-US" altLang="ko-KR" sz="1200" b="0" dirty="0"/>
          </a:p>
          <a:p>
            <a:pPr indent="-228600">
              <a:buFont typeface="+mj-lt"/>
              <a:buAutoNum type="arabicPeriod"/>
            </a:pPr>
            <a:r>
              <a:rPr lang="ko-KR" altLang="en-US" sz="1200" b="0" dirty="0" err="1"/>
              <a:t>Xinxing</a:t>
            </a:r>
            <a:r>
              <a:rPr lang="ko-KR" altLang="en-US" sz="1200" b="0" dirty="0"/>
              <a:t> ZHANG </a:t>
            </a:r>
            <a:r>
              <a:rPr lang="en-US" altLang="ko-KR" sz="1200" b="0" dirty="0"/>
              <a:t>et al., Dynamic analysis of spinning solar sails at deployment process (CSAA, 2017), p.1723</a:t>
            </a:r>
          </a:p>
          <a:p>
            <a:pPr indent="-228600">
              <a:buFont typeface="+mj-lt"/>
              <a:buAutoNum type="arabicPeriod"/>
            </a:pPr>
            <a:r>
              <a:rPr lang="ko-KR" altLang="en-US" sz="1200" b="0" dirty="0" err="1"/>
              <a:t>송수아</a:t>
            </a:r>
            <a:r>
              <a:rPr lang="ko-KR" altLang="en-US" sz="1200" b="0" dirty="0"/>
              <a:t> </a:t>
            </a:r>
            <a:r>
              <a:rPr lang="en-US" altLang="ko-KR" sz="1200" b="0" dirty="0"/>
              <a:t>et</a:t>
            </a:r>
            <a:r>
              <a:rPr lang="ko-KR" altLang="en-US" sz="1200" b="0" dirty="0"/>
              <a:t> </a:t>
            </a:r>
            <a:r>
              <a:rPr lang="en-US" altLang="ko-KR" sz="1200" b="0" dirty="0"/>
              <a:t>al., </a:t>
            </a:r>
            <a:r>
              <a:rPr lang="en-US" altLang="ko-KR" sz="1200" b="0" i="0" dirty="0">
                <a:solidFill>
                  <a:srgbClr val="000000"/>
                </a:solidFill>
                <a:effectLst/>
              </a:rPr>
              <a:t>CNUSAIL-1 </a:t>
            </a:r>
            <a:r>
              <a:rPr lang="ko-KR" altLang="en-US" sz="1200" b="0" i="0" dirty="0" err="1">
                <a:solidFill>
                  <a:srgbClr val="000000"/>
                </a:solidFill>
                <a:effectLst/>
              </a:rPr>
              <a:t>큐브위성의</a:t>
            </a:r>
            <a:r>
              <a:rPr lang="ko-KR" altLang="en-US" sz="1200" b="0" i="0" dirty="0">
                <a:solidFill>
                  <a:srgbClr val="000000"/>
                </a:solidFill>
                <a:effectLst/>
              </a:rPr>
              <a:t> </a:t>
            </a:r>
            <a:r>
              <a:rPr lang="ko-KR" altLang="en-US" sz="1200" b="0" i="0" dirty="0" err="1">
                <a:solidFill>
                  <a:srgbClr val="000000"/>
                </a:solidFill>
                <a:effectLst/>
              </a:rPr>
              <a:t>태양돛</a:t>
            </a:r>
            <a:r>
              <a:rPr lang="ko-KR" altLang="en-US" sz="1200" b="0" i="0" dirty="0">
                <a:solidFill>
                  <a:srgbClr val="000000"/>
                </a:solidFill>
                <a:effectLst/>
              </a:rPr>
              <a:t> 개발 및 성능시험</a:t>
            </a:r>
            <a:r>
              <a:rPr lang="en-US" altLang="ko-KR" sz="1200" b="0" i="0" dirty="0">
                <a:solidFill>
                  <a:srgbClr val="000000"/>
                </a:solidFill>
                <a:effectLst/>
              </a:rPr>
              <a:t>(</a:t>
            </a:r>
            <a:r>
              <a:rPr lang="en-US" altLang="ko-KR" sz="1200" b="0" dirty="0"/>
              <a:t>2016), p234</a:t>
            </a:r>
          </a:p>
          <a:p>
            <a:pPr indent="-228600">
              <a:buFont typeface="+mj-lt"/>
              <a:buAutoNum type="arabicPeriod"/>
            </a:pPr>
            <a:r>
              <a:rPr lang="ko-KR" altLang="en-US" sz="1200" b="0" dirty="0"/>
              <a:t>김희경 </a:t>
            </a:r>
            <a:r>
              <a:rPr lang="en-US" altLang="ko-KR" sz="1200" b="0" dirty="0"/>
              <a:t>et</a:t>
            </a:r>
            <a:r>
              <a:rPr lang="ko-KR" altLang="en-US" sz="1200" b="0" dirty="0"/>
              <a:t> </a:t>
            </a:r>
            <a:r>
              <a:rPr lang="en-US" altLang="ko-KR" sz="1200" b="0" dirty="0"/>
              <a:t>al.,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</a:rPr>
              <a:t>개화형상을</a:t>
            </a:r>
            <a:r>
              <a:rPr lang="ko-KR" altLang="en-US" sz="1200" b="0" i="0" dirty="0">
                <a:solidFill>
                  <a:srgbClr val="333333"/>
                </a:solidFill>
                <a:effectLst/>
              </a:rPr>
              <a:t> 모사한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</a:rPr>
              <a:t>가항력</a:t>
            </a:r>
            <a:r>
              <a:rPr lang="ko-KR" altLang="en-US" sz="1200" b="0" i="0" dirty="0">
                <a:solidFill>
                  <a:srgbClr val="333333"/>
                </a:solidFill>
                <a:effectLst/>
              </a:rPr>
              <a:t> 돛 수납최적화</a:t>
            </a:r>
            <a:r>
              <a:rPr lang="en-US" altLang="ko-KR" sz="1200" b="0" dirty="0">
                <a:solidFill>
                  <a:srgbClr val="333333"/>
                </a:solidFill>
              </a:rPr>
              <a:t>(</a:t>
            </a:r>
            <a:r>
              <a:rPr lang="en-US" altLang="ko-KR" sz="1200" b="0" dirty="0"/>
              <a:t>2017), p17</a:t>
            </a:r>
          </a:p>
          <a:p>
            <a:pPr indent="-228600">
              <a:buFont typeface="+mj-lt"/>
              <a:buAutoNum type="arabicPeriod"/>
            </a:pPr>
            <a:r>
              <a:rPr lang="en-US" altLang="ko-KR" sz="1200" b="0" dirty="0"/>
              <a:t>Cho, H.-S. et al., Status of the Solar Sail Technologies (2014)</a:t>
            </a:r>
          </a:p>
          <a:p>
            <a:pPr indent="-228600">
              <a:buFont typeface="+mj-lt"/>
              <a:buAutoNum type="arabicPeriod"/>
            </a:pPr>
            <a:r>
              <a:rPr lang="ko-KR" altLang="en-US" sz="1200" b="0" dirty="0"/>
              <a:t>충남대학교</a:t>
            </a:r>
            <a:r>
              <a:rPr lang="en-US" altLang="ko-KR" sz="1200" b="0" dirty="0"/>
              <a:t>, </a:t>
            </a:r>
            <a:r>
              <a:rPr lang="ko-KR" altLang="en-US" sz="1200" b="0" dirty="0" err="1"/>
              <a:t>태양돛</a:t>
            </a:r>
            <a:r>
              <a:rPr lang="ko-KR" altLang="en-US" sz="1200" b="0" dirty="0"/>
              <a:t> 탑재 </a:t>
            </a:r>
            <a:r>
              <a:rPr lang="ko-KR" altLang="en-US" sz="1200" b="0" dirty="0" err="1"/>
              <a:t>큐브위성</a:t>
            </a:r>
            <a:r>
              <a:rPr lang="ko-KR" altLang="en-US" sz="1200" b="0" dirty="0"/>
              <a:t> </a:t>
            </a:r>
            <a:r>
              <a:rPr lang="en-US" altLang="ko-KR" sz="1200" b="0" dirty="0"/>
              <a:t>CNUSAIL-1 </a:t>
            </a:r>
            <a:r>
              <a:rPr lang="ko-KR" altLang="en-US" sz="1200" b="0" dirty="0"/>
              <a:t>개발 및 관련기술에 관한 연구</a:t>
            </a:r>
            <a:r>
              <a:rPr lang="en-US" altLang="ko-KR" sz="1200" b="0" dirty="0"/>
              <a:t> (2015)</a:t>
            </a:r>
          </a:p>
          <a:p>
            <a:pPr indent="-228600">
              <a:buFont typeface="+mj-lt"/>
              <a:buAutoNum type="arabicPeriod"/>
            </a:pPr>
            <a:r>
              <a:rPr lang="en-US" altLang="ko-KR" sz="1200" b="0" dirty="0"/>
              <a:t>Mirabel </a:t>
            </a:r>
            <a:r>
              <a:rPr lang="en-US" altLang="ko-KR" sz="1200" b="0" dirty="0" err="1"/>
              <a:t>Cerqueira</a:t>
            </a:r>
            <a:r>
              <a:rPr lang="en-US" altLang="ko-KR" sz="1200" b="0" dirty="0"/>
              <a:t> Rezende et al., Radar Cross Section Measurements (8-12 GHz) of Magnetic and Dielectric Microwave Absorbing Thin Sheets (2002), p24</a:t>
            </a:r>
          </a:p>
          <a:p>
            <a:pPr indent="-228600">
              <a:buFont typeface="+mj-lt"/>
              <a:buAutoNum type="arabicPeriod"/>
            </a:pPr>
            <a:r>
              <a:rPr lang="en-US" altLang="ko-KR" sz="1200" b="0" dirty="0"/>
              <a:t>Thorlabs, Laser pulses power energy Equations(2019), </a:t>
            </a:r>
            <a:r>
              <a:rPr lang="en-US" altLang="ko-KR" sz="1200" b="0" dirty="0">
                <a:hlinkClick r:id="rId4"/>
              </a:rPr>
              <a:t>Microsoft PowerPoint - Laser_Pulse_Power_Energy_20190726.pptx (thorlabs.com)</a:t>
            </a:r>
            <a:r>
              <a:rPr lang="en-US" altLang="ko-KR" sz="1200" b="0" dirty="0"/>
              <a:t> </a:t>
            </a:r>
          </a:p>
          <a:p>
            <a:pPr indent="-228600">
              <a:buFont typeface="+mj-lt"/>
              <a:buAutoNum type="arabicPeriod"/>
            </a:pPr>
            <a:r>
              <a:rPr lang="en-US" altLang="ko-KR" sz="1200" b="0" dirty="0"/>
              <a:t>M. KRUER et al., </a:t>
            </a:r>
            <a:r>
              <a:rPr lang="de-DE" altLang="ko-KR" sz="1200" b="0" dirty="0"/>
              <a:t>Laser damage in silicon photodiodes(</a:t>
            </a:r>
            <a:r>
              <a:rPr lang="en-US" altLang="ko-KR" sz="1200" b="0" dirty="0"/>
              <a:t>1976), p4</a:t>
            </a:r>
          </a:p>
          <a:p>
            <a:pPr indent="-228600">
              <a:buFont typeface="+mj-lt"/>
              <a:buAutoNum type="arabicPeriod"/>
            </a:pPr>
            <a:r>
              <a:rPr lang="ko-KR" altLang="en-US" sz="1200" b="0" dirty="0"/>
              <a:t>최용성</a:t>
            </a:r>
            <a:r>
              <a:rPr lang="en-US" altLang="ko-KR" sz="1200" b="0" dirty="0"/>
              <a:t> et</a:t>
            </a:r>
            <a:r>
              <a:rPr lang="ko-KR" altLang="en-US" sz="1200" b="0" dirty="0"/>
              <a:t> </a:t>
            </a:r>
            <a:r>
              <a:rPr lang="en-US" altLang="ko-KR" sz="1200" b="0" dirty="0"/>
              <a:t>al.,</a:t>
            </a:r>
            <a:r>
              <a:rPr lang="ko-KR" altLang="en-US" sz="1200" b="0" dirty="0"/>
              <a:t> 광전자공학의 기초 </a:t>
            </a:r>
            <a:r>
              <a:rPr lang="en-US" altLang="ko-KR" sz="1200" b="0" dirty="0"/>
              <a:t>(</a:t>
            </a:r>
            <a:r>
              <a:rPr lang="ko-KR" altLang="en-US" sz="1200" b="0" dirty="0" err="1"/>
              <a:t>인터비젼</a:t>
            </a:r>
            <a:r>
              <a:rPr lang="en-US" altLang="ko-KR" sz="1200" b="0" dirty="0"/>
              <a:t>, 2006), p.94</a:t>
            </a:r>
          </a:p>
          <a:p>
            <a:pPr indent="-228600">
              <a:buFont typeface="+mj-lt"/>
              <a:buAutoNum type="arabicPeriod"/>
            </a:pPr>
            <a:r>
              <a:rPr lang="ko-KR" altLang="en-US" sz="1200" b="0" dirty="0"/>
              <a:t>장준호 </a:t>
            </a:r>
            <a:r>
              <a:rPr lang="en-US" altLang="ko-KR" sz="1200" b="0" dirty="0"/>
              <a:t>et al., </a:t>
            </a:r>
            <a:r>
              <a:rPr lang="ko-KR" altLang="en-US" sz="1200" b="0" dirty="0"/>
              <a:t>태양광 스위치 제안 및 효용성 평가</a:t>
            </a:r>
            <a:r>
              <a:rPr lang="en-US" altLang="ko-KR" sz="1200" b="0" dirty="0"/>
              <a:t>(2013)</a:t>
            </a:r>
          </a:p>
          <a:p>
            <a:pPr marL="491400" lvl="2" indent="0">
              <a:buNone/>
            </a:pPr>
            <a:endParaRPr lang="en-US" altLang="ko-KR" sz="1200" dirty="0">
              <a:latin typeface="Cambria Math" panose="02040503050406030204" pitchFamily="18" charset="0"/>
            </a:endParaRPr>
          </a:p>
          <a:p>
            <a:pPr marL="842850" lvl="3" indent="-171450"/>
            <a:endParaRPr lang="en-US" altLang="ko-KR" sz="1000" dirty="0">
              <a:latin typeface="Cambria Math" panose="02040503050406030204" pitchFamily="18" charset="0"/>
            </a:endParaRPr>
          </a:p>
          <a:p>
            <a:pPr marL="311400" lvl="1" indent="0">
              <a:buNone/>
            </a:pPr>
            <a:endParaRPr lang="en-US" altLang="ko-KR" sz="1400" b="0" i="0" dirty="0">
              <a:latin typeface="Cambria Math" panose="02040503050406030204" pitchFamily="18" charset="0"/>
            </a:endParaRPr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5666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/>
              <a:t>경청해 주셔서 감사합니다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3591</TotalTime>
  <Words>8071</Words>
  <Application>Microsoft Office PowerPoint</Application>
  <PresentationFormat>화면 슬라이드 쇼(4:3)</PresentationFormat>
  <Paragraphs>2382</Paragraphs>
  <Slides>62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71" baseType="lpstr">
      <vt:lpstr>Arial Unicode MS</vt:lpstr>
      <vt:lpstr>맑은 고딕</vt:lpstr>
      <vt:lpstr>함초롬바탕</vt:lpstr>
      <vt:lpstr>Arial</vt:lpstr>
      <vt:lpstr>Cambria Math</vt:lpstr>
      <vt:lpstr>times</vt:lpstr>
      <vt:lpstr>Times New Roman</vt:lpstr>
      <vt:lpstr>Wingdings</vt:lpstr>
      <vt:lpstr>Office 테마</vt:lpstr>
      <vt:lpstr>HYVRID 큐브위성 개발현황 -Hanwha – Yonsei Verification for laser RangIng &amp; Dazzling-</vt:lpstr>
      <vt:lpstr>목차</vt:lpstr>
      <vt:lpstr>한화시스템 요구사항</vt:lpstr>
      <vt:lpstr>한화시스템 요구사항</vt:lpstr>
      <vt:lpstr>큐브 위성 시스템 개발현황</vt:lpstr>
      <vt:lpstr>Payload 1 : Deployment Reflector</vt:lpstr>
      <vt:lpstr>Payload 1 : Deployment Reflector</vt:lpstr>
      <vt:lpstr>Payload 1 : Deployment Reflector</vt:lpstr>
      <vt:lpstr>Payload 1 : Deployment Reflector</vt:lpstr>
      <vt:lpstr>Payload 1 : Deployment Reflector</vt:lpstr>
      <vt:lpstr>Payload 1 : Deployment Reflector</vt:lpstr>
      <vt:lpstr>Payload 1 : Deployment Reflector</vt:lpstr>
      <vt:lpstr>Payload 2 : SLR Laser Detector</vt:lpstr>
      <vt:lpstr>Payload 2 : SLR Laser Detector</vt:lpstr>
      <vt:lpstr>Payload 2 : SLR Laser Detector </vt:lpstr>
      <vt:lpstr>Payload 2 : SLR Laser Detector</vt:lpstr>
      <vt:lpstr>Payload 2 : SLR Laser Detector</vt:lpstr>
      <vt:lpstr>Payload 2 : SLR Laser Detector</vt:lpstr>
      <vt:lpstr>Payload 2 : SLR Laser Detector</vt:lpstr>
      <vt:lpstr>Payload 2 : SLR Laser Detector</vt:lpstr>
      <vt:lpstr>Payload 3 : Dazzling Camera</vt:lpstr>
      <vt:lpstr>Payload 3 : Dazzling Camera</vt:lpstr>
      <vt:lpstr>Payload 3 : Dazzling Camera</vt:lpstr>
      <vt:lpstr>Payload 3 : Dazzling Camera</vt:lpstr>
      <vt:lpstr>BUS (본체)</vt:lpstr>
      <vt:lpstr>BUS (본체)</vt:lpstr>
      <vt:lpstr>BUS (본체)</vt:lpstr>
      <vt:lpstr>BUS (본체)</vt:lpstr>
      <vt:lpstr>BUS (본체)</vt:lpstr>
      <vt:lpstr>BUS (본체)</vt:lpstr>
      <vt:lpstr>BUS (본체)</vt:lpstr>
      <vt:lpstr>BUS (본체)</vt:lpstr>
      <vt:lpstr>GRD (지상체)</vt:lpstr>
      <vt:lpstr>Ground System (지상체)</vt:lpstr>
      <vt:lpstr>큐브위성 체계도</vt:lpstr>
      <vt:lpstr>운용궤도 선정 및 임무 운용 개념</vt:lpstr>
      <vt:lpstr>큐브 위성시스템 운용 궤도 선정</vt:lpstr>
      <vt:lpstr>큐브 위성시스템 운용 궤도 선정</vt:lpstr>
      <vt:lpstr>큐브위성시스템 운용 개념</vt:lpstr>
      <vt:lpstr>큐브 위성시스템 운용 개념</vt:lpstr>
      <vt:lpstr>임무 운용 계획</vt:lpstr>
      <vt:lpstr>주파수 등록</vt:lpstr>
      <vt:lpstr>주파수 등록</vt:lpstr>
      <vt:lpstr> SRR/SDR 회의 일정</vt:lpstr>
      <vt:lpstr>큐브 위성 시스템 개발일정</vt:lpstr>
      <vt:lpstr>결론</vt:lpstr>
      <vt:lpstr>요약</vt:lpstr>
      <vt:lpstr>개발 진척도</vt:lpstr>
      <vt:lpstr>토의 안건</vt:lpstr>
      <vt:lpstr>토의 안건</vt:lpstr>
      <vt:lpstr>토의 안건</vt:lpstr>
      <vt:lpstr> Appendix</vt:lpstr>
      <vt:lpstr>시스템 요구조건</vt:lpstr>
      <vt:lpstr>시스템 요구조건</vt:lpstr>
      <vt:lpstr>시스템 요구조건</vt:lpstr>
      <vt:lpstr>시스템 요구조건</vt:lpstr>
      <vt:lpstr>시스템 요구조건</vt:lpstr>
      <vt:lpstr>시스템 요구조건</vt:lpstr>
      <vt:lpstr>시스템 요구조건</vt:lpstr>
      <vt:lpstr>시스템 요구조건</vt:lpstr>
      <vt:lpstr>Reference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15</cp:revision>
  <dcterms:created xsi:type="dcterms:W3CDTF">2018-01-29T02:45:56Z</dcterms:created>
  <dcterms:modified xsi:type="dcterms:W3CDTF">2022-09-01T19:01:46Z</dcterms:modified>
</cp:coreProperties>
</file>