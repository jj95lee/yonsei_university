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5"/>
  </p:notesMasterIdLst>
  <p:sldIdLst>
    <p:sldId id="256" r:id="rId2"/>
    <p:sldId id="257" r:id="rId3"/>
    <p:sldId id="318" r:id="rId4"/>
    <p:sldId id="320" r:id="rId5"/>
    <p:sldId id="274" r:id="rId6"/>
    <p:sldId id="276" r:id="rId7"/>
    <p:sldId id="280" r:id="rId8"/>
    <p:sldId id="281" r:id="rId9"/>
    <p:sldId id="282" r:id="rId10"/>
    <p:sldId id="285" r:id="rId11"/>
    <p:sldId id="259" r:id="rId12"/>
    <p:sldId id="260" r:id="rId13"/>
    <p:sldId id="261" r:id="rId14"/>
    <p:sldId id="283" r:id="rId15"/>
    <p:sldId id="284" r:id="rId16"/>
    <p:sldId id="288" r:id="rId17"/>
    <p:sldId id="286" r:id="rId18"/>
    <p:sldId id="289" r:id="rId19"/>
    <p:sldId id="290" r:id="rId20"/>
    <p:sldId id="291" r:id="rId21"/>
    <p:sldId id="292" r:id="rId22"/>
    <p:sldId id="293" r:id="rId23"/>
    <p:sldId id="295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44" autoAdjust="0"/>
  </p:normalViewPr>
  <p:slideViewPr>
    <p:cSldViewPr snapToGrid="0">
      <p:cViewPr varScale="1">
        <p:scale>
          <a:sx n="92" d="100"/>
          <a:sy n="92" d="100"/>
        </p:scale>
        <p:origin x="1278" y="96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81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3076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2887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334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100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109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0732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9314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673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5156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2688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577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590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6605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70728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362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PDR (2022.11.30)</a:t>
            </a:r>
          </a:p>
          <a:p>
            <a:pPr lvl="1">
              <a:defRPr/>
            </a:pPr>
            <a:r>
              <a:rPr lang="en-US" altLang="ko-KR" dirty="0"/>
              <a:t>Power generation </a:t>
            </a:r>
          </a:p>
          <a:p>
            <a:pPr lvl="2">
              <a:defRPr/>
            </a:pPr>
            <a:r>
              <a:rPr lang="en-US" altLang="ko-KR" dirty="0"/>
              <a:t>Commissioning Power Budget</a:t>
            </a:r>
          </a:p>
          <a:p>
            <a:pPr lvl="2">
              <a:defRPr/>
            </a:pPr>
            <a:r>
              <a:rPr lang="en-US" altLang="ko-KR" dirty="0"/>
              <a:t>Check Channel distribution</a:t>
            </a:r>
          </a:p>
          <a:p>
            <a:pPr lvl="2">
              <a:defRPr/>
            </a:pPr>
            <a:r>
              <a:rPr lang="en-US" altLang="ko-KR" dirty="0"/>
              <a:t>Define Efficiency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Basic Plan</a:t>
            </a:r>
          </a:p>
          <a:p>
            <a:pPr lvl="2">
              <a:defRPr/>
            </a:pPr>
            <a:r>
              <a:rPr lang="en-US" altLang="ko-KR" strike="sngStrike" dirty="0"/>
              <a:t>1 - Channel distribution</a:t>
            </a:r>
          </a:p>
          <a:p>
            <a:pPr lvl="2">
              <a:defRPr/>
            </a:pPr>
            <a:r>
              <a:rPr lang="en-US" altLang="ko-KR" strike="sngStrike" dirty="0"/>
              <a:t>2 - Power generation</a:t>
            </a:r>
          </a:p>
          <a:p>
            <a:pPr lvl="2">
              <a:defRPr/>
            </a:pPr>
            <a:r>
              <a:rPr lang="en-US" altLang="ko-KR" strike="sngStrike" dirty="0"/>
              <a:t>3 - Calculation DOD</a:t>
            </a:r>
          </a:p>
          <a:p>
            <a:pPr lvl="2">
              <a:defRPr/>
            </a:pPr>
            <a:r>
              <a:rPr lang="en-US" altLang="ko-KR" dirty="0"/>
              <a:t>4 – Operation Scenario  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282729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>
                          <a:solidFill>
                            <a:schemeClr val="tx1"/>
                          </a:solidFill>
                        </a:rPr>
                        <a:t>1 - </a:t>
                      </a:r>
                      <a:r>
                        <a:rPr lang="en-US" altLang="ko-KR" strike="sngStrike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/>
                        <a:t>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/>
                        <a:t>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/>
                        <a:t>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Commissioning Power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Check Channel distribution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           Define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 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2022-11-02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진행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502296"/>
              </p:ext>
            </p:extLst>
          </p:nvPr>
        </p:nvGraphicFramePr>
        <p:xfrm>
          <a:off x="1300228" y="1397902"/>
          <a:ext cx="9591543" cy="437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108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86454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생산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및 소비전력 효율 결정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2022-11-02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100%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2.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시운전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Power budget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분석표 완성</a:t>
                      </a:r>
                      <a:endParaRPr lang="en-US" altLang="ko-KR" sz="1400" b="0" kern="100" dirty="0"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100%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3.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일정 시간 간격으로 통신이 그래프에 적용되도록 변경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06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4.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400" b="0" dirty="0"/>
                        <a:t>그래프에 </a:t>
                      </a:r>
                      <a:r>
                        <a:rPr lang="en-US" altLang="ko-KR" sz="1400" b="0" dirty="0"/>
                        <a:t>SOC</a:t>
                      </a:r>
                      <a:r>
                        <a:rPr lang="ko-KR" altLang="en-US" sz="1400" b="0" dirty="0"/>
                        <a:t>외에도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DOD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까지 표기되도록 수정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5. PDR</a:t>
                      </a:r>
                      <a:r>
                        <a:rPr lang="ko-KR" altLang="en-US" sz="1400" b="0" dirty="0"/>
                        <a:t>자료에 포함될 </a:t>
                      </a:r>
                      <a:r>
                        <a:rPr lang="en-US" altLang="ko-KR" sz="1400" b="0" dirty="0"/>
                        <a:t>WBS, REQ </a:t>
                      </a:r>
                      <a:r>
                        <a:rPr lang="ko-KR" altLang="en-US" sz="1400" b="0" dirty="0"/>
                        <a:t>검토 및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2022-11-21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strike="sngStrike" dirty="0"/>
                        <a:t>6. </a:t>
                      </a:r>
                      <a:r>
                        <a:rPr lang="ko-KR" altLang="en-US" sz="1400" b="0" strike="sngStrike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각 채널 별 </a:t>
                      </a:r>
                      <a:r>
                        <a:rPr lang="en-US" altLang="ko-KR" sz="1400" b="0" strike="sngStrike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On/Off </a:t>
                      </a:r>
                      <a:r>
                        <a:rPr lang="ko-KR" altLang="en-US" sz="1400" b="0" strike="sngStrike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시스템 이해하고 적용</a:t>
                      </a: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strike="sngStrike" dirty="0"/>
                        <a:t>2022-11-09</a:t>
                      </a: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strike="sngStrike" dirty="0"/>
                        <a:t>2022-11-21</a:t>
                      </a: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 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2022-11-02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진행 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480526"/>
              </p:ext>
            </p:extLst>
          </p:nvPr>
        </p:nvGraphicFramePr>
        <p:xfrm>
          <a:off x="322216" y="1524834"/>
          <a:ext cx="11570168" cy="4947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420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475509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06682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631373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704109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610591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전력효율에 관한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참고문헌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전력효율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시운전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Power Budget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표 완성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통신 시간간격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통신 시간간격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채널 별 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각 채널 별 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Simulink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DOD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추가로 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Voltage 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채널에 따른 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부품가동 시작시간 설정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WBS, REQ </a:t>
                      </a:r>
                      <a:r>
                        <a:rPr lang="ko-KR" altLang="en-US" sz="1200" dirty="0"/>
                        <a:t>검토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25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PPT </a:t>
                      </a:r>
                      <a:r>
                        <a:rPr lang="ko-KR" altLang="en-US" sz="1400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PDR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3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A90C97-0490-0BAB-EB1E-A5A9A342C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74" y="566527"/>
            <a:ext cx="9757954" cy="622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3460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94E207A-9C90-B75E-95D6-FFF8C383B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6820"/>
            <a:ext cx="12192000" cy="5304359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630230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8A2260-CDF5-6E46-0D1D-9527D7CBE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8868"/>
            <a:ext cx="12192000" cy="5600264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33810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EE9A929-3695-BD17-8E23-170712E91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7087"/>
            <a:ext cx="12192000" cy="5603825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4812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82F36F-8914-8BAD-B00C-0A75E8B33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60" y="752265"/>
            <a:ext cx="11404879" cy="590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1801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64CC5-5D8D-61D1-037F-555D1A1A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EFFCD2-3071-FD64-F4E8-40FC17662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2EF350-B04A-85E5-A058-0CFA9D5C2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BA87C1-1CF8-B738-0E1D-F002A4CA0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2CD80E-CB9B-12D1-5453-F7DABD90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10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A76CFD3-5A30-4FF3-B866-5F51FDF461BF}"/>
              </a:ext>
            </a:extLst>
          </p:cNvPr>
          <p:cNvGrpSpPr/>
          <p:nvPr/>
        </p:nvGrpSpPr>
        <p:grpSpPr>
          <a:xfrm>
            <a:off x="317596" y="1743159"/>
            <a:ext cx="5505708" cy="3315289"/>
            <a:chOff x="1048947" y="1845346"/>
            <a:chExt cx="6566576" cy="3954096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0F6040B8-CE28-67DA-839A-3B1344956724}"/>
                </a:ext>
              </a:extLst>
            </p:cNvPr>
            <p:cNvCxnSpPr>
              <a:stCxn id="40" idx="2"/>
              <a:endCxn id="34" idx="0"/>
            </p:cNvCxnSpPr>
            <p:nvPr/>
          </p:nvCxnSpPr>
          <p:spPr>
            <a:xfrm>
              <a:off x="2000251" y="3206393"/>
              <a:ext cx="0" cy="287175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E09C79BA-2215-E162-64C2-54966C5123BF}"/>
                </a:ext>
              </a:extLst>
            </p:cNvPr>
            <p:cNvCxnSpPr>
              <a:cxnSpLocks/>
              <a:stCxn id="34" idx="2"/>
              <a:endCxn id="28" idx="0"/>
            </p:cNvCxnSpPr>
            <p:nvPr/>
          </p:nvCxnSpPr>
          <p:spPr>
            <a:xfrm flipH="1">
              <a:off x="2000250" y="4492011"/>
              <a:ext cx="1" cy="308988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3A413D74-1639-2553-0EF9-B09F77EA9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1549" y="4492011"/>
              <a:ext cx="429385" cy="31958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AEABB479-40F4-624D-1388-87ABC74B4EE4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7" y="3936824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15F427B5-9A8A-2F12-9DAE-736033276F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3537" y="4063021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3B4A879E-5F89-4754-8810-F72015CD8D04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5" y="4384904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11F098F5-4A0F-4DDE-A019-205864ACA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3535" y="4491987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EE678474-F36B-61D9-56AC-9151B0E32BCB}"/>
                </a:ext>
              </a:extLst>
            </p:cNvPr>
            <p:cNvGrpSpPr/>
            <p:nvPr/>
          </p:nvGrpSpPr>
          <p:grpSpPr>
            <a:xfrm>
              <a:off x="1048947" y="1845346"/>
              <a:ext cx="1924084" cy="1361047"/>
              <a:chOff x="2221278" y="2067953"/>
              <a:chExt cx="1924084" cy="1361047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921ED747-B872-93D3-57F0-9D97B6C3EC1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FDE87F11-F167-B448-019C-D94D3F3B8E23}"/>
                  </a:ext>
                </a:extLst>
              </p:cNvPr>
              <p:cNvSpPr/>
              <p:nvPr/>
            </p:nvSpPr>
            <p:spPr>
              <a:xfrm>
                <a:off x="2242759" y="2067953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초기 궤도 운용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D832B80B-1BCB-E822-B830-F356F29D9F23}"/>
                  </a:ext>
                </a:extLst>
              </p:cNvPr>
              <p:cNvSpPr/>
              <p:nvPr/>
            </p:nvSpPr>
            <p:spPr>
              <a:xfrm>
                <a:off x="2221278" y="2795138"/>
                <a:ext cx="1902603" cy="4555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시스템 초기화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UHF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안테나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각속도 감쇠 제어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태양전지판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안테나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C8FBA31-90FD-EEF4-9ECA-DB75B82CB321}"/>
                </a:ext>
              </a:extLst>
            </p:cNvPr>
            <p:cNvGrpSpPr/>
            <p:nvPr/>
          </p:nvGrpSpPr>
          <p:grpSpPr>
            <a:xfrm>
              <a:off x="3380934" y="3493568"/>
              <a:ext cx="1902604" cy="998443"/>
              <a:chOff x="2221279" y="2430557"/>
              <a:chExt cx="1902604" cy="998443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50738A44-ABBD-B41C-8377-5AFEF6B4E7DE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CC1A39AA-38A3-EB3D-C2B7-E24BE1F1009D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대기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B3BD6216-73A3-2468-E54A-0450AA2379E6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모멘텀 덤핑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통신 대기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태양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1881074-BE13-0130-5E5C-1FACE4423495}"/>
                </a:ext>
              </a:extLst>
            </p:cNvPr>
            <p:cNvGrpSpPr/>
            <p:nvPr/>
          </p:nvGrpSpPr>
          <p:grpSpPr>
            <a:xfrm>
              <a:off x="1048948" y="3493568"/>
              <a:ext cx="1902604" cy="998443"/>
              <a:chOff x="2221279" y="2430557"/>
              <a:chExt cx="1902604" cy="998443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5F787137-6F5F-31BB-D82C-08753AF7251A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C6F7CFD-11F8-15F9-4279-8F721F6B1BA6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시운전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9A2B35AD-0ED9-2FE7-23F6-07B137D612F0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박막 전개장치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0FF93AF-52A3-21C3-9E9E-B9D8DDD7D0D6}"/>
                </a:ext>
              </a:extLst>
            </p:cNvPr>
            <p:cNvGrpSpPr/>
            <p:nvPr/>
          </p:nvGrpSpPr>
          <p:grpSpPr>
            <a:xfrm>
              <a:off x="5712919" y="3493568"/>
              <a:ext cx="1902604" cy="998443"/>
              <a:chOff x="2221279" y="2430557"/>
              <a:chExt cx="1902604" cy="998443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0B0B933F-DD03-EED4-57A5-3BC452B4ABBE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168DBAAE-6477-E821-42CF-9B5B27C37A50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임무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2BEACCD0-B0D9-02E6-243B-D9A621D088D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지상 지향 및 촬영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UHF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통신 대기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CC395AC-E536-217F-D9A2-D32A36DC8BF2}"/>
                </a:ext>
              </a:extLst>
            </p:cNvPr>
            <p:cNvGrpSpPr/>
            <p:nvPr/>
          </p:nvGrpSpPr>
          <p:grpSpPr>
            <a:xfrm>
              <a:off x="1048947" y="4800999"/>
              <a:ext cx="1902604" cy="998443"/>
              <a:chOff x="2221279" y="2430557"/>
              <a:chExt cx="1902604" cy="998443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51C2AE58-78CE-04A8-7F6F-10F970A1047D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DA929EB-9099-D18D-C574-23F36B8F118D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시운전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D627AB9A-7A44-FFD0-419D-E4288B63FD1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통신 시험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 err="1">
                    <a:solidFill>
                      <a:schemeClr val="tx1"/>
                    </a:solidFill>
                  </a:rPr>
                  <a:t>전장품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 시험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4B9DC67-9CEE-3B7D-2955-29BBF3AFAE23}"/>
                </a:ext>
              </a:extLst>
            </p:cNvPr>
            <p:cNvGrpSpPr/>
            <p:nvPr/>
          </p:nvGrpSpPr>
          <p:grpSpPr>
            <a:xfrm>
              <a:off x="5712919" y="4800999"/>
              <a:ext cx="1902604" cy="998443"/>
              <a:chOff x="2221279" y="2430557"/>
              <a:chExt cx="1902604" cy="998443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223B42F8-5E73-3171-E05D-686AD1D3EB9A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3506360D-FAA2-E3B9-D75B-4984F25EEDF7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통신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A13564F7-86CA-9C68-54A5-53E543CB766C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지상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통신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영상 데이터 하향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1D3F741-DB21-39E3-E862-CD557A7FC92F}"/>
                </a:ext>
              </a:extLst>
            </p:cNvPr>
            <p:cNvGrpSpPr/>
            <p:nvPr/>
          </p:nvGrpSpPr>
          <p:grpSpPr>
            <a:xfrm>
              <a:off x="3380934" y="2210852"/>
              <a:ext cx="1902604" cy="998443"/>
              <a:chOff x="2221279" y="2430557"/>
              <a:chExt cx="1902604" cy="998443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E2D6523-AB16-0C3E-BC77-346E15F3C84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rgbClr val="FFD1D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C94178F-5ADC-92C8-0492-3E466C387EBE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비상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5817BB6-7CAD-99FE-E093-E9ED8D1E7C3A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전력 비상</a:t>
                </a:r>
                <a:r>
                  <a:rPr lang="en-US" altLang="ko-KR" sz="1000" i="1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태양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오류 관리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9F6BB50-80B9-E1DD-BE7B-1EFA0BAAE567}"/>
              </a:ext>
            </a:extLst>
          </p:cNvPr>
          <p:cNvGrpSpPr/>
          <p:nvPr/>
        </p:nvGrpSpPr>
        <p:grpSpPr>
          <a:xfrm>
            <a:off x="6350686" y="2047182"/>
            <a:ext cx="5505708" cy="3011266"/>
            <a:chOff x="1048947" y="2207950"/>
            <a:chExt cx="6566576" cy="3591492"/>
          </a:xfrm>
        </p:grpSpPr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9BF777E1-C768-F16F-B1E2-0F254136BD22}"/>
                </a:ext>
              </a:extLst>
            </p:cNvPr>
            <p:cNvCxnSpPr>
              <a:stCxn id="76" idx="2"/>
              <a:endCxn id="70" idx="0"/>
            </p:cNvCxnSpPr>
            <p:nvPr/>
          </p:nvCxnSpPr>
          <p:spPr>
            <a:xfrm>
              <a:off x="2000251" y="3206393"/>
              <a:ext cx="0" cy="287175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C3E433F6-7B7D-CDCC-CE8F-9F1FEE5781BD}"/>
                </a:ext>
              </a:extLst>
            </p:cNvPr>
            <p:cNvCxnSpPr>
              <a:cxnSpLocks/>
              <a:stCxn id="70" idx="2"/>
              <a:endCxn id="64" idx="0"/>
            </p:cNvCxnSpPr>
            <p:nvPr/>
          </p:nvCxnSpPr>
          <p:spPr>
            <a:xfrm flipH="1">
              <a:off x="2000250" y="4492011"/>
              <a:ext cx="1" cy="308988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4C0E9185-7479-9E86-4086-88742F3AA6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1549" y="4492011"/>
              <a:ext cx="429385" cy="31958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EDD884B1-BD2E-903E-C428-EC9C1EC14E67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7" y="3936824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CBE36142-90A6-9020-359E-E23D66E042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3537" y="4063021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6121196-10B5-C3AF-94C1-4E97D5E6CAF8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5" y="4384904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84E82B0E-233C-7C79-2D0F-E2AEE9C599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3535" y="4491987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0A99D838-4BC9-31DD-7C56-A0F00773B20A}"/>
                </a:ext>
              </a:extLst>
            </p:cNvPr>
            <p:cNvGrpSpPr/>
            <p:nvPr/>
          </p:nvGrpSpPr>
          <p:grpSpPr>
            <a:xfrm>
              <a:off x="1048948" y="2207950"/>
              <a:ext cx="1902604" cy="998443"/>
              <a:chOff x="2221279" y="2430557"/>
              <a:chExt cx="1902604" cy="998443"/>
            </a:xfrm>
          </p:grpSpPr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531FBBB1-B180-0E88-AC14-7E0E692AEAEB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437CE562-456D-4680-4F66-69C5651B27B1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Early-Orbit (EO)</a:t>
                </a:r>
              </a:p>
            </p:txBody>
          </p:sp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A9C3BD40-7180-CD05-1A37-3E3A5A1A864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System Initialization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UHF Antenna Deployment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Detumbling</a:t>
                </a:r>
                <a:endParaRPr lang="ko-KR" altLang="en-US" sz="9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FBF9888-4336-181D-86D3-318A46681FC0}"/>
                </a:ext>
              </a:extLst>
            </p:cNvPr>
            <p:cNvGrpSpPr/>
            <p:nvPr/>
          </p:nvGrpSpPr>
          <p:grpSpPr>
            <a:xfrm>
              <a:off x="3380934" y="3493568"/>
              <a:ext cx="1902604" cy="998443"/>
              <a:chOff x="2221279" y="2430557"/>
              <a:chExt cx="1902604" cy="998443"/>
            </a:xfrm>
          </p:grpSpPr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94C10520-07D8-EBAF-B210-BCD70C858FD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FDE7EB82-8622-0868-4D6B-B25030ED9BC8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Stand-by</a:t>
                </a: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EE13B045-73AC-7DD3-51F6-3FF3E947BE4B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Momentum Dumping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Communication Stand-by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Sun Pointing</a:t>
                </a: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4A5E7EB-E975-E7AC-8383-09345A0A3970}"/>
                </a:ext>
              </a:extLst>
            </p:cNvPr>
            <p:cNvGrpSpPr/>
            <p:nvPr/>
          </p:nvGrpSpPr>
          <p:grpSpPr>
            <a:xfrm>
              <a:off x="1048948" y="3493568"/>
              <a:ext cx="1902604" cy="998443"/>
              <a:chOff x="2221279" y="2430557"/>
              <a:chExt cx="1902604" cy="998443"/>
            </a:xfrm>
          </p:grpSpPr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FD1EF1F6-66E4-FCA4-1767-9F41F85DB9E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B1FCB137-8046-5F68-5F3B-5B74268D6298}"/>
                  </a:ext>
                </a:extLst>
              </p:cNvPr>
              <p:cNvSpPr/>
              <p:nvPr/>
            </p:nvSpPr>
            <p:spPr>
              <a:xfrm>
                <a:off x="2221280" y="2497168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Commissioning 1</a:t>
                </a:r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9E2EE7D3-D80A-B546-A586-4805B47A4F6D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Solar Panel Deployment</a:t>
                </a:r>
              </a:p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S-band Antenna Deployment</a:t>
                </a:r>
              </a:p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Reflector Deployment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C15E58BE-6426-140C-E593-B12EA75A2B90}"/>
                </a:ext>
              </a:extLst>
            </p:cNvPr>
            <p:cNvGrpSpPr/>
            <p:nvPr/>
          </p:nvGrpSpPr>
          <p:grpSpPr>
            <a:xfrm>
              <a:off x="5712919" y="3493568"/>
              <a:ext cx="1902604" cy="998443"/>
              <a:chOff x="2221279" y="2430557"/>
              <a:chExt cx="1902604" cy="998443"/>
            </a:xfrm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5F42FE28-DA71-6C4D-4842-2AA2F8AA03E9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7B3430ED-A429-77DD-8F20-A36C1DAED73B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Mission</a:t>
                </a:r>
              </a:p>
            </p:txBody>
          </p:sp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49A623D7-8672-9F6D-B892-0E27A776E4E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Nadir Pointing &amp; Observation</a:t>
                </a:r>
              </a:p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UHF Communication Stand-by</a:t>
                </a: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BA4A26B7-5812-FA30-999F-EA03BDC90AF0}"/>
                </a:ext>
              </a:extLst>
            </p:cNvPr>
            <p:cNvGrpSpPr/>
            <p:nvPr/>
          </p:nvGrpSpPr>
          <p:grpSpPr>
            <a:xfrm>
              <a:off x="1048947" y="4800999"/>
              <a:ext cx="1902604" cy="998443"/>
              <a:chOff x="2221279" y="2430557"/>
              <a:chExt cx="1902604" cy="998443"/>
            </a:xfrm>
          </p:grpSpPr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62E9A34D-6029-DB59-64E8-A3BA1C0181E2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2BD3049E-8496-BAFC-C806-199AE28B86E0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Commissioning 2</a:t>
                </a: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D6DA5A1B-D8C3-4471-693B-46302DC888AC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S-band Commissioning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Electronic Units Commissioning</a:t>
                </a: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379948B2-853B-99C7-1D29-F8872F27041B}"/>
                </a:ext>
              </a:extLst>
            </p:cNvPr>
            <p:cNvGrpSpPr/>
            <p:nvPr/>
          </p:nvGrpSpPr>
          <p:grpSpPr>
            <a:xfrm>
              <a:off x="5712919" y="4800999"/>
              <a:ext cx="1902604" cy="998443"/>
              <a:chOff x="2221279" y="2430557"/>
              <a:chExt cx="1902604" cy="998443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12051D60-EA05-E41F-AB30-B3B87C1CA73E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960867DD-ABA3-AC10-3E98-D19811041921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Communication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B46B2A94-DF58-AD41-2525-DD32E2A71941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Nadir Pointing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S-band Communication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Image Downlink</a:t>
                </a:r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2BA87D53-2172-0FEF-70A2-E6C4A56EB446}"/>
                </a:ext>
              </a:extLst>
            </p:cNvPr>
            <p:cNvGrpSpPr/>
            <p:nvPr/>
          </p:nvGrpSpPr>
          <p:grpSpPr>
            <a:xfrm>
              <a:off x="3380934" y="2210852"/>
              <a:ext cx="1902604" cy="998443"/>
              <a:chOff x="2221279" y="2430557"/>
              <a:chExt cx="1902604" cy="998443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B400F994-336A-B3BE-8569-D7D5B2C7355D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rgbClr val="FFD1D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337F73AE-1175-0446-2834-7E9B5CACA101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Emergency</a:t>
                </a: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7B5E3904-AD9F-B770-4792-367AFAE2DEE6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Power Emergency</a:t>
                </a:r>
                <a:br>
                  <a:rPr lang="en-US" altLang="ko-KR" sz="1000" i="1" dirty="0">
                    <a:solidFill>
                      <a:schemeClr val="tx1"/>
                    </a:solidFill>
                  </a:rPr>
                </a:br>
                <a:r>
                  <a:rPr lang="en-US" altLang="ko-KR" sz="1000" i="1" dirty="0">
                    <a:solidFill>
                      <a:schemeClr val="tx1"/>
                    </a:solidFill>
                  </a:rPr>
                  <a:t>: Sun Pointing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Error Management</a:t>
                </a:r>
              </a:p>
            </p:txBody>
          </p:sp>
        </p:grp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37105E1-5254-4CEE-DAD9-6864738F346D}"/>
              </a:ext>
            </a:extLst>
          </p:cNvPr>
          <p:cNvCxnSpPr/>
          <p:nvPr/>
        </p:nvCxnSpPr>
        <p:spPr>
          <a:xfrm>
            <a:off x="6096000" y="835429"/>
            <a:ext cx="0" cy="5440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20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77F3-7511-BD82-3110-C58B36A7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696-3A26-BEAA-0808-07608D5E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초기 궤도 운용</a:t>
            </a:r>
            <a:r>
              <a:rPr lang="en-US" altLang="ko-KR" dirty="0"/>
              <a:t> Early-Orbit</a:t>
            </a:r>
            <a:r>
              <a:rPr lang="ko-KR" altLang="en-US" dirty="0"/>
              <a:t> </a:t>
            </a:r>
            <a:r>
              <a:rPr lang="en-US" altLang="ko-KR" dirty="0"/>
              <a:t>(EO)</a:t>
            </a:r>
          </a:p>
          <a:p>
            <a:pPr lvl="1"/>
            <a:r>
              <a:rPr lang="ko-KR" altLang="en-US" dirty="0"/>
              <a:t>사출 직후 </a:t>
            </a:r>
            <a:r>
              <a:rPr lang="en-US" altLang="ko-KR" dirty="0"/>
              <a:t>– </a:t>
            </a:r>
            <a:r>
              <a:rPr lang="ko-KR" altLang="en-US" dirty="0"/>
              <a:t>자세 안정화 종료까지</a:t>
            </a:r>
            <a:endParaRPr lang="en-US" altLang="ko-KR" dirty="0"/>
          </a:p>
          <a:p>
            <a:pPr lvl="2"/>
            <a:r>
              <a:rPr lang="ko-KR" altLang="en-US" dirty="0"/>
              <a:t>위성 전원 </a:t>
            </a:r>
            <a:r>
              <a:rPr lang="en-US" altLang="ko-KR" dirty="0"/>
              <a:t>ON</a:t>
            </a:r>
          </a:p>
          <a:p>
            <a:pPr lvl="3"/>
            <a:r>
              <a:rPr lang="ko-KR" altLang="en-US" dirty="0"/>
              <a:t>주요 장비 </a:t>
            </a:r>
            <a:r>
              <a:rPr lang="en-US" altLang="ko-KR" dirty="0"/>
              <a:t>ON; OBC / UHF TRX / UHF ANT / STX / ADCS</a:t>
            </a:r>
          </a:p>
          <a:p>
            <a:pPr lvl="3"/>
            <a:r>
              <a:rPr lang="en-US" altLang="ko-KR" dirty="0"/>
              <a:t>FSW ON (@OBC)</a:t>
            </a:r>
          </a:p>
          <a:p>
            <a:pPr lvl="3"/>
            <a:r>
              <a:rPr lang="en-US" altLang="ko-KR" dirty="0"/>
              <a:t>UHF ANT deployment</a:t>
            </a:r>
          </a:p>
          <a:p>
            <a:pPr lvl="3"/>
            <a:r>
              <a:rPr lang="en-US" altLang="ko-KR" dirty="0"/>
              <a:t>Detumbling start; using MTQ in ADCS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C8FB1C-CF2F-ECCE-1F4B-B809F0E6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E2624-1172-8C20-9E41-F2289DE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95F3-DF37-6BE3-E29B-BF8D11F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82B721F-56F9-85DA-9230-5A084486BC30}"/>
              </a:ext>
            </a:extLst>
          </p:cNvPr>
          <p:cNvGrpSpPr/>
          <p:nvPr/>
        </p:nvGrpSpPr>
        <p:grpSpPr>
          <a:xfrm>
            <a:off x="2367943" y="3585495"/>
            <a:ext cx="7456113" cy="2408904"/>
            <a:chOff x="2366336" y="4021528"/>
            <a:chExt cx="7456113" cy="2408904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4C7FBD2D-9BCA-EC61-2299-8C2EDF076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336" y="4021529"/>
              <a:ext cx="3208964" cy="2408903"/>
            </a:xfrm>
            <a:prstGeom prst="rect">
              <a:avLst/>
            </a:prstGeom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9168EDFD-2580-288D-A95F-70A77189D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6064" y="4021528"/>
              <a:ext cx="4176385" cy="24089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1603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77F3-7511-BD82-3110-C58B36A7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696-3A26-BEAA-0808-07608D5E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대기 모드 </a:t>
            </a:r>
            <a:r>
              <a:rPr lang="en-US" altLang="ko-KR" dirty="0"/>
              <a:t>Stand-by</a:t>
            </a:r>
          </a:p>
          <a:p>
            <a:pPr lvl="1"/>
            <a:r>
              <a:rPr lang="ko-KR" altLang="en-US" dirty="0"/>
              <a:t>안정화 후 타 모드 수행 전 대기 상태</a:t>
            </a:r>
            <a:endParaRPr lang="en-US" altLang="ko-KR" dirty="0"/>
          </a:p>
          <a:p>
            <a:pPr lvl="2"/>
            <a:r>
              <a:rPr lang="en-US" altLang="ko-KR" dirty="0"/>
              <a:t>Commissioning </a:t>
            </a:r>
            <a:r>
              <a:rPr lang="ko-KR" altLang="en-US" dirty="0"/>
              <a:t>전</a:t>
            </a:r>
            <a:r>
              <a:rPr lang="en-US" altLang="ko-KR" dirty="0"/>
              <a:t>/</a:t>
            </a:r>
            <a:r>
              <a:rPr lang="ko-KR" altLang="en-US" dirty="0"/>
              <a:t>후로 나뉨</a:t>
            </a:r>
            <a:endParaRPr lang="en-US" altLang="ko-KR" dirty="0"/>
          </a:p>
          <a:p>
            <a:pPr lvl="2"/>
            <a:r>
              <a:rPr lang="en-US" altLang="ko-KR" dirty="0"/>
              <a:t>Commissioning </a:t>
            </a:r>
            <a:r>
              <a:rPr lang="ko-KR" altLang="en-US" dirty="0"/>
              <a:t>전</a:t>
            </a:r>
            <a:r>
              <a:rPr lang="en-US" altLang="ko-KR" dirty="0"/>
              <a:t>; </a:t>
            </a:r>
            <a:r>
              <a:rPr lang="ko-KR" altLang="en-US" dirty="0"/>
              <a:t>태양전지판 전개 전</a:t>
            </a:r>
            <a:endParaRPr lang="en-US" altLang="ko-KR" dirty="0"/>
          </a:p>
          <a:p>
            <a:pPr lvl="3"/>
            <a:r>
              <a:rPr lang="en-US" altLang="ko-KR" dirty="0"/>
              <a:t>Sun pointing </a:t>
            </a:r>
            <a:r>
              <a:rPr lang="ko-KR" altLang="en-US" dirty="0"/>
              <a:t>필요 </a:t>
            </a:r>
            <a:r>
              <a:rPr lang="en-US" altLang="ko-KR" dirty="0"/>
              <a:t>X</a:t>
            </a:r>
          </a:p>
          <a:p>
            <a:pPr lvl="3"/>
            <a:r>
              <a:rPr lang="en-US" altLang="ko-KR" dirty="0"/>
              <a:t>Free state</a:t>
            </a:r>
          </a:p>
          <a:p>
            <a:pPr lvl="2"/>
            <a:r>
              <a:rPr lang="en-US" altLang="ko-KR" dirty="0"/>
              <a:t>Commissioning </a:t>
            </a:r>
            <a:r>
              <a:rPr lang="ko-KR" altLang="en-US" dirty="0"/>
              <a:t>후</a:t>
            </a:r>
            <a:r>
              <a:rPr lang="en-US" altLang="ko-KR" dirty="0"/>
              <a:t>; </a:t>
            </a:r>
            <a:r>
              <a:rPr lang="ko-KR" altLang="en-US" dirty="0"/>
              <a:t>태양전지판 전개 후 </a:t>
            </a:r>
            <a:r>
              <a:rPr lang="en-US" altLang="ko-KR" dirty="0"/>
              <a:t>(</a:t>
            </a:r>
            <a:r>
              <a:rPr lang="ko-KR" altLang="en-US" dirty="0"/>
              <a:t>타 전개장치 전체 전개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Sun pointing @Dayside </a:t>
            </a:r>
            <a:r>
              <a:rPr lang="en-US" altLang="ko-KR" dirty="0">
                <a:sym typeface="Wingdings" panose="05000000000000000000" pitchFamily="2" charset="2"/>
              </a:rPr>
              <a:t> for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charging</a:t>
            </a:r>
            <a:endParaRPr lang="en-US" altLang="ko-KR" dirty="0"/>
          </a:p>
          <a:p>
            <a:pPr lvl="3"/>
            <a:r>
              <a:rPr lang="en-US" altLang="ko-KR" dirty="0"/>
              <a:t>Nadir pointing @Eclipse </a:t>
            </a:r>
            <a:r>
              <a:rPr lang="en-US" altLang="ko-KR" dirty="0">
                <a:sym typeface="Wingdings" panose="05000000000000000000" pitchFamily="2" charset="2"/>
              </a:rPr>
              <a:t> for decreasing atmospheric resistance</a:t>
            </a: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시운전 모드 </a:t>
            </a:r>
            <a:r>
              <a:rPr lang="en-US" altLang="ko-KR" dirty="0">
                <a:sym typeface="Wingdings" panose="05000000000000000000" pitchFamily="2" charset="2"/>
              </a:rPr>
              <a:t>Commissioning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en-US" altLang="ko-KR" baseline="30000" dirty="0">
                <a:sym typeface="Wingdings" panose="05000000000000000000" pitchFamily="2" charset="2"/>
              </a:rPr>
              <a:t>st</a:t>
            </a:r>
            <a:r>
              <a:rPr lang="en-US" altLang="ko-KR" dirty="0">
                <a:sym typeface="Wingdings" panose="05000000000000000000" pitchFamily="2" charset="2"/>
              </a:rPr>
              <a:t> mode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전개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태양전지판 </a:t>
            </a:r>
            <a:r>
              <a:rPr lang="en-US" altLang="ko-KR" dirty="0">
                <a:sym typeface="Wingdings" panose="05000000000000000000" pitchFamily="2" charset="2"/>
              </a:rPr>
              <a:t>– </a:t>
            </a:r>
            <a:r>
              <a:rPr lang="ko-KR" altLang="en-US" dirty="0">
                <a:sym typeface="Wingdings" panose="05000000000000000000" pitchFamily="2" charset="2"/>
              </a:rPr>
              <a:t>박막 전개장치 </a:t>
            </a:r>
            <a:r>
              <a:rPr lang="en-US" altLang="ko-KR" dirty="0">
                <a:sym typeface="Wingdings" panose="05000000000000000000" pitchFamily="2" charset="2"/>
              </a:rPr>
              <a:t>– S </a:t>
            </a:r>
            <a:r>
              <a:rPr lang="ko-KR" altLang="en-US" dirty="0">
                <a:sym typeface="Wingdings" panose="05000000000000000000" pitchFamily="2" charset="2"/>
              </a:rPr>
              <a:t>대역 안테나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단계별 전개 여부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en-US" altLang="ko-KR" baseline="30000" dirty="0">
                <a:sym typeface="Wingdings" panose="05000000000000000000" pitchFamily="2" charset="2"/>
              </a:rPr>
              <a:t>nd</a:t>
            </a:r>
            <a:r>
              <a:rPr lang="en-US" altLang="ko-KR" dirty="0">
                <a:sym typeface="Wingdings" panose="05000000000000000000" pitchFamily="2" charset="2"/>
              </a:rPr>
              <a:t> mode</a:t>
            </a:r>
          </a:p>
          <a:p>
            <a:pPr lvl="2"/>
            <a:r>
              <a:rPr lang="ko-KR" altLang="en-US" dirty="0" err="1">
                <a:sym typeface="Wingdings" panose="05000000000000000000" pitchFamily="2" charset="2"/>
              </a:rPr>
              <a:t>전장품</a:t>
            </a:r>
            <a:r>
              <a:rPr lang="ko-KR" altLang="en-US" dirty="0">
                <a:sym typeface="Wingdings" panose="05000000000000000000" pitchFamily="2" charset="2"/>
              </a:rPr>
              <a:t> 정상작동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S </a:t>
            </a:r>
            <a:r>
              <a:rPr lang="ko-KR" altLang="en-US" dirty="0">
                <a:sym typeface="Wingdings" panose="05000000000000000000" pitchFamily="2" charset="2"/>
              </a:rPr>
              <a:t>대역 통신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C8FB1C-CF2F-ECCE-1F4B-B809F0E6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E2624-1172-8C20-9E41-F2289DE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95F3-DF37-6BE3-E29B-BF8D11F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859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77F3-7511-BD82-3110-C58B36A7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696-3A26-BEAA-0808-07608D5E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임무 모드 </a:t>
            </a:r>
            <a:r>
              <a:rPr lang="en-US" altLang="ko-KR" dirty="0"/>
              <a:t>Mission</a:t>
            </a:r>
          </a:p>
          <a:p>
            <a:pPr lvl="1"/>
            <a:r>
              <a:rPr lang="ko-KR" altLang="en-US" dirty="0" err="1"/>
              <a:t>지상국</a:t>
            </a:r>
            <a:r>
              <a:rPr lang="ko-KR" altLang="en-US" dirty="0"/>
              <a:t> 지향 </a:t>
            </a:r>
            <a:r>
              <a:rPr lang="en-US" altLang="ko-KR" dirty="0"/>
              <a:t>Ground</a:t>
            </a:r>
            <a:r>
              <a:rPr lang="ko-KR" altLang="en-US" dirty="0"/>
              <a:t> </a:t>
            </a:r>
            <a:r>
              <a:rPr lang="en-US" altLang="ko-KR" dirty="0"/>
              <a:t>station</a:t>
            </a:r>
            <a:r>
              <a:rPr lang="ko-KR" altLang="en-US" dirty="0"/>
              <a:t> </a:t>
            </a:r>
            <a:r>
              <a:rPr lang="en-US" altLang="ko-KR" dirty="0"/>
              <a:t>pointing (~ Nadir pointing)</a:t>
            </a:r>
          </a:p>
          <a:p>
            <a:pPr lvl="2"/>
            <a:r>
              <a:rPr lang="ko-KR" altLang="en-US" dirty="0"/>
              <a:t>한화시스템 </a:t>
            </a:r>
            <a:r>
              <a:rPr lang="ko-KR" altLang="en-US" dirty="0" err="1"/>
              <a:t>지상국</a:t>
            </a:r>
            <a:endParaRPr lang="en-US" altLang="ko-KR" dirty="0"/>
          </a:p>
          <a:p>
            <a:pPr lvl="2"/>
            <a:r>
              <a:rPr lang="ko-KR" altLang="en-US" dirty="0"/>
              <a:t>박막 전개장치</a:t>
            </a:r>
            <a:r>
              <a:rPr lang="en-US" altLang="ko-KR" dirty="0"/>
              <a:t>, </a:t>
            </a:r>
            <a:r>
              <a:rPr lang="ko-KR" altLang="en-US" dirty="0"/>
              <a:t>카메라 지향 </a:t>
            </a:r>
            <a:r>
              <a:rPr lang="en-US" altLang="ko-KR" dirty="0"/>
              <a:t>(-Z </a:t>
            </a:r>
            <a:r>
              <a:rPr lang="ko-KR" altLang="en-US" dirty="0"/>
              <a:t>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일부 데이터 하향</a:t>
            </a:r>
            <a:r>
              <a:rPr lang="en-US" altLang="ko-KR" dirty="0"/>
              <a:t>; UHF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통신 모드 </a:t>
            </a:r>
            <a:r>
              <a:rPr lang="en-US" altLang="ko-KR" dirty="0"/>
              <a:t>Communication</a:t>
            </a:r>
          </a:p>
          <a:p>
            <a:pPr lvl="1"/>
            <a:r>
              <a:rPr lang="ko-KR" altLang="en-US" dirty="0" err="1"/>
              <a:t>지상국</a:t>
            </a:r>
            <a:r>
              <a:rPr lang="ko-KR" altLang="en-US" dirty="0"/>
              <a:t> 지향</a:t>
            </a:r>
            <a:endParaRPr lang="en-US" altLang="ko-KR" dirty="0"/>
          </a:p>
          <a:p>
            <a:pPr lvl="2"/>
            <a:r>
              <a:rPr lang="ko-KR" altLang="en-US" dirty="0"/>
              <a:t>연세대학교 </a:t>
            </a:r>
            <a:r>
              <a:rPr lang="ko-KR" altLang="en-US" dirty="0" err="1"/>
              <a:t>지상국</a:t>
            </a:r>
            <a:endParaRPr lang="en-US" altLang="ko-KR" dirty="0"/>
          </a:p>
          <a:p>
            <a:pPr lvl="1"/>
            <a:r>
              <a:rPr lang="ko-KR" altLang="en-US" dirty="0"/>
              <a:t>임무 모드에서 촬영한 이미지 하향</a:t>
            </a:r>
            <a:r>
              <a:rPr lang="en-US" altLang="ko-KR" dirty="0"/>
              <a:t>; S-band</a:t>
            </a:r>
          </a:p>
          <a:p>
            <a:pPr lvl="1"/>
            <a:r>
              <a:rPr lang="ko-KR" altLang="en-US" dirty="0"/>
              <a:t>용량이 큰 데이터 하향</a:t>
            </a:r>
            <a:endParaRPr lang="en-US" altLang="ko-KR" dirty="0"/>
          </a:p>
          <a:p>
            <a:pPr lvl="2"/>
            <a:r>
              <a:rPr lang="en-US" altLang="ko-KR" dirty="0"/>
              <a:t>GPS raw data (for precise orbit determination, POD)</a:t>
            </a:r>
          </a:p>
          <a:p>
            <a:pPr lvl="2"/>
            <a:r>
              <a:rPr lang="en-US" altLang="ko-KR" dirty="0"/>
              <a:t>ADCS data</a:t>
            </a:r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C8FB1C-CF2F-ECCE-1F4B-B809F0E6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E2624-1172-8C20-9E41-F2289DE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95F3-DF37-6BE3-E29B-BF8D11F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13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5B135E7-EA02-4294-BF27-52D3F585870B}"/>
              </a:ext>
            </a:extLst>
          </p:cNvPr>
          <p:cNvGrpSpPr/>
          <p:nvPr/>
        </p:nvGrpSpPr>
        <p:grpSpPr>
          <a:xfrm>
            <a:off x="4066803" y="2054592"/>
            <a:ext cx="7866477" cy="3213067"/>
            <a:chOff x="1818157" y="2340088"/>
            <a:chExt cx="7866477" cy="3213067"/>
          </a:xfrm>
        </p:grpSpPr>
        <p:sp>
          <p:nvSpPr>
            <p:cNvPr id="8" name="부분 원형 7">
              <a:extLst>
                <a:ext uri="{FF2B5EF4-FFF2-40B4-BE49-F238E27FC236}">
                  <a16:creationId xmlns:a16="http://schemas.microsoft.com/office/drawing/2014/main" id="{F7C9F695-6FC0-632C-3EC6-0975E452D51B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pie">
              <a:avLst>
                <a:gd name="adj1" fmla="val 11501465"/>
                <a:gd name="adj2" fmla="val 13138414"/>
              </a:avLst>
            </a:prstGeom>
            <a:solidFill>
              <a:srgbClr val="4472C4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부분 원형 8">
              <a:extLst>
                <a:ext uri="{FF2B5EF4-FFF2-40B4-BE49-F238E27FC236}">
                  <a16:creationId xmlns:a16="http://schemas.microsoft.com/office/drawing/2014/main" id="{DBF14FA9-F2BF-74B5-C328-74B4B81A3AD2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pie">
              <a:avLst>
                <a:gd name="adj1" fmla="val 19730290"/>
                <a:gd name="adj2" fmla="val 20927929"/>
              </a:avLst>
            </a:prstGeom>
            <a:solidFill>
              <a:schemeClr val="accent3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10" name="그래픽 9" descr="위성 안테나 윤곽선">
              <a:extLst>
                <a:ext uri="{FF2B5EF4-FFF2-40B4-BE49-F238E27FC236}">
                  <a16:creationId xmlns:a16="http://schemas.microsoft.com/office/drawing/2014/main" id="{C6729FB9-6752-6960-F811-2760B19E4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7086288" y="4193222"/>
              <a:ext cx="662249" cy="662249"/>
            </a:xfrm>
            <a:prstGeom prst="rect">
              <a:avLst/>
            </a:prstGeom>
          </p:spPr>
        </p:pic>
        <p:pic>
          <p:nvPicPr>
            <p:cNvPr id="11" name="그래픽 10" descr="사일로 윤곽선">
              <a:extLst>
                <a:ext uri="{FF2B5EF4-FFF2-40B4-BE49-F238E27FC236}">
                  <a16:creationId xmlns:a16="http://schemas.microsoft.com/office/drawing/2014/main" id="{22E89CEF-6E69-33B2-E63F-716FCF333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20271" y="4193223"/>
              <a:ext cx="662249" cy="662249"/>
            </a:xfrm>
            <a:prstGeom prst="rect">
              <a:avLst/>
            </a:prstGeom>
          </p:spPr>
        </p:pic>
        <p:sp>
          <p:nvSpPr>
            <p:cNvPr id="12" name="원호 11">
              <a:extLst>
                <a:ext uri="{FF2B5EF4-FFF2-40B4-BE49-F238E27FC236}">
                  <a16:creationId xmlns:a16="http://schemas.microsoft.com/office/drawing/2014/main" id="{11266EFE-A81B-77CD-9A21-99D693020FB6}"/>
                </a:ext>
              </a:extLst>
            </p:cNvPr>
            <p:cNvSpPr/>
            <p:nvPr/>
          </p:nvSpPr>
          <p:spPr>
            <a:xfrm flipH="1">
              <a:off x="5326282" y="4100371"/>
              <a:ext cx="850225" cy="283408"/>
            </a:xfrm>
            <a:prstGeom prst="arc">
              <a:avLst>
                <a:gd name="adj1" fmla="val 11563436"/>
                <a:gd name="adj2" fmla="val 13094371"/>
              </a:avLst>
            </a:prstGeom>
            <a:ln w="12700" cap="rnd">
              <a:solidFill>
                <a:schemeClr val="tx1"/>
              </a:solidFill>
              <a:headEnd type="none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원호 12">
              <a:extLst>
                <a:ext uri="{FF2B5EF4-FFF2-40B4-BE49-F238E27FC236}">
                  <a16:creationId xmlns:a16="http://schemas.microsoft.com/office/drawing/2014/main" id="{60A3CE2E-EC9F-77F7-A5E4-A02BD716944D}"/>
                </a:ext>
              </a:extLst>
            </p:cNvPr>
            <p:cNvSpPr/>
            <p:nvPr/>
          </p:nvSpPr>
          <p:spPr>
            <a:xfrm flipH="1">
              <a:off x="5326282" y="4100371"/>
              <a:ext cx="850225" cy="283408"/>
            </a:xfrm>
            <a:prstGeom prst="arc">
              <a:avLst>
                <a:gd name="adj1" fmla="val 19794156"/>
                <a:gd name="adj2" fmla="val 20896126"/>
              </a:avLst>
            </a:prstGeom>
            <a:ln w="12700" cap="rnd">
              <a:solidFill>
                <a:schemeClr val="tx1"/>
              </a:solidFill>
              <a:headEnd type="none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469DE9-BC3E-BEAB-BE40-3C207C88E8E5}"/>
                </a:ext>
              </a:extLst>
            </p:cNvPr>
            <p:cNvSpPr txBox="1"/>
            <p:nvPr/>
          </p:nvSpPr>
          <p:spPr>
            <a:xfrm>
              <a:off x="4876774" y="4159437"/>
              <a:ext cx="801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30 ° - 50°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5FADBC-738B-C118-2723-76051CC982E9}"/>
                </a:ext>
              </a:extLst>
            </p:cNvPr>
            <p:cNvSpPr txBox="1"/>
            <p:nvPr/>
          </p:nvSpPr>
          <p:spPr>
            <a:xfrm>
              <a:off x="5824085" y="4159437"/>
              <a:ext cx="801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20 ° - 80°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646579-6559-52DE-9A1A-0AD457465892}"/>
                </a:ext>
              </a:extLst>
            </p:cNvPr>
            <p:cNvSpPr txBox="1"/>
            <p:nvPr/>
          </p:nvSpPr>
          <p:spPr>
            <a:xfrm>
              <a:off x="7163248" y="3246124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SLR </a:t>
              </a:r>
              <a:r>
                <a:rPr lang="ko-KR" altLang="en-US" sz="1400" dirty="0"/>
                <a:t>시험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DB9F072-73F0-54E2-2950-E9C9893BCC20}"/>
                </a:ext>
              </a:extLst>
            </p:cNvPr>
            <p:cNvSpPr txBox="1"/>
            <p:nvPr/>
          </p:nvSpPr>
          <p:spPr>
            <a:xfrm>
              <a:off x="3028001" y="3384604"/>
              <a:ext cx="11988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/>
                <a:t>대즐링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시험</a:t>
              </a: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C2FD465-D304-731C-2FE0-05F887E30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031122">
              <a:off x="2595704" y="2688851"/>
              <a:ext cx="899513" cy="571173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A872E02-1524-8F0E-96B2-3FE9DBA49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435472">
              <a:off x="7881731" y="2635534"/>
              <a:ext cx="899513" cy="571173"/>
            </a:xfrm>
            <a:prstGeom prst="rect">
              <a:avLst/>
            </a:prstGeom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13DB3DF-F464-6A5B-F110-5CA8F32362EF}"/>
                </a:ext>
              </a:extLst>
            </p:cNvPr>
            <p:cNvCxnSpPr>
              <a:cxnSpLocks/>
            </p:cNvCxnSpPr>
            <p:nvPr/>
          </p:nvCxnSpPr>
          <p:spPr>
            <a:xfrm>
              <a:off x="6653996" y="2968263"/>
              <a:ext cx="580975" cy="1330580"/>
            </a:xfrm>
            <a:prstGeom prst="straightConnector1">
              <a:avLst/>
            </a:prstGeom>
            <a:ln w="15875" cap="rnd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5D1F64-FFA1-0617-51DD-C3D036194253}"/>
                </a:ext>
              </a:extLst>
            </p:cNvPr>
            <p:cNvSpPr txBox="1"/>
            <p:nvPr/>
          </p:nvSpPr>
          <p:spPr>
            <a:xfrm>
              <a:off x="6565492" y="4291882"/>
              <a:ext cx="7291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20 ° - 70°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22AAA1-17B5-EB8A-89B6-CD6664C8CE89}"/>
                </a:ext>
              </a:extLst>
            </p:cNvPr>
            <p:cNvSpPr txBox="1"/>
            <p:nvPr/>
          </p:nvSpPr>
          <p:spPr>
            <a:xfrm>
              <a:off x="3810237" y="2859787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T4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32BDD13-FBF2-7BFB-8747-BDCF3F7D4BB0}"/>
                </a:ext>
              </a:extLst>
            </p:cNvPr>
            <p:cNvSpPr txBox="1"/>
            <p:nvPr/>
          </p:nvSpPr>
          <p:spPr>
            <a:xfrm>
              <a:off x="7210145" y="2833026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T2</a:t>
              </a:r>
              <a:endParaRPr lang="ko-KR" altLang="en-US" sz="1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724BF2-B7FD-033A-1C2D-536DF62BCAA7}"/>
                </a:ext>
              </a:extLst>
            </p:cNvPr>
            <p:cNvSpPr txBox="1"/>
            <p:nvPr/>
          </p:nvSpPr>
          <p:spPr>
            <a:xfrm>
              <a:off x="5254773" y="4808414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거창</a:t>
              </a:r>
              <a:endParaRPr lang="ko-KR" altLang="en-US" sz="1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4812A9-64DB-E4D6-A8FF-8D1A8B31F4D8}"/>
                </a:ext>
              </a:extLst>
            </p:cNvPr>
            <p:cNvSpPr txBox="1"/>
            <p:nvPr/>
          </p:nvSpPr>
          <p:spPr>
            <a:xfrm>
              <a:off x="7013485" y="4775917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서울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233F8D4-705B-ADE8-8CBC-FD9B565F164A}"/>
                </a:ext>
              </a:extLst>
            </p:cNvPr>
            <p:cNvSpPr txBox="1"/>
            <p:nvPr/>
          </p:nvSpPr>
          <p:spPr>
            <a:xfrm rot="3984666">
              <a:off x="5835775" y="3418109"/>
              <a:ext cx="174497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UHF </a:t>
              </a:r>
              <a:r>
                <a:rPr lang="ko-KR" altLang="en-US" sz="1100" dirty="0"/>
                <a:t>하향</a:t>
              </a:r>
              <a:r>
                <a:rPr lang="en-US" altLang="ko-KR" sz="1100" dirty="0"/>
                <a:t>: </a:t>
              </a:r>
              <a:br>
                <a:rPr lang="en-US" altLang="ko-KR" sz="1100" dirty="0"/>
              </a:br>
              <a:r>
                <a:rPr lang="ko-KR" altLang="en-US" sz="1100" dirty="0"/>
                <a:t>레이저 검출 데이터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DBDE4A-96C8-167B-4727-D1B5A5ABF675}"/>
                </a:ext>
              </a:extLst>
            </p:cNvPr>
            <p:cNvSpPr txBox="1"/>
            <p:nvPr/>
          </p:nvSpPr>
          <p:spPr>
            <a:xfrm>
              <a:off x="8954645" y="3285713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T1</a:t>
              </a:r>
              <a:endParaRPr lang="ko-KR" altLang="en-US" sz="1400" dirty="0"/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B9F12D7-C301-C520-E661-1BD3CC620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525274">
              <a:off x="6109122" y="2340088"/>
              <a:ext cx="899513" cy="57117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0262ED-C893-CD9A-E6B2-EB6847AD1783}"/>
                </a:ext>
              </a:extLst>
            </p:cNvPr>
            <p:cNvSpPr txBox="1"/>
            <p:nvPr/>
          </p:nvSpPr>
          <p:spPr>
            <a:xfrm>
              <a:off x="6732824" y="2745838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T3</a:t>
              </a:r>
              <a:endParaRPr lang="ko-KR" alt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37087B-4125-320F-A55B-A5809E69A096}"/>
                </a:ext>
              </a:extLst>
            </p:cNvPr>
            <p:cNvSpPr txBox="1"/>
            <p:nvPr/>
          </p:nvSpPr>
          <p:spPr>
            <a:xfrm>
              <a:off x="2150012" y="3364561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T5</a:t>
              </a:r>
              <a:endParaRPr lang="ko-KR" altLang="en-US" sz="1400" dirty="0"/>
            </a:p>
          </p:txBody>
        </p:sp>
        <p:sp>
          <p:nvSpPr>
            <p:cNvPr id="31" name="원호 30">
              <a:extLst>
                <a:ext uri="{FF2B5EF4-FFF2-40B4-BE49-F238E27FC236}">
                  <a16:creationId xmlns:a16="http://schemas.microsoft.com/office/drawing/2014/main" id="{67F40E77-0F73-D7B0-FF19-E67E37132AF5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arc">
              <a:avLst>
                <a:gd name="adj1" fmla="val 11055508"/>
                <a:gd name="adj2" fmla="val 21301321"/>
              </a:avLst>
            </a:prstGeom>
            <a:ln w="28575" cap="rnd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4973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10EFB68-F801-2F52-C618-D98D926FD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4" y="831173"/>
            <a:ext cx="10799949" cy="581289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Commissioning 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121488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B6CD9CB-ED96-DAA2-B029-043FF6875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3" y="831171"/>
            <a:ext cx="10913693" cy="5833041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Commissioning 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768567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316E246-7AF3-E6E0-377D-72B5F0FA5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2793"/>
            <a:ext cx="12192000" cy="5422215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BC0CB4D-0A46-2870-BF4D-7626816A4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726" y="6029220"/>
            <a:ext cx="3457575" cy="628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245633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0.Detumbling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D8303F-0326-87BC-FC30-94DB633E5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1666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439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C389C5-1883-DB82-5225-A8DBB64B3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1618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1.Mission &amp; UHFCOM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67500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8554EE8-B303-6917-769E-E6AF5A07E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2073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41891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0423E29-B0CF-3CAA-A03B-F4700DC8A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6031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644323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2AB944-AE26-B8D8-FAA0-0DA8DC006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812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4034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2C59E4B-CBC5-A236-BAD3-6D7EF759B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9107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Commissioning1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57115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563FB88-22AF-03DC-A58C-B86D1C957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9105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Commissioning2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150833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793</Words>
  <Application>Microsoft Office PowerPoint</Application>
  <PresentationFormat>와이드스크린</PresentationFormat>
  <Paragraphs>336</Paragraphs>
  <Slides>23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Arial</vt:lpstr>
      <vt:lpstr>times</vt:lpstr>
      <vt:lpstr>Wingdings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0. Detumbling mode</vt:lpstr>
      <vt:lpstr>1. Mission &amp; UHF COM mode</vt:lpstr>
      <vt:lpstr>2. S-band COM mode(@Night)</vt:lpstr>
      <vt:lpstr>3. S-band COM mode(@Day)</vt:lpstr>
      <vt:lpstr>4. Stand-by mode</vt:lpstr>
      <vt:lpstr>운용 모드</vt:lpstr>
      <vt:lpstr>운용 모드</vt:lpstr>
      <vt:lpstr>운용 모드</vt:lpstr>
      <vt:lpstr>운용 모드</vt:lpstr>
      <vt:lpstr>Commissioning 1</vt:lpstr>
      <vt:lpstr>Commissioning 2</vt:lpstr>
      <vt:lpstr>PowerPoint 프레젠테이션</vt:lpstr>
      <vt:lpstr>0.Detumbling</vt:lpstr>
      <vt:lpstr>1.Mission &amp; UHFCOM</vt:lpstr>
      <vt:lpstr>2. S-band COM mode(@Night)</vt:lpstr>
      <vt:lpstr>3. S-band COM mode(@Day)</vt:lpstr>
      <vt:lpstr>4. Stand-by mode</vt:lpstr>
      <vt:lpstr>Commissioning1</vt:lpstr>
      <vt:lpstr>Commissioning2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136</cp:revision>
  <dcterms:created xsi:type="dcterms:W3CDTF">2021-06-14T06:44:23Z</dcterms:created>
  <dcterms:modified xsi:type="dcterms:W3CDTF">2022-11-09T05:59:12Z</dcterms:modified>
  <cp:version/>
</cp:coreProperties>
</file>