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005" autoAdjust="0"/>
  </p:normalViewPr>
  <p:slideViewPr>
    <p:cSldViewPr snapToGrid="0">
      <p:cViewPr varScale="1">
        <p:scale>
          <a:sx n="54" d="100"/>
          <a:sy n="54" d="100"/>
        </p:scale>
        <p:origin x="108" y="894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4444ADC7-D137-4355-B287-E417A90F4D15}" type="datetime1">
              <a:rPr lang="ko-KR" altLang="en-US"/>
              <a:pPr lvl="0">
                <a:defRPr/>
              </a:pPr>
              <a:t>2022-08-18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B8E8DA4-E2D7-43C2-B6C4-2E5B1B19F4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7147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80508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E8DA4-E2D7-43C2-B6C4-2E5B1B19F402}" type="slidenum">
              <a:rPr lang="ko-KR" altLang="en-US" smtClean="0"/>
              <a:pPr lvl="0"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55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CB5FD6-A2DE-4563-BDD9-970544F4D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2551608-DD27-4795-B323-401D3C83F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7F833-C2AE-4216-8871-52717469E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4E6671EE-0BC6-43D9-95C1-E999911B0F9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67999" y="1707834"/>
            <a:ext cx="4500000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4" name="내용 개체 틀 13">
            <a:extLst>
              <a:ext uri="{FF2B5EF4-FFF2-40B4-BE49-F238E27FC236}">
                <a16:creationId xmlns:a16="http://schemas.microsoft.com/office/drawing/2014/main" id="{11D38D3C-35BA-40CB-8AC0-E2A6A6D454C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0" y="1707834"/>
            <a:ext cx="4448502" cy="43707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AA2A7109-DF7D-4EB0-AA89-8DE0E3E62A68}"/>
              </a:ext>
            </a:extLst>
          </p:cNvPr>
          <p:cNvSpPr txBox="1">
            <a:spLocks/>
          </p:cNvSpPr>
          <p:nvPr userDrawn="1"/>
        </p:nvSpPr>
        <p:spPr>
          <a:xfrm>
            <a:off x="1524000" y="1131070"/>
            <a:ext cx="9144000" cy="47783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0" rIns="91440" bIns="0" rtlCol="0" anchor="ctr" anchorCtr="0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1518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481A23-558C-45ED-98AD-790BDCB69D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2643398"/>
            <a:ext cx="10515600" cy="566527"/>
          </a:xfrm>
        </p:spPr>
        <p:txBody>
          <a:bodyPr anchor="ctr" anchorCtr="0"/>
          <a:lstStyle>
            <a:lvl1pPr>
              <a:defRPr sz="3000"/>
            </a:lvl1pPr>
          </a:lstStyle>
          <a:p>
            <a:r>
              <a:rPr lang="en-US" altLang="ko-KR" dirty="0"/>
              <a:t>Level 1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E7D3B2-67B7-4B48-A0BB-0C91B9C8DB0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3288620"/>
            <a:ext cx="10515600" cy="428851"/>
          </a:xfrm>
        </p:spPr>
        <p:txBody>
          <a:bodyPr anchor="ctr" anchorCtr="0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dirty="0"/>
              <a:t>Level 2 Title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DB0C4F-B05E-4BB8-8959-4A7045B3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FFEBB5-2730-4F42-B547-4F1D75B06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0FFEE1-9D1B-4562-BEB9-F1D366099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776145B-5468-43F7-BC17-C1B9CB5D7CC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289956" y="3796165"/>
            <a:ext cx="10063843" cy="1189491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Level 3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1860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0433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s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95EB2-C9D1-4ECC-A78F-308916F44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3DF69E-4641-4733-ABDA-6B42E3DA79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30400" indent="-230400">
              <a:buFont typeface="+mj-lt"/>
              <a:buAutoNum type="arabicPeriod"/>
              <a:defRPr/>
            </a:lvl1pPr>
            <a:lvl2pPr marL="687600" indent="-230400">
              <a:buFont typeface="+mj-lt"/>
              <a:buAutoNum type="arabicPeriod"/>
              <a:defRPr/>
            </a:lvl2pPr>
            <a:lvl3pPr marL="1144800" indent="-230400">
              <a:buFont typeface="+mj-lt"/>
              <a:buAutoNum type="arabicPeriod"/>
              <a:defRPr/>
            </a:lvl3pPr>
            <a:lvl4pPr marL="1602000" indent="-230400">
              <a:buFont typeface="+mj-lt"/>
              <a:buAutoNum type="arabicPeriod"/>
              <a:defRPr/>
            </a:lvl4pPr>
            <a:lvl5pPr marL="2059200" indent="-230400">
              <a:buFont typeface="+mj-lt"/>
              <a:buAutoNum type="arabicPeriod"/>
              <a:defRPr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41525F-EEED-408D-9347-090179ABE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D7AAFF-1197-4621-AABE-65565865A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37E67E-7D49-4B1F-B9FD-89A9BCEEC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759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ontents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78ED9E-1B3E-43D3-A1E4-DA95D262A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FA1A2BE-B3CB-4E99-8FBA-B0D43546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ABA880-A6C3-4F04-8D72-A5F69848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AB759D5-6101-4028-9764-14853A423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3620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1A3D82-C5C0-4922-91A8-8509A9CAC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85A98B-BE8E-48BD-9792-89E0CD12B1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919" y="635223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328A94B-4E02-48FA-B00D-919E373D67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149" y="635222"/>
            <a:ext cx="5914931" cy="605180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FF3D3F-7973-483D-B851-281CB52D7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5B6405-CAA7-4753-8A8A-064423C9D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91C8E86-99CB-4565-B7CA-0F44CF631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285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E6694E0-9343-4893-8463-1145B6CF6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1B42A68-D9BB-4EA1-8739-191E265A2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598DC4-1BD5-4BB9-B399-28926DBB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71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1ECE7B7-AA9D-4251-AEFA-95130E496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9726" y="1"/>
            <a:ext cx="10032274" cy="56652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F0D367-F6F4-4F72-A8D1-137C1A702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0" y="635225"/>
            <a:ext cx="12030160" cy="60518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3206645-6D5E-4C5E-9ED5-F78BD24581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1"/>
            <a:ext cx="991274" cy="18573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ko-KR"/>
              <a:t>2021-06-14</a:t>
            </a:r>
            <a:endParaRPr lang="ko-KR" altLang="en-US" dirty="0"/>
          </a:p>
        </p:txBody>
      </p:sp>
      <p:sp>
        <p:nvSpPr>
          <p:cNvPr id="5" name="바닥글 개체 틀 4" descr="서브시스템명">
            <a:extLst>
              <a:ext uri="{FF2B5EF4-FFF2-40B4-BE49-F238E27FC236}">
                <a16:creationId xmlns:a16="http://schemas.microsoft.com/office/drawing/2014/main" id="{878F36F7-C21A-419B-8BED-2C1A2503B9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91274" y="0"/>
            <a:ext cx="1168452" cy="5665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0" rIns="0" bIns="0" rtlCol="0" anchor="ctr"/>
          <a:lstStyle>
            <a:lvl1pPr algn="ctr"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서브시스템명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2DC6C9F-1062-43C7-8857-4890E5D68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185739"/>
            <a:ext cx="991274" cy="38078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fld id="{0CB21479-F3CA-4373-A45A-41FA028DDA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539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63" r:id="rId4"/>
    <p:sldLayoutId id="2147483654" r:id="rId5"/>
    <p:sldLayoutId id="2147483652" r:id="rId6"/>
    <p:sldLayoutId id="2147483655" r:id="rId7"/>
  </p:sldLayoutIdLst>
  <p:hf hd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061281-C509-44A1-BEFC-745D5CF41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AF18B7C-A722-4180-B839-319892AB2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A1BA78-10D5-4DF6-AFA9-7A058527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</a:t>
            </a:fld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B5926EF-06DC-45D0-9A1C-EF661D06627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CB1E66A-E12B-44F7-9779-5104EBBC79C4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/>
              <a:t>Electrical Power System</a:t>
            </a:r>
          </a:p>
          <a:p>
            <a:pPr lvl="1"/>
            <a:r>
              <a:rPr lang="en-US" altLang="ko-KR" dirty="0"/>
              <a:t>Basic Plan</a:t>
            </a:r>
          </a:p>
          <a:p>
            <a:pPr lvl="2"/>
            <a:r>
              <a:rPr lang="en-US" altLang="ko-KR" dirty="0"/>
              <a:t>Week 1 - Channel distribution</a:t>
            </a:r>
          </a:p>
          <a:p>
            <a:pPr lvl="2"/>
            <a:r>
              <a:rPr lang="en-US" altLang="ko-KR" dirty="0"/>
              <a:t>Week 2 - Power generation</a:t>
            </a:r>
          </a:p>
          <a:p>
            <a:pPr lvl="2"/>
            <a:r>
              <a:rPr lang="en-US" altLang="ko-KR" dirty="0"/>
              <a:t>Week 3 - Calculation DOD</a:t>
            </a:r>
          </a:p>
          <a:p>
            <a:pPr lvl="2"/>
            <a:r>
              <a:rPr lang="en-US" altLang="ko-KR" dirty="0"/>
              <a:t>Week 4 – Operation Scenario  </a:t>
            </a:r>
          </a:p>
          <a:p>
            <a:pPr lvl="2"/>
            <a:endParaRPr lang="en-US" altLang="ko-KR" dirty="0"/>
          </a:p>
          <a:p>
            <a:pPr lvl="1"/>
            <a:r>
              <a:rPr lang="en-US" altLang="ko-KR" dirty="0"/>
              <a:t>Power generation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914400" lvl="2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11647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제목 23">
            <a:extLst>
              <a:ext uri="{FF2B5EF4-FFF2-40B4-BE49-F238E27FC236}">
                <a16:creationId xmlns:a16="http://schemas.microsoft.com/office/drawing/2014/main" id="{CE5C1718-E384-4D5F-9FF3-9B8C7C75A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Level 1: Electrical Power System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27F04C-E098-47E5-9375-56F94FD36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 dirty="0"/>
              <a:t>2022-06-03</a:t>
            </a:r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9C4905-39D9-4EC3-86F5-EA249AD1A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ko-KR" dirty="0"/>
              <a:t>EPS</a:t>
            </a:r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888EE5-788F-4305-ADE4-0171F7FE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2</a:t>
            </a:fld>
            <a:endParaRPr lang="ko-KR" altLang="en-US"/>
          </a:p>
        </p:txBody>
      </p:sp>
      <p:graphicFrame>
        <p:nvGraphicFramePr>
          <p:cNvPr id="25" name="표 25">
            <a:extLst>
              <a:ext uri="{FF2B5EF4-FFF2-40B4-BE49-F238E27FC236}">
                <a16:creationId xmlns:a16="http://schemas.microsoft.com/office/drawing/2014/main" id="{6E39E8E1-BEA8-477C-BF4C-1E923AA28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1046277"/>
              </p:ext>
            </p:extLst>
          </p:nvPr>
        </p:nvGraphicFramePr>
        <p:xfrm>
          <a:off x="223158" y="719666"/>
          <a:ext cx="11745684" cy="4741152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194956">
                  <a:extLst>
                    <a:ext uri="{9D8B030D-6E8A-4147-A177-3AD203B41FA5}">
                      <a16:colId xmlns:a16="http://schemas.microsoft.com/office/drawing/2014/main" val="1120046527"/>
                    </a:ext>
                  </a:extLst>
                </a:gridCol>
                <a:gridCol w="6542315">
                  <a:extLst>
                    <a:ext uri="{9D8B030D-6E8A-4147-A177-3AD203B41FA5}">
                      <a16:colId xmlns:a16="http://schemas.microsoft.com/office/drawing/2014/main" val="1204944504"/>
                    </a:ext>
                  </a:extLst>
                </a:gridCol>
                <a:gridCol w="2008413">
                  <a:extLst>
                    <a:ext uri="{9D8B030D-6E8A-4147-A177-3AD203B41FA5}">
                      <a16:colId xmlns:a16="http://schemas.microsoft.com/office/drawing/2014/main" val="36062816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Level 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DAYS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1750957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r>
                        <a:rPr lang="en-US" altLang="ko-KR" dirty="0"/>
                        <a:t>Electrical Power Budget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Week1 - </a:t>
                      </a:r>
                      <a:r>
                        <a:rPr lang="en-US" altLang="ko-KR" dirty="0"/>
                        <a:t>Channel 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709292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Week2 – Calculate Power generation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996673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Week3 - Calculation DOD &amp; Peak load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7879134"/>
                  </a:ext>
                </a:extLst>
              </a:tr>
              <a:tr h="41913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Week4 - Operation Scenario </a:t>
                      </a:r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2700099"/>
                  </a:ext>
                </a:extLst>
              </a:tr>
              <a:tr h="370840">
                <a:tc rowSpan="6"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Channel Distribution</a:t>
                      </a:r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  <a:p>
                      <a:pPr latinLnBrk="1"/>
                      <a:r>
                        <a:rPr lang="en-US" altLang="ko-KR" dirty="0">
                          <a:solidFill>
                            <a:schemeClr val="accent1"/>
                          </a:solidFill>
                        </a:rPr>
                        <a:t>Power Generation</a:t>
                      </a:r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3.3V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41315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5V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1326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V-bat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00714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Electrical model of battery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5970920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ADCS code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849493"/>
                  </a:ext>
                </a:extLst>
              </a:tr>
              <a:tr h="287737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solidFill>
                            <a:schemeClr val="tx1"/>
                          </a:solidFill>
                        </a:rPr>
                        <a:t>Orientation Scenario</a:t>
                      </a:r>
                      <a:endParaRPr lang="ko-KR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>
                        <a:solidFill>
                          <a:schemeClr val="accent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4575322"/>
                  </a:ext>
                </a:extLst>
              </a:tr>
              <a:tr h="57547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42280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3104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C9F057C-54F9-6D57-E4FA-F29ED0241C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804" y="0"/>
            <a:ext cx="10004391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7EC01B-39C8-E30F-8D32-6C5A26903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52" y="1048047"/>
            <a:ext cx="12038095" cy="4761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0CB21479-F3CA-4373-A45A-41FA028DDA7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F331BE9-2B86-9225-EB62-07241EF90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2265"/>
            <a:ext cx="12192000" cy="55483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D3FCA2-CF4C-0E9A-0C5E-D3500AA94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0F3A519-2FB3-9615-3AE0-42471BDB4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59518B-8897-F114-8B6B-470E67205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23D7D5-BD4B-45A1-3175-2CD55DB57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F8C78B2-D1D2-45F6-9363-9CCA49FA47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619" y="1376619"/>
            <a:ext cx="10104762" cy="410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958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B3CCD9-3068-CE05-28E5-749F44A40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2F6B07-6489-A7E8-1C48-1AEA9D8A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7F2475D-C2B6-A220-9E77-4E7635AAE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C2BE7A8-B194-224E-6B1B-AA9E9A24D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6839B73-0A11-845B-702A-74029CC32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00" y="1795666"/>
            <a:ext cx="10800000" cy="32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2462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A4C6AA-EAB3-89A8-8ECA-314EE10D4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188208A-0198-D2A5-3FCE-0D002F676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5E38F2-0D78-73B5-8C47-A4BC04AED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FAC2DBC-F28A-D75F-1985-36DB2B3BC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23A9EA9-36E7-DB16-29C7-5EB13FAAB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562" y="1895475"/>
            <a:ext cx="7762875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3840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EE086EDA-54DB-B899-E9C9-04A80D881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203" y="571500"/>
            <a:ext cx="6772190" cy="618259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77B59F8-981C-F27F-D997-48D591C81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2033" y="581890"/>
            <a:ext cx="6650601" cy="607868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C96D4BE-8C8C-F554-6BF7-F987A3C1E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9F63EB-98F5-B2E0-94FA-89EB0FBE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0167D5-9E82-578A-2715-8FC019D1D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54E1F-EC3C-6495-0394-CFF7FC94A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10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96D4BE-8C8C-F554-6BF7-F987A3C1E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9F63EB-98F5-B2E0-94FA-89EB0FBE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0167D5-9E82-578A-2715-8FC019D1D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54E1F-EC3C-6495-0394-CFF7FC94A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8982CBE-3FDD-7CB2-B6C5-965BE5315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1128"/>
            <a:ext cx="8264148" cy="440660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F450453-E620-4450-ABB1-168D4E60F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021" y="5050945"/>
            <a:ext cx="3881979" cy="168139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DD36758-8E4C-BD26-E7BF-D9B9610222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1021" y="5050945"/>
            <a:ext cx="3982005" cy="1681397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BA73A861-1779-0329-E102-9C0968A014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8004" y="1901331"/>
            <a:ext cx="5694996" cy="2742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97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C37E266D-B5A3-82E8-2224-552843846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423987"/>
            <a:ext cx="8839200" cy="401002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EECB04E-0911-2C3F-9E30-E73BFDEE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8BFEAF-E334-DD45-0AA2-89748FDF5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7BC8C6A-1BF7-3C14-5567-4A2819CF4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BAFFE4-86BB-173F-9286-C5CF8E1CD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47996A7-4138-DD0B-69A1-20ED7957F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423987"/>
            <a:ext cx="8839200" cy="4010025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A6FDAD1-1677-F747-2A89-A45CBF1DB321}"/>
              </a:ext>
            </a:extLst>
          </p:cNvPr>
          <p:cNvSpPr txBox="1"/>
          <p:nvPr/>
        </p:nvSpPr>
        <p:spPr>
          <a:xfrm>
            <a:off x="9583379" y="2703463"/>
            <a:ext cx="6125440" cy="34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kern="0" dirty="0">
                <a:solidFill>
                  <a:srgbClr val="0070C0"/>
                </a:solidFill>
                <a:ea typeface="함초롬바탕" panose="02030604000101010101" pitchFamily="18" charset="-127"/>
              </a:rPr>
              <a:t>(Index</a:t>
            </a:r>
            <a:r>
              <a:rPr lang="ko-KR" altLang="en-US" sz="1200" b="1" kern="0" dirty="0">
                <a:solidFill>
                  <a:srgbClr val="0070C0"/>
                </a:solidFill>
                <a:ea typeface="함초롬바탕" panose="02030604000101010101" pitchFamily="18" charset="-127"/>
              </a:rPr>
              <a:t> </a:t>
            </a:r>
            <a:r>
              <a:rPr lang="en-US" altLang="ko-KR" sz="1200" b="1" kern="0" dirty="0">
                <a:solidFill>
                  <a:srgbClr val="0070C0"/>
                </a:solidFill>
                <a:ea typeface="함초롬바탕" panose="02030604000101010101" pitchFamily="18" charset="-127"/>
              </a:rPr>
              <a:t>:</a:t>
            </a:r>
            <a:r>
              <a:rPr lang="ko-KR" altLang="en-US" sz="1200" b="1" kern="0" dirty="0">
                <a:solidFill>
                  <a:srgbClr val="0070C0"/>
                </a:solidFill>
                <a:ea typeface="함초롬바탕" panose="02030604000101010101" pitchFamily="18" charset="-127"/>
              </a:rPr>
              <a:t> </a:t>
            </a:r>
            <a:r>
              <a:rPr lang="en-US" altLang="ko-KR" sz="1200" b="1" kern="0" dirty="0">
                <a:solidFill>
                  <a:srgbClr val="0070C0"/>
                </a:solidFill>
                <a:ea typeface="함초롬바탕" panose="02030604000101010101" pitchFamily="18" charset="-127"/>
              </a:rPr>
              <a:t>761)</a:t>
            </a:r>
            <a:endParaRPr lang="ko-KR" altLang="en-US" sz="1200" b="1" kern="0" spc="0" dirty="0">
              <a:solidFill>
                <a:srgbClr val="0070C0"/>
              </a:solidFill>
              <a:effectLst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0771B98-FE7D-DC14-76B9-3233B75C0770}"/>
              </a:ext>
            </a:extLst>
          </p:cNvPr>
          <p:cNvSpPr txBox="1"/>
          <p:nvPr/>
        </p:nvSpPr>
        <p:spPr>
          <a:xfrm>
            <a:off x="1294124" y="2777891"/>
            <a:ext cx="7878724" cy="347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fontAlgn="base" latinLnBrk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ko-KR" sz="1200" b="1" kern="0" dirty="0">
                <a:solidFill>
                  <a:srgbClr val="0070C0"/>
                </a:solidFill>
                <a:ea typeface="함초롬바탕" panose="02030604000101010101" pitchFamily="18" charset="-127"/>
              </a:rPr>
              <a:t>(Index</a:t>
            </a:r>
            <a:r>
              <a:rPr lang="ko-KR" altLang="en-US" sz="1200" b="1" kern="0" dirty="0">
                <a:solidFill>
                  <a:srgbClr val="0070C0"/>
                </a:solidFill>
                <a:ea typeface="함초롬바탕" panose="02030604000101010101" pitchFamily="18" charset="-127"/>
              </a:rPr>
              <a:t> </a:t>
            </a:r>
            <a:r>
              <a:rPr lang="en-US" altLang="ko-KR" sz="1200" b="1" kern="0" dirty="0">
                <a:solidFill>
                  <a:srgbClr val="0070C0"/>
                </a:solidFill>
                <a:ea typeface="함초롬바탕" panose="02030604000101010101" pitchFamily="18" charset="-127"/>
              </a:rPr>
              <a:t>:</a:t>
            </a:r>
            <a:r>
              <a:rPr lang="ko-KR" altLang="en-US" sz="1200" b="1" kern="0" dirty="0">
                <a:solidFill>
                  <a:srgbClr val="0070C0"/>
                </a:solidFill>
                <a:ea typeface="함초롬바탕" panose="02030604000101010101" pitchFamily="18" charset="-127"/>
              </a:rPr>
              <a:t> </a:t>
            </a:r>
            <a:r>
              <a:rPr lang="en-US" altLang="ko-KR" sz="1200" b="1" kern="0" dirty="0">
                <a:solidFill>
                  <a:srgbClr val="0070C0"/>
                </a:solidFill>
                <a:ea typeface="함초롬바탕" panose="02030604000101010101" pitchFamily="18" charset="-127"/>
              </a:rPr>
              <a:t>829)</a:t>
            </a:r>
            <a:endParaRPr lang="ko-KR" altLang="en-US" sz="1200" b="1" kern="0" spc="0" dirty="0">
              <a:solidFill>
                <a:srgbClr val="0070C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97849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624E271-1A0E-8E92-8C54-5F5DC0CD8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423987"/>
            <a:ext cx="8839200" cy="40100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722F328-8B0A-2A78-6BA4-D89CB6DDA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423987"/>
            <a:ext cx="8839200" cy="401002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EECB04E-0911-2C3F-9E30-E73BFDEE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8BFEAF-E334-DD45-0AA2-89748FDF5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7BC8C6A-1BF7-3C14-5567-4A2819CF4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BAFFE4-86BB-173F-9286-C5CF8E1CD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292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96D4BE-8C8C-F554-6BF7-F987A3C1E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9F63EB-98F5-B2E0-94FA-89EB0FBED3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80167D5-9E82-578A-2715-8FC019D1D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1354E1F-EC3C-6495-0394-CFF7FC94A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8982CBE-3FDD-7CB2-B6C5-965BE5315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81128"/>
            <a:ext cx="8264148" cy="440660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F450453-E620-4450-ABB1-168D4E60F1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1021" y="5050945"/>
            <a:ext cx="3881979" cy="168139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DD36758-8E4C-BD26-E7BF-D9B9610222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1021" y="5050945"/>
            <a:ext cx="3982005" cy="168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1949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3566E5-6349-A12A-B906-056EACDB8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962CF9-0E53-5601-3052-3B5BFF695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E75F0D9-6952-DC0E-B592-92D0343B5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36262FB-7537-325A-01DA-43C22CBF2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77A228D-A69A-8932-AA94-C8859035B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95337"/>
            <a:ext cx="9067800" cy="5267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56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D64B66-AFD2-DF7B-18F3-57F2D2345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2CD8CCF-910B-9FD2-BAB6-AE5FE00D9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ko-KR"/>
              <a:t>2021-06-14</a:t>
            </a:r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BE53E2-CE3F-9F92-AE50-D1BEB59D2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/>
              <a:t>서브시스템명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6C65FA7-77B1-4C53-DFC1-0B63B138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B21479-F3CA-4373-A45A-41FA028DDA73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2FC6B7B-B0CA-1824-5407-18804405D6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609" y="1242146"/>
            <a:ext cx="8048625" cy="27527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59A427A-13E2-6EE3-FB8F-3CD908623641}"/>
              </a:ext>
            </a:extLst>
          </p:cNvPr>
          <p:cNvSpPr txBox="1"/>
          <p:nvPr/>
        </p:nvSpPr>
        <p:spPr>
          <a:xfrm>
            <a:off x="2804782" y="4347322"/>
            <a:ext cx="74840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P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0.03m^2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1353W/m^2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 </a:t>
            </a:r>
            <a:r>
              <a:rPr lang="en-US" altLang="ko-KR" dirty="0"/>
              <a:t>0.283</a:t>
            </a:r>
            <a:r>
              <a:rPr lang="ko-KR" altLang="en-US" dirty="0"/>
              <a:t> </a:t>
            </a:r>
            <a:r>
              <a:rPr lang="en-US" altLang="ko-KR" dirty="0"/>
              <a:t>x 20(4x2+6x2) </a:t>
            </a:r>
          </a:p>
          <a:p>
            <a:r>
              <a:rPr lang="en-US" altLang="ko-KR" dirty="0"/>
              <a:t>   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2691D2-C2B5-EA8C-031D-ED7297C077F9}"/>
              </a:ext>
            </a:extLst>
          </p:cNvPr>
          <p:cNvSpPr txBox="1"/>
          <p:nvPr/>
        </p:nvSpPr>
        <p:spPr>
          <a:xfrm>
            <a:off x="3033280" y="4752969"/>
            <a:ext cx="6125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= 11.5 W</a:t>
            </a:r>
            <a:r>
              <a:rPr lang="ko-KR" altLang="en-US" dirty="0"/>
              <a:t>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A625D2-1245-1FBD-FB83-8E9AFE35CD9C}"/>
              </a:ext>
            </a:extLst>
          </p:cNvPr>
          <p:cNvSpPr txBox="1"/>
          <p:nvPr/>
        </p:nvSpPr>
        <p:spPr>
          <a:xfrm>
            <a:off x="2804782" y="5651363"/>
            <a:ext cx="61318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Stand-by mode : 82.7%</a:t>
            </a:r>
          </a:p>
          <a:p>
            <a:r>
              <a:rPr lang="en-US" altLang="ko-KR" dirty="0"/>
              <a:t>Mission &amp; Communication mode : 17.3%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4837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theme/theme1.xml><?xml version="1.0" encoding="utf-8"?>
<a:theme xmlns:a="http://schemas.openxmlformats.org/drawingml/2006/main" name="Normal">
  <a:themeElements>
    <a:clrScheme name="사용자 지정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FF0000"/>
      </a:accent1>
      <a:accent2>
        <a:srgbClr val="0000FF"/>
      </a:accent2>
      <a:accent3>
        <a:srgbClr val="FFFF00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711</TotalTime>
  <Words>176</Words>
  <Application>Microsoft Office PowerPoint</Application>
  <PresentationFormat>와이드스크린</PresentationFormat>
  <Paragraphs>93</Paragraphs>
  <Slides>15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Normal</vt:lpstr>
      <vt:lpstr>PowerPoint 프레젠테이션</vt:lpstr>
      <vt:lpstr>Level 1: Electrical Power System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1.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강 대은</dc:creator>
  <cp:lastModifiedBy>이진진</cp:lastModifiedBy>
  <cp:revision>61</cp:revision>
  <dcterms:created xsi:type="dcterms:W3CDTF">2021-06-14T06:44:23Z</dcterms:created>
  <dcterms:modified xsi:type="dcterms:W3CDTF">2022-08-18T04:36:49Z</dcterms:modified>
  <cp:version/>
</cp:coreProperties>
</file>