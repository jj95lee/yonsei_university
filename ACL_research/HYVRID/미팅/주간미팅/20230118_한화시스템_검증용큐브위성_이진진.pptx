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7"/>
  </p:notesMasterIdLst>
  <p:sldIdLst>
    <p:sldId id="256" r:id="rId2"/>
    <p:sldId id="257" r:id="rId3"/>
    <p:sldId id="318" r:id="rId4"/>
    <p:sldId id="320" r:id="rId5"/>
    <p:sldId id="2300" r:id="rId6"/>
    <p:sldId id="2304" r:id="rId7"/>
    <p:sldId id="2305" r:id="rId8"/>
    <p:sldId id="2285" r:id="rId9"/>
    <p:sldId id="2281" r:id="rId10"/>
    <p:sldId id="2282" r:id="rId11"/>
    <p:sldId id="2283" r:id="rId12"/>
    <p:sldId id="2284" r:id="rId13"/>
    <p:sldId id="2286" r:id="rId14"/>
    <p:sldId id="2287" r:id="rId15"/>
    <p:sldId id="2288" r:id="rId16"/>
    <p:sldId id="2306" r:id="rId17"/>
    <p:sldId id="2294" r:id="rId18"/>
    <p:sldId id="2297" r:id="rId19"/>
    <p:sldId id="2298" r:id="rId20"/>
    <p:sldId id="2289" r:id="rId21"/>
    <p:sldId id="2290" r:id="rId22"/>
    <p:sldId id="2291" r:id="rId23"/>
    <p:sldId id="2292" r:id="rId24"/>
    <p:sldId id="2293" r:id="rId25"/>
    <p:sldId id="229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EF7"/>
    <a:srgbClr val="CBA9E5"/>
    <a:srgbClr val="E6AF00"/>
    <a:srgbClr val="3CE8FA"/>
    <a:srgbClr val="C000A5"/>
    <a:srgbClr val="55FF5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87" d="100"/>
          <a:sy n="87" d="100"/>
        </p:scale>
        <p:origin x="108" y="186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1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346924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1001" y="6327787"/>
            <a:ext cx="1308225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776" y="928686"/>
            <a:ext cx="11506451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8743" y="71055"/>
            <a:ext cx="8940619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10073273" y="1"/>
            <a:ext cx="2118727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825500" y="876300"/>
            <a:ext cx="10100733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31" y="100133"/>
            <a:ext cx="96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1041400" y="803275"/>
            <a:ext cx="897636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5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  <p:sldLayoutId id="2147483665" r:id="rId8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2023-01-11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방학 동안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91756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2022-01-20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50%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(Battery)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2022-01-25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(Solar Cell, Panel)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2022-02-03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2022-02-06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8172"/>
              </p:ext>
            </p:extLst>
          </p:nvPr>
        </p:nvGraphicFramePr>
        <p:xfrm>
          <a:off x="322216" y="1524834"/>
          <a:ext cx="11570168" cy="506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(PCDU)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(Battery)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(Solar Panel, Cell)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Hardware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(Solar Panel, Cell)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659139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밀린 </a:t>
                      </a:r>
                      <a:r>
                        <a:rPr lang="en-US" altLang="ko-KR" sz="1400" dirty="0"/>
                        <a:t>Hardware </a:t>
                      </a:r>
                      <a:r>
                        <a:rPr lang="ko-KR" altLang="en-US" sz="1400" dirty="0"/>
                        <a:t>마무리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653927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</a:t>
                      </a:r>
                      <a:r>
                        <a:rPr lang="ko-KR" altLang="en-US" sz="1400" b="1" dirty="0"/>
                        <a:t> 자료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2023-01-11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215"/>
              </p:ext>
            </p:extLst>
          </p:nvPr>
        </p:nvGraphicFramePr>
        <p:xfrm>
          <a:off x="322216" y="1524834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CDR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67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Specification – AAC Clyde Space : Starbuck-Nano Plus</a:t>
            </a: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B2D11CE-BA35-6E11-6F34-C07B8C179384}"/>
              </a:ext>
            </a:extLst>
          </p:cNvPr>
          <p:cNvGrpSpPr/>
          <p:nvPr/>
        </p:nvGrpSpPr>
        <p:grpSpPr>
          <a:xfrm>
            <a:off x="1781082" y="2896693"/>
            <a:ext cx="3100424" cy="1702901"/>
            <a:chOff x="90748" y="2363736"/>
            <a:chExt cx="5461899" cy="2999936"/>
          </a:xfrm>
        </p:grpSpPr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D29441C-0C09-6705-EAAF-D3993ADF7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0695" y="3418609"/>
              <a:ext cx="5046" cy="43470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1712834-92CD-701F-6665-90D048F6FD61}"/>
                </a:ext>
              </a:extLst>
            </p:cNvPr>
            <p:cNvGrpSpPr/>
            <p:nvPr/>
          </p:nvGrpSpPr>
          <p:grpSpPr>
            <a:xfrm>
              <a:off x="90748" y="2363736"/>
              <a:ext cx="5461899" cy="2999936"/>
              <a:chOff x="583811" y="2361774"/>
              <a:chExt cx="5461899" cy="2999936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23AC84AC-CDD4-493E-1786-51723A830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91274" y="2361774"/>
                <a:ext cx="3795521" cy="2835049"/>
              </a:xfrm>
              <a:prstGeom prst="rect">
                <a:avLst/>
              </a:prstGeom>
            </p:spPr>
          </p:pic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B259D29E-11C6-0DE8-B2A7-249F84CA1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536" y="3429000"/>
                <a:ext cx="1148393" cy="18495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C9E93614-D854-6EB2-D87E-C4CD824E12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2072" y="3927764"/>
                <a:ext cx="2724001" cy="143394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2983C9-2FC1-9149-F662-34542A5A3CAB}"/>
                  </a:ext>
                </a:extLst>
              </p:cNvPr>
              <p:cNvSpPr txBox="1"/>
              <p:nvPr/>
            </p:nvSpPr>
            <p:spPr>
              <a:xfrm>
                <a:off x="3646531" y="4644736"/>
                <a:ext cx="1054230" cy="487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9.6cm</a:t>
                </a:r>
                <a:endParaRPr lang="ko-KR" altLang="en-US" sz="12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923C55-8E42-AC28-7B82-BF006AFCFA2A}"/>
                  </a:ext>
                </a:extLst>
              </p:cNvPr>
              <p:cNvSpPr txBox="1"/>
              <p:nvPr/>
            </p:nvSpPr>
            <p:spPr>
              <a:xfrm>
                <a:off x="583811" y="4275406"/>
                <a:ext cx="990362" cy="487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9cm</a:t>
                </a:r>
                <a:endParaRPr lang="ko-KR" altLang="en-US" sz="1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7726C4-D291-7661-91AF-68CCB520F58F}"/>
                  </a:ext>
                </a:extLst>
              </p:cNvPr>
              <p:cNvSpPr txBox="1"/>
              <p:nvPr/>
            </p:nvSpPr>
            <p:spPr>
              <a:xfrm>
                <a:off x="4939517" y="3456894"/>
                <a:ext cx="1106193" cy="487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2.1cm</a:t>
                </a:r>
                <a:endParaRPr lang="ko-KR" altLang="en-US" sz="1200" dirty="0"/>
              </a:p>
            </p:txBody>
          </p:sp>
        </p:grp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849A32D-2837-F14A-6D33-4844AC544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552" y="2333593"/>
            <a:ext cx="5427367" cy="2570544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3592DE-5046-05A4-BA96-50BA00899ECA}"/>
              </a:ext>
            </a:extLst>
          </p:cNvPr>
          <p:cNvSpPr/>
          <p:nvPr/>
        </p:nvSpPr>
        <p:spPr bwMode="auto">
          <a:xfrm>
            <a:off x="9629776" y="2987749"/>
            <a:ext cx="647700" cy="1807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>
                <a:solidFill>
                  <a:srgbClr val="404040"/>
                </a:solidFill>
              </a:ln>
              <a:noFill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00D3F-84FC-F1D5-8643-BFECC9F423A2}"/>
              </a:ext>
            </a:extLst>
          </p:cNvPr>
          <p:cNvSpPr txBox="1"/>
          <p:nvPr/>
        </p:nvSpPr>
        <p:spPr>
          <a:xfrm>
            <a:off x="8082311" y="5109115"/>
            <a:ext cx="2737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noto"/>
              </a:rPr>
              <a:t>3G </a:t>
            </a:r>
            <a:r>
              <a:rPr lang="en-US" altLang="ko-KR" dirty="0" err="1">
                <a:solidFill>
                  <a:schemeClr val="accent1"/>
                </a:solidFill>
                <a:latin typeface="noto"/>
              </a:rPr>
              <a:t>FlexU</a:t>
            </a:r>
            <a:r>
              <a:rPr lang="en-US" altLang="ko-KR" dirty="0">
                <a:solidFill>
                  <a:schemeClr val="accent1"/>
                </a:solidFill>
                <a:latin typeface="noto"/>
              </a:rPr>
              <a:t> EPS (01-02453)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0686D-7250-DFD9-46B1-43CEA3DA0175}"/>
              </a:ext>
            </a:extLst>
          </p:cNvPr>
          <p:cNvSpPr txBox="1"/>
          <p:nvPr/>
        </p:nvSpPr>
        <p:spPr>
          <a:xfrm>
            <a:off x="7554307" y="5463141"/>
            <a:ext cx="4114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noto"/>
              </a:rPr>
              <a:t>Deployable panels, larger nanosatellites</a:t>
            </a:r>
          </a:p>
        </p:txBody>
      </p:sp>
    </p:spTree>
    <p:extLst>
      <p:ext uri="{BB962C8B-B14F-4D97-AF65-F5344CB8AC3E}">
        <p14:creationId xmlns:p14="http://schemas.microsoft.com/office/powerpoint/2010/main" val="149671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6"/>
            <a:ext cx="8629838" cy="5929314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r>
              <a:rPr lang="ko-KR" altLang="en-US" dirty="0"/>
              <a:t> </a:t>
            </a: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F8F09F-CFB6-188D-1FDA-60EFB6E4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25" y="2400300"/>
            <a:ext cx="7466878" cy="2714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634400-5C9C-ACEA-E943-40E551A2EFC8}"/>
              </a:ext>
            </a:extLst>
          </p:cNvPr>
          <p:cNvSpPr txBox="1"/>
          <p:nvPr/>
        </p:nvSpPr>
        <p:spPr>
          <a:xfrm>
            <a:off x="7509106" y="2686226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</a:rPr>
              <a:t>PDM 1~10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FABCB-62B8-9192-3FD9-731AE23766CB}"/>
              </a:ext>
            </a:extLst>
          </p:cNvPr>
          <p:cNvSpPr txBox="1"/>
          <p:nvPr/>
        </p:nvSpPr>
        <p:spPr>
          <a:xfrm>
            <a:off x="9685455" y="3379276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Power Bus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3618D-710B-36FF-FE52-EBB93468779A}"/>
              </a:ext>
            </a:extLst>
          </p:cNvPr>
          <p:cNvSpPr txBox="1"/>
          <p:nvPr/>
        </p:nvSpPr>
        <p:spPr>
          <a:xfrm>
            <a:off x="5139311" y="4556090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rgbClr val="C00000"/>
                </a:solidFill>
              </a:rPr>
              <a:t>Vbat</a:t>
            </a:r>
            <a:r>
              <a:rPr lang="en-US" altLang="ko-KR" sz="1400" b="1" dirty="0">
                <a:solidFill>
                  <a:srgbClr val="C00000"/>
                </a:solidFill>
              </a:rPr>
              <a:t> Power Bus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215CF-0ACD-F85A-679E-4C376321BC1E}"/>
              </a:ext>
            </a:extLst>
          </p:cNvPr>
          <p:cNvSpPr txBox="1"/>
          <p:nvPr/>
        </p:nvSpPr>
        <p:spPr>
          <a:xfrm>
            <a:off x="5066414" y="2695767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E6AF00"/>
                </a:solidFill>
              </a:rPr>
              <a:t>BCR_OUT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7E934-3305-D436-3FC1-BBB0A0775BD1}"/>
              </a:ext>
            </a:extLst>
          </p:cNvPr>
          <p:cNvSpPr txBox="1"/>
          <p:nvPr/>
        </p:nvSpPr>
        <p:spPr>
          <a:xfrm>
            <a:off x="5991289" y="2695802"/>
            <a:ext cx="99056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CBA9E5"/>
                </a:solidFill>
              </a:rPr>
              <a:t>PCM_IN</a:t>
            </a:r>
          </a:p>
        </p:txBody>
      </p:sp>
    </p:spTree>
    <p:extLst>
      <p:ext uri="{BB962C8B-B14F-4D97-AF65-F5344CB8AC3E}">
        <p14:creationId xmlns:p14="http://schemas.microsoft.com/office/powerpoint/2010/main" val="228588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461666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r>
              <a:rPr lang="ko-KR" altLang="en-US" dirty="0"/>
              <a:t> </a:t>
            </a: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FB31-ADB8-E9AA-A7EA-01465120DE6F}"/>
              </a:ext>
            </a:extLst>
          </p:cNvPr>
          <p:cNvSpPr txBox="1"/>
          <p:nvPr/>
        </p:nvSpPr>
        <p:spPr>
          <a:xfrm>
            <a:off x="1916767" y="2147881"/>
            <a:ext cx="80069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Charge Regulator </a:t>
            </a:r>
            <a:r>
              <a:rPr lang="en-US" altLang="ko-KR" sz="1400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배터리로 흐르는 전류를 제어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,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 배터리 전류가 충전 소스로 흐르는 것을 방지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  <a:p>
            <a:endParaRPr lang="en-US" altLang="ko-KR" sz="1200" dirty="0">
              <a:solidFill>
                <a:srgbClr val="000000"/>
              </a:solidFill>
              <a:latin typeface="n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9A84C-2F9F-188C-2E67-0FA07800D9B2}"/>
              </a:ext>
            </a:extLst>
          </p:cNvPr>
          <p:cNvSpPr txBox="1"/>
          <p:nvPr/>
        </p:nvSpPr>
        <p:spPr>
          <a:xfrm>
            <a:off x="4281814" y="2524225"/>
            <a:ext cx="6629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전기적 과부하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, </a:t>
            </a:r>
            <a:r>
              <a:rPr lang="ko-KR" altLang="en-US" sz="1200" dirty="0" err="1">
                <a:solidFill>
                  <a:srgbClr val="000000"/>
                </a:solidFill>
                <a:latin typeface="noto"/>
              </a:rPr>
              <a:t>과충전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 및 과전압으로부터 보호하기 위해 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전기 배터리에 전류가 추가되거나 인출되는 속도를 제한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E8CDC-CF0C-5877-8B69-2DC1ACE48049}"/>
              </a:ext>
            </a:extLst>
          </p:cNvPr>
          <p:cNvSpPr txBox="1"/>
          <p:nvPr/>
        </p:nvSpPr>
        <p:spPr>
          <a:xfrm>
            <a:off x="1916768" y="3367073"/>
            <a:ext cx="3080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전기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= </a:t>
            </a:r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크기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+ </a:t>
            </a:r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형태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(ex.</a:t>
            </a:r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220VAC,</a:t>
            </a:r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5VDC)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EC13A3C-3FC8-95E4-4662-82492E04A7A2}"/>
              </a:ext>
            </a:extLst>
          </p:cNvPr>
          <p:cNvGrpSpPr/>
          <p:nvPr/>
        </p:nvGrpSpPr>
        <p:grpSpPr>
          <a:xfrm>
            <a:off x="5572241" y="4756595"/>
            <a:ext cx="3541280" cy="1401875"/>
            <a:chOff x="3622158" y="4764765"/>
            <a:chExt cx="3541280" cy="14018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A72685-28ED-03BE-01C7-A3C2CC457789}"/>
                </a:ext>
              </a:extLst>
            </p:cNvPr>
            <p:cNvSpPr txBox="1"/>
            <p:nvPr/>
          </p:nvSpPr>
          <p:spPr>
            <a:xfrm>
              <a:off x="3622158" y="4764765"/>
              <a:ext cx="12446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noto"/>
                </a:rPr>
                <a:t>14.4V (2.4 x 6)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FA6ED2-6FD8-E66D-D1BD-C71BB2797C1D}"/>
                </a:ext>
              </a:extLst>
            </p:cNvPr>
            <p:cNvSpPr txBox="1"/>
            <p:nvPr/>
          </p:nvSpPr>
          <p:spPr>
            <a:xfrm>
              <a:off x="3622158" y="5858863"/>
              <a:ext cx="12446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noto"/>
                </a:rPr>
                <a:t>9.6V (2.4 x 4)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C80F92A-D875-FFB8-E133-1E769F1A0E03}"/>
                </a:ext>
              </a:extLst>
            </p:cNvPr>
            <p:cNvCxnSpPr>
              <a:cxnSpLocks/>
            </p:cNvCxnSpPr>
            <p:nvPr/>
          </p:nvCxnSpPr>
          <p:spPr>
            <a:xfrm>
              <a:off x="4973131" y="4918653"/>
              <a:ext cx="1350334" cy="4915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FA99E890-2615-6A2F-3BFF-0D56174F9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9586" y="5564136"/>
              <a:ext cx="1353879" cy="3929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2B573F-80F5-5FE5-FD43-FD099E3C43DD}"/>
                </a:ext>
              </a:extLst>
            </p:cNvPr>
            <p:cNvSpPr txBox="1"/>
            <p:nvPr/>
          </p:nvSpPr>
          <p:spPr>
            <a:xfrm>
              <a:off x="6577824" y="5303650"/>
              <a:ext cx="5856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noto"/>
                </a:rPr>
                <a:t>8.2V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D054CF0-9193-A557-2FAB-64828C414951}"/>
              </a:ext>
            </a:extLst>
          </p:cNvPr>
          <p:cNvSpPr txBox="1"/>
          <p:nvPr/>
        </p:nvSpPr>
        <p:spPr>
          <a:xfrm>
            <a:off x="4997302" y="3392167"/>
            <a:ext cx="5107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0000"/>
                </a:solidFill>
                <a:latin typeface="noto"/>
              </a:rPr>
              <a:t>→   전압을 획일화 시켜주는 기능을 하는 것이 </a:t>
            </a:r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Regulator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B75D4FF-8696-7CF4-77BF-9635CDDEA5A1}"/>
              </a:ext>
            </a:extLst>
          </p:cNvPr>
          <p:cNvGrpSpPr/>
          <p:nvPr/>
        </p:nvGrpSpPr>
        <p:grpSpPr>
          <a:xfrm>
            <a:off x="2736113" y="5045501"/>
            <a:ext cx="1354065" cy="623660"/>
            <a:chOff x="1360967" y="5072542"/>
            <a:chExt cx="1354065" cy="62366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4540710-C8F6-BC91-654E-14E31E546A6E}"/>
                </a:ext>
              </a:extLst>
            </p:cNvPr>
            <p:cNvSpPr/>
            <p:nvPr/>
          </p:nvSpPr>
          <p:spPr bwMode="auto">
            <a:xfrm>
              <a:off x="1360967" y="5072542"/>
              <a:ext cx="1205210" cy="62366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99B1D6-BD22-6F32-C0E1-A30C152F6A12}"/>
                </a:ext>
              </a:extLst>
            </p:cNvPr>
            <p:cNvSpPr txBox="1"/>
            <p:nvPr/>
          </p:nvSpPr>
          <p:spPr>
            <a:xfrm>
              <a:off x="1470385" y="5232923"/>
              <a:ext cx="12446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noto"/>
                </a:rPr>
                <a:t>Solar Array</a:t>
              </a:r>
            </a:p>
          </p:txBody>
        </p:sp>
      </p:grp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6BDD7E10-4235-A90E-F786-CF7FADB5530F}"/>
              </a:ext>
            </a:extLst>
          </p:cNvPr>
          <p:cNvSpPr/>
          <p:nvPr/>
        </p:nvSpPr>
        <p:spPr bwMode="auto">
          <a:xfrm>
            <a:off x="4463974" y="5164451"/>
            <a:ext cx="585614" cy="338871"/>
          </a:xfrm>
          <a:prstGeom prst="rightArrow">
            <a:avLst/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7EA584-08F8-BFE3-0BEA-1E7F61321852}"/>
              </a:ext>
            </a:extLst>
          </p:cNvPr>
          <p:cNvSpPr txBox="1"/>
          <p:nvPr/>
        </p:nvSpPr>
        <p:spPr>
          <a:xfrm>
            <a:off x="5997941" y="5357332"/>
            <a:ext cx="1244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noto"/>
              </a:rPr>
              <a:t>10V 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6B4BB5A-7CA9-9C17-7F75-F78CA108A22E}"/>
              </a:ext>
            </a:extLst>
          </p:cNvPr>
          <p:cNvCxnSpPr>
            <a:cxnSpLocks/>
          </p:cNvCxnSpPr>
          <p:nvPr/>
        </p:nvCxnSpPr>
        <p:spPr>
          <a:xfrm flipV="1">
            <a:off x="6521302" y="5472687"/>
            <a:ext cx="1752246" cy="16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63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r>
              <a:rPr lang="ko-KR" altLang="en-US" dirty="0"/>
              <a:t> </a:t>
            </a: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32968-B011-A659-A02A-8027E70FBE1C}"/>
              </a:ext>
            </a:extLst>
          </p:cNvPr>
          <p:cNvSpPr txBox="1"/>
          <p:nvPr/>
        </p:nvSpPr>
        <p:spPr>
          <a:xfrm>
            <a:off x="2102559" y="2228671"/>
            <a:ext cx="65762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 Module </a:t>
            </a:r>
            <a:r>
              <a:rPr lang="en-US" altLang="ko-KR" sz="1200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장치의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전력을 조절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. 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배터리의 상태를 조절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.</a:t>
            </a:r>
          </a:p>
          <a:p>
            <a:endParaRPr lang="en-US" altLang="ko-KR" sz="1200" dirty="0">
              <a:solidFill>
                <a:srgbClr val="000000"/>
              </a:solidFill>
              <a:latin typeface="noto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전기 에너지 용량을 감지하고 조절하며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용량이 낮은 수준에 도달하면 재충전을 지시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29009-1324-8927-7C83-2D285CCCDE65}"/>
              </a:ext>
            </a:extLst>
          </p:cNvPr>
          <p:cNvSpPr txBox="1"/>
          <p:nvPr/>
        </p:nvSpPr>
        <p:spPr>
          <a:xfrm>
            <a:off x="2121984" y="4200349"/>
            <a:ext cx="69915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Module </a:t>
            </a:r>
            <a:r>
              <a:rPr lang="en-US" altLang="ko-KR" sz="1200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각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시스템에 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(Switch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로 나누어서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)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전력을 분배하도록 설계된 장치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                                                                       3.3V, 5V, 12V, VBAT 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등 </a:t>
            </a:r>
            <a:r>
              <a:rPr lang="en-US" altLang="ko-KR" sz="1200" dirty="0">
                <a:solidFill>
                  <a:srgbClr val="000000"/>
                </a:solidFill>
                <a:latin typeface="noto"/>
              </a:rPr>
              <a:t>Bus</a:t>
            </a:r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를 제외한 채널</a:t>
            </a:r>
            <a:endParaRPr lang="en-US" altLang="ko-KR" sz="1200" dirty="0">
              <a:solidFill>
                <a:srgbClr val="000000"/>
              </a:solidFill>
              <a:latin typeface="noto"/>
            </a:endParaRPr>
          </a:p>
        </p:txBody>
      </p:sp>
    </p:spTree>
    <p:extLst>
      <p:ext uri="{BB962C8B-B14F-4D97-AF65-F5344CB8AC3E}">
        <p14:creationId xmlns:p14="http://schemas.microsoft.com/office/powerpoint/2010/main" val="4029353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Power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Conditioning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and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Unit</a:t>
            </a:r>
            <a:r>
              <a:rPr lang="ko-KR" altLang="en-US" dirty="0"/>
              <a:t> </a:t>
            </a: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08A1D60-2363-9BBD-2E81-073C60F7DF00}"/>
              </a:ext>
            </a:extLst>
          </p:cNvPr>
          <p:cNvGrpSpPr/>
          <p:nvPr/>
        </p:nvGrpSpPr>
        <p:grpSpPr>
          <a:xfrm>
            <a:off x="2900671" y="2718212"/>
            <a:ext cx="6212850" cy="1850066"/>
            <a:chOff x="1242681" y="2923952"/>
            <a:chExt cx="6212850" cy="185006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271DB0F-68C6-0DBA-192D-D72E70C40E90}"/>
                </a:ext>
              </a:extLst>
            </p:cNvPr>
            <p:cNvSpPr/>
            <p:nvPr/>
          </p:nvSpPr>
          <p:spPr bwMode="auto">
            <a:xfrm>
              <a:off x="4221126" y="2923952"/>
              <a:ext cx="2806995" cy="185006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4E8DC35-090A-2B70-DEAB-01FFE0CB84B9}"/>
                </a:ext>
              </a:extLst>
            </p:cNvPr>
            <p:cNvGrpSpPr/>
            <p:nvPr/>
          </p:nvGrpSpPr>
          <p:grpSpPr>
            <a:xfrm>
              <a:off x="1242681" y="2923953"/>
              <a:ext cx="6212850" cy="1850065"/>
              <a:chOff x="1242681" y="2923953"/>
              <a:chExt cx="6212850" cy="1850065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58AC72C-C482-8AB7-99D6-64ACA411CBFB}"/>
                  </a:ext>
                </a:extLst>
              </p:cNvPr>
              <p:cNvSpPr/>
              <p:nvPr/>
            </p:nvSpPr>
            <p:spPr bwMode="auto">
              <a:xfrm>
                <a:off x="1414131" y="2923953"/>
                <a:ext cx="2806995" cy="185006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2E7E680-6B6A-E0A5-5C97-CF66AD927CE4}"/>
                  </a:ext>
                </a:extLst>
              </p:cNvPr>
              <p:cNvSpPr/>
              <p:nvPr/>
            </p:nvSpPr>
            <p:spPr bwMode="auto">
              <a:xfrm>
                <a:off x="4064152" y="3561905"/>
                <a:ext cx="313947" cy="5741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B9C7C98-DF13-4D48-874A-3E185D0DA066}"/>
                  </a:ext>
                </a:extLst>
              </p:cNvPr>
              <p:cNvSpPr/>
              <p:nvPr/>
            </p:nvSpPr>
            <p:spPr bwMode="auto">
              <a:xfrm>
                <a:off x="4156075" y="3482181"/>
                <a:ext cx="146050" cy="7892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B2EF0B4-DB6C-8997-E71A-7D49B08AB903}"/>
                  </a:ext>
                </a:extLst>
              </p:cNvPr>
              <p:cNvSpPr/>
              <p:nvPr/>
            </p:nvSpPr>
            <p:spPr bwMode="auto">
              <a:xfrm>
                <a:off x="6600708" y="3591635"/>
                <a:ext cx="854823" cy="52545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/>
              </a:p>
            </p:txBody>
          </p: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88094A64-87C7-7348-BEB1-525DD22EE5EB}"/>
                  </a:ext>
                </a:extLst>
              </p:cNvPr>
              <p:cNvCxnSpPr/>
              <p:nvPr/>
            </p:nvCxnSpPr>
            <p:spPr>
              <a:xfrm>
                <a:off x="1242681" y="3787775"/>
                <a:ext cx="3429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7A7A3896-F913-5850-859D-1A1D1F40AF9A}"/>
                  </a:ext>
                </a:extLst>
              </p:cNvPr>
              <p:cNvCxnSpPr/>
              <p:nvPr/>
            </p:nvCxnSpPr>
            <p:spPr>
              <a:xfrm>
                <a:off x="1242681" y="3917156"/>
                <a:ext cx="3429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0EC8104-7BC4-B85A-E64C-3EE7F0275ED8}"/>
                  </a:ext>
                </a:extLst>
              </p:cNvPr>
              <p:cNvSpPr/>
              <p:nvPr/>
            </p:nvSpPr>
            <p:spPr bwMode="auto">
              <a:xfrm>
                <a:off x="1333239" y="3793950"/>
                <a:ext cx="161783" cy="1208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1B96B0-5B38-877B-0B69-E57D92702BCF}"/>
                  </a:ext>
                </a:extLst>
              </p:cNvPr>
              <p:cNvSpPr txBox="1"/>
              <p:nvPr/>
            </p:nvSpPr>
            <p:spPr>
              <a:xfrm>
                <a:off x="6745852" y="3669062"/>
                <a:ext cx="640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000000"/>
                    </a:solidFill>
                    <a:latin typeface="noto"/>
                  </a:rPr>
                  <a:t>BUS</a:t>
                </a:r>
                <a:endParaRPr lang="ko-KR" altLang="en-US" dirty="0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9C1BFA0-F6DD-1241-39BE-2348E24C890B}"/>
              </a:ext>
            </a:extLst>
          </p:cNvPr>
          <p:cNvSpPr txBox="1"/>
          <p:nvPr/>
        </p:nvSpPr>
        <p:spPr>
          <a:xfrm>
            <a:off x="6962573" y="2311195"/>
            <a:ext cx="327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noto"/>
              </a:rPr>
              <a:t>PCM – </a:t>
            </a:r>
            <a:r>
              <a:rPr lang="ko-KR" altLang="en-US" sz="1050" dirty="0">
                <a:solidFill>
                  <a:srgbClr val="000000"/>
                </a:solidFill>
                <a:latin typeface="noto"/>
              </a:rPr>
              <a:t>배터리 부족하면 끊음 → 충전만 됨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15643-4755-7382-00A9-969C4E6C07A3}"/>
              </a:ext>
            </a:extLst>
          </p:cNvPr>
          <p:cNvSpPr txBox="1"/>
          <p:nvPr/>
        </p:nvSpPr>
        <p:spPr>
          <a:xfrm>
            <a:off x="3609773" y="2795622"/>
            <a:ext cx="32787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noto"/>
              </a:rPr>
              <a:t>태양빛이 있으면 충전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0D7E1-938E-BE44-A7D0-7721D1CA2D9F}"/>
              </a:ext>
            </a:extLst>
          </p:cNvPr>
          <p:cNvSpPr txBox="1"/>
          <p:nvPr/>
        </p:nvSpPr>
        <p:spPr>
          <a:xfrm>
            <a:off x="3609773" y="4890499"/>
            <a:ext cx="32787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noto"/>
              </a:rPr>
              <a:t>태양빛이 없으면 방전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36772CF-30B3-C4CE-C873-6A14D17F5170}"/>
              </a:ext>
            </a:extLst>
          </p:cNvPr>
          <p:cNvCxnSpPr/>
          <p:nvPr/>
        </p:nvCxnSpPr>
        <p:spPr>
          <a:xfrm>
            <a:off x="3609773" y="2444277"/>
            <a:ext cx="1539929" cy="243682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B5FEB41-952C-76F8-C2BC-6D603A6F1B0F}"/>
              </a:ext>
            </a:extLst>
          </p:cNvPr>
          <p:cNvCxnSpPr>
            <a:cxnSpLocks/>
          </p:cNvCxnSpPr>
          <p:nvPr/>
        </p:nvCxnSpPr>
        <p:spPr>
          <a:xfrm flipH="1">
            <a:off x="3709196" y="2377984"/>
            <a:ext cx="1539929" cy="243682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88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Buck BCR, </a:t>
            </a:r>
            <a:r>
              <a:rPr lang="en-US" altLang="ko-KR" dirty="0" err="1"/>
              <a:t>Sepic</a:t>
            </a:r>
            <a:r>
              <a:rPr lang="en-US" altLang="ko-KR" dirty="0"/>
              <a:t> BCR</a:t>
            </a: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A4A56-4894-8F9A-870D-15DCFD7A6AE5}"/>
              </a:ext>
            </a:extLst>
          </p:cNvPr>
          <p:cNvSpPr txBox="1"/>
          <p:nvPr/>
        </p:nvSpPr>
        <p:spPr>
          <a:xfrm>
            <a:off x="1680557" y="5283341"/>
            <a:ext cx="75050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(Single Ended Primary Inductor Converter)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입력전압에 대해 강압과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승압이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가능한 전력변환 장치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D4203-F061-B7E7-36CA-A14FB84EEDBA}"/>
              </a:ext>
            </a:extLst>
          </p:cNvPr>
          <p:cNvSpPr txBox="1"/>
          <p:nvPr/>
        </p:nvSpPr>
        <p:spPr>
          <a:xfrm>
            <a:off x="1680557" y="5999007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Buck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DC-DC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컨버터의 일종으로 전압을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강압시킴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입력전압보다 낮은 전압을 필요할 때 사용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B3D0D-1467-EA3B-ADF3-E8ECF46E4350}"/>
              </a:ext>
            </a:extLst>
          </p:cNvPr>
          <p:cNvSpPr txBox="1"/>
          <p:nvPr/>
        </p:nvSpPr>
        <p:spPr>
          <a:xfrm>
            <a:off x="5082887" y="5552653"/>
            <a:ext cx="46069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윗면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(1U)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(4.8V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9.5V)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</a:t>
            </a:r>
            <a:r>
              <a:rPr lang="ko-KR" altLang="en-US" sz="11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승압해서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충전 해야 하니까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sz="11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788EAF-990A-9C66-1D66-B1F9F2E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117" y="2193695"/>
            <a:ext cx="6783798" cy="22562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BF19BE-CBF0-6324-A38B-B921966AD201}"/>
              </a:ext>
            </a:extLst>
          </p:cNvPr>
          <p:cNvSpPr txBox="1"/>
          <p:nvPr/>
        </p:nvSpPr>
        <p:spPr>
          <a:xfrm>
            <a:off x="2114370" y="6268319"/>
            <a:ext cx="6113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 옆면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(3U)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(14.4V or 9.6V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SEPIC Max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기준을 넘기 때문에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61665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LCL(Latching-Current-Limit)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869F3D-72CF-D5CC-E4DE-138199CAA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112004"/>
            <a:ext cx="4382063" cy="35204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7125E7-DF5C-56E6-50B9-01F5AE604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99" y="2112004"/>
            <a:ext cx="4048324" cy="35204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D8F1A5-372A-E315-1A10-281F301A76B0}"/>
              </a:ext>
            </a:extLst>
          </p:cNvPr>
          <p:cNvSpPr txBox="1"/>
          <p:nvPr/>
        </p:nvSpPr>
        <p:spPr>
          <a:xfrm>
            <a:off x="1917799" y="5935371"/>
            <a:ext cx="71957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허용전류를 넘지 않도록 차단하는 것 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요구전류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공급전류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58767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Matarials</a:t>
            </a: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D9C95-B37B-21F6-729B-3D31889C25B5}"/>
              </a:ext>
            </a:extLst>
          </p:cNvPr>
          <p:cNvSpPr txBox="1"/>
          <p:nvPr/>
        </p:nvSpPr>
        <p:spPr>
          <a:xfrm>
            <a:off x="2038325" y="5353171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TML (Total Mass Loss) : 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대기 중과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진공 조건에서 나타나는 질량의 차이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3E858-82F4-23AC-7937-6F804E64F22B}"/>
              </a:ext>
            </a:extLst>
          </p:cNvPr>
          <p:cNvSpPr txBox="1"/>
          <p:nvPr/>
        </p:nvSpPr>
        <p:spPr>
          <a:xfrm>
            <a:off x="2038325" y="5605966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CVCM (Collected Volatile Condensable Mass)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휘발성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응축 질량</a:t>
            </a:r>
            <a:endParaRPr lang="ko-KR" altLang="en-US" sz="1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805663-982F-F89F-EBA1-2FF1FBA8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86" y="2316889"/>
            <a:ext cx="4591944" cy="263413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F2E2DB-4EB7-D2D4-F17F-2DF4A670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16" y="2304190"/>
            <a:ext cx="4446935" cy="27577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64D6A4-18CC-C1A0-7C1E-DEADBD780D19}"/>
              </a:ext>
            </a:extLst>
          </p:cNvPr>
          <p:cNvSpPr txBox="1"/>
          <p:nvPr/>
        </p:nvSpPr>
        <p:spPr>
          <a:xfrm>
            <a:off x="2032189" y="5872788"/>
            <a:ext cx="33308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WVR (Water Vapor Regained):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물의 재흡수율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4897C-36C4-ECDF-F884-111110E94464}"/>
              </a:ext>
            </a:extLst>
          </p:cNvPr>
          <p:cNvSpPr txBox="1"/>
          <p:nvPr/>
        </p:nvSpPr>
        <p:spPr>
          <a:xfrm>
            <a:off x="2038325" y="6125228"/>
            <a:ext cx="97146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SMT (Surface Mount Technology) : </a:t>
            </a:r>
            <a:r>
              <a:rPr lang="ko-KR" altLang="en-US" sz="1100" dirty="0"/>
              <a:t>기판의 표면위에 전자 부품을 접합하여 회로가 전기적으로 구성되도록 하는 접합 기술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75CBC-1B31-4BF8-E1A1-F90396A23400}"/>
              </a:ext>
            </a:extLst>
          </p:cNvPr>
          <p:cNvSpPr txBox="1"/>
          <p:nvPr/>
        </p:nvSpPr>
        <p:spPr>
          <a:xfrm>
            <a:off x="2032189" y="6392050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PTH (Plated Through Hole) : </a:t>
            </a:r>
            <a:r>
              <a:rPr lang="ko-KR" altLang="en-US" sz="1100" dirty="0"/>
              <a:t>부품의 리드를 삽입하여 납땜하는 기법</a:t>
            </a:r>
          </a:p>
        </p:txBody>
      </p:sp>
    </p:spTree>
    <p:extLst>
      <p:ext uri="{BB962C8B-B14F-4D97-AF65-F5344CB8AC3E}">
        <p14:creationId xmlns:p14="http://schemas.microsoft.com/office/powerpoint/2010/main" val="385003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Matarials</a:t>
            </a: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D9C95-B37B-21F6-729B-3D31889C25B5}"/>
              </a:ext>
            </a:extLst>
          </p:cNvPr>
          <p:cNvSpPr txBox="1"/>
          <p:nvPr/>
        </p:nvSpPr>
        <p:spPr>
          <a:xfrm>
            <a:off x="2038325" y="5353171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TML (Total Mass Loss) : 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대기 중과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진공 조건에서 나타나는 질량의 차이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3E858-82F4-23AC-7937-6F804E64F22B}"/>
              </a:ext>
            </a:extLst>
          </p:cNvPr>
          <p:cNvSpPr txBox="1"/>
          <p:nvPr/>
        </p:nvSpPr>
        <p:spPr>
          <a:xfrm>
            <a:off x="2038325" y="5605966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CVCM (Collected Volatile Condensable Mass)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휘발성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응축 질량</a:t>
            </a:r>
            <a:endParaRPr lang="ko-KR" altLang="en-US" sz="1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805663-982F-F89F-EBA1-2FF1FBA8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86" y="2316889"/>
            <a:ext cx="4591944" cy="263413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F2E2DB-4EB7-D2D4-F17F-2DF4A670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16" y="2304190"/>
            <a:ext cx="4446935" cy="27577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64D6A4-18CC-C1A0-7C1E-DEADBD780D19}"/>
              </a:ext>
            </a:extLst>
          </p:cNvPr>
          <p:cNvSpPr txBox="1"/>
          <p:nvPr/>
        </p:nvSpPr>
        <p:spPr>
          <a:xfrm>
            <a:off x="2032189" y="5872788"/>
            <a:ext cx="33308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WVR (Water Vapor Regained): 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물의 재흡수율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4897C-36C4-ECDF-F884-111110E94464}"/>
              </a:ext>
            </a:extLst>
          </p:cNvPr>
          <p:cNvSpPr txBox="1"/>
          <p:nvPr/>
        </p:nvSpPr>
        <p:spPr>
          <a:xfrm>
            <a:off x="2038325" y="6125228"/>
            <a:ext cx="97146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SMT (Surface Mount Technology) : </a:t>
            </a:r>
            <a:r>
              <a:rPr lang="ko-KR" altLang="en-US" sz="1100" dirty="0"/>
              <a:t>기판의 표면위에 전자 부품을 접합하여 회로가 전기적으로 구성되도록 하는 접합 기술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75CBC-1B31-4BF8-E1A1-F90396A23400}"/>
              </a:ext>
            </a:extLst>
          </p:cNvPr>
          <p:cNvSpPr txBox="1"/>
          <p:nvPr/>
        </p:nvSpPr>
        <p:spPr>
          <a:xfrm>
            <a:off x="2032189" y="6392050"/>
            <a:ext cx="71697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PTH (Plated Through Hole) : </a:t>
            </a:r>
            <a:r>
              <a:rPr lang="ko-KR" altLang="en-US" sz="1100" dirty="0"/>
              <a:t>부품의 리드를 삽입하여 납땜하는 기법</a:t>
            </a:r>
          </a:p>
        </p:txBody>
      </p:sp>
    </p:spTree>
    <p:extLst>
      <p:ext uri="{BB962C8B-B14F-4D97-AF65-F5344CB8AC3E}">
        <p14:creationId xmlns:p14="http://schemas.microsoft.com/office/powerpoint/2010/main" val="107762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Solar Array connection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9DEA7A-1358-A0B9-9A53-C6ACF2D3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595" y="2177046"/>
            <a:ext cx="3889194" cy="29293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106268-3EBD-065A-D7A3-02175E39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917" y="2179675"/>
            <a:ext cx="4147321" cy="3010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A1FFF-4164-47FE-ED3B-0613B93F130B}"/>
              </a:ext>
            </a:extLst>
          </p:cNvPr>
          <p:cNvSpPr txBox="1"/>
          <p:nvPr/>
        </p:nvSpPr>
        <p:spPr>
          <a:xfrm>
            <a:off x="13481" y="2592001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BCR2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D50C1-E5AC-ED75-52CB-2F6A55387A7A}"/>
              </a:ext>
            </a:extLst>
          </p:cNvPr>
          <p:cNvSpPr txBox="1"/>
          <p:nvPr/>
        </p:nvSpPr>
        <p:spPr>
          <a:xfrm>
            <a:off x="13481" y="3056918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Programming header – Clyde Space use only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C52E7-D59D-5159-8A6D-A2986287B0C5}"/>
              </a:ext>
            </a:extLst>
          </p:cNvPr>
          <p:cNvSpPr txBox="1"/>
          <p:nvPr/>
        </p:nvSpPr>
        <p:spPr>
          <a:xfrm>
            <a:off x="36109" y="3567011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BCR3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</a:t>
            </a:r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6A5D6-EA6F-354C-2B76-98AC31F46524}"/>
              </a:ext>
            </a:extLst>
          </p:cNvPr>
          <p:cNvSpPr txBox="1"/>
          <p:nvPr/>
        </p:nvSpPr>
        <p:spPr>
          <a:xfrm>
            <a:off x="47423" y="4090410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BCR3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endParaRPr lang="ko-KR" altLang="en-US" sz="1100" dirty="0">
              <a:solidFill>
                <a:srgbClr val="7030A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D576823-AD14-3889-8951-1F4D8240A25E}"/>
              </a:ext>
            </a:extLst>
          </p:cNvPr>
          <p:cNvCxnSpPr>
            <a:cxnSpLocks/>
          </p:cNvCxnSpPr>
          <p:nvPr/>
        </p:nvCxnSpPr>
        <p:spPr>
          <a:xfrm>
            <a:off x="1524000" y="2864594"/>
            <a:ext cx="514350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2D61284-8793-0EE8-E6C2-0498568B090B}"/>
              </a:ext>
            </a:extLst>
          </p:cNvPr>
          <p:cNvCxnSpPr>
            <a:cxnSpLocks/>
          </p:cNvCxnSpPr>
          <p:nvPr/>
        </p:nvCxnSpPr>
        <p:spPr>
          <a:xfrm>
            <a:off x="1613467" y="3188444"/>
            <a:ext cx="379558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22B96EF-21E0-DA4B-E898-F18CB7642495}"/>
              </a:ext>
            </a:extLst>
          </p:cNvPr>
          <p:cNvCxnSpPr>
            <a:cxnSpLocks/>
          </p:cNvCxnSpPr>
          <p:nvPr/>
        </p:nvCxnSpPr>
        <p:spPr>
          <a:xfrm flipV="1">
            <a:off x="1613467" y="3741837"/>
            <a:ext cx="412295" cy="7203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E755F22-6E89-47DE-A5E4-B0D79830DFC1}"/>
              </a:ext>
            </a:extLst>
          </p:cNvPr>
          <p:cNvCxnSpPr>
            <a:cxnSpLocks/>
          </p:cNvCxnSpPr>
          <p:nvPr/>
        </p:nvCxnSpPr>
        <p:spPr>
          <a:xfrm flipV="1">
            <a:off x="1613467" y="4137724"/>
            <a:ext cx="412295" cy="13732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F6FAA8-3434-212D-7D06-B2B8AB2E9C4D}"/>
              </a:ext>
            </a:extLst>
          </p:cNvPr>
          <p:cNvSpPr txBox="1"/>
          <p:nvPr/>
        </p:nvSpPr>
        <p:spPr>
          <a:xfrm>
            <a:off x="377893" y="4774294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E6AF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BCR1</a:t>
            </a:r>
            <a:r>
              <a:rPr lang="ko-KR" altLang="en-US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E6A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endParaRPr lang="ko-KR" altLang="en-US" sz="1100" dirty="0">
              <a:solidFill>
                <a:srgbClr val="E6AF00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96DFD06-CD69-FA20-F283-18B27DE1458A}"/>
              </a:ext>
            </a:extLst>
          </p:cNvPr>
          <p:cNvCxnSpPr>
            <a:cxnSpLocks/>
          </p:cNvCxnSpPr>
          <p:nvPr/>
        </p:nvCxnSpPr>
        <p:spPr>
          <a:xfrm flipV="1">
            <a:off x="1810285" y="4576572"/>
            <a:ext cx="290184" cy="167608"/>
          </a:xfrm>
          <a:prstGeom prst="line">
            <a:avLst/>
          </a:prstGeom>
          <a:ln>
            <a:solidFill>
              <a:srgbClr val="E6A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B708B76-3D6D-483F-7FF8-4F0AF3D59F36}"/>
              </a:ext>
            </a:extLst>
          </p:cNvPr>
          <p:cNvSpPr txBox="1"/>
          <p:nvPr/>
        </p:nvSpPr>
        <p:spPr>
          <a:xfrm>
            <a:off x="662968" y="1659022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CubeSat Kit bus compatible Header 1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DD7778-2B66-F7A4-4E54-B0FF85F3DE67}"/>
              </a:ext>
            </a:extLst>
          </p:cNvPr>
          <p:cNvSpPr txBox="1"/>
          <p:nvPr/>
        </p:nvSpPr>
        <p:spPr>
          <a:xfrm>
            <a:off x="332568" y="2079996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kern="10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CubeSat Kit bus compatible Header 1</a:t>
            </a:r>
            <a:endParaRPr lang="ko-KR" altLang="en-US" sz="1100" dirty="0">
              <a:solidFill>
                <a:srgbClr val="00B0F0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37C160E-72AD-3988-38E8-0AD01C0F50DE}"/>
              </a:ext>
            </a:extLst>
          </p:cNvPr>
          <p:cNvCxnSpPr>
            <a:cxnSpLocks/>
          </p:cNvCxnSpPr>
          <p:nvPr/>
        </p:nvCxnSpPr>
        <p:spPr>
          <a:xfrm>
            <a:off x="1877945" y="2371640"/>
            <a:ext cx="331855" cy="4771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6D9493A-24F9-AAA5-6AF5-1AB47F025302}"/>
              </a:ext>
            </a:extLst>
          </p:cNvPr>
          <p:cNvCxnSpPr>
            <a:cxnSpLocks/>
          </p:cNvCxnSpPr>
          <p:nvPr/>
        </p:nvCxnSpPr>
        <p:spPr>
          <a:xfrm>
            <a:off x="2209800" y="2065515"/>
            <a:ext cx="227251" cy="9483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AD0432-DEB0-3183-E29D-F108138F943E}"/>
              </a:ext>
            </a:extLst>
          </p:cNvPr>
          <p:cNvSpPr txBox="1"/>
          <p:nvPr/>
        </p:nvSpPr>
        <p:spPr>
          <a:xfrm>
            <a:off x="2287349" y="5286193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BCR2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983E1D-D9BF-4E1E-C50D-50EF001925FA}"/>
              </a:ext>
            </a:extLst>
          </p:cNvPr>
          <p:cNvSpPr txBox="1"/>
          <p:nvPr/>
        </p:nvSpPr>
        <p:spPr>
          <a:xfrm>
            <a:off x="4319473" y="5286193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BCR1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7F2F136-5B84-CDAA-B45A-08E691678871}"/>
              </a:ext>
            </a:extLst>
          </p:cNvPr>
          <p:cNvCxnSpPr>
            <a:cxnSpLocks/>
          </p:cNvCxnSpPr>
          <p:nvPr/>
        </p:nvCxnSpPr>
        <p:spPr>
          <a:xfrm>
            <a:off x="3016612" y="4950735"/>
            <a:ext cx="0" cy="335458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4DB1187-7939-9A17-2D9B-7C215EEE56D7}"/>
              </a:ext>
            </a:extLst>
          </p:cNvPr>
          <p:cNvCxnSpPr>
            <a:cxnSpLocks/>
          </p:cNvCxnSpPr>
          <p:nvPr/>
        </p:nvCxnSpPr>
        <p:spPr>
          <a:xfrm>
            <a:off x="5072826" y="4989737"/>
            <a:ext cx="0" cy="31658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27F668B-48C6-265C-A0F7-2FC33250D452}"/>
              </a:ext>
            </a:extLst>
          </p:cNvPr>
          <p:cNvSpPr txBox="1"/>
          <p:nvPr/>
        </p:nvSpPr>
        <p:spPr>
          <a:xfrm>
            <a:off x="5188688" y="2569109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BCR4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0D86D2-6937-4943-9DC9-42DEDD505F03}"/>
              </a:ext>
            </a:extLst>
          </p:cNvPr>
          <p:cNvSpPr txBox="1"/>
          <p:nvPr/>
        </p:nvSpPr>
        <p:spPr>
          <a:xfrm>
            <a:off x="5188757" y="3691715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BCR5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5C951-6C78-7E3B-36DB-9C86BF9F7CA3}"/>
              </a:ext>
            </a:extLst>
          </p:cNvPr>
          <p:cNvSpPr txBox="1"/>
          <p:nvPr/>
        </p:nvSpPr>
        <p:spPr>
          <a:xfrm>
            <a:off x="10548799" y="2433707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BCR6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4F29AF-6CC8-3CFC-9457-CE31D7DE4D15}"/>
              </a:ext>
            </a:extLst>
          </p:cNvPr>
          <p:cNvSpPr txBox="1"/>
          <p:nvPr/>
        </p:nvSpPr>
        <p:spPr>
          <a:xfrm>
            <a:off x="10548799" y="2898624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BCR6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0E1D34-A305-3A0A-A3C0-B649F101C343}"/>
              </a:ext>
            </a:extLst>
          </p:cNvPr>
          <p:cNvSpPr txBox="1"/>
          <p:nvPr/>
        </p:nvSpPr>
        <p:spPr>
          <a:xfrm>
            <a:off x="10571427" y="3408717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BCR6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rgbClr val="00B05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8A61C7-D113-1E55-9967-111B8181A889}"/>
              </a:ext>
            </a:extLst>
          </p:cNvPr>
          <p:cNvSpPr txBox="1"/>
          <p:nvPr/>
        </p:nvSpPr>
        <p:spPr>
          <a:xfrm>
            <a:off x="10582741" y="3932116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BCR6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dirty="0">
              <a:solidFill>
                <a:srgbClr val="7030A0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BDE18F3-193C-9694-1F33-0C5F1A630CCF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10165803" y="2649151"/>
            <a:ext cx="382996" cy="8398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C863DB8-1DEC-9FDB-D09E-97A1AF8B628B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10161443" y="3114068"/>
            <a:ext cx="387356" cy="74376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1863AD8-397B-C212-F18C-E71A8ABA200F}"/>
              </a:ext>
            </a:extLst>
          </p:cNvPr>
          <p:cNvCxnSpPr>
            <a:cxnSpLocks/>
          </p:cNvCxnSpPr>
          <p:nvPr/>
        </p:nvCxnSpPr>
        <p:spPr>
          <a:xfrm flipV="1">
            <a:off x="10212880" y="3510713"/>
            <a:ext cx="284481" cy="2531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9DB8746-4A9D-7169-F246-8334AAB3C0D3}"/>
              </a:ext>
            </a:extLst>
          </p:cNvPr>
          <p:cNvCxnSpPr>
            <a:cxnSpLocks/>
          </p:cNvCxnSpPr>
          <p:nvPr/>
        </p:nvCxnSpPr>
        <p:spPr>
          <a:xfrm>
            <a:off x="10186223" y="3930825"/>
            <a:ext cx="365218" cy="11444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그림 74">
            <a:extLst>
              <a:ext uri="{FF2B5EF4-FFF2-40B4-BE49-F238E27FC236}">
                <a16:creationId xmlns:a16="http://schemas.microsoft.com/office/drawing/2014/main" id="{4A50AF8E-F3AF-D8D1-5ADE-9E577E147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283" y="1566315"/>
            <a:ext cx="5372100" cy="4429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740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Solar Array connection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51F1B5-9378-0972-EAB9-282F3F9C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81" y="2618296"/>
            <a:ext cx="3963123" cy="36768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CB2EF3-AC2D-9AC1-9CEF-6C722602D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224" y="2859679"/>
            <a:ext cx="4760095" cy="3194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617242-B09F-B154-1B5B-2821EE9F8929}"/>
              </a:ext>
            </a:extLst>
          </p:cNvPr>
          <p:cNvSpPr txBox="1"/>
          <p:nvPr/>
        </p:nvSpPr>
        <p:spPr>
          <a:xfrm>
            <a:off x="2476575" y="1922927"/>
            <a:ext cx="249937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b="1" kern="1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 Power</a:t>
            </a:r>
          </a:p>
          <a:p>
            <a:pPr marL="228600" indent="-228600">
              <a:buAutoNum type="arabicPeriod"/>
            </a:pPr>
            <a:r>
              <a:rPr lang="en-US" altLang="ko-KR" sz="11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 Return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solidFill>
                  <a:srgbClr val="00B0F0"/>
                </a:solidFill>
              </a:rPr>
              <a:t>Temperature Telemetry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solidFill>
                  <a:srgbClr val="00B050"/>
                </a:solidFill>
              </a:rPr>
              <a:t>Ground Line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solidFill>
                  <a:srgbClr val="E6AF00"/>
                </a:solidFill>
              </a:rPr>
              <a:t>Sun Detector Telemetry</a:t>
            </a:r>
            <a:endParaRPr lang="ko-KR" altLang="en-US" sz="1100" b="1" dirty="0">
              <a:solidFill>
                <a:srgbClr val="E6A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50B81-6B1F-CD5D-AFE3-9B8DA1428C50}"/>
              </a:ext>
            </a:extLst>
          </p:cNvPr>
          <p:cNvSpPr txBox="1"/>
          <p:nvPr/>
        </p:nvSpPr>
        <p:spPr>
          <a:xfrm>
            <a:off x="2976815" y="3135684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BCR1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endParaRPr lang="ko-KR" altLang="en-US" sz="1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79B14-6278-B433-2571-4CE84EE48436}"/>
              </a:ext>
            </a:extLst>
          </p:cNvPr>
          <p:cNvSpPr txBox="1"/>
          <p:nvPr/>
        </p:nvSpPr>
        <p:spPr>
          <a:xfrm>
            <a:off x="2476575" y="5498426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BCR1</a:t>
            </a:r>
            <a:r>
              <a:rPr lang="ko-KR" altLang="en-US" sz="11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</a:t>
            </a:r>
            <a:endParaRPr lang="ko-KR" altLang="en-US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4C624-4D50-0F2C-322A-24AF89CE9723}"/>
              </a:ext>
            </a:extLst>
          </p:cNvPr>
          <p:cNvSpPr txBox="1"/>
          <p:nvPr/>
        </p:nvSpPr>
        <p:spPr>
          <a:xfrm>
            <a:off x="6947814" y="2598069"/>
            <a:ext cx="1660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kern="1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Programming header</a:t>
            </a:r>
            <a:endParaRPr lang="ko-KR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4591F-C371-5F92-23ED-75BD4809AD67}"/>
              </a:ext>
            </a:extLst>
          </p:cNvPr>
          <p:cNvSpPr txBox="1"/>
          <p:nvPr/>
        </p:nvSpPr>
        <p:spPr>
          <a:xfrm>
            <a:off x="8509476" y="3056918"/>
            <a:ext cx="1660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Connector,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100" b="1" kern="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BCR4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Channel</a:t>
            </a:r>
            <a:r>
              <a:rPr lang="ko-KR" altLang="en-US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A, B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1A294D-CBF5-62A2-1C0D-22A5CA20DE66}"/>
              </a:ext>
            </a:extLst>
          </p:cNvPr>
          <p:cNvSpPr txBox="1"/>
          <p:nvPr/>
        </p:nvSpPr>
        <p:spPr>
          <a:xfrm>
            <a:off x="6228224" y="1624056"/>
            <a:ext cx="264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b="1" kern="1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 A Power</a:t>
            </a:r>
          </a:p>
          <a:p>
            <a:pPr marL="228600" indent="-228600">
              <a:buAutoNum type="arabicPeriod"/>
            </a:pPr>
            <a:r>
              <a:rPr lang="en-US" altLang="ko-KR" sz="11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Ground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solidFill>
                  <a:srgbClr val="00B0F0"/>
                </a:solidFill>
              </a:rPr>
              <a:t>Array A Temperature Telemetry</a:t>
            </a:r>
          </a:p>
          <a:p>
            <a:pPr marL="228600" indent="-228600">
              <a:buAutoNum type="arabicPeriod"/>
            </a:pPr>
            <a:r>
              <a:rPr lang="en-US" altLang="ko-KR" sz="1100" b="1" dirty="0">
                <a:solidFill>
                  <a:srgbClr val="E6AF00"/>
                </a:solidFill>
              </a:rPr>
              <a:t>Array A Sun Detector Telemetry</a:t>
            </a:r>
            <a:endParaRPr lang="ko-KR" altLang="en-US" sz="1100" b="1" dirty="0">
              <a:solidFill>
                <a:srgbClr val="E6A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EFEEBE-9CFB-F64F-D4DF-870D86BAAB6D}"/>
              </a:ext>
            </a:extLst>
          </p:cNvPr>
          <p:cNvSpPr txBox="1"/>
          <p:nvPr/>
        </p:nvSpPr>
        <p:spPr>
          <a:xfrm>
            <a:off x="8863370" y="1651377"/>
            <a:ext cx="264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kern="10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Array B Power</a:t>
            </a:r>
          </a:p>
          <a:p>
            <a:r>
              <a:rPr lang="en-US" altLang="ko-KR" sz="1100" b="1" kern="1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6. Ground</a:t>
            </a:r>
          </a:p>
          <a:p>
            <a:r>
              <a:rPr lang="en-US" altLang="ko-KR" sz="1100" b="1" dirty="0">
                <a:solidFill>
                  <a:srgbClr val="00B0F0"/>
                </a:solidFill>
              </a:rPr>
              <a:t>7. Array B Temperature Telemetry</a:t>
            </a:r>
          </a:p>
          <a:p>
            <a:r>
              <a:rPr lang="en-US" altLang="ko-KR" sz="1100" b="1" dirty="0">
                <a:solidFill>
                  <a:srgbClr val="E6AF00"/>
                </a:solidFill>
              </a:rPr>
              <a:t>8. Array B Sun Detector Telemetry</a:t>
            </a:r>
            <a:endParaRPr lang="ko-KR" altLang="en-US" sz="1100" b="1" dirty="0">
              <a:solidFill>
                <a:srgbClr val="E6A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7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Solar Array connection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471866-6A98-AD99-B8F1-1A3135FF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027" y="1786270"/>
            <a:ext cx="6285946" cy="474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6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Cubesat</a:t>
            </a:r>
            <a:r>
              <a:rPr lang="en-US" altLang="ko-KR" dirty="0"/>
              <a:t> Kit Header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942D6F-5DC2-C57F-A3AE-834495AB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661" y="0"/>
            <a:ext cx="600386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82555-931A-3E56-E01F-28E142DC9F01}"/>
              </a:ext>
            </a:extLst>
          </p:cNvPr>
          <p:cNvSpPr txBox="1"/>
          <p:nvPr/>
        </p:nvSpPr>
        <p:spPr>
          <a:xfrm>
            <a:off x="5524361" y="1108742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B050"/>
                </a:solidFill>
              </a:rPr>
              <a:t>Ground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ACFD3-3B3B-A959-C49C-C82E36DF90E8}"/>
              </a:ext>
            </a:extLst>
          </p:cNvPr>
          <p:cNvSpPr txBox="1"/>
          <p:nvPr/>
        </p:nvSpPr>
        <p:spPr>
          <a:xfrm>
            <a:off x="8875352" y="1370352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12V PDM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4B55B-A7EE-1868-7637-948F57446EC7}"/>
              </a:ext>
            </a:extLst>
          </p:cNvPr>
          <p:cNvSpPr txBox="1"/>
          <p:nvPr/>
        </p:nvSpPr>
        <p:spPr>
          <a:xfrm>
            <a:off x="8886324" y="1583883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12V PDM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D4B53-1A13-B0CB-DA19-0EEE60A052F6}"/>
              </a:ext>
            </a:extLst>
          </p:cNvPr>
          <p:cNvSpPr txBox="1"/>
          <p:nvPr/>
        </p:nvSpPr>
        <p:spPr>
          <a:xfrm>
            <a:off x="5866791" y="1803929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C000A5"/>
                </a:solidFill>
              </a:rPr>
              <a:t>VAT PDM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06D5C-5987-16AC-C0BF-C8E06364699C}"/>
              </a:ext>
            </a:extLst>
          </p:cNvPr>
          <p:cNvSpPr txBox="1"/>
          <p:nvPr/>
        </p:nvSpPr>
        <p:spPr>
          <a:xfrm>
            <a:off x="8875352" y="1835102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C000A5"/>
                </a:solidFill>
              </a:rPr>
              <a:t>VAT PDM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83D2B-1F97-3737-00C3-AA162A0924C3}"/>
              </a:ext>
            </a:extLst>
          </p:cNvPr>
          <p:cNvSpPr txBox="1"/>
          <p:nvPr/>
        </p:nvSpPr>
        <p:spPr>
          <a:xfrm>
            <a:off x="6012846" y="2065539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CE8FA"/>
                </a:solidFill>
              </a:rPr>
              <a:t>5V VAT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2122BA-C4B9-0EBD-658B-AC86086E5E81}"/>
              </a:ext>
            </a:extLst>
          </p:cNvPr>
          <p:cNvSpPr txBox="1"/>
          <p:nvPr/>
        </p:nvSpPr>
        <p:spPr>
          <a:xfrm>
            <a:off x="6012845" y="2298576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CE8FA"/>
                </a:solidFill>
              </a:rPr>
              <a:t>5V VAT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81EC39-D039-3757-02D8-7581751269EC}"/>
              </a:ext>
            </a:extLst>
          </p:cNvPr>
          <p:cNvSpPr txBox="1"/>
          <p:nvPr/>
        </p:nvSpPr>
        <p:spPr>
          <a:xfrm>
            <a:off x="8886324" y="2264803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CE8FA"/>
                </a:solidFill>
              </a:rPr>
              <a:t>5V VAT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FD2E70-3FDC-B901-F174-A99E7EEDB824}"/>
              </a:ext>
            </a:extLst>
          </p:cNvPr>
          <p:cNvSpPr txBox="1"/>
          <p:nvPr/>
        </p:nvSpPr>
        <p:spPr>
          <a:xfrm>
            <a:off x="8886324" y="2516022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3V3 VAT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320286-84EC-8664-F1B3-E835675A020E}"/>
              </a:ext>
            </a:extLst>
          </p:cNvPr>
          <p:cNvSpPr txBox="1"/>
          <p:nvPr/>
        </p:nvSpPr>
        <p:spPr>
          <a:xfrm>
            <a:off x="8886324" y="2756850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3V3 VAT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72E678-A608-0ADD-A886-6E44494EFE66}"/>
              </a:ext>
            </a:extLst>
          </p:cNvPr>
          <p:cNvSpPr txBox="1"/>
          <p:nvPr/>
        </p:nvSpPr>
        <p:spPr>
          <a:xfrm>
            <a:off x="5950498" y="2756850"/>
            <a:ext cx="24993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3V3 VAT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9FF49B-8AB0-A3C2-E498-2753F2499C2F}"/>
              </a:ext>
            </a:extLst>
          </p:cNvPr>
          <p:cNvSpPr/>
          <p:nvPr/>
        </p:nvSpPr>
        <p:spPr>
          <a:xfrm>
            <a:off x="5866791" y="1370352"/>
            <a:ext cx="3848709" cy="1648108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5715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44DC38-D600-0EDD-DF8D-BE7DEA661D94}"/>
              </a:ext>
            </a:extLst>
          </p:cNvPr>
          <p:cNvCxnSpPr/>
          <p:nvPr/>
        </p:nvCxnSpPr>
        <p:spPr>
          <a:xfrm>
            <a:off x="6525491" y="1309833"/>
            <a:ext cx="248559" cy="209066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DF4B99-5AF5-94E8-BFF7-4FFB2306F84B}"/>
              </a:ext>
            </a:extLst>
          </p:cNvPr>
          <p:cNvSpPr txBox="1"/>
          <p:nvPr/>
        </p:nvSpPr>
        <p:spPr>
          <a:xfrm>
            <a:off x="8104661" y="989206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</a:rPr>
              <a:t>PDM 1~10 Output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A96A24-4E0B-EB39-92AC-29BDBC2B11B0}"/>
              </a:ext>
            </a:extLst>
          </p:cNvPr>
          <p:cNvSpPr/>
          <p:nvPr/>
        </p:nvSpPr>
        <p:spPr>
          <a:xfrm>
            <a:off x="5869641" y="3198575"/>
            <a:ext cx="3848709" cy="7499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57150"/>
              <a:solidFill>
                <a:schemeClr val="accent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904EA-30EF-5487-EFFA-C25511E12623}"/>
              </a:ext>
            </a:extLst>
          </p:cNvPr>
          <p:cNvSpPr txBox="1"/>
          <p:nvPr/>
        </p:nvSpPr>
        <p:spPr>
          <a:xfrm>
            <a:off x="9794749" y="3368448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Power Bus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7F92A5-ED0E-4C33-36A0-AD158A0A485A}"/>
              </a:ext>
            </a:extLst>
          </p:cNvPr>
          <p:cNvSpPr/>
          <p:nvPr/>
        </p:nvSpPr>
        <p:spPr>
          <a:xfrm>
            <a:off x="6411192" y="5691192"/>
            <a:ext cx="2702330" cy="29397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5715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43E307-DE75-8C51-E25C-6EA0EE13E657}"/>
              </a:ext>
            </a:extLst>
          </p:cNvPr>
          <p:cNvSpPr txBox="1"/>
          <p:nvPr/>
        </p:nvSpPr>
        <p:spPr>
          <a:xfrm>
            <a:off x="9182012" y="5670022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rgbClr val="C00000"/>
                </a:solidFill>
              </a:rPr>
              <a:t>Vbat</a:t>
            </a:r>
            <a:r>
              <a:rPr lang="en-US" altLang="ko-KR" sz="1400" b="1" dirty="0">
                <a:solidFill>
                  <a:srgbClr val="C00000"/>
                </a:solidFill>
              </a:rPr>
              <a:t> Power Bus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83A324-AFBC-EB4A-AB6C-393B8626F24A}"/>
              </a:ext>
            </a:extLst>
          </p:cNvPr>
          <p:cNvSpPr/>
          <p:nvPr/>
        </p:nvSpPr>
        <p:spPr>
          <a:xfrm>
            <a:off x="6411191" y="5222227"/>
            <a:ext cx="2702330" cy="447795"/>
          </a:xfrm>
          <a:prstGeom prst="rect">
            <a:avLst/>
          </a:prstGeom>
          <a:noFill/>
          <a:ln w="28575">
            <a:solidFill>
              <a:srgbClr val="E6A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57150"/>
              <a:solidFill>
                <a:srgbClr val="E6A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770594-E0F9-FA18-F7EB-07858C1F18B3}"/>
              </a:ext>
            </a:extLst>
          </p:cNvPr>
          <p:cNvSpPr txBox="1"/>
          <p:nvPr/>
        </p:nvSpPr>
        <p:spPr>
          <a:xfrm>
            <a:off x="9161230" y="5302626"/>
            <a:ext cx="2499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E6AF00"/>
                </a:solidFill>
              </a:rPr>
              <a:t>BCR_OUT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A08B4E-3939-CA85-D0D6-F42A2A145286}"/>
              </a:ext>
            </a:extLst>
          </p:cNvPr>
          <p:cNvSpPr/>
          <p:nvPr/>
        </p:nvSpPr>
        <p:spPr>
          <a:xfrm>
            <a:off x="6411191" y="4512207"/>
            <a:ext cx="2702330" cy="447795"/>
          </a:xfrm>
          <a:prstGeom prst="rect">
            <a:avLst/>
          </a:prstGeom>
          <a:noFill/>
          <a:ln w="28575">
            <a:solidFill>
              <a:srgbClr val="CBA9E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57150"/>
              <a:solidFill>
                <a:srgbClr val="CBA9E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A7AAC-1FC7-41F0-39CE-E478D845C3E0}"/>
              </a:ext>
            </a:extLst>
          </p:cNvPr>
          <p:cNvSpPr txBox="1"/>
          <p:nvPr/>
        </p:nvSpPr>
        <p:spPr>
          <a:xfrm>
            <a:off x="9192410" y="4609576"/>
            <a:ext cx="249937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CBA9E5"/>
                </a:solidFill>
              </a:rPr>
              <a:t>PCM_IN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B16D32-DB43-0713-8661-A4493B49B705}"/>
              </a:ext>
            </a:extLst>
          </p:cNvPr>
          <p:cNvSpPr/>
          <p:nvPr/>
        </p:nvSpPr>
        <p:spPr>
          <a:xfrm>
            <a:off x="5950498" y="4512207"/>
            <a:ext cx="273657" cy="14655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9746A2-B1D4-277D-CC4E-FA5D46CE1999}"/>
              </a:ext>
            </a:extLst>
          </p:cNvPr>
          <p:cNvSpPr txBox="1"/>
          <p:nvPr/>
        </p:nvSpPr>
        <p:spPr>
          <a:xfrm>
            <a:off x="4861901" y="4915864"/>
            <a:ext cx="108859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Reserved</a:t>
            </a:r>
          </a:p>
          <a:p>
            <a:pPr algn="ctr"/>
            <a:r>
              <a:rPr lang="ko-KR" altLang="en-US" sz="1400" b="1" dirty="0"/>
              <a:t>사용</a:t>
            </a:r>
            <a:r>
              <a:rPr lang="en-US" altLang="ko-KR" sz="1400" b="1" dirty="0"/>
              <a:t>XX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52FC2E-BC7C-F20D-6537-6DAD0D917670}"/>
              </a:ext>
            </a:extLst>
          </p:cNvPr>
          <p:cNvSpPr/>
          <p:nvPr/>
        </p:nvSpPr>
        <p:spPr>
          <a:xfrm>
            <a:off x="6182591" y="4416136"/>
            <a:ext cx="78889" cy="1827865"/>
          </a:xfrm>
          <a:prstGeom prst="rect">
            <a:avLst/>
          </a:prstGeom>
          <a:solidFill>
            <a:srgbClr val="EFE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67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Cubesat</a:t>
            </a:r>
            <a:r>
              <a:rPr lang="en-US" altLang="ko-KR" dirty="0"/>
              <a:t> Kit Header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82BA92-25FC-A202-FA2F-6C0C9EAB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475" y="1903577"/>
            <a:ext cx="5396023" cy="3299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CD9CD4-425A-FA25-DA1C-6DB9FE96AB7E}"/>
              </a:ext>
            </a:extLst>
          </p:cNvPr>
          <p:cNvSpPr txBox="1"/>
          <p:nvPr/>
        </p:nvSpPr>
        <p:spPr>
          <a:xfrm>
            <a:off x="1619693" y="546812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8~20 </a:t>
            </a:r>
            <a:r>
              <a:rPr lang="en-US" altLang="ko-KR" dirty="0"/>
              <a:t>: SW1~10 LCL PDM(10</a:t>
            </a:r>
            <a:r>
              <a:rPr lang="ko-KR" altLang="en-US" dirty="0"/>
              <a:t>개</a:t>
            </a:r>
            <a:r>
              <a:rPr lang="en-US" altLang="ko-KR" dirty="0"/>
              <a:t>) &amp; Ground</a:t>
            </a:r>
          </a:p>
        </p:txBody>
      </p:sp>
    </p:spTree>
    <p:extLst>
      <p:ext uri="{BB962C8B-B14F-4D97-AF65-F5344CB8AC3E}">
        <p14:creationId xmlns:p14="http://schemas.microsoft.com/office/powerpoint/2010/main" val="2634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Cubesat</a:t>
            </a:r>
            <a:r>
              <a:rPr lang="en-US" altLang="ko-KR" dirty="0"/>
              <a:t> Kit Header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D9CD4-425A-FA25-DA1C-6DB9FE96AB7E}"/>
              </a:ext>
            </a:extLst>
          </p:cNvPr>
          <p:cNvSpPr txBox="1"/>
          <p:nvPr/>
        </p:nvSpPr>
        <p:spPr>
          <a:xfrm>
            <a:off x="1619693" y="546812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23~28 </a:t>
            </a:r>
            <a:r>
              <a:rPr lang="en-US" altLang="ko-KR" dirty="0"/>
              <a:t>: 12V, 5V, 3V Power Bus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3504E8-A2CA-5DBB-5E05-081F134C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740" y="2256182"/>
            <a:ext cx="5332029" cy="1550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4E9D28-FA7B-8764-AC61-1CE4E3ED05A4}"/>
              </a:ext>
            </a:extLst>
          </p:cNvPr>
          <p:cNvSpPr txBox="1"/>
          <p:nvPr/>
        </p:nvSpPr>
        <p:spPr>
          <a:xfrm>
            <a:off x="1619693" y="586186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45, 46 </a:t>
            </a:r>
            <a:r>
              <a:rPr lang="en-US" altLang="ko-KR" dirty="0"/>
              <a:t>: VBAT Power Bus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AC0B86-37A0-8061-576B-B7C74879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474" y="3918307"/>
            <a:ext cx="5372654" cy="9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54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Cubesat</a:t>
            </a:r>
            <a:r>
              <a:rPr lang="en-US" altLang="ko-KR" dirty="0"/>
              <a:t> Kit Header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D9CD4-425A-FA25-DA1C-6DB9FE96AB7E}"/>
              </a:ext>
            </a:extLst>
          </p:cNvPr>
          <p:cNvSpPr txBox="1"/>
          <p:nvPr/>
        </p:nvSpPr>
        <p:spPr>
          <a:xfrm>
            <a:off x="1619693" y="546812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35, 36 </a:t>
            </a:r>
            <a:r>
              <a:rPr lang="en-US" altLang="ko-KR" dirty="0"/>
              <a:t>: PCM_IN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4E9D28-FA7B-8764-AC61-1CE4E3ED05A4}"/>
              </a:ext>
            </a:extLst>
          </p:cNvPr>
          <p:cNvSpPr txBox="1"/>
          <p:nvPr/>
        </p:nvSpPr>
        <p:spPr>
          <a:xfrm>
            <a:off x="1619693" y="586186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41~44 </a:t>
            </a:r>
            <a:r>
              <a:rPr lang="en-US" altLang="ko-KR" dirty="0"/>
              <a:t>: BCR_OUT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78359B-BC25-8EC0-B004-39835D0C8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58" y="2256182"/>
            <a:ext cx="5442879" cy="5254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73CC48-BFAE-A0BA-0637-65F375C98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474" y="3056917"/>
            <a:ext cx="5332518" cy="101945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80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 err="1"/>
              <a:t>Cubesat</a:t>
            </a:r>
            <a:r>
              <a:rPr lang="en-US" altLang="ko-KR" dirty="0"/>
              <a:t> Kit Header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D9CD4-425A-FA25-DA1C-6DB9FE96AB7E}"/>
              </a:ext>
            </a:extLst>
          </p:cNvPr>
          <p:cNvSpPr txBox="1"/>
          <p:nvPr/>
        </p:nvSpPr>
        <p:spPr>
          <a:xfrm>
            <a:off x="1619693" y="5468125"/>
            <a:ext cx="665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rgbClr val="FF0000"/>
                </a:solidFill>
              </a:rPr>
              <a:t>Pin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33, 34, 37~40 </a:t>
            </a:r>
            <a:r>
              <a:rPr lang="en-US" altLang="ko-KR" dirty="0"/>
              <a:t>: Reserved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102AA1-D288-7628-0BF0-54446D8D5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475" y="2279881"/>
            <a:ext cx="5323095" cy="15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9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1781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082" y="928687"/>
            <a:ext cx="8629838" cy="525451"/>
          </a:xfrm>
        </p:spPr>
        <p:txBody>
          <a:bodyPr/>
          <a:lstStyle/>
          <a:p>
            <a:r>
              <a:rPr lang="en-US" altLang="ko-KR" dirty="0"/>
              <a:t>PCDU</a:t>
            </a:r>
          </a:p>
          <a:p>
            <a:pPr lvl="1"/>
            <a:r>
              <a:rPr lang="en-US" altLang="ko-KR" dirty="0"/>
              <a:t>Technical Description (charge mode)</a:t>
            </a:r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00" y="6327787"/>
            <a:ext cx="9144000" cy="52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628D3-BA47-F105-FE86-5571AF2C0A49}"/>
              </a:ext>
            </a:extLst>
          </p:cNvPr>
          <p:cNvSpPr/>
          <p:nvPr/>
        </p:nvSpPr>
        <p:spPr bwMode="auto">
          <a:xfrm>
            <a:off x="1781082" y="2179675"/>
            <a:ext cx="363392" cy="87724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2565A5-AC8A-CF2B-C2C3-33C25B1652EF}"/>
              </a:ext>
            </a:extLst>
          </p:cNvPr>
          <p:cNvSpPr txBox="1"/>
          <p:nvPr/>
        </p:nvSpPr>
        <p:spPr>
          <a:xfrm>
            <a:off x="2108669" y="2215225"/>
            <a:ext cx="4593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MPPT Mode</a:t>
            </a:r>
            <a:endParaRPr lang="ko-KR" alt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B8409D-950B-A027-9626-CD1CACF8BCC9}"/>
              </a:ext>
            </a:extLst>
          </p:cNvPr>
          <p:cNvSpPr txBox="1"/>
          <p:nvPr/>
        </p:nvSpPr>
        <p:spPr>
          <a:xfrm>
            <a:off x="2108669" y="3075397"/>
            <a:ext cx="4593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Mode</a:t>
            </a:r>
            <a:endParaRPr lang="ko-KR" alt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0BE39-06A9-560B-1405-78AF40409DA8}"/>
              </a:ext>
            </a:extLst>
          </p:cNvPr>
          <p:cNvSpPr txBox="1"/>
          <p:nvPr/>
        </p:nvSpPr>
        <p:spPr>
          <a:xfrm>
            <a:off x="3671103" y="2276193"/>
            <a:ext cx="5442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배터리 전압이 </a:t>
            </a:r>
            <a:r>
              <a:rPr lang="en-US" altLang="ko-KR" sz="12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전압보다 낮은 경우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최대 전력 전송을 위해 태양 전지판의 최대 전력 지점에서 </a:t>
            </a: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작동하는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Constant Current charge method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이용한다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F7ACC9-1197-4791-9A29-84F0A20663A9}"/>
              </a:ext>
            </a:extLst>
          </p:cNvPr>
          <p:cNvSpPr txBox="1"/>
          <p:nvPr/>
        </p:nvSpPr>
        <p:spPr>
          <a:xfrm>
            <a:off x="3539999" y="3077394"/>
            <a:ext cx="459343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전압에 도달하면 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BCR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정전압인 </a:t>
            </a:r>
            <a:r>
              <a:rPr lang="en-US" altLang="ko-KR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EoC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변경됨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전압이 일정하게 유지되고 패널에서 </a:t>
            </a:r>
            <a:r>
              <a:rPr lang="ko-KR" altLang="en-US" sz="105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테이퍼링</a:t>
            </a:r>
            <a:r>
              <a:rPr lang="ko-KR" altLang="en-US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전류가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공급된다</a:t>
            </a:r>
            <a:r>
              <a:rPr lang="en-US" altLang="ko-KR" sz="105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ko-KR" altLang="en-US" sz="10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8132D58-058A-FAB9-6E59-0B55C14F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36" y="3948169"/>
            <a:ext cx="3549640" cy="28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88929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1179</Words>
  <Application>Microsoft Office PowerPoint</Application>
  <PresentationFormat>와이드스크린</PresentationFormat>
  <Paragraphs>452</Paragraphs>
  <Slides>25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noto</vt:lpstr>
      <vt:lpstr>맑은 고딕</vt:lpstr>
      <vt:lpstr>Arial</vt:lpstr>
      <vt:lpstr>times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  <vt:lpstr>HYVRID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156</cp:revision>
  <dcterms:created xsi:type="dcterms:W3CDTF">2021-06-14T06:44:23Z</dcterms:created>
  <dcterms:modified xsi:type="dcterms:W3CDTF">2023-01-18T08:29:26Z</dcterms:modified>
  <cp:version/>
</cp:coreProperties>
</file>