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5"/>
  </p:notesMasterIdLst>
  <p:sldIdLst>
    <p:sldId id="256" r:id="rId3"/>
    <p:sldId id="257" r:id="rId4"/>
    <p:sldId id="270" r:id="rId5"/>
    <p:sldId id="260" r:id="rId6"/>
    <p:sldId id="268" r:id="rId7"/>
    <p:sldId id="269" r:id="rId8"/>
    <p:sldId id="271" r:id="rId9"/>
    <p:sldId id="272" r:id="rId10"/>
    <p:sldId id="273" r:id="rId11"/>
    <p:sldId id="274" r:id="rId12"/>
    <p:sldId id="266" r:id="rId13"/>
    <p:sldId id="27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>
        <p:scale>
          <a:sx n="75" d="100"/>
          <a:sy n="75" d="100"/>
        </p:scale>
        <p:origin x="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주에는 세 가지의 모드 별</a:t>
            </a:r>
            <a:r>
              <a:rPr lang="en-US" altLang="ko-KR" dirty="0"/>
              <a:t>(Sun-pointing, Mission, S-band COM)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다른 </a:t>
            </a:r>
            <a:r>
              <a:rPr lang="en-US" altLang="ko-KR" dirty="0"/>
              <a:t>subsystem</a:t>
            </a:r>
            <a:r>
              <a:rPr lang="ko-KR" altLang="en-US" dirty="0"/>
              <a:t>에서 </a:t>
            </a:r>
            <a:endParaRPr lang="en-US" altLang="ko-KR" dirty="0"/>
          </a:p>
          <a:p>
            <a:r>
              <a:rPr lang="ko-KR" altLang="en-US" dirty="0"/>
              <a:t>어느 정도의 비율로 얼마의 시간 만큼을 운용해야 할 지에 대해 공부해보기로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이에 대한 목적은 대략적인 시나리오를 구상해본 후에 </a:t>
            </a:r>
            <a:r>
              <a:rPr lang="en-US" altLang="ko-KR" dirty="0"/>
              <a:t>EPS</a:t>
            </a:r>
            <a:r>
              <a:rPr lang="ko-KR" altLang="en-US" dirty="0"/>
              <a:t>에서 분배해야 할 전력 양 및 소비전력 등을 계산하는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Subsystem </a:t>
            </a:r>
            <a:r>
              <a:rPr lang="ko-KR" altLang="en-US" dirty="0"/>
              <a:t>및 그 안에 속해 있는 </a:t>
            </a:r>
            <a:r>
              <a:rPr lang="en-US" altLang="ko-KR" dirty="0"/>
              <a:t>component</a:t>
            </a:r>
            <a:r>
              <a:rPr lang="ko-KR" altLang="en-US" dirty="0"/>
              <a:t>는 </a:t>
            </a: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analysis </a:t>
            </a:r>
            <a:r>
              <a:rPr lang="ko-KR" altLang="en-US" dirty="0"/>
              <a:t>엑셀 파일을 참고하였습니다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3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이에 대해 스스로 생각을 해보고 실제 운용되는 </a:t>
            </a:r>
            <a:r>
              <a:rPr lang="en-US" altLang="ko-KR" dirty="0"/>
              <a:t>rate </a:t>
            </a:r>
            <a:r>
              <a:rPr lang="ko-KR" altLang="en-US" dirty="0"/>
              <a:t>및 </a:t>
            </a:r>
            <a:r>
              <a:rPr lang="en-US" altLang="ko-KR" dirty="0"/>
              <a:t>time</a:t>
            </a:r>
            <a:r>
              <a:rPr lang="ko-KR" altLang="en-US" dirty="0"/>
              <a:t>과는 얼마나 차이가 있는지 확인해보기로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위와 같은 </a:t>
            </a:r>
            <a:r>
              <a:rPr lang="en-US" altLang="ko-KR" dirty="0"/>
              <a:t>7</a:t>
            </a:r>
            <a:r>
              <a:rPr lang="ko-KR" altLang="en-US" dirty="0"/>
              <a:t>가지의 </a:t>
            </a:r>
            <a:r>
              <a:rPr lang="en-US" altLang="ko-KR" dirty="0"/>
              <a:t>subsystem</a:t>
            </a:r>
            <a:r>
              <a:rPr lang="ko-KR" altLang="en-US" dirty="0"/>
              <a:t>으로 나누어 생각해보았으며</a:t>
            </a:r>
            <a:r>
              <a:rPr lang="en-US" altLang="ko-KR" dirty="0"/>
              <a:t>, </a:t>
            </a:r>
            <a:r>
              <a:rPr lang="ko-KR" altLang="en-US" dirty="0"/>
              <a:t>다음 슬라이드에 첨부한 엑셀 파일을 참고하였습니다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5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500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첫번째로는 </a:t>
            </a:r>
            <a:r>
              <a:rPr lang="en-US" altLang="ko-KR" dirty="0"/>
              <a:t>PAYS</a:t>
            </a:r>
            <a:r>
              <a:rPr lang="ko-KR" altLang="en-US" dirty="0"/>
              <a:t>를 다루어 보았습니다</a:t>
            </a:r>
            <a:r>
              <a:rPr lang="en-US" altLang="ko-KR" dirty="0"/>
              <a:t>. PAYS</a:t>
            </a:r>
            <a:r>
              <a:rPr lang="ko-KR" altLang="en-US" dirty="0"/>
              <a:t>의 대표적인 기능은 </a:t>
            </a:r>
            <a:r>
              <a:rPr lang="en-US" altLang="ko-KR" dirty="0"/>
              <a:t>SLR </a:t>
            </a:r>
            <a:r>
              <a:rPr lang="ko-KR" altLang="en-US" dirty="0"/>
              <a:t>및 </a:t>
            </a:r>
            <a:r>
              <a:rPr lang="ko-KR" altLang="en-US" dirty="0" err="1"/>
              <a:t>대즐링</a:t>
            </a:r>
            <a:r>
              <a:rPr lang="ko-KR" altLang="en-US" dirty="0"/>
              <a:t> 레이저를 감시하는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한반도 위의 궤도를 지날 때의 </a:t>
            </a:r>
            <a:r>
              <a:rPr lang="en-US" altLang="ko-KR" dirty="0"/>
              <a:t>PAYS </a:t>
            </a:r>
            <a:r>
              <a:rPr lang="ko-KR" altLang="en-US" dirty="0"/>
              <a:t>역할이</a:t>
            </a:r>
            <a:r>
              <a:rPr lang="en-US" altLang="ko-KR" dirty="0"/>
              <a:t> </a:t>
            </a:r>
            <a:r>
              <a:rPr lang="ko-KR" altLang="en-US" dirty="0"/>
              <a:t>가장 중요하게 작용하므로 </a:t>
            </a:r>
            <a:r>
              <a:rPr lang="en-US" altLang="ko-KR" dirty="0"/>
              <a:t>Mission mode</a:t>
            </a:r>
            <a:r>
              <a:rPr lang="ko-KR" altLang="en-US" dirty="0"/>
              <a:t>일 때는 </a:t>
            </a:r>
            <a:r>
              <a:rPr lang="en-US" altLang="ko-KR" dirty="0"/>
              <a:t>100%</a:t>
            </a:r>
            <a:r>
              <a:rPr lang="ko-KR" altLang="en-US" dirty="0"/>
              <a:t>로 가동해야 한다고 생각하였습니다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외의 모드에서는</a:t>
            </a:r>
            <a:r>
              <a:rPr lang="en-US" altLang="ko-KR" dirty="0"/>
              <a:t> </a:t>
            </a:r>
            <a:r>
              <a:rPr lang="ko-KR" altLang="en-US" dirty="0"/>
              <a:t>크게 중요하지 않다고 생각하였고 불필요한 전력 낭비를 줄이기 위해 가동하지 않는 것</a:t>
            </a:r>
            <a:r>
              <a:rPr lang="en-US" altLang="ko-KR" dirty="0"/>
              <a:t>(0%)</a:t>
            </a:r>
            <a:r>
              <a:rPr lang="ko-KR" altLang="en-US" dirty="0"/>
              <a:t>으로 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52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다음에는 레이저를 반사하는 </a:t>
            </a:r>
            <a:r>
              <a:rPr lang="en-US" altLang="ko-KR" dirty="0"/>
              <a:t>SLR, </a:t>
            </a:r>
            <a:r>
              <a:rPr lang="ko-KR" altLang="en-US" dirty="0"/>
              <a:t>박막 전개장치에 대해 생각해보았습니다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또한 </a:t>
            </a:r>
            <a:r>
              <a:rPr lang="en-US" altLang="ko-KR" dirty="0"/>
              <a:t>PAYS</a:t>
            </a:r>
            <a:r>
              <a:rPr lang="ko-KR" altLang="en-US" dirty="0"/>
              <a:t>와 마찬가지로 한반도 위의 타겟에 레이저를 쏘아 반사되는 신호를 데이터로 읽기 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Mission mode </a:t>
            </a:r>
            <a:r>
              <a:rPr lang="ko-KR" altLang="en-US" dirty="0"/>
              <a:t>에서는 </a:t>
            </a:r>
            <a:r>
              <a:rPr lang="en-US" altLang="ko-KR" dirty="0"/>
              <a:t>100%</a:t>
            </a:r>
            <a:r>
              <a:rPr lang="ko-KR" altLang="en-US" dirty="0"/>
              <a:t>로 설정하였고</a:t>
            </a:r>
            <a:r>
              <a:rPr lang="en-US" altLang="ko-KR" dirty="0"/>
              <a:t>, </a:t>
            </a:r>
            <a:r>
              <a:rPr lang="ko-KR" altLang="en-US" dirty="0"/>
              <a:t>이외의 모드에서는 </a:t>
            </a:r>
            <a:r>
              <a:rPr lang="en-US" altLang="ko-KR" dirty="0"/>
              <a:t>0%</a:t>
            </a:r>
            <a:r>
              <a:rPr lang="ko-KR" altLang="en-US" dirty="0"/>
              <a:t>로 설정하였습니다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17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PAYC</a:t>
            </a:r>
            <a:r>
              <a:rPr lang="ko-KR" altLang="en-US" dirty="0"/>
              <a:t>는 위에서 다룬 레이저 감지</a:t>
            </a:r>
            <a:r>
              <a:rPr lang="en-US" altLang="ko-KR" dirty="0"/>
              <a:t>, </a:t>
            </a:r>
            <a:r>
              <a:rPr lang="ko-KR" altLang="en-US" dirty="0"/>
              <a:t>반사 이후에 </a:t>
            </a:r>
            <a:r>
              <a:rPr lang="ko-KR" altLang="en-US" dirty="0" err="1"/>
              <a:t>대즐링</a:t>
            </a:r>
            <a:r>
              <a:rPr lang="ko-KR" altLang="en-US" dirty="0"/>
              <a:t> 현상을 사진으로 촬영하는 기능을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앞의 두 과정의 직후 단계이기 때문에 </a:t>
            </a:r>
            <a:r>
              <a:rPr lang="en-US" altLang="ko-KR" dirty="0"/>
              <a:t>Mission mode</a:t>
            </a:r>
            <a:r>
              <a:rPr lang="ko-KR" altLang="en-US" dirty="0"/>
              <a:t>에서는 마찬가지로 </a:t>
            </a:r>
            <a:r>
              <a:rPr lang="en-US" altLang="ko-KR" dirty="0"/>
              <a:t>100%, Sun-pointing</a:t>
            </a:r>
            <a:r>
              <a:rPr lang="ko-KR" altLang="en-US" dirty="0"/>
              <a:t>에서는 불필요하므로 </a:t>
            </a:r>
            <a:r>
              <a:rPr lang="en-US" altLang="ko-KR" dirty="0"/>
              <a:t>0%</a:t>
            </a:r>
            <a:r>
              <a:rPr lang="ko-KR" altLang="en-US" dirty="0"/>
              <a:t>로 설정하였고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촬영한 사진을 기지국으로 송신해야 하므로 </a:t>
            </a:r>
            <a:r>
              <a:rPr lang="en-US" altLang="ko-KR" dirty="0"/>
              <a:t>S-band COM mode</a:t>
            </a:r>
            <a:r>
              <a:rPr lang="ko-KR" altLang="en-US" dirty="0"/>
              <a:t>에서도 어느정도 운용이 되어야한다고 생각했습니다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10~20% </a:t>
            </a:r>
            <a:r>
              <a:rPr lang="ko-KR" altLang="en-US" dirty="0"/>
              <a:t>정도의 적은 부분을 할당하였습니다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ADCS</a:t>
            </a:r>
            <a:r>
              <a:rPr lang="ko-KR" altLang="en-US" dirty="0"/>
              <a:t>는 자세제어를 하는 </a:t>
            </a:r>
            <a:r>
              <a:rPr lang="en-US" altLang="ko-KR" dirty="0"/>
              <a:t>Subsystem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Sun-pointing</a:t>
            </a:r>
            <a:r>
              <a:rPr lang="ko-KR" altLang="en-US" dirty="0"/>
              <a:t>을 하는 </a:t>
            </a:r>
            <a:r>
              <a:rPr lang="en-US" altLang="ko-KR" dirty="0"/>
              <a:t>3598s </a:t>
            </a:r>
            <a:r>
              <a:rPr lang="ko-KR" altLang="en-US" dirty="0"/>
              <a:t>동안에는 전부 태양을 바라보는 방향으로 위성체를 조정해야 하기 때문에 </a:t>
            </a:r>
            <a:r>
              <a:rPr lang="en-US" altLang="ko-KR" dirty="0"/>
              <a:t>ADCS Module</a:t>
            </a:r>
            <a:r>
              <a:rPr lang="ko-KR" altLang="en-US" dirty="0"/>
              <a:t>의 모든 </a:t>
            </a:r>
            <a:r>
              <a:rPr lang="en-US" altLang="ko-KR" dirty="0"/>
              <a:t>product</a:t>
            </a:r>
            <a:r>
              <a:rPr lang="ko-KR" altLang="en-US" dirty="0"/>
              <a:t>에서 운용이 되어야 할 것이라고 생각하여 </a:t>
            </a:r>
            <a:r>
              <a:rPr lang="en-US" altLang="ko-KR" dirty="0"/>
              <a:t>100%</a:t>
            </a:r>
            <a:r>
              <a:rPr lang="ko-KR" altLang="en-US" dirty="0"/>
              <a:t>로 설정하였습니다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Mission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r>
              <a:rPr lang="ko-KR" altLang="en-US" dirty="0"/>
              <a:t>에서도 타겟을 바라보는 방향으로 자세를 제어해야 하며</a:t>
            </a:r>
            <a:r>
              <a:rPr lang="en-US" altLang="ko-KR" dirty="0"/>
              <a:t>, S-band COM</a:t>
            </a:r>
            <a:r>
              <a:rPr lang="ko-KR" altLang="en-US" dirty="0"/>
              <a:t>에서도 마찬가지로 지상국으로 데이터를 송신하기 위한 각도를 매 시간마다 맞추어야 하므로 모두 </a:t>
            </a:r>
            <a:r>
              <a:rPr lang="en-US" altLang="ko-KR" dirty="0"/>
              <a:t>100%</a:t>
            </a:r>
            <a:r>
              <a:rPr lang="ko-KR" altLang="en-US" dirty="0"/>
              <a:t>라고 생각해보았습니다</a:t>
            </a:r>
            <a:r>
              <a:rPr lang="en-US" altLang="ko-KR" dirty="0"/>
              <a:t>.</a:t>
            </a:r>
            <a:r>
              <a:rPr lang="ko-KR" altLang="en-US" dirty="0"/>
              <a:t> 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위치 정보를 알 수 있게 해주는 </a:t>
            </a:r>
            <a:r>
              <a:rPr lang="en-US" altLang="ko-KR" dirty="0"/>
              <a:t>GPS component</a:t>
            </a:r>
            <a:r>
              <a:rPr lang="ko-KR" altLang="en-US" dirty="0"/>
              <a:t>도 역시 위성체의 위치가 매 시간 변화함에 따라 항상 미세한 조정을 해야 하므로 </a:t>
            </a:r>
            <a:r>
              <a:rPr lang="en-US" altLang="ko-KR" dirty="0"/>
              <a:t>Duty rate</a:t>
            </a:r>
            <a:r>
              <a:rPr lang="ko-KR" altLang="en-US" dirty="0"/>
              <a:t>을 </a:t>
            </a:r>
            <a:r>
              <a:rPr lang="en-US" altLang="ko-KR" dirty="0"/>
              <a:t>100%</a:t>
            </a:r>
            <a:r>
              <a:rPr lang="ko-KR" altLang="en-US" dirty="0"/>
              <a:t>로 결정하였습니다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20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r>
              <a:rPr lang="ko-KR" altLang="en-US" dirty="0"/>
              <a:t>는 전력을 담당하는 </a:t>
            </a:r>
            <a:r>
              <a:rPr lang="en-US" altLang="ko-KR" dirty="0"/>
              <a:t>subsystem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전력을 저장하기 위해서는 어떤 </a:t>
            </a:r>
            <a:r>
              <a:rPr lang="ko-KR" altLang="en-US" dirty="0" err="1"/>
              <a:t>시간에서든</a:t>
            </a:r>
            <a:r>
              <a:rPr lang="ko-KR" altLang="en-US" dirty="0"/>
              <a:t> 배터리가 항상 작동되어야 하며 이를 분배하기 위한 </a:t>
            </a:r>
            <a:r>
              <a:rPr lang="en-US" altLang="ko-KR" dirty="0"/>
              <a:t>PCDU</a:t>
            </a:r>
            <a:r>
              <a:rPr lang="ko-KR" altLang="en-US" dirty="0"/>
              <a:t>도 매 시간마다 작동되어야 한다고 생각했습니다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Solar Cell</a:t>
            </a:r>
            <a:r>
              <a:rPr lang="ko-KR" altLang="en-US" dirty="0"/>
              <a:t>에 대해서는 </a:t>
            </a:r>
            <a:r>
              <a:rPr lang="en-US" altLang="ko-KR" dirty="0"/>
              <a:t>Sun-pointing</a:t>
            </a:r>
            <a:r>
              <a:rPr lang="ko-KR" altLang="en-US" dirty="0"/>
              <a:t>을 하는 경우에만 전력을 생산할 수 있으므로 그 외의 </a:t>
            </a:r>
            <a:r>
              <a:rPr lang="en-US" altLang="ko-KR" dirty="0"/>
              <a:t>mode</a:t>
            </a:r>
            <a:r>
              <a:rPr lang="ko-KR" altLang="en-US" dirty="0"/>
              <a:t>에서는 작동하지 않는 것으로 설정하였습니다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69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원격측정 및 명령을 담당하는 </a:t>
            </a:r>
            <a:r>
              <a:rPr lang="en-US" altLang="ko-KR" dirty="0"/>
              <a:t>CNDH</a:t>
            </a:r>
            <a:r>
              <a:rPr lang="ko-KR" altLang="en-US" dirty="0"/>
              <a:t>에서는 데이터 송 수신이 가장 중요하다고 생각했습니다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S-band COM mode</a:t>
            </a:r>
            <a:r>
              <a:rPr lang="ko-KR" altLang="en-US" dirty="0"/>
              <a:t>에서는 항상 작동되어야 하고 </a:t>
            </a:r>
            <a:r>
              <a:rPr lang="en-US" altLang="ko-KR" dirty="0"/>
              <a:t>Mission mode</a:t>
            </a:r>
            <a:r>
              <a:rPr lang="ko-KR" altLang="en-US" dirty="0"/>
              <a:t>일 때도 타겟에 대한 정보를 지상국으로 보내야 하므로 </a:t>
            </a:r>
            <a:r>
              <a:rPr lang="en-US" altLang="ko-KR" dirty="0"/>
              <a:t>100%</a:t>
            </a:r>
            <a:r>
              <a:rPr lang="ko-KR" altLang="en-US" dirty="0"/>
              <a:t>로 설정했습니다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sun-pointing</a:t>
            </a:r>
            <a:r>
              <a:rPr lang="ko-KR" altLang="en-US" dirty="0"/>
              <a:t>일 때는 특별한 데이터 송수신을 하지 않아도 된다는 것을 고려하여 </a:t>
            </a:r>
            <a:r>
              <a:rPr lang="en-US" altLang="ko-KR" dirty="0"/>
              <a:t>0%</a:t>
            </a:r>
            <a:r>
              <a:rPr lang="ko-KR" altLang="en-US" dirty="0"/>
              <a:t>로 설정해보았습니다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028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통신을 담당하는 </a:t>
            </a:r>
            <a:r>
              <a:rPr lang="en-US" altLang="ko-KR" dirty="0"/>
              <a:t>COMS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통신이 주 임무인 만큼 이와 직결되는 </a:t>
            </a:r>
            <a:r>
              <a:rPr lang="en-US" altLang="ko-KR" dirty="0"/>
              <a:t>S-band COM mode</a:t>
            </a:r>
            <a:r>
              <a:rPr lang="ko-KR" altLang="en-US" dirty="0"/>
              <a:t>에서는 항상 작동되어야 하므로 </a:t>
            </a:r>
            <a:r>
              <a:rPr lang="en-US" altLang="ko-KR" dirty="0"/>
              <a:t>100%</a:t>
            </a:r>
            <a:r>
              <a:rPr lang="ko-KR" altLang="en-US" dirty="0"/>
              <a:t>로 결정하였습니다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타겟을 </a:t>
            </a:r>
            <a:r>
              <a:rPr lang="ko-KR" altLang="en-US" dirty="0" err="1"/>
              <a:t>대즐링할</a:t>
            </a:r>
            <a:r>
              <a:rPr lang="ko-KR" altLang="en-US" dirty="0"/>
              <a:t> 때도 해당 위치에 대해 지상국과 지속적인 통신이 필요하므로 </a:t>
            </a:r>
            <a:r>
              <a:rPr lang="en-US" altLang="ko-KR" dirty="0"/>
              <a:t>100%</a:t>
            </a:r>
            <a:r>
              <a:rPr lang="ko-KR" altLang="en-US" dirty="0"/>
              <a:t>로 설정하였지만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Sun-pointing</a:t>
            </a:r>
            <a:r>
              <a:rPr lang="ko-KR" altLang="en-US" dirty="0"/>
              <a:t> 때는 별다른 통신 임무를 하지 않는다고 생각하여 </a:t>
            </a:r>
            <a:r>
              <a:rPr lang="en-US" altLang="ko-KR" dirty="0"/>
              <a:t>0%</a:t>
            </a:r>
            <a:r>
              <a:rPr lang="ko-KR" altLang="en-US" dirty="0"/>
              <a:t>로 설정하였습니다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12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총 </a:t>
            </a:r>
            <a:r>
              <a:rPr lang="en-US" altLang="ko-KR" dirty="0"/>
              <a:t>7</a:t>
            </a:r>
            <a:r>
              <a:rPr lang="ko-KR" altLang="en-US" dirty="0"/>
              <a:t>개의 하부계에서 제가 예상해본 </a:t>
            </a:r>
            <a:r>
              <a:rPr lang="en-US" altLang="ko-KR" dirty="0"/>
              <a:t>duty rate</a:t>
            </a:r>
            <a:r>
              <a:rPr lang="ko-KR" altLang="en-US" dirty="0"/>
              <a:t>을 정리해봤으며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수치를 입력했을 때 나오는 </a:t>
            </a:r>
            <a:r>
              <a:rPr lang="en-US" altLang="ko-KR" dirty="0"/>
              <a:t>consumption Power</a:t>
            </a:r>
            <a:r>
              <a:rPr lang="ko-KR" altLang="en-US" dirty="0"/>
              <a:t>의 결과값입니다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붉게 표시한 곳이 실제 시나리오의 </a:t>
            </a:r>
            <a:r>
              <a:rPr lang="en-US" altLang="ko-KR" dirty="0"/>
              <a:t>duty rate</a:t>
            </a:r>
            <a:r>
              <a:rPr lang="ko-KR" altLang="en-US" dirty="0"/>
              <a:t>와 다른 값인데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제가 생각한 </a:t>
            </a:r>
            <a:r>
              <a:rPr lang="en-US" altLang="ko-KR" dirty="0"/>
              <a:t>duty rate</a:t>
            </a:r>
            <a:r>
              <a:rPr lang="ko-KR" altLang="en-US" dirty="0"/>
              <a:t>와 어떠한 이유로 차이가 있는지 더 공부해보기로 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40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PAYR</a:t>
            </a:r>
            <a:r>
              <a:rPr lang="ko-KR" altLang="en-US" dirty="0"/>
              <a:t>의 경우에</a:t>
            </a:r>
            <a:r>
              <a:rPr lang="en-US" altLang="ko-KR" dirty="0"/>
              <a:t>,</a:t>
            </a:r>
            <a:r>
              <a:rPr lang="ko-KR" altLang="en-US" dirty="0"/>
              <a:t> 제가 예상했던 </a:t>
            </a:r>
            <a:r>
              <a:rPr lang="en-US" altLang="ko-KR" dirty="0"/>
              <a:t>sun pointing, mission</a:t>
            </a:r>
            <a:r>
              <a:rPr lang="ko-KR" altLang="en-US" dirty="0"/>
              <a:t>의 </a:t>
            </a:r>
            <a:r>
              <a:rPr lang="en-US" altLang="ko-KR" dirty="0"/>
              <a:t>duty rate</a:t>
            </a:r>
            <a:r>
              <a:rPr lang="ko-KR" altLang="en-US" dirty="0"/>
              <a:t> </a:t>
            </a:r>
            <a:r>
              <a:rPr lang="en-US" altLang="ko-KR" dirty="0"/>
              <a:t>0%, 100%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달리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값은 이와 반대인 </a:t>
            </a:r>
            <a:r>
              <a:rPr lang="en-US" altLang="ko-KR" dirty="0"/>
              <a:t>100%, 0% </a:t>
            </a:r>
            <a:r>
              <a:rPr lang="ko-KR" altLang="en-US" dirty="0"/>
              <a:t>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박막 전개 장치의 경우 초기 운용궤도에서는 펼 수 없으므로 </a:t>
            </a:r>
            <a:r>
              <a:rPr lang="en-US" altLang="ko-KR" dirty="0"/>
              <a:t>sun pointing mode</a:t>
            </a:r>
            <a:r>
              <a:rPr lang="ko-KR" altLang="en-US" dirty="0"/>
              <a:t>에 넣어 놓고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펼쳐졌는지 정보를 읽어와야 하기 때문에 </a:t>
            </a:r>
            <a:r>
              <a:rPr lang="en-US" altLang="ko-KR" dirty="0"/>
              <a:t>sun pointing </a:t>
            </a:r>
            <a:r>
              <a:rPr lang="ko-KR" altLang="en-US" dirty="0"/>
              <a:t>구간에서 전부 켜져 있는 것으로 생각해야한다고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mission mode</a:t>
            </a:r>
            <a:r>
              <a:rPr lang="ko-KR" altLang="en-US" dirty="0"/>
              <a:t>에서는 앞의 과정에서 이미 잘 펴져 있다고 판단되므로 더 이상 정보를 받을 필요가 없기 때문에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전력 소비가 없을 것으로 예상되어 </a:t>
            </a:r>
            <a:r>
              <a:rPr lang="en-US" altLang="ko-KR" dirty="0"/>
              <a:t>0%</a:t>
            </a:r>
            <a:r>
              <a:rPr lang="ko-KR" altLang="en-US" dirty="0"/>
              <a:t>로 설정한다는 것을 알게 되었습니다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이처럼</a:t>
            </a:r>
            <a:r>
              <a:rPr lang="en-US" altLang="ko-KR" dirty="0"/>
              <a:t>,</a:t>
            </a:r>
            <a:r>
              <a:rPr lang="ko-KR" altLang="en-US" dirty="0"/>
              <a:t> 각각의 </a:t>
            </a:r>
            <a:r>
              <a:rPr lang="en-US" altLang="ko-KR" dirty="0"/>
              <a:t>subsystem</a:t>
            </a:r>
            <a:r>
              <a:rPr lang="ko-KR" altLang="en-US" dirty="0"/>
              <a:t>에 대한 이해가 부족하여 더 깊게 생각하지 못하고 </a:t>
            </a:r>
            <a:r>
              <a:rPr lang="en-US" altLang="ko-KR" dirty="0"/>
              <a:t>duty rate </a:t>
            </a:r>
            <a:r>
              <a:rPr lang="ko-KR" altLang="en-US" dirty="0"/>
              <a:t>설정하면서 생긴 오류가 제법 많아 아쉬웠습니다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어떤 원리로 해당 하부계가 작동하는지</a:t>
            </a:r>
            <a:r>
              <a:rPr lang="en-US" altLang="ko-KR" dirty="0"/>
              <a:t>, </a:t>
            </a:r>
            <a:r>
              <a:rPr lang="ko-KR" altLang="en-US" dirty="0"/>
              <a:t>어떠한 이유로 얼만큼의 전력을 분배 받아야하는 지에 대해 더욱 깊게 공부하여 내용을 보완하겠습니다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Budget</a:t>
            </a:r>
          </a:p>
          <a:p>
            <a:pPr lvl="1"/>
            <a:r>
              <a:rPr lang="en-US" altLang="ko-KR" dirty="0"/>
              <a:t>EPS Budget (duty percent, time)</a:t>
            </a:r>
          </a:p>
          <a:p>
            <a:pPr lvl="2"/>
            <a:r>
              <a:rPr lang="en-US" altLang="ko-KR" dirty="0"/>
              <a:t>Sun pointing</a:t>
            </a:r>
          </a:p>
          <a:p>
            <a:pPr lvl="2"/>
            <a:r>
              <a:rPr lang="en-US" altLang="ko-KR" dirty="0"/>
              <a:t>Mission</a:t>
            </a:r>
          </a:p>
          <a:p>
            <a:pPr lvl="2"/>
            <a:r>
              <a:rPr lang="en-US" altLang="ko-KR" dirty="0"/>
              <a:t>S-band COM</a:t>
            </a:r>
          </a:p>
          <a:p>
            <a:pPr lvl="1"/>
            <a:r>
              <a:rPr lang="en-US" altLang="ko-KR" dirty="0"/>
              <a:t>Subsystem</a:t>
            </a:r>
          </a:p>
          <a:p>
            <a:pPr lvl="2"/>
            <a:r>
              <a:rPr lang="en-US" altLang="ko-KR" dirty="0"/>
              <a:t>PAYS</a:t>
            </a:r>
          </a:p>
          <a:p>
            <a:pPr lvl="2"/>
            <a:r>
              <a:rPr lang="en-US" altLang="ko-KR" dirty="0"/>
              <a:t>PAYR</a:t>
            </a:r>
          </a:p>
          <a:p>
            <a:pPr lvl="2"/>
            <a:r>
              <a:rPr lang="en-US" altLang="ko-KR" dirty="0"/>
              <a:t>PAYC</a:t>
            </a:r>
          </a:p>
          <a:p>
            <a:pPr lvl="2"/>
            <a:r>
              <a:rPr lang="en-US" altLang="ko-KR" dirty="0"/>
              <a:t>ADCS</a:t>
            </a:r>
          </a:p>
          <a:p>
            <a:pPr lvl="2"/>
            <a:r>
              <a:rPr lang="en-US" altLang="ko-KR" dirty="0"/>
              <a:t>EPS</a:t>
            </a:r>
          </a:p>
          <a:p>
            <a:pPr lvl="2"/>
            <a:r>
              <a:rPr lang="en-US" altLang="ko-KR" dirty="0"/>
              <a:t>CNDH</a:t>
            </a:r>
          </a:p>
          <a:p>
            <a:pPr lvl="2"/>
            <a:r>
              <a:rPr lang="en-US" altLang="ko-KR" dirty="0"/>
              <a:t>COMS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Budget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36033"/>
              </p:ext>
            </p:extLst>
          </p:nvPr>
        </p:nvGraphicFramePr>
        <p:xfrm>
          <a:off x="223158" y="719666"/>
          <a:ext cx="11745684" cy="42737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EPS Budget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(duty percent, time)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Sun pointing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Mission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S-band COM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PAYS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PAYR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PAYC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EPS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CNDH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D81DD-BA13-59EA-B503-1EE5DDB7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E637B1-175C-1165-C45C-2A4DB28E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46C517-4D98-CC88-C699-61E121BB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6F6F75-FA69-2D3A-0404-A3340A4F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76B5B2-348E-9D06-E1EA-455AF2384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2664"/>
            <a:ext cx="12192000" cy="387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4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1.1  PAYS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및 </a:t>
            </a: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레이저 감지 </a:t>
            </a:r>
            <a:endParaRPr lang="en-US" altLang="ko-KR" sz="1600" kern="5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554623"/>
              </p:ext>
            </p:extLst>
          </p:nvPr>
        </p:nvGraphicFramePr>
        <p:xfrm>
          <a:off x="1685925" y="2790825"/>
          <a:ext cx="9201150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431139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197761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PAYS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vl="1" algn="l" latinLnBrk="1"/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lvl="1" algn="l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33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1.2  PAYR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SLR 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레이저 반사 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박막 전개장치</a:t>
            </a:r>
            <a:r>
              <a:rPr lang="en-US" altLang="ko-KR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676471"/>
              </p:ext>
            </p:extLst>
          </p:nvPr>
        </p:nvGraphicFramePr>
        <p:xfrm>
          <a:off x="1685925" y="2790825"/>
          <a:ext cx="9201150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431139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197761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PAYR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8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1.3  PAYC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레이저로 인한 </a:t>
            </a: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대즐링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현상 사진 촬영</a:t>
            </a:r>
            <a:endParaRPr lang="en-US" altLang="ko-KR" sz="1600" kern="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58030"/>
              </p:ext>
            </p:extLst>
          </p:nvPr>
        </p:nvGraphicFramePr>
        <p:xfrm>
          <a:off x="1685925" y="2790825"/>
          <a:ext cx="9201150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431139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197761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PAYC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10~20%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973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</a:t>
            </a:r>
            <a:r>
              <a:rPr lang="en-US" altLang="ko-KR" sz="1600" b="1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ADCS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자세제어계</a:t>
            </a:r>
            <a:endParaRPr lang="en-US" altLang="ko-KR" sz="1600" kern="5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501364"/>
              </p:ext>
            </p:extLst>
          </p:nvPr>
        </p:nvGraphicFramePr>
        <p:xfrm>
          <a:off x="638430" y="1749705"/>
          <a:ext cx="10162921" cy="44711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11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ADCS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ADCS Module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Cubecomputer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Cubesense</a:t>
                      </a:r>
                      <a:r>
                        <a:rPr lang="en-US" altLang="ko-KR" sz="1200" dirty="0"/>
                        <a:t> V3x2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97949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CubeTorquers</a:t>
                      </a:r>
                      <a:r>
                        <a:rPr lang="en-US" altLang="ko-KR" sz="1200" dirty="0"/>
                        <a:t> Load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9170040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CubeTorquers</a:t>
                      </a:r>
                      <a:r>
                        <a:rPr lang="en-US" altLang="ko-KR" sz="1200" dirty="0"/>
                        <a:t> Coil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9717002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Cubecontrol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0990612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CubeMag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454210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Wheel x 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0504309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GPS antenna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TW1829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688002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GPS RX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OEM719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9662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0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EPS</a:t>
            </a:r>
          </a:p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전력</a:t>
            </a: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제어계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296084"/>
              </p:ext>
            </p:extLst>
          </p:nvPr>
        </p:nvGraphicFramePr>
        <p:xfrm>
          <a:off x="638430" y="1749705"/>
          <a:ext cx="10162921" cy="22765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EPS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Battery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Optimus-40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PCDU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Starbuck-Nano-Plus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979497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Solar cell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GOMspace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9170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17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CNDH</a:t>
            </a:r>
          </a:p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원격측정 </a:t>
            </a:r>
            <a:r>
              <a:rPr lang="ko-KR" altLang="en-US" sz="1600" kern="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명</a:t>
            </a:r>
            <a:r>
              <a:rPr lang="ko-KR" altLang="en-US" sz="1600" kern="5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령계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79063"/>
              </p:ext>
            </p:extLst>
          </p:nvPr>
        </p:nvGraphicFramePr>
        <p:xfrm>
          <a:off x="638430" y="1749705"/>
          <a:ext cx="10162921" cy="15450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CNDH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OBC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NCT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91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6E2F3C-61B9-66AE-298D-DE1EF0F750DE}"/>
              </a:ext>
            </a:extLst>
          </p:cNvPr>
          <p:cNvSpPr txBox="1"/>
          <p:nvPr/>
        </p:nvSpPr>
        <p:spPr>
          <a:xfrm>
            <a:off x="638430" y="676222"/>
            <a:ext cx="9632406" cy="15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b="1" kern="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COMS</a:t>
            </a:r>
          </a:p>
          <a:p>
            <a:pPr lvl="0" algn="just" fontAlgn="base" latinLnBrk="0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통신계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 algn="just" fontAlgn="base" latinLnBrk="0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7FEB20DC-EC8D-6161-AE33-4511974C5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613659"/>
              </p:ext>
            </p:extLst>
          </p:nvPr>
        </p:nvGraphicFramePr>
        <p:xfrm>
          <a:off x="638430" y="1749705"/>
          <a:ext cx="10162921" cy="22765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1846">
                  <a:extLst>
                    <a:ext uri="{9D8B030D-6E8A-4147-A177-3AD203B41FA5}">
                      <a16:colId xmlns:a16="http://schemas.microsoft.com/office/drawing/2014/main" val="2051832806"/>
                    </a:ext>
                  </a:extLst>
                </a:gridCol>
                <a:gridCol w="1519699">
                  <a:extLst>
                    <a:ext uri="{9D8B030D-6E8A-4147-A177-3AD203B41FA5}">
                      <a16:colId xmlns:a16="http://schemas.microsoft.com/office/drawing/2014/main" val="2980536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042197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113167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834072586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81702217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1227412604"/>
                    </a:ext>
                  </a:extLst>
                </a:gridCol>
              </a:tblGrid>
              <a:tr h="447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Subsystem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Component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Product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Duty(%)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　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1419236"/>
                  </a:ext>
                </a:extLst>
              </a:tr>
              <a:tr h="34174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sun pointing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Mission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S-band COM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2551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Time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3598.40748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900.00000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054898"/>
                  </a:ext>
                </a:extLst>
              </a:tr>
              <a:tr h="34174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UHF antenna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ISIS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332967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UHF </a:t>
                      </a:r>
                      <a:r>
                        <a:rPr lang="en-US" altLang="ko-KR" sz="1200" dirty="0" err="1"/>
                        <a:t>TRx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NanoCom</a:t>
                      </a:r>
                      <a:r>
                        <a:rPr lang="en-US" altLang="ko-KR" sz="1200" dirty="0"/>
                        <a:t> AX100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478840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S-band </a:t>
                      </a:r>
                      <a:r>
                        <a:rPr lang="en-US" altLang="ko-KR" sz="1200" dirty="0" err="1"/>
                        <a:t>TRx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Pulsar-STX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고딕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9602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87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D9935F6-D25D-0C82-38BC-518227937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0" y="1244600"/>
            <a:ext cx="10515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8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8F0548-2B03-3C70-F505-D99413D63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244600"/>
            <a:ext cx="10515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90327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1084</Words>
  <Application>Microsoft Office PowerPoint</Application>
  <PresentationFormat>와이드스크린</PresentationFormat>
  <Paragraphs>330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맑은고딕</vt:lpstr>
      <vt:lpstr>Arial</vt:lpstr>
      <vt:lpstr>Normal</vt:lpstr>
      <vt:lpstr>High_Priority</vt:lpstr>
      <vt:lpstr>PowerPoint 프레젠테이션</vt:lpstr>
      <vt:lpstr>Level 1: Electrical Power Budget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39</cp:revision>
  <dcterms:created xsi:type="dcterms:W3CDTF">2021-06-14T06:44:23Z</dcterms:created>
  <dcterms:modified xsi:type="dcterms:W3CDTF">2022-06-02T14:05:36Z</dcterms:modified>
</cp:coreProperties>
</file>