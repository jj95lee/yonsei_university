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4" r:id="rId1"/>
  </p:sldMasterIdLst>
  <p:notesMasterIdLst>
    <p:notesMasterId r:id="rId23"/>
  </p:notesMasterIdLst>
  <p:sldIdLst>
    <p:sldId id="256" r:id="rId2"/>
    <p:sldId id="257" r:id="rId3"/>
    <p:sldId id="3439" r:id="rId4"/>
    <p:sldId id="320" r:id="rId5"/>
    <p:sldId id="318" r:id="rId6"/>
    <p:sldId id="323" r:id="rId7"/>
    <p:sldId id="335" r:id="rId8"/>
    <p:sldId id="336" r:id="rId9"/>
    <p:sldId id="337" r:id="rId10"/>
    <p:sldId id="338" r:id="rId11"/>
    <p:sldId id="339" r:id="rId12"/>
    <p:sldId id="340" r:id="rId13"/>
    <p:sldId id="341" r:id="rId14"/>
    <p:sldId id="343" r:id="rId15"/>
    <p:sldId id="344" r:id="rId16"/>
    <p:sldId id="345" r:id="rId17"/>
    <p:sldId id="346" r:id="rId18"/>
    <p:sldId id="347" r:id="rId19"/>
    <p:sldId id="348" r:id="rId20"/>
    <p:sldId id="349" r:id="rId21"/>
    <p:sldId id="350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644" autoAdjust="0"/>
  </p:normalViewPr>
  <p:slideViewPr>
    <p:cSldViewPr snapToGrid="0">
      <p:cViewPr varScale="1">
        <p:scale>
          <a:sx n="92" d="100"/>
          <a:sy n="92" d="100"/>
        </p:scale>
        <p:origin x="1278" y="96"/>
      </p:cViewPr>
      <p:guideLst>
        <p:guide orient="horz" pos="2158"/>
        <p:guide pos="3839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4444ADC7-D137-4355-B287-E417A90F4D15}" type="datetime1">
              <a:rPr lang="ko-KR" altLang="en-US"/>
              <a:pPr lvl="0">
                <a:defRPr/>
              </a:pPr>
              <a:t>2022-12-22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9B8E8DA4-E2D7-43C2-B6C4-2E5B1B19F402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53812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46534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약 두배 정도 더 전력 소모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79880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실제로는 피크모드의 </a:t>
            </a:r>
            <a:r>
              <a:rPr lang="en-US" altLang="ko-KR" dirty="0"/>
              <a:t>wheel </a:t>
            </a:r>
            <a:r>
              <a:rPr lang="ko-KR" altLang="en-US" dirty="0"/>
              <a:t>사용량 더 적음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77934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미션모드에서 </a:t>
            </a:r>
            <a:r>
              <a:rPr lang="ko-KR" altLang="en-US" dirty="0" err="1"/>
              <a:t>안쓴다고</a:t>
            </a:r>
            <a:r>
              <a:rPr lang="ko-KR" altLang="en-US" dirty="0"/>
              <a:t> 생각하여 </a:t>
            </a:r>
            <a:r>
              <a:rPr lang="en-US" altLang="ko-KR" dirty="0"/>
              <a:t>0</a:t>
            </a:r>
            <a:r>
              <a:rPr lang="ko-KR" altLang="en-US" dirty="0"/>
              <a:t>으로 두었는데 실제로는 쓴다 </a:t>
            </a:r>
            <a:r>
              <a:rPr lang="en-US" altLang="ko-KR" dirty="0"/>
              <a:t>(</a:t>
            </a:r>
            <a:r>
              <a:rPr lang="ko-KR" altLang="en-US" dirty="0"/>
              <a:t>통신도 마찬가지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21153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임무 중에 지상에서</a:t>
            </a:r>
            <a:r>
              <a:rPr lang="en-US" altLang="ko-KR" dirty="0"/>
              <a:t> </a:t>
            </a:r>
            <a:r>
              <a:rPr lang="ko-KR" altLang="en-US" dirty="0"/>
              <a:t>명령을 줄 수도 있어서 넉넉잡아 반반으로 수정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921640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사용 </a:t>
            </a:r>
            <a:r>
              <a:rPr lang="ko-KR" altLang="en-US" dirty="0" err="1"/>
              <a:t>안할때는</a:t>
            </a:r>
            <a:r>
              <a:rPr lang="ko-KR" altLang="en-US" dirty="0"/>
              <a:t> </a:t>
            </a:r>
            <a:r>
              <a:rPr lang="en-US" altLang="ko-KR" dirty="0"/>
              <a:t>Idle </a:t>
            </a:r>
            <a:r>
              <a:rPr lang="ko-KR" altLang="en-US" dirty="0"/>
              <a:t>상태로 두어야 하는 줄 알았는데</a:t>
            </a:r>
            <a:r>
              <a:rPr lang="en-US" altLang="ko-KR" dirty="0"/>
              <a:t>,</a:t>
            </a:r>
            <a:r>
              <a:rPr lang="ko-KR" altLang="en-US" dirty="0"/>
              <a:t> 아예 전력을 </a:t>
            </a:r>
            <a:r>
              <a:rPr lang="ko-KR" altLang="en-US" dirty="0" err="1"/>
              <a:t>안먹도록</a:t>
            </a:r>
            <a:r>
              <a:rPr lang="ko-KR" altLang="en-US" dirty="0"/>
              <a:t> 자체적으로 전원을 끄는게 가능했다</a:t>
            </a:r>
            <a:endParaRPr lang="en-US" altLang="ko-KR" dirty="0"/>
          </a:p>
          <a:p>
            <a:pPr lvl="0">
              <a:defRPr/>
            </a:pPr>
            <a:r>
              <a:rPr lang="en-US" altLang="ko-KR" dirty="0"/>
              <a:t>S-band</a:t>
            </a:r>
            <a:r>
              <a:rPr lang="ko-KR" altLang="en-US" dirty="0"/>
              <a:t>가 포함된 주기 외에는 전원을 </a:t>
            </a:r>
            <a:r>
              <a:rPr lang="en-US" altLang="ko-KR" dirty="0"/>
              <a:t>Off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77639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 err="1"/>
              <a:t>펴고나면</a:t>
            </a:r>
            <a:r>
              <a:rPr lang="ko-KR" altLang="en-US" dirty="0"/>
              <a:t> 온도 데이터 외에는 받는게 없어서 굳이 필요 없을 것 같아서 </a:t>
            </a:r>
            <a:r>
              <a:rPr lang="en-US" altLang="ko-KR" dirty="0"/>
              <a:t>0</a:t>
            </a:r>
            <a:r>
              <a:rPr lang="ko-KR" altLang="en-US" dirty="0"/>
              <a:t>으로 두었다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912240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실제로 전력도 다르게 적용되고 있었다 </a:t>
            </a:r>
            <a:endParaRPr lang="en-US" altLang="ko-KR" dirty="0"/>
          </a:p>
          <a:p>
            <a:pPr lvl="0">
              <a:defRPr/>
            </a:pPr>
            <a:r>
              <a:rPr lang="ko-KR" altLang="en-US" dirty="0"/>
              <a:t>결국 이렇게 모두 수정한 결과 소비전력이 많이 감소한 것을 확인 가능</a:t>
            </a:r>
            <a:endParaRPr lang="en-US" altLang="ko-KR" dirty="0"/>
          </a:p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32643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생산전력</a:t>
            </a:r>
            <a:endParaRPr lang="en-US" altLang="ko-KR" dirty="0"/>
          </a:p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100390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95411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492824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52824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r>
              <a:rPr lang="ko-KR" altLang="en-US" dirty="0" err="1"/>
              <a:t>나디르랑</a:t>
            </a:r>
            <a:r>
              <a:rPr lang="ko-KR" altLang="en-US" dirty="0"/>
              <a:t> </a:t>
            </a:r>
            <a:r>
              <a:rPr lang="ko-KR" altLang="en-US" dirty="0" err="1"/>
              <a:t>지상국</a:t>
            </a:r>
            <a:r>
              <a:rPr lang="ko-KR" altLang="en-US" dirty="0"/>
              <a:t> 지향을 나눴다 </a:t>
            </a:r>
            <a:r>
              <a:rPr lang="en-US" altLang="ko-KR" dirty="0"/>
              <a:t>-&gt; </a:t>
            </a:r>
            <a:r>
              <a:rPr lang="ko-KR" altLang="en-US" dirty="0" err="1"/>
              <a:t>나디르</a:t>
            </a:r>
            <a:r>
              <a:rPr lang="ko-KR" altLang="en-US" dirty="0"/>
              <a:t> 포인팅 하다가 틀어서 더 많은 각도 이동이 필요</a:t>
            </a:r>
            <a:endParaRPr lang="en-US" altLang="ko-KR" dirty="0"/>
          </a:p>
          <a:p>
            <a:pPr lvl="0">
              <a:defRPr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455004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39684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Y</a:t>
            </a:r>
            <a:r>
              <a:rPr lang="ko-KR" altLang="en-US" dirty="0"/>
              <a:t>쪽은 </a:t>
            </a:r>
            <a:r>
              <a:rPr lang="en-US" altLang="ko-KR" dirty="0"/>
              <a:t>MMT, S-band antenna </a:t>
            </a:r>
            <a:r>
              <a:rPr lang="ko-KR" altLang="en-US" dirty="0"/>
              <a:t>때문에 불가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42803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Y</a:t>
            </a:r>
            <a:r>
              <a:rPr lang="ko-KR" altLang="en-US" dirty="0"/>
              <a:t>쪽은 </a:t>
            </a:r>
            <a:r>
              <a:rPr lang="en-US" altLang="ko-KR" dirty="0"/>
              <a:t>MMT, S-band antenna </a:t>
            </a:r>
            <a:r>
              <a:rPr lang="ko-KR" altLang="en-US" dirty="0"/>
              <a:t>때문에 불가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952326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Y</a:t>
            </a:r>
            <a:r>
              <a:rPr lang="ko-KR" altLang="en-US" dirty="0"/>
              <a:t>쪽은 </a:t>
            </a:r>
            <a:r>
              <a:rPr lang="en-US" altLang="ko-KR" dirty="0"/>
              <a:t>MMT, S-band antenna </a:t>
            </a:r>
            <a:r>
              <a:rPr lang="ko-KR" altLang="en-US" dirty="0"/>
              <a:t>때문에 불가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477419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CB5FD6-A2DE-4563-BDD9-970544F4D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551608-DD27-4795-B323-401D3C83F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77F833-C2AE-4216-8871-52717469E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4E6671EE-0BC6-43D9-95C1-E999911B0F9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67999" y="1707834"/>
            <a:ext cx="4500000" cy="43707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4" name="내용 개체 틀 13">
            <a:extLst>
              <a:ext uri="{FF2B5EF4-FFF2-40B4-BE49-F238E27FC236}">
                <a16:creationId xmlns:a16="http://schemas.microsoft.com/office/drawing/2014/main" id="{11D38D3C-35BA-40CB-8AC0-E2A6A6D454C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4000" y="1707834"/>
            <a:ext cx="4448502" cy="43707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AA2A7109-DF7D-4EB0-AA89-8DE0E3E62A68}"/>
              </a:ext>
            </a:extLst>
          </p:cNvPr>
          <p:cNvSpPr txBox="1">
            <a:spLocks/>
          </p:cNvSpPr>
          <p:nvPr userDrawn="1"/>
        </p:nvSpPr>
        <p:spPr>
          <a:xfrm>
            <a:off x="1524000" y="1131070"/>
            <a:ext cx="9144000" cy="47783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0" rIns="91440" bIns="0" rtlCol="0" anchor="ctr" anchorCtr="0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CONTENTS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1518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N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481A23-558C-45ED-98AD-790BDCB69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643398"/>
            <a:ext cx="10515600" cy="566527"/>
          </a:xfrm>
        </p:spPr>
        <p:txBody>
          <a:bodyPr anchor="ctr" anchorCtr="0"/>
          <a:lstStyle>
            <a:lvl1pPr>
              <a:defRPr sz="3000"/>
            </a:lvl1pPr>
          </a:lstStyle>
          <a:p>
            <a:r>
              <a:rPr lang="en-US" altLang="ko-KR" dirty="0"/>
              <a:t>Level 1 Title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E7D3B2-67B7-4B48-A0BB-0C91B9C8DB0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288620"/>
            <a:ext cx="10515600" cy="428851"/>
          </a:xfrm>
        </p:spPr>
        <p:txBody>
          <a:bodyPr anchor="ctr" anchorCtr="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/>
              <a:t>Level 2 Title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DB0C4F-B05E-4BB8-8959-4A7045B35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FFEBB5-2730-4F42-B547-4F1D75B06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0FFEE1-9D1B-4562-BEB9-F1D366099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776145B-5468-43F7-BC17-C1B9CB5D7CC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9956" y="3796165"/>
            <a:ext cx="10063843" cy="118949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altLang="ko-KR" dirty="0"/>
              <a:t>Level 3 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1860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043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30400" indent="-230400">
              <a:buFont typeface="+mj-lt"/>
              <a:buAutoNum type="arabicPeriod"/>
              <a:defRPr/>
            </a:lvl1pPr>
            <a:lvl2pPr marL="687600" indent="-230400">
              <a:buFont typeface="+mj-lt"/>
              <a:buAutoNum type="arabicPeriod"/>
              <a:defRPr/>
            </a:lvl2pPr>
            <a:lvl3pPr marL="1144800" indent="-230400">
              <a:buFont typeface="+mj-lt"/>
              <a:buAutoNum type="arabicPeriod"/>
              <a:defRPr/>
            </a:lvl3pPr>
            <a:lvl4pPr marL="1602000" indent="-230400">
              <a:buFont typeface="+mj-lt"/>
              <a:buAutoNum type="arabicPeriod"/>
              <a:defRPr/>
            </a:lvl4pPr>
            <a:lvl5pPr marL="2059200" indent="-230400">
              <a:buFont typeface="+mj-lt"/>
              <a:buAutoNum type="arabicPeriod"/>
              <a:defRPr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759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ontents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78ED9E-1B3E-43D3-A1E4-DA95D262A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FA1A2BE-B3CB-4E99-8FBA-B0D43546C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EABA880-A6C3-4F04-8D72-A5F69848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AB759D5-6101-4028-9764-14853A423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362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1A3D82-C5C0-4922-91A8-8509A9CAC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85A98B-BE8E-48BD-9792-89E0CD12B1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919" y="635223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328A94B-4E02-48FA-B00D-919E373D67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6149" y="635222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FF3D3F-7973-483D-B851-281CB52D7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5B6405-CAA7-4753-8A8A-064423C9D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1C8E86-99CB-4565-B7CA-0F44CF631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285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E6694E0-9343-4893-8463-1145B6CF6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1B42A68-D9BB-4EA1-8739-191E265A2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598DC4-1BD5-4BB9-B399-28926DBB7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71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7540F519-A5D5-4C17-A8B9-7371A3A84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776" y="928686"/>
            <a:ext cx="11506451" cy="5376968"/>
          </a:xfrm>
        </p:spPr>
        <p:txBody>
          <a:bodyPr>
            <a:noAutofit/>
          </a:bodyPr>
          <a:lstStyle>
            <a:lvl1pPr marL="228600" indent="-360000">
              <a:lnSpc>
                <a:spcPct val="100000"/>
              </a:lnSpc>
              <a:buFont typeface="Wingdings" panose="05000000000000000000" pitchFamily="2" charset="2"/>
              <a:buChar char="v"/>
              <a:defRPr sz="2000" b="1">
                <a:latin typeface="+mn-ea"/>
                <a:ea typeface="+mn-ea"/>
                <a:cs typeface="times" panose="02020603050405020304" pitchFamily="18" charset="0"/>
              </a:defRPr>
            </a:lvl1pPr>
            <a:lvl2pPr marL="540000" indent="-324000">
              <a:lnSpc>
                <a:spcPct val="100000"/>
              </a:lnSpc>
              <a:buFont typeface="Wingdings" panose="05000000000000000000" pitchFamily="2" charset="2"/>
              <a:buChar char="u"/>
              <a:defRPr sz="1600" b="0">
                <a:latin typeface="+mn-ea"/>
                <a:ea typeface="+mn-ea"/>
                <a:cs typeface="times" panose="02020603050405020304" pitchFamily="18" charset="0"/>
              </a:defRPr>
            </a:lvl2pPr>
            <a:lvl3pPr marL="720000" indent="-288000">
              <a:lnSpc>
                <a:spcPct val="100000"/>
              </a:lnSpc>
              <a:buFont typeface="Wingdings" panose="05000000000000000000" pitchFamily="2" charset="2"/>
              <a:buChar char="Ø"/>
              <a:defRPr sz="1400">
                <a:latin typeface="+mn-ea"/>
                <a:ea typeface="+mn-ea"/>
                <a:cs typeface="times" panose="02020603050405020304" pitchFamily="18" charset="0"/>
              </a:defRPr>
            </a:lvl3pPr>
            <a:lvl4pPr marL="900000" indent="-252000">
              <a:lnSpc>
                <a:spcPct val="100000"/>
              </a:lnSpc>
              <a:buFont typeface="Wingdings" panose="05000000000000000000" pitchFamily="2" charset="2"/>
              <a:buChar char="ü"/>
              <a:defRPr sz="1200">
                <a:latin typeface="+mn-ea"/>
                <a:ea typeface="+mn-ea"/>
                <a:cs typeface="times" panose="02020603050405020304" pitchFamily="18" charset="0"/>
              </a:defRPr>
            </a:lvl4pPr>
            <a:lvl5pPr marL="1080000" indent="-252000">
              <a:lnSpc>
                <a:spcPct val="100000"/>
              </a:lnSpc>
              <a:defRPr sz="1200">
                <a:latin typeface="+mn-ea"/>
                <a:ea typeface="+mn-ea"/>
                <a:cs typeface="times" panose="02020603050405020304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78361285-D5CA-4434-A351-5343035FD0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78743" y="71055"/>
            <a:ext cx="8940619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+mj-ea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D14EEDE-3F58-409A-8C98-F099C099E03A}"/>
              </a:ext>
            </a:extLst>
          </p:cNvPr>
          <p:cNvCxnSpPr>
            <a:cxnSpLocks/>
          </p:cNvCxnSpPr>
          <p:nvPr userDrawn="1"/>
        </p:nvCxnSpPr>
        <p:spPr>
          <a:xfrm>
            <a:off x="825500" y="876300"/>
            <a:ext cx="10100733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4926874-7DA7-4D84-BD23-06EAC42705A1}"/>
              </a:ext>
            </a:extLst>
          </p:cNvPr>
          <p:cNvCxnSpPr>
            <a:cxnSpLocks/>
          </p:cNvCxnSpPr>
          <p:nvPr userDrawn="1"/>
        </p:nvCxnSpPr>
        <p:spPr>
          <a:xfrm>
            <a:off x="1041400" y="803275"/>
            <a:ext cx="897636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E6512356-D24D-441C-9E5B-5F36FA2A23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400" y="70572"/>
            <a:ext cx="960000" cy="720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4237601-4972-4EDD-B898-CF207AB6AFA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1822" y="102551"/>
            <a:ext cx="1272655" cy="657008"/>
          </a:xfrm>
          <a:prstGeom prst="rect">
            <a:avLst/>
          </a:prstGeom>
        </p:spPr>
      </p:pic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92C0F874-49DF-95C5-883B-C4E1CC0E25D8}"/>
              </a:ext>
            </a:extLst>
          </p:cNvPr>
          <p:cNvSpPr txBox="1">
            <a:spLocks/>
          </p:cNvSpPr>
          <p:nvPr userDrawn="1"/>
        </p:nvSpPr>
        <p:spPr>
          <a:xfrm>
            <a:off x="10541001" y="926835"/>
            <a:ext cx="1308225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400" b="1" kern="120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97DD3AE-C24E-49FC-B527-05061A0348E6}" type="slidenum">
              <a:rPr lang="ko-KR" altLang="en-US" sz="140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pPr/>
              <a:t>‹#›</a:t>
            </a:fld>
            <a:endParaRPr lang="ko-KR" altLang="en-US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13534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1ECE7B7-AA9D-4251-AEFA-95130E496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726" y="1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F0D367-F6F4-4F72-A8D1-137C1A702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920" y="635225"/>
            <a:ext cx="12030160" cy="60518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206645-6D5E-4C5E-9ED5-F78BD24581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1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altLang="ko-KR"/>
              <a:t>2021-06-14</a:t>
            </a:r>
            <a:endParaRPr lang="ko-KR" altLang="en-US" dirty="0"/>
          </a:p>
        </p:txBody>
      </p:sp>
      <p:sp>
        <p:nvSpPr>
          <p:cNvPr id="5" name="바닥글 개체 틀 4" descr="서브시스템명">
            <a:extLst>
              <a:ext uri="{FF2B5EF4-FFF2-40B4-BE49-F238E27FC236}">
                <a16:creationId xmlns:a16="http://schemas.microsoft.com/office/drawing/2014/main" id="{878F36F7-C21A-419B-8BED-2C1A2503B9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1274" y="0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lvl1pPr algn="ctr"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서브시스템명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DC6C9F-1062-43C7-8857-4890E5D685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185739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800" b="1">
                <a:solidFill>
                  <a:schemeClr val="tx1"/>
                </a:solidFill>
              </a:defRPr>
            </a:lvl1pPr>
          </a:lstStyle>
          <a:p>
            <a:fld id="{0CB21479-F3CA-4373-A45A-41FA028DDA7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5397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63" r:id="rId4"/>
    <p:sldLayoutId id="2147483654" r:id="rId5"/>
    <p:sldLayoutId id="2147483652" r:id="rId6"/>
    <p:sldLayoutId id="2147483655" r:id="rId7"/>
    <p:sldLayoutId id="2147483665" r:id="rId8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2022-12-22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CDR (2023.04)</a:t>
            </a:r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</p:txBody>
      </p:sp>
      <p:sp>
        <p:nvSpPr>
          <p:cNvPr id="9" name="내용 개체 틀 8"/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Electrical Power System</a:t>
            </a:r>
          </a:p>
          <a:p>
            <a:pPr lvl="2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endParaRPr lang="en-US" altLang="ko-KR" dirty="0"/>
          </a:p>
          <a:p>
            <a:pPr marL="914400" lvl="2" indent="0">
              <a:buNone/>
              <a:defRPr/>
            </a:pPr>
            <a:endParaRPr lang="en-US" altLang="ko-KR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Level 1: Electrical Power System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2022-12-22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  <p:graphicFrame>
        <p:nvGraphicFramePr>
          <p:cNvPr id="25" name="표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0664773"/>
              </p:ext>
            </p:extLst>
          </p:nvPr>
        </p:nvGraphicFramePr>
        <p:xfrm>
          <a:off x="223158" y="719666"/>
          <a:ext cx="11748949" cy="4741152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1949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45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84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Level 2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Level 3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DAYS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trike="sngStri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trike="sngStrike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ko-KR" altLang="en-US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39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trike="sngStrike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39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 rowSpan="6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14400" marR="0" lvl="2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14400" marR="0" lvl="2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7737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7737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en-US" altLang="ko-KR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75474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BA33E39-DBE7-5086-670A-73AB96FE9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시나리오 궤도 정의</a:t>
            </a:r>
            <a:endParaRPr lang="en-US" altLang="ko-KR" dirty="0"/>
          </a:p>
          <a:p>
            <a:pPr lvl="1"/>
            <a:r>
              <a:rPr lang="ko-KR" altLang="en-US" dirty="0"/>
              <a:t>초기 궤도</a:t>
            </a:r>
            <a:r>
              <a:rPr lang="en-US" altLang="ko-KR" dirty="0"/>
              <a:t>: Early-Orbit (EO)</a:t>
            </a:r>
          </a:p>
          <a:p>
            <a:pPr lvl="2"/>
            <a:r>
              <a:rPr lang="en-US" altLang="ko-KR" dirty="0"/>
              <a:t>Detumbling </a:t>
            </a:r>
            <a:r>
              <a:rPr lang="ko-KR" altLang="en-US" dirty="0"/>
              <a:t>수행 </a:t>
            </a:r>
            <a:r>
              <a:rPr lang="en-US" altLang="ko-KR" dirty="0">
                <a:sym typeface="Wingdings" panose="05000000000000000000" pitchFamily="2" charset="2"/>
              </a:rPr>
              <a:t> MTQ </a:t>
            </a:r>
            <a:r>
              <a:rPr lang="ko-KR" altLang="en-US" dirty="0">
                <a:sym typeface="Wingdings" panose="05000000000000000000" pitchFamily="2" charset="2"/>
              </a:rPr>
              <a:t>작동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/>
              <a:t>대기</a:t>
            </a:r>
            <a:r>
              <a:rPr lang="en-US" altLang="ko-KR" dirty="0"/>
              <a:t>: Stand-by</a:t>
            </a:r>
          </a:p>
          <a:p>
            <a:pPr lvl="2"/>
            <a:r>
              <a:rPr lang="ko-KR" altLang="en-US" dirty="0"/>
              <a:t>최소 단면적 지향</a:t>
            </a:r>
            <a:endParaRPr lang="en-US" altLang="ko-KR" dirty="0"/>
          </a:p>
          <a:p>
            <a:pPr lvl="2"/>
            <a:r>
              <a:rPr lang="ko-KR" altLang="en-US" dirty="0"/>
              <a:t>태양이 보일 시 태양 지향</a:t>
            </a:r>
            <a:endParaRPr lang="en-US" altLang="ko-KR" dirty="0"/>
          </a:p>
          <a:p>
            <a:pPr lvl="3"/>
            <a:r>
              <a:rPr lang="ko-KR" altLang="en-US" dirty="0"/>
              <a:t>추락 방지를 위해</a:t>
            </a:r>
            <a:r>
              <a:rPr lang="en-US" altLang="ko-KR" dirty="0"/>
              <a:t> (</a:t>
            </a:r>
            <a:r>
              <a:rPr lang="ko-KR" altLang="en-US" dirty="0"/>
              <a:t>식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ko-KR" altLang="en-US" dirty="0">
                <a:sym typeface="Wingdings" panose="05000000000000000000" pitchFamily="2" charset="2"/>
              </a:rPr>
              <a:t>일</a:t>
            </a:r>
            <a:r>
              <a:rPr lang="en-US" altLang="ko-KR" dirty="0"/>
              <a:t>)17</a:t>
            </a:r>
            <a:r>
              <a:rPr lang="ko-KR" altLang="en-US" dirty="0"/>
              <a:t>분 후 지향 시작 </a:t>
            </a:r>
            <a:r>
              <a:rPr lang="en-US" altLang="ko-KR" dirty="0"/>
              <a:t>/ (</a:t>
            </a:r>
            <a:r>
              <a:rPr lang="ko-KR" altLang="en-US" dirty="0"/>
              <a:t>일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ko-KR" altLang="en-US" dirty="0">
                <a:sym typeface="Wingdings" panose="05000000000000000000" pitchFamily="2" charset="2"/>
              </a:rPr>
              <a:t>식</a:t>
            </a:r>
            <a:r>
              <a:rPr lang="en-US" altLang="ko-KR" dirty="0"/>
              <a:t>) 17</a:t>
            </a:r>
            <a:r>
              <a:rPr lang="ko-KR" altLang="en-US" dirty="0"/>
              <a:t>분 전 지향 종료</a:t>
            </a:r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ko-KR" altLang="en-US" dirty="0"/>
              <a:t>임무</a:t>
            </a:r>
            <a:r>
              <a:rPr lang="en-US" altLang="ko-KR" dirty="0"/>
              <a:t>: Mission</a:t>
            </a:r>
          </a:p>
          <a:p>
            <a:pPr lvl="2"/>
            <a:r>
              <a:rPr lang="ko-KR" altLang="en-US" dirty="0"/>
              <a:t>한반도 상공에서 </a:t>
            </a:r>
            <a:r>
              <a:rPr lang="ko-KR" altLang="en-US" dirty="0" err="1"/>
              <a:t>지상국</a:t>
            </a:r>
            <a:r>
              <a:rPr lang="ko-KR" altLang="en-US" dirty="0"/>
              <a:t> 지향 및 카메라 촬영</a:t>
            </a:r>
            <a:endParaRPr lang="en-US" altLang="ko-KR" dirty="0"/>
          </a:p>
          <a:p>
            <a:pPr lvl="2"/>
            <a:r>
              <a:rPr lang="en-US" altLang="ko-KR" dirty="0"/>
              <a:t>UHF </a:t>
            </a:r>
            <a:r>
              <a:rPr lang="ko-KR" altLang="en-US" dirty="0"/>
              <a:t>대역 데이터 하향</a:t>
            </a:r>
            <a:r>
              <a:rPr lang="en-US" altLang="ko-KR" dirty="0"/>
              <a:t>; </a:t>
            </a:r>
            <a:r>
              <a:rPr lang="ko-KR" altLang="en-US" dirty="0"/>
              <a:t>위치 정보 및 레이저 감지 여부</a:t>
            </a:r>
            <a:endParaRPr lang="en-US" altLang="ko-KR" dirty="0"/>
          </a:p>
          <a:p>
            <a:pPr lvl="2"/>
            <a:r>
              <a:rPr lang="ko-KR" altLang="en-US" dirty="0"/>
              <a:t>그 외</a:t>
            </a:r>
            <a:r>
              <a:rPr lang="en-US" altLang="ko-KR" dirty="0"/>
              <a:t>, “</a:t>
            </a:r>
            <a:r>
              <a:rPr lang="ko-KR" altLang="en-US" dirty="0"/>
              <a:t>대기</a:t>
            </a:r>
            <a:r>
              <a:rPr lang="en-US" altLang="ko-KR" dirty="0"/>
              <a:t>”</a:t>
            </a:r>
            <a:r>
              <a:rPr lang="ko-KR" altLang="en-US" dirty="0"/>
              <a:t>와 동일</a:t>
            </a:r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ko-KR" altLang="en-US" dirty="0"/>
              <a:t>통신</a:t>
            </a:r>
            <a:r>
              <a:rPr lang="en-US" altLang="ko-KR" dirty="0"/>
              <a:t>: Communication</a:t>
            </a:r>
          </a:p>
          <a:p>
            <a:pPr lvl="2"/>
            <a:r>
              <a:rPr lang="ko-KR" altLang="en-US" dirty="0"/>
              <a:t>한반도 상공에서 </a:t>
            </a:r>
            <a:r>
              <a:rPr lang="ko-KR" altLang="en-US" dirty="0" err="1"/>
              <a:t>지상국</a:t>
            </a:r>
            <a:r>
              <a:rPr lang="ko-KR" altLang="en-US" dirty="0"/>
              <a:t> 지향 및 </a:t>
            </a:r>
            <a:r>
              <a:rPr lang="en-US" altLang="ko-KR" dirty="0"/>
              <a:t>S</a:t>
            </a:r>
            <a:r>
              <a:rPr lang="ko-KR" altLang="en-US" dirty="0"/>
              <a:t> 대역 데이터 하향</a:t>
            </a:r>
            <a:endParaRPr lang="en-US" altLang="ko-KR" dirty="0"/>
          </a:p>
          <a:p>
            <a:pPr lvl="2"/>
            <a:r>
              <a:rPr lang="ko-KR" altLang="en-US" dirty="0"/>
              <a:t>한반도 상공 통과 시간에 따라 통신 </a:t>
            </a:r>
            <a:r>
              <a:rPr lang="en-US" altLang="ko-KR" dirty="0"/>
              <a:t>(</a:t>
            </a:r>
            <a:r>
              <a:rPr lang="ko-KR" altLang="en-US" dirty="0"/>
              <a:t>밤</a:t>
            </a:r>
            <a:r>
              <a:rPr lang="en-US" altLang="ko-KR" dirty="0"/>
              <a:t>), </a:t>
            </a:r>
            <a:r>
              <a:rPr lang="ko-KR" altLang="en-US" dirty="0"/>
              <a:t>통신 </a:t>
            </a:r>
            <a:r>
              <a:rPr lang="en-US" altLang="ko-KR" dirty="0"/>
              <a:t>(</a:t>
            </a:r>
            <a:r>
              <a:rPr lang="ko-KR" altLang="en-US" dirty="0"/>
              <a:t>낮</a:t>
            </a:r>
            <a:r>
              <a:rPr lang="en-US" altLang="ko-KR" dirty="0"/>
              <a:t>)</a:t>
            </a:r>
            <a:r>
              <a:rPr lang="ko-KR" altLang="en-US" dirty="0"/>
              <a:t>으로 나뉨</a:t>
            </a:r>
            <a:endParaRPr lang="en-US" altLang="ko-KR" dirty="0"/>
          </a:p>
          <a:p>
            <a:pPr lvl="2"/>
            <a:r>
              <a:rPr lang="ko-KR" altLang="en-US" dirty="0"/>
              <a:t>그 외</a:t>
            </a:r>
            <a:r>
              <a:rPr lang="en-US" altLang="ko-KR" dirty="0"/>
              <a:t>, “</a:t>
            </a:r>
            <a:r>
              <a:rPr lang="ko-KR" altLang="en-US" dirty="0"/>
              <a:t>대기</a:t>
            </a:r>
            <a:r>
              <a:rPr lang="en-US" altLang="ko-KR" dirty="0"/>
              <a:t>”</a:t>
            </a:r>
            <a:r>
              <a:rPr lang="ko-KR" altLang="en-US" dirty="0"/>
              <a:t>와 동일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353F533-045F-0113-A55E-084EE1C0B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BUS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본체</a:t>
            </a:r>
            <a:r>
              <a:rPr lang="en-US" altLang="ko-KR" dirty="0"/>
              <a:t>): EPS</a:t>
            </a:r>
            <a:endParaRPr lang="ko-KR" altLang="en-US" dirty="0"/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B78D49FD-83F6-191C-85D4-E2D5C7278AC5}"/>
              </a:ext>
            </a:extLst>
          </p:cNvPr>
          <p:cNvGrpSpPr/>
          <p:nvPr/>
        </p:nvGrpSpPr>
        <p:grpSpPr>
          <a:xfrm>
            <a:off x="7661220" y="1237828"/>
            <a:ext cx="2514203" cy="2259597"/>
            <a:chOff x="5810647" y="1304250"/>
            <a:chExt cx="2514203" cy="2259597"/>
          </a:xfrm>
        </p:grpSpPr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D2C96225-FAE1-3FDF-DBA9-73B4DA836CAC}"/>
                </a:ext>
              </a:extLst>
            </p:cNvPr>
            <p:cNvSpPr/>
            <p:nvPr/>
          </p:nvSpPr>
          <p:spPr>
            <a:xfrm>
              <a:off x="6245678" y="1396995"/>
              <a:ext cx="2079172" cy="2079172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25" name="자유형: 도형 24">
              <a:extLst>
                <a:ext uri="{FF2B5EF4-FFF2-40B4-BE49-F238E27FC236}">
                  <a16:creationId xmlns:a16="http://schemas.microsoft.com/office/drawing/2014/main" id="{1FE9C541-A9A7-D3DA-408D-7739B119CBDB}"/>
                </a:ext>
              </a:extLst>
            </p:cNvPr>
            <p:cNvSpPr/>
            <p:nvPr/>
          </p:nvSpPr>
          <p:spPr>
            <a:xfrm>
              <a:off x="6245678" y="1997526"/>
              <a:ext cx="1058636" cy="887186"/>
            </a:xfrm>
            <a:custGeom>
              <a:avLst/>
              <a:gdLst>
                <a:gd name="connsiteX0" fmla="*/ 98268 w 1058636"/>
                <a:gd name="connsiteY0" fmla="*/ 0 h 887186"/>
                <a:gd name="connsiteX1" fmla="*/ 1058636 w 1058636"/>
                <a:gd name="connsiteY1" fmla="*/ 0 h 887186"/>
                <a:gd name="connsiteX2" fmla="*/ 1058636 w 1058636"/>
                <a:gd name="connsiteY2" fmla="*/ 887186 h 887186"/>
                <a:gd name="connsiteX3" fmla="*/ 102640 w 1058636"/>
                <a:gd name="connsiteY3" fmla="*/ 887186 h 887186"/>
                <a:gd name="connsiteX4" fmla="*/ 81696 w 1058636"/>
                <a:gd name="connsiteY4" fmla="*/ 843709 h 887186"/>
                <a:gd name="connsiteX5" fmla="*/ 0 w 1058636"/>
                <a:gd name="connsiteY5" fmla="*/ 439055 h 887186"/>
                <a:gd name="connsiteX6" fmla="*/ 81696 w 1058636"/>
                <a:gd name="connsiteY6" fmla="*/ 34402 h 887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58636" h="887186">
                  <a:moveTo>
                    <a:pt x="98268" y="0"/>
                  </a:moveTo>
                  <a:lnTo>
                    <a:pt x="1058636" y="0"/>
                  </a:lnTo>
                  <a:lnTo>
                    <a:pt x="1058636" y="887186"/>
                  </a:lnTo>
                  <a:lnTo>
                    <a:pt x="102640" y="887186"/>
                  </a:lnTo>
                  <a:lnTo>
                    <a:pt x="81696" y="843709"/>
                  </a:lnTo>
                  <a:cubicBezTo>
                    <a:pt x="29090" y="719334"/>
                    <a:pt x="0" y="582592"/>
                    <a:pt x="0" y="439055"/>
                  </a:cubicBezTo>
                  <a:cubicBezTo>
                    <a:pt x="0" y="295518"/>
                    <a:pt x="29090" y="158776"/>
                    <a:pt x="81696" y="34402"/>
                  </a:cubicBezTo>
                  <a:close/>
                </a:path>
              </a:pathLst>
            </a:custGeom>
            <a:solidFill>
              <a:srgbClr val="000000">
                <a:alpha val="50196"/>
              </a:srgb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3A7DC4D9-CCAB-A410-5579-6873A3A15ED1}"/>
                </a:ext>
              </a:extLst>
            </p:cNvPr>
            <p:cNvSpPr/>
            <p:nvPr/>
          </p:nvSpPr>
          <p:spPr>
            <a:xfrm>
              <a:off x="6590465" y="1752600"/>
              <a:ext cx="1387928" cy="1387928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6D72E85D-3E56-D769-9BD4-6B1ACBEC7134}"/>
                </a:ext>
              </a:extLst>
            </p:cNvPr>
            <p:cNvSpPr/>
            <p:nvPr/>
          </p:nvSpPr>
          <p:spPr>
            <a:xfrm>
              <a:off x="6841672" y="1997528"/>
              <a:ext cx="887185" cy="887185"/>
            </a:xfrm>
            <a:prstGeom prst="ellipse">
              <a:avLst/>
            </a:prstGeom>
            <a:solidFill>
              <a:srgbClr val="00B050">
                <a:alpha val="50196"/>
              </a:srgb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err="1">
                <a:solidFill>
                  <a:schemeClr val="tx1"/>
                </a:solidFill>
              </a:endParaRPr>
            </a:p>
          </p:txBody>
        </p: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620FD7F5-D6B3-70F7-A128-BEB96B1076BA}"/>
                </a:ext>
              </a:extLst>
            </p:cNvPr>
            <p:cNvCxnSpPr>
              <a:cxnSpLocks/>
              <a:stCxn id="25" idx="0"/>
              <a:endCxn id="10" idx="0"/>
            </p:cNvCxnSpPr>
            <p:nvPr/>
          </p:nvCxnSpPr>
          <p:spPr>
            <a:xfrm>
              <a:off x="6343946" y="1997526"/>
              <a:ext cx="941319" cy="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B1DAC4BB-3DBE-524A-30B6-28634289D6A1}"/>
                </a:ext>
              </a:extLst>
            </p:cNvPr>
            <p:cNvCxnSpPr>
              <a:cxnSpLocks/>
              <a:stCxn id="25" idx="3"/>
              <a:endCxn id="10" idx="4"/>
            </p:cNvCxnSpPr>
            <p:nvPr/>
          </p:nvCxnSpPr>
          <p:spPr>
            <a:xfrm>
              <a:off x="6348318" y="2884712"/>
              <a:ext cx="936947" cy="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03CAE489-EBCC-BF18-C1C3-47FFFD562259}"/>
                </a:ext>
              </a:extLst>
            </p:cNvPr>
            <p:cNvSpPr/>
            <p:nvPr/>
          </p:nvSpPr>
          <p:spPr>
            <a:xfrm>
              <a:off x="7589521" y="2227033"/>
              <a:ext cx="76199" cy="76199"/>
            </a:xfrm>
            <a:prstGeom prst="ellipse">
              <a:avLst/>
            </a:prstGeom>
            <a:solidFill>
              <a:srgbClr val="FF0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err="1">
                <a:solidFill>
                  <a:schemeClr val="tx1"/>
                </a:solidFill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FF089EC9-130D-A665-3611-CD27B510ED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06403" y="1387335"/>
              <a:ext cx="617764" cy="105047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7477C2F8-23A3-5D10-E89C-67389228C04E}"/>
                </a:ext>
              </a:extLst>
            </p:cNvPr>
            <p:cNvCxnSpPr>
              <a:cxnSpLocks/>
            </p:cNvCxnSpPr>
            <p:nvPr/>
          </p:nvCxnSpPr>
          <p:spPr>
            <a:xfrm>
              <a:off x="7306403" y="2436581"/>
              <a:ext cx="617764" cy="105047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409C0FDC-E8B9-8F6D-6722-DF9338FA0A3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42605" y="1659615"/>
              <a:ext cx="961709" cy="77696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42AC2914-163D-B3EB-DA60-17B84CDE09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42605" y="2436581"/>
              <a:ext cx="961709" cy="77696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원호 32">
              <a:extLst>
                <a:ext uri="{FF2B5EF4-FFF2-40B4-BE49-F238E27FC236}">
                  <a16:creationId xmlns:a16="http://schemas.microsoft.com/office/drawing/2014/main" id="{225F844E-E785-86A6-0893-49328A95356C}"/>
                </a:ext>
              </a:extLst>
            </p:cNvPr>
            <p:cNvSpPr/>
            <p:nvPr/>
          </p:nvSpPr>
          <p:spPr>
            <a:xfrm>
              <a:off x="6405359" y="1543247"/>
              <a:ext cx="1800000" cy="1800000"/>
            </a:xfrm>
            <a:prstGeom prst="arc">
              <a:avLst>
                <a:gd name="adj1" fmla="val 13169510"/>
                <a:gd name="adj2" fmla="val 18041542"/>
              </a:avLst>
            </a:prstGeom>
            <a:ln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원호 33">
              <a:extLst>
                <a:ext uri="{FF2B5EF4-FFF2-40B4-BE49-F238E27FC236}">
                  <a16:creationId xmlns:a16="http://schemas.microsoft.com/office/drawing/2014/main" id="{79B2327D-5032-BB1D-98D5-2B6E54BF0E1E}"/>
                </a:ext>
              </a:extLst>
            </p:cNvPr>
            <p:cNvSpPr/>
            <p:nvPr/>
          </p:nvSpPr>
          <p:spPr>
            <a:xfrm flipV="1">
              <a:off x="6405359" y="1532363"/>
              <a:ext cx="1800000" cy="1800000"/>
            </a:xfrm>
            <a:prstGeom prst="arc">
              <a:avLst>
                <a:gd name="adj1" fmla="val 13169510"/>
                <a:gd name="adj2" fmla="val 18041542"/>
              </a:avLst>
            </a:prstGeom>
            <a:ln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3569042-15B1-721D-6FD0-908F605B56CB}"/>
                </a:ext>
              </a:extLst>
            </p:cNvPr>
            <p:cNvSpPr txBox="1"/>
            <p:nvPr/>
          </p:nvSpPr>
          <p:spPr>
            <a:xfrm>
              <a:off x="6774996" y="1304250"/>
              <a:ext cx="5633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/>
                <a:t>17 </a:t>
              </a:r>
              <a:r>
                <a:rPr lang="ko-KR" altLang="en-US" sz="1200" dirty="0"/>
                <a:t>분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5CB9325-17FF-E53F-32D3-5CA50F512222}"/>
                </a:ext>
              </a:extLst>
            </p:cNvPr>
            <p:cNvSpPr txBox="1"/>
            <p:nvPr/>
          </p:nvSpPr>
          <p:spPr>
            <a:xfrm>
              <a:off x="6711691" y="3286848"/>
              <a:ext cx="5633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/>
                <a:t>17 </a:t>
              </a:r>
              <a:r>
                <a:rPr lang="ko-KR" altLang="en-US" sz="1200" dirty="0"/>
                <a:t>분</a:t>
              </a:r>
            </a:p>
          </p:txBody>
        </p:sp>
        <p:sp>
          <p:nvSpPr>
            <p:cNvPr id="37" name="원호 36">
              <a:extLst>
                <a:ext uri="{FF2B5EF4-FFF2-40B4-BE49-F238E27FC236}">
                  <a16:creationId xmlns:a16="http://schemas.microsoft.com/office/drawing/2014/main" id="{10A4B0BB-B131-5DF1-51B7-A17F90AA2D35}"/>
                </a:ext>
              </a:extLst>
            </p:cNvPr>
            <p:cNvSpPr/>
            <p:nvPr/>
          </p:nvSpPr>
          <p:spPr>
            <a:xfrm>
              <a:off x="6589629" y="1751764"/>
              <a:ext cx="1389600" cy="1389600"/>
            </a:xfrm>
            <a:prstGeom prst="arc">
              <a:avLst>
                <a:gd name="adj1" fmla="val 3467685"/>
                <a:gd name="adj2" fmla="val 18115007"/>
              </a:avLst>
            </a:prstGeom>
            <a:ln w="762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원호 37">
              <a:extLst>
                <a:ext uri="{FF2B5EF4-FFF2-40B4-BE49-F238E27FC236}">
                  <a16:creationId xmlns:a16="http://schemas.microsoft.com/office/drawing/2014/main" id="{A6466013-4D6E-DB52-0D8F-3BFC37E83D4A}"/>
                </a:ext>
              </a:extLst>
            </p:cNvPr>
            <p:cNvSpPr/>
            <p:nvPr/>
          </p:nvSpPr>
          <p:spPr>
            <a:xfrm>
              <a:off x="6589629" y="1751764"/>
              <a:ext cx="1389600" cy="1389600"/>
            </a:xfrm>
            <a:prstGeom prst="arc">
              <a:avLst>
                <a:gd name="adj1" fmla="val 18104610"/>
                <a:gd name="adj2" fmla="val 3427576"/>
              </a:avLst>
            </a:prstGeom>
            <a:ln w="76200">
              <a:solidFill>
                <a:srgbClr val="FFC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D018FCE-7931-19C1-E3E6-3A71AF7BF938}"/>
                </a:ext>
              </a:extLst>
            </p:cNvPr>
            <p:cNvSpPr txBox="1"/>
            <p:nvPr/>
          </p:nvSpPr>
          <p:spPr>
            <a:xfrm>
              <a:off x="5810647" y="2329499"/>
              <a:ext cx="5633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/>
                <a:t>식</a:t>
              </a: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80338B8C-DDE1-1FA0-54E0-AB78AC27195E}"/>
              </a:ext>
            </a:extLst>
          </p:cNvPr>
          <p:cNvGrpSpPr/>
          <p:nvPr/>
        </p:nvGrpSpPr>
        <p:grpSpPr>
          <a:xfrm>
            <a:off x="6210720" y="1239245"/>
            <a:ext cx="1787147" cy="746721"/>
            <a:chOff x="5099958" y="1119389"/>
            <a:chExt cx="1576044" cy="746721"/>
          </a:xfrm>
        </p:grpSpPr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BA81FE8D-6BFA-4163-B5B6-41322571662C}"/>
                </a:ext>
              </a:extLst>
            </p:cNvPr>
            <p:cNvCxnSpPr/>
            <p:nvPr/>
          </p:nvCxnSpPr>
          <p:spPr>
            <a:xfrm>
              <a:off x="5099958" y="1256353"/>
              <a:ext cx="304800" cy="0"/>
            </a:xfrm>
            <a:prstGeom prst="line">
              <a:avLst/>
            </a:prstGeom>
            <a:ln w="762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4CE1292C-CF6F-052B-309A-B7DB62A9B99E}"/>
                </a:ext>
              </a:extLst>
            </p:cNvPr>
            <p:cNvCxnSpPr/>
            <p:nvPr/>
          </p:nvCxnSpPr>
          <p:spPr>
            <a:xfrm>
              <a:off x="5099958" y="1491982"/>
              <a:ext cx="304800" cy="0"/>
            </a:xfrm>
            <a:prstGeom prst="line">
              <a:avLst/>
            </a:prstGeom>
            <a:ln w="762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212868DE-9456-7605-FC35-6BB09355E483}"/>
                </a:ext>
              </a:extLst>
            </p:cNvPr>
            <p:cNvCxnSpPr/>
            <p:nvPr/>
          </p:nvCxnSpPr>
          <p:spPr>
            <a:xfrm>
              <a:off x="5099958" y="1727611"/>
              <a:ext cx="304800" cy="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6D01A37-14B0-F74C-BE69-7219A732535F}"/>
                </a:ext>
              </a:extLst>
            </p:cNvPr>
            <p:cNvSpPr txBox="1"/>
            <p:nvPr/>
          </p:nvSpPr>
          <p:spPr>
            <a:xfrm>
              <a:off x="5399609" y="1119389"/>
              <a:ext cx="126755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/>
                <a:t>최소 단면적 지향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EE19B81-8D59-0CDA-CAD8-98D43C8B266E}"/>
                </a:ext>
              </a:extLst>
            </p:cNvPr>
            <p:cNvSpPr txBox="1"/>
            <p:nvPr/>
          </p:nvSpPr>
          <p:spPr>
            <a:xfrm>
              <a:off x="5404029" y="1350942"/>
              <a:ext cx="126755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/>
                <a:t>태양 지향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82628BF-BBF6-D1C9-C383-41058FF29B66}"/>
                </a:ext>
              </a:extLst>
            </p:cNvPr>
            <p:cNvSpPr txBox="1"/>
            <p:nvPr/>
          </p:nvSpPr>
          <p:spPr>
            <a:xfrm>
              <a:off x="5408449" y="1589111"/>
              <a:ext cx="126755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 err="1"/>
                <a:t>지상국</a:t>
              </a:r>
              <a:r>
                <a:rPr lang="ko-KR" altLang="en-US" sz="1200" dirty="0"/>
                <a:t> 지향</a:t>
              </a:r>
            </a:p>
          </p:txBody>
        </p: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DB6786FD-0DDA-24BB-FFEF-76AD4FCFB61E}"/>
              </a:ext>
            </a:extLst>
          </p:cNvPr>
          <p:cNvSpPr txBox="1"/>
          <p:nvPr/>
        </p:nvSpPr>
        <p:spPr>
          <a:xfrm>
            <a:off x="9087249" y="2307756"/>
            <a:ext cx="3637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/>
              <a:t>GS</a:t>
            </a:r>
            <a:endParaRPr lang="ko-KR" altLang="en-US" sz="800" dirty="0"/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861FD4D1-BDAA-B2A8-4002-DB95AC4145E3}"/>
              </a:ext>
            </a:extLst>
          </p:cNvPr>
          <p:cNvGrpSpPr/>
          <p:nvPr/>
        </p:nvGrpSpPr>
        <p:grpSpPr>
          <a:xfrm>
            <a:off x="7661220" y="4051532"/>
            <a:ext cx="2514203" cy="2259597"/>
            <a:chOff x="6071904" y="4093854"/>
            <a:chExt cx="2514203" cy="2259597"/>
          </a:xfrm>
        </p:grpSpPr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3C27B1F1-63EF-83FE-C4F9-9E08980298DA}"/>
                </a:ext>
              </a:extLst>
            </p:cNvPr>
            <p:cNvSpPr/>
            <p:nvPr/>
          </p:nvSpPr>
          <p:spPr>
            <a:xfrm>
              <a:off x="6506935" y="4186599"/>
              <a:ext cx="2079172" cy="2079172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51" name="자유형: 도형 50">
              <a:extLst>
                <a:ext uri="{FF2B5EF4-FFF2-40B4-BE49-F238E27FC236}">
                  <a16:creationId xmlns:a16="http://schemas.microsoft.com/office/drawing/2014/main" id="{D5E1CC6E-CEFD-DDE3-1233-B36D4DB7AEBC}"/>
                </a:ext>
              </a:extLst>
            </p:cNvPr>
            <p:cNvSpPr/>
            <p:nvPr/>
          </p:nvSpPr>
          <p:spPr>
            <a:xfrm>
              <a:off x="6506935" y="4787130"/>
              <a:ext cx="1058636" cy="887186"/>
            </a:xfrm>
            <a:custGeom>
              <a:avLst/>
              <a:gdLst>
                <a:gd name="connsiteX0" fmla="*/ 98268 w 1058636"/>
                <a:gd name="connsiteY0" fmla="*/ 0 h 887186"/>
                <a:gd name="connsiteX1" fmla="*/ 1058636 w 1058636"/>
                <a:gd name="connsiteY1" fmla="*/ 0 h 887186"/>
                <a:gd name="connsiteX2" fmla="*/ 1058636 w 1058636"/>
                <a:gd name="connsiteY2" fmla="*/ 887186 h 887186"/>
                <a:gd name="connsiteX3" fmla="*/ 102640 w 1058636"/>
                <a:gd name="connsiteY3" fmla="*/ 887186 h 887186"/>
                <a:gd name="connsiteX4" fmla="*/ 81696 w 1058636"/>
                <a:gd name="connsiteY4" fmla="*/ 843709 h 887186"/>
                <a:gd name="connsiteX5" fmla="*/ 0 w 1058636"/>
                <a:gd name="connsiteY5" fmla="*/ 439055 h 887186"/>
                <a:gd name="connsiteX6" fmla="*/ 81696 w 1058636"/>
                <a:gd name="connsiteY6" fmla="*/ 34402 h 887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58636" h="887186">
                  <a:moveTo>
                    <a:pt x="98268" y="0"/>
                  </a:moveTo>
                  <a:lnTo>
                    <a:pt x="1058636" y="0"/>
                  </a:lnTo>
                  <a:lnTo>
                    <a:pt x="1058636" y="887186"/>
                  </a:lnTo>
                  <a:lnTo>
                    <a:pt x="102640" y="887186"/>
                  </a:lnTo>
                  <a:lnTo>
                    <a:pt x="81696" y="843709"/>
                  </a:lnTo>
                  <a:cubicBezTo>
                    <a:pt x="29090" y="719334"/>
                    <a:pt x="0" y="582592"/>
                    <a:pt x="0" y="439055"/>
                  </a:cubicBezTo>
                  <a:cubicBezTo>
                    <a:pt x="0" y="295518"/>
                    <a:pt x="29090" y="158776"/>
                    <a:pt x="81696" y="34402"/>
                  </a:cubicBezTo>
                  <a:close/>
                </a:path>
              </a:pathLst>
            </a:custGeom>
            <a:solidFill>
              <a:srgbClr val="000000">
                <a:alpha val="50196"/>
              </a:srgb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71C7451A-AFE3-A281-3136-12662104F296}"/>
                </a:ext>
              </a:extLst>
            </p:cNvPr>
            <p:cNvSpPr/>
            <p:nvPr/>
          </p:nvSpPr>
          <p:spPr>
            <a:xfrm>
              <a:off x="6851722" y="4542204"/>
              <a:ext cx="1387928" cy="1387928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7C4BA1DD-D934-E5B1-1763-CFE5C6E7B955}"/>
                </a:ext>
              </a:extLst>
            </p:cNvPr>
            <p:cNvSpPr/>
            <p:nvPr/>
          </p:nvSpPr>
          <p:spPr>
            <a:xfrm>
              <a:off x="7102929" y="4787132"/>
              <a:ext cx="887185" cy="887185"/>
            </a:xfrm>
            <a:prstGeom prst="ellipse">
              <a:avLst/>
            </a:prstGeom>
            <a:solidFill>
              <a:srgbClr val="00B050">
                <a:alpha val="50196"/>
              </a:srgb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err="1">
                <a:solidFill>
                  <a:schemeClr val="tx1"/>
                </a:solidFill>
              </a:endParaRPr>
            </a:p>
          </p:txBody>
        </p:sp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D9827F99-1942-3C0D-020A-5D4B8BC1C087}"/>
                </a:ext>
              </a:extLst>
            </p:cNvPr>
            <p:cNvCxnSpPr>
              <a:cxnSpLocks/>
              <a:stCxn id="51" idx="0"/>
              <a:endCxn id="53" idx="0"/>
            </p:cNvCxnSpPr>
            <p:nvPr/>
          </p:nvCxnSpPr>
          <p:spPr>
            <a:xfrm>
              <a:off x="6605203" y="4787130"/>
              <a:ext cx="941319" cy="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64546145-261D-BCEE-16BA-612DD75AD7F5}"/>
                </a:ext>
              </a:extLst>
            </p:cNvPr>
            <p:cNvCxnSpPr>
              <a:cxnSpLocks/>
              <a:stCxn id="51" idx="3"/>
              <a:endCxn id="53" idx="4"/>
            </p:cNvCxnSpPr>
            <p:nvPr/>
          </p:nvCxnSpPr>
          <p:spPr>
            <a:xfrm>
              <a:off x="6609575" y="5674316"/>
              <a:ext cx="936947" cy="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타원 55">
              <a:extLst>
                <a:ext uri="{FF2B5EF4-FFF2-40B4-BE49-F238E27FC236}">
                  <a16:creationId xmlns:a16="http://schemas.microsoft.com/office/drawing/2014/main" id="{673F6201-07E1-D41B-5F46-6B9E573BD023}"/>
                </a:ext>
              </a:extLst>
            </p:cNvPr>
            <p:cNvSpPr/>
            <p:nvPr/>
          </p:nvSpPr>
          <p:spPr>
            <a:xfrm>
              <a:off x="7850778" y="5016637"/>
              <a:ext cx="76199" cy="76199"/>
            </a:xfrm>
            <a:prstGeom prst="ellipse">
              <a:avLst/>
            </a:prstGeom>
            <a:solidFill>
              <a:srgbClr val="FF0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 err="1">
                <a:solidFill>
                  <a:schemeClr val="tx1"/>
                </a:solidFill>
              </a:endParaRPr>
            </a:p>
          </p:txBody>
        </p: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F05A88F9-0EE6-0F2B-4D39-362B70C4D3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67660" y="4176939"/>
              <a:ext cx="617764" cy="105047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4938F5E7-DF30-407A-5CD1-8C1E361F06C2}"/>
                </a:ext>
              </a:extLst>
            </p:cNvPr>
            <p:cNvCxnSpPr>
              <a:cxnSpLocks/>
            </p:cNvCxnSpPr>
            <p:nvPr/>
          </p:nvCxnSpPr>
          <p:spPr>
            <a:xfrm>
              <a:off x="7567660" y="5226185"/>
              <a:ext cx="617764" cy="105047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5686D5D0-3FD7-8D7D-8CD7-30EA4A09E3D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03862" y="4449219"/>
              <a:ext cx="961709" cy="77696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F0C35764-F13F-4831-A17B-73DF80AC24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03862" y="5226185"/>
              <a:ext cx="961709" cy="77696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원호 60">
              <a:extLst>
                <a:ext uri="{FF2B5EF4-FFF2-40B4-BE49-F238E27FC236}">
                  <a16:creationId xmlns:a16="http://schemas.microsoft.com/office/drawing/2014/main" id="{55B6EABE-5524-C031-12A6-E3F77DC03239}"/>
                </a:ext>
              </a:extLst>
            </p:cNvPr>
            <p:cNvSpPr/>
            <p:nvPr/>
          </p:nvSpPr>
          <p:spPr>
            <a:xfrm>
              <a:off x="6666616" y="4332851"/>
              <a:ext cx="1800000" cy="1800000"/>
            </a:xfrm>
            <a:prstGeom prst="arc">
              <a:avLst>
                <a:gd name="adj1" fmla="val 13169510"/>
                <a:gd name="adj2" fmla="val 18041542"/>
              </a:avLst>
            </a:prstGeom>
            <a:ln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원호 61">
              <a:extLst>
                <a:ext uri="{FF2B5EF4-FFF2-40B4-BE49-F238E27FC236}">
                  <a16:creationId xmlns:a16="http://schemas.microsoft.com/office/drawing/2014/main" id="{0D893310-56D3-AC36-48E0-823A8C11AA34}"/>
                </a:ext>
              </a:extLst>
            </p:cNvPr>
            <p:cNvSpPr/>
            <p:nvPr/>
          </p:nvSpPr>
          <p:spPr>
            <a:xfrm flipV="1">
              <a:off x="6666616" y="4321967"/>
              <a:ext cx="1800000" cy="1800000"/>
            </a:xfrm>
            <a:prstGeom prst="arc">
              <a:avLst>
                <a:gd name="adj1" fmla="val 13169510"/>
                <a:gd name="adj2" fmla="val 18041542"/>
              </a:avLst>
            </a:prstGeom>
            <a:ln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E790488-4E55-7402-9E77-E55F17B71FB3}"/>
                </a:ext>
              </a:extLst>
            </p:cNvPr>
            <p:cNvSpPr txBox="1"/>
            <p:nvPr/>
          </p:nvSpPr>
          <p:spPr>
            <a:xfrm>
              <a:off x="7036253" y="4093854"/>
              <a:ext cx="5633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/>
                <a:t>17 </a:t>
              </a:r>
              <a:r>
                <a:rPr lang="ko-KR" altLang="en-US" sz="1200" dirty="0"/>
                <a:t>분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8818A800-856E-20F8-6A93-E728A5A801F2}"/>
                </a:ext>
              </a:extLst>
            </p:cNvPr>
            <p:cNvSpPr txBox="1"/>
            <p:nvPr/>
          </p:nvSpPr>
          <p:spPr>
            <a:xfrm>
              <a:off x="6972948" y="6076452"/>
              <a:ext cx="5633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/>
                <a:t>17 </a:t>
              </a:r>
              <a:r>
                <a:rPr lang="ko-KR" altLang="en-US" sz="1200" dirty="0"/>
                <a:t>분</a:t>
              </a:r>
            </a:p>
          </p:txBody>
        </p:sp>
        <p:sp>
          <p:nvSpPr>
            <p:cNvPr id="65" name="원호 64">
              <a:extLst>
                <a:ext uri="{FF2B5EF4-FFF2-40B4-BE49-F238E27FC236}">
                  <a16:creationId xmlns:a16="http://schemas.microsoft.com/office/drawing/2014/main" id="{74241870-E532-09AD-BE86-40A95ED9242E}"/>
                </a:ext>
              </a:extLst>
            </p:cNvPr>
            <p:cNvSpPr/>
            <p:nvPr/>
          </p:nvSpPr>
          <p:spPr>
            <a:xfrm>
              <a:off x="6850886" y="4541368"/>
              <a:ext cx="1389600" cy="1389600"/>
            </a:xfrm>
            <a:prstGeom prst="arc">
              <a:avLst>
                <a:gd name="adj1" fmla="val 3467685"/>
                <a:gd name="adj2" fmla="val 18115007"/>
              </a:avLst>
            </a:prstGeom>
            <a:ln w="762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원호 65">
              <a:extLst>
                <a:ext uri="{FF2B5EF4-FFF2-40B4-BE49-F238E27FC236}">
                  <a16:creationId xmlns:a16="http://schemas.microsoft.com/office/drawing/2014/main" id="{9901FA17-0C96-ECA3-99AB-0C96DEB30B75}"/>
                </a:ext>
              </a:extLst>
            </p:cNvPr>
            <p:cNvSpPr/>
            <p:nvPr/>
          </p:nvSpPr>
          <p:spPr>
            <a:xfrm>
              <a:off x="6850886" y="4541368"/>
              <a:ext cx="1389600" cy="1389600"/>
            </a:xfrm>
            <a:prstGeom prst="arc">
              <a:avLst>
                <a:gd name="adj1" fmla="val 18104610"/>
                <a:gd name="adj2" fmla="val 3427576"/>
              </a:avLst>
            </a:prstGeom>
            <a:ln w="76200">
              <a:solidFill>
                <a:srgbClr val="FFC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B7A5D537-2402-CC1E-082A-4882BCA794F6}"/>
                </a:ext>
              </a:extLst>
            </p:cNvPr>
            <p:cNvSpPr txBox="1"/>
            <p:nvPr/>
          </p:nvSpPr>
          <p:spPr>
            <a:xfrm>
              <a:off x="6071904" y="5119103"/>
              <a:ext cx="5633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/>
                <a:t>식</a:t>
              </a:r>
            </a:p>
          </p:txBody>
        </p:sp>
        <p:sp>
          <p:nvSpPr>
            <p:cNvPr id="68" name="원호 67">
              <a:extLst>
                <a:ext uri="{FF2B5EF4-FFF2-40B4-BE49-F238E27FC236}">
                  <a16:creationId xmlns:a16="http://schemas.microsoft.com/office/drawing/2014/main" id="{2EEA6AD6-F193-EA5E-88C3-6DE57171CB9C}"/>
                </a:ext>
              </a:extLst>
            </p:cNvPr>
            <p:cNvSpPr/>
            <p:nvPr/>
          </p:nvSpPr>
          <p:spPr>
            <a:xfrm>
              <a:off x="6850468" y="4541762"/>
              <a:ext cx="1389600" cy="1389600"/>
            </a:xfrm>
            <a:prstGeom prst="arc">
              <a:avLst>
                <a:gd name="adj1" fmla="val 18081384"/>
                <a:gd name="adj2" fmla="val 21382511"/>
              </a:avLst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06852CDB-0033-3D59-0F2E-115A8845733D}"/>
                </a:ext>
              </a:extLst>
            </p:cNvPr>
            <p:cNvSpPr txBox="1"/>
            <p:nvPr/>
          </p:nvSpPr>
          <p:spPr>
            <a:xfrm>
              <a:off x="7622414" y="5060661"/>
              <a:ext cx="36372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/>
                <a:t>GS</a:t>
              </a:r>
              <a:endParaRPr lang="ko-KR" altLang="en-US" sz="800" dirty="0"/>
            </a:p>
          </p:txBody>
        </p: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F14199BB-4D70-9D13-32F4-77CE7D55435E}"/>
              </a:ext>
            </a:extLst>
          </p:cNvPr>
          <p:cNvSpPr txBox="1"/>
          <p:nvPr/>
        </p:nvSpPr>
        <p:spPr>
          <a:xfrm>
            <a:off x="8167212" y="3484532"/>
            <a:ext cx="20433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&lt;</a:t>
            </a:r>
            <a:r>
              <a:rPr lang="ko-KR" altLang="en-US" sz="1200" dirty="0"/>
              <a:t>대기</a:t>
            </a:r>
            <a:r>
              <a:rPr lang="en-US" altLang="ko-KR" sz="1200" dirty="0"/>
              <a:t>: Stand-by </a:t>
            </a:r>
            <a:r>
              <a:rPr lang="ko-KR" altLang="en-US" sz="1200" dirty="0"/>
              <a:t>시나리오</a:t>
            </a:r>
            <a:r>
              <a:rPr lang="en-US" altLang="ko-KR" sz="1200" dirty="0"/>
              <a:t>&gt;</a:t>
            </a:r>
            <a:endParaRPr lang="ko-KR" altLang="en-US" sz="12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F59E364-D8CB-86CB-91A3-9199B797F972}"/>
              </a:ext>
            </a:extLst>
          </p:cNvPr>
          <p:cNvSpPr txBox="1"/>
          <p:nvPr/>
        </p:nvSpPr>
        <p:spPr>
          <a:xfrm>
            <a:off x="8299474" y="6319435"/>
            <a:ext cx="20433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&lt;</a:t>
            </a:r>
            <a:r>
              <a:rPr lang="ko-KR" altLang="en-US" sz="1200" dirty="0"/>
              <a:t>임무</a:t>
            </a:r>
            <a:r>
              <a:rPr lang="en-US" altLang="ko-KR" sz="1200" dirty="0"/>
              <a:t>: Mission </a:t>
            </a:r>
            <a:r>
              <a:rPr lang="ko-KR" altLang="en-US" sz="1200" dirty="0"/>
              <a:t>시나리오</a:t>
            </a:r>
            <a:r>
              <a:rPr lang="en-US" altLang="ko-KR" sz="1200" dirty="0"/>
              <a:t>&gt;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157922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616" y="819513"/>
            <a:ext cx="10900424" cy="556604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방학 동안 준비할 내용</a:t>
            </a: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2022-12-22</a:t>
            </a:r>
            <a:endParaRPr lang="ko-KR" altLang="en-US" dirty="0"/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향후 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계획</a:t>
            </a:r>
            <a:r>
              <a:rPr lang="ko-KR" altLang="en-US" dirty="0"/>
              <a:t>   </a:t>
            </a:r>
          </a:p>
        </p:txBody>
      </p:sp>
      <p:graphicFrame>
        <p:nvGraphicFramePr>
          <p:cNvPr id="2" name="표 8">
            <a:extLst>
              <a:ext uri="{FF2B5EF4-FFF2-40B4-BE49-F238E27FC236}">
                <a16:creationId xmlns:a16="http://schemas.microsoft.com/office/drawing/2014/main" id="{0AD24071-3047-61CF-3835-5BCC752A96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1160395"/>
              </p:ext>
            </p:extLst>
          </p:nvPr>
        </p:nvGraphicFramePr>
        <p:xfrm>
          <a:off x="322216" y="1524834"/>
          <a:ext cx="11570168" cy="50082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1512">
                  <a:extLst>
                    <a:ext uri="{9D8B030D-6E8A-4147-A177-3AD203B41FA5}">
                      <a16:colId xmlns:a16="http://schemas.microsoft.com/office/drawing/2014/main" val="4012279475"/>
                    </a:ext>
                  </a:extLst>
                </a:gridCol>
                <a:gridCol w="1521512">
                  <a:extLst>
                    <a:ext uri="{9D8B030D-6E8A-4147-A177-3AD203B41FA5}">
                      <a16:colId xmlns:a16="http://schemas.microsoft.com/office/drawing/2014/main" val="2872001738"/>
                    </a:ext>
                  </a:extLst>
                </a:gridCol>
                <a:gridCol w="1521512">
                  <a:extLst>
                    <a:ext uri="{9D8B030D-6E8A-4147-A177-3AD203B41FA5}">
                      <a16:colId xmlns:a16="http://schemas.microsoft.com/office/drawing/2014/main" val="1093518070"/>
                    </a:ext>
                  </a:extLst>
                </a:gridCol>
                <a:gridCol w="1521512">
                  <a:extLst>
                    <a:ext uri="{9D8B030D-6E8A-4147-A177-3AD203B41FA5}">
                      <a16:colId xmlns:a16="http://schemas.microsoft.com/office/drawing/2014/main" val="893368758"/>
                    </a:ext>
                  </a:extLst>
                </a:gridCol>
                <a:gridCol w="1521512">
                  <a:extLst>
                    <a:ext uri="{9D8B030D-6E8A-4147-A177-3AD203B41FA5}">
                      <a16:colId xmlns:a16="http://schemas.microsoft.com/office/drawing/2014/main" val="404635953"/>
                    </a:ext>
                  </a:extLst>
                </a:gridCol>
                <a:gridCol w="1521512">
                  <a:extLst>
                    <a:ext uri="{9D8B030D-6E8A-4147-A177-3AD203B41FA5}">
                      <a16:colId xmlns:a16="http://schemas.microsoft.com/office/drawing/2014/main" val="3452772827"/>
                    </a:ext>
                  </a:extLst>
                </a:gridCol>
                <a:gridCol w="1521512">
                  <a:extLst>
                    <a:ext uri="{9D8B030D-6E8A-4147-A177-3AD203B41FA5}">
                      <a16:colId xmlns:a16="http://schemas.microsoft.com/office/drawing/2014/main" val="1452797700"/>
                    </a:ext>
                  </a:extLst>
                </a:gridCol>
                <a:gridCol w="919584">
                  <a:extLst>
                    <a:ext uri="{9D8B030D-6E8A-4147-A177-3AD203B41FA5}">
                      <a16:colId xmlns:a16="http://schemas.microsoft.com/office/drawing/2014/main" val="904128740"/>
                    </a:ext>
                  </a:extLst>
                </a:gridCol>
              </a:tblGrid>
              <a:tr h="3752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37029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22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23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24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58247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Budget 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변경사항 및 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New 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코드 분석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코드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분석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코드 분석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84588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25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26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28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29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31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휴가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264562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strike="sngStrik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strike="sngStrik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strike="sngStrik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strike="sngStrik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sng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59803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휴가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46455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sng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sng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84532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9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10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11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12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13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14</a:t>
                      </a:r>
                      <a:endParaRPr lang="ko-KR" alt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430866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Simulink </a:t>
                      </a:r>
                      <a:r>
                        <a:rPr lang="ko-KR" altLang="en-US" sz="1400" dirty="0"/>
                        <a:t>실행 및 코드 수정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Simulink </a:t>
                      </a:r>
                      <a:r>
                        <a:rPr lang="ko-KR" altLang="en-US" sz="1400" dirty="0"/>
                        <a:t>실행 및 코드 수정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Simulink </a:t>
                      </a:r>
                      <a:r>
                        <a:rPr lang="ko-KR" altLang="en-US" sz="1400" dirty="0"/>
                        <a:t>실행 및 코드 수정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Simulink </a:t>
                      </a:r>
                      <a:r>
                        <a:rPr lang="ko-KR" altLang="en-US" sz="1400" dirty="0"/>
                        <a:t>실행 및 코드 수정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Simulink </a:t>
                      </a:r>
                      <a:r>
                        <a:rPr lang="ko-KR" altLang="en-US" sz="1400" dirty="0"/>
                        <a:t>실행 및 코드 수정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Simulink </a:t>
                      </a:r>
                      <a:r>
                        <a:rPr lang="ko-KR" altLang="en-US" sz="1400" dirty="0"/>
                        <a:t>실행 및 코드 수정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/>
                        <a:t>Simulink </a:t>
                      </a:r>
                      <a:r>
                        <a:rPr lang="ko-KR" altLang="en-US" sz="1400"/>
                        <a:t>실행 및 코드 수정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87343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15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16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17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18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19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21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998189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1543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4636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616" y="819513"/>
            <a:ext cx="10900424" cy="556604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방학 동안 준비할 내용</a:t>
            </a: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2022-12-22</a:t>
            </a:r>
            <a:endParaRPr lang="ko-KR" altLang="en-US" dirty="0"/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향후 계획 </a:t>
            </a:r>
            <a:r>
              <a:rPr lang="ko-KR" altLang="en-US" dirty="0"/>
              <a:t>   </a:t>
            </a:r>
          </a:p>
        </p:txBody>
      </p:sp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A09A0BE7-8E08-F314-9D6C-A9FB08D2BB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9588861"/>
              </p:ext>
            </p:extLst>
          </p:nvPr>
        </p:nvGraphicFramePr>
        <p:xfrm>
          <a:off x="1300228" y="1397902"/>
          <a:ext cx="9899813" cy="44278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67682">
                  <a:extLst>
                    <a:ext uri="{9D8B030D-6E8A-4147-A177-3AD203B41FA5}">
                      <a16:colId xmlns:a16="http://schemas.microsoft.com/office/drawing/2014/main" val="963791253"/>
                    </a:ext>
                  </a:extLst>
                </a:gridCol>
                <a:gridCol w="1379934">
                  <a:extLst>
                    <a:ext uri="{9D8B030D-6E8A-4147-A177-3AD203B41FA5}">
                      <a16:colId xmlns:a16="http://schemas.microsoft.com/office/drawing/2014/main" val="3503235211"/>
                    </a:ext>
                  </a:extLst>
                </a:gridCol>
                <a:gridCol w="1379934">
                  <a:extLst>
                    <a:ext uri="{9D8B030D-6E8A-4147-A177-3AD203B41FA5}">
                      <a16:colId xmlns:a16="http://schemas.microsoft.com/office/drawing/2014/main" val="1441410675"/>
                    </a:ext>
                  </a:extLst>
                </a:gridCol>
                <a:gridCol w="1080380">
                  <a:extLst>
                    <a:ext uri="{9D8B030D-6E8A-4147-A177-3AD203B41FA5}">
                      <a16:colId xmlns:a16="http://schemas.microsoft.com/office/drawing/2014/main" val="468541899"/>
                    </a:ext>
                  </a:extLst>
                </a:gridCol>
                <a:gridCol w="1191883">
                  <a:extLst>
                    <a:ext uri="{9D8B030D-6E8A-4147-A177-3AD203B41FA5}">
                      <a16:colId xmlns:a16="http://schemas.microsoft.com/office/drawing/2014/main" val="2901240694"/>
                    </a:ext>
                  </a:extLst>
                </a:gridCol>
              </a:tblGrid>
              <a:tr h="5280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주요 목표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착수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마감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진행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비고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740598"/>
                  </a:ext>
                </a:extLst>
              </a:tr>
              <a:tr h="641898">
                <a:tc>
                  <a:txBody>
                    <a:bodyPr/>
                    <a:lstStyle/>
                    <a:p>
                      <a:pPr marL="228600" indent="-228600" algn="l" latinLnBrk="1">
                        <a:lnSpc>
                          <a:spcPct val="150000"/>
                        </a:lnSpc>
                        <a:buAutoNum type="arabicPeriod"/>
                      </a:pPr>
                      <a:r>
                        <a:rPr lang="ko-KR" altLang="en-US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새로운 코드 분석하여 시나리오 이해하기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2022-12-22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2022-12-24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50%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637751"/>
                  </a:ext>
                </a:extLst>
              </a:tr>
              <a:tr h="6418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2. Simulink </a:t>
                      </a:r>
                      <a:r>
                        <a:rPr lang="ko-KR" altLang="en-US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실행 및 코드 수정하여 전력소비량 최대마진 이하로 조정</a:t>
                      </a:r>
                      <a:endParaRPr lang="en-US" altLang="ko-KR" sz="1400" b="0" kern="100" dirty="0">
                        <a:latin typeface="맑은 고딕" panose="020B0503020000020004" pitchFamily="50" charset="-127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2023-01-08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2023-01-14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0%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4742848"/>
                  </a:ext>
                </a:extLst>
              </a:tr>
              <a:tr h="641898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050648"/>
                  </a:ext>
                </a:extLst>
              </a:tr>
              <a:tr h="641898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481568"/>
                  </a:ext>
                </a:extLst>
              </a:tr>
              <a:tr h="641898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6699472"/>
                  </a:ext>
                </a:extLst>
              </a:tr>
              <a:tr h="6418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strike="sngStrik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strike="sngStrik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strike="sngStrik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strike="sngStrik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7811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3360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2022-12-22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8831BB-1155-404C-981F-0067EF5C7392}"/>
              </a:ext>
            </a:extLst>
          </p:cNvPr>
          <p:cNvSpPr txBox="1"/>
          <p:nvPr/>
        </p:nvSpPr>
        <p:spPr>
          <a:xfrm>
            <a:off x="350693" y="858197"/>
            <a:ext cx="6125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0" dirty="0">
                <a:solidFill>
                  <a:schemeClr val="tx1"/>
                </a:solidFill>
              </a:rPr>
              <a:t>1. </a:t>
            </a:r>
            <a:r>
              <a:rPr lang="en-US" altLang="ko-KR" dirty="0"/>
              <a:t>OBC</a:t>
            </a:r>
            <a:r>
              <a:rPr lang="ko-KR" altLang="en-US" dirty="0"/>
              <a:t> </a:t>
            </a:r>
            <a:r>
              <a:rPr lang="en-US" altLang="ko-KR" dirty="0"/>
              <a:t>Power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0.429W</a:t>
            </a:r>
            <a:r>
              <a:rPr lang="ko-KR" altLang="en-US" dirty="0"/>
              <a:t> → </a:t>
            </a:r>
            <a:r>
              <a:rPr lang="en-US" altLang="ko-KR" dirty="0">
                <a:solidFill>
                  <a:schemeClr val="accent1"/>
                </a:solidFill>
              </a:rPr>
              <a:t>0.7986W</a:t>
            </a:r>
            <a:endParaRPr lang="ko-KR" altLang="en-US" dirty="0">
              <a:solidFill>
                <a:schemeClr val="accent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0AA3C5B-0C0C-0AC0-3952-D933C6000294}"/>
              </a:ext>
            </a:extLst>
          </p:cNvPr>
          <p:cNvSpPr/>
          <p:nvPr/>
        </p:nvSpPr>
        <p:spPr>
          <a:xfrm>
            <a:off x="11219778" y="4416136"/>
            <a:ext cx="491210" cy="145473"/>
          </a:xfrm>
          <a:prstGeom prst="rect">
            <a:avLst/>
          </a:prstGeom>
          <a:noFill/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D474AD43-4D42-8999-4216-AA3725F37D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69343"/>
            <a:ext cx="12192000" cy="3919313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21E7D7B4-2CB4-E03C-4B32-3A8B33C91A94}"/>
              </a:ext>
            </a:extLst>
          </p:cNvPr>
          <p:cNvSpPr/>
          <p:nvPr/>
        </p:nvSpPr>
        <p:spPr>
          <a:xfrm>
            <a:off x="9232900" y="3740150"/>
            <a:ext cx="400050" cy="107950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8771773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2022-12-22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8831BB-1155-404C-981F-0067EF5C7392}"/>
              </a:ext>
            </a:extLst>
          </p:cNvPr>
          <p:cNvSpPr txBox="1"/>
          <p:nvPr/>
        </p:nvSpPr>
        <p:spPr>
          <a:xfrm>
            <a:off x="350692" y="858197"/>
            <a:ext cx="84218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0" dirty="0">
                <a:solidFill>
                  <a:schemeClr val="tx1"/>
                </a:solidFill>
              </a:rPr>
              <a:t>2. </a:t>
            </a:r>
            <a:r>
              <a:rPr lang="en-US" altLang="ko-KR" dirty="0"/>
              <a:t>Reaction wheel profile </a:t>
            </a:r>
            <a:r>
              <a:rPr lang="ko-KR" altLang="en-US" dirty="0"/>
              <a:t>참고</a:t>
            </a:r>
            <a:r>
              <a:rPr lang="en-US" altLang="ko-KR" dirty="0"/>
              <a:t>) Nominal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Peak</a:t>
            </a:r>
            <a:r>
              <a:rPr lang="ko-KR" altLang="en-US" dirty="0"/>
              <a:t> </a:t>
            </a:r>
            <a:r>
              <a:rPr lang="en-US" altLang="ko-KR" dirty="0"/>
              <a:t>rate</a:t>
            </a:r>
            <a:r>
              <a:rPr lang="ko-KR" altLang="en-US" dirty="0"/>
              <a:t>   </a:t>
            </a:r>
            <a:r>
              <a:rPr lang="en-US" altLang="ko-KR" dirty="0"/>
              <a:t>80% : 20% </a:t>
            </a:r>
            <a:r>
              <a:rPr lang="ko-KR" altLang="en-US" dirty="0"/>
              <a:t>→</a:t>
            </a:r>
            <a:r>
              <a:rPr lang="en-US" altLang="ko-KR" dirty="0"/>
              <a:t> </a:t>
            </a:r>
            <a:r>
              <a:rPr lang="en-US" altLang="ko-KR" dirty="0">
                <a:solidFill>
                  <a:schemeClr val="accent1"/>
                </a:solidFill>
              </a:rPr>
              <a:t>95% : 5% </a:t>
            </a:r>
            <a:endParaRPr lang="ko-KR" altLang="en-US" dirty="0">
              <a:solidFill>
                <a:schemeClr val="accent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0AA3C5B-0C0C-0AC0-3952-D933C6000294}"/>
              </a:ext>
            </a:extLst>
          </p:cNvPr>
          <p:cNvSpPr/>
          <p:nvPr/>
        </p:nvSpPr>
        <p:spPr>
          <a:xfrm>
            <a:off x="11219778" y="4416136"/>
            <a:ext cx="491210" cy="145473"/>
          </a:xfrm>
          <a:prstGeom prst="rect">
            <a:avLst/>
          </a:prstGeom>
          <a:noFill/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D474AD43-4D42-8999-4216-AA3725F37D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69343"/>
            <a:ext cx="12192000" cy="3919313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1358EC5C-A2DC-C126-F462-BE2C7F337E94}"/>
              </a:ext>
            </a:extLst>
          </p:cNvPr>
          <p:cNvSpPr/>
          <p:nvPr/>
        </p:nvSpPr>
        <p:spPr>
          <a:xfrm>
            <a:off x="11322050" y="3095625"/>
            <a:ext cx="835026" cy="204788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6D73F57-F995-1D3C-14FD-58F95137E0E6}"/>
              </a:ext>
            </a:extLst>
          </p:cNvPr>
          <p:cNvSpPr/>
          <p:nvPr/>
        </p:nvSpPr>
        <p:spPr>
          <a:xfrm>
            <a:off x="11322050" y="2550079"/>
            <a:ext cx="835026" cy="204788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0381379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2022-12-22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8831BB-1155-404C-981F-0067EF5C7392}"/>
              </a:ext>
            </a:extLst>
          </p:cNvPr>
          <p:cNvSpPr txBox="1"/>
          <p:nvPr/>
        </p:nvSpPr>
        <p:spPr>
          <a:xfrm>
            <a:off x="350692" y="858197"/>
            <a:ext cx="78941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0" dirty="0">
                <a:solidFill>
                  <a:schemeClr val="tx1"/>
                </a:solidFill>
              </a:rPr>
              <a:t>3. </a:t>
            </a:r>
            <a:r>
              <a:rPr lang="en-US" altLang="ko-KR" dirty="0"/>
              <a:t>MTQ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미션 </a:t>
            </a:r>
            <a:r>
              <a:rPr lang="en-US" altLang="ko-KR" dirty="0"/>
              <a:t>or </a:t>
            </a:r>
            <a:r>
              <a:rPr lang="ko-KR" altLang="en-US" dirty="0"/>
              <a:t>통신 모드에서도 </a:t>
            </a:r>
            <a:r>
              <a:rPr lang="en-US" altLang="ko-KR" dirty="0"/>
              <a:t>0% </a:t>
            </a:r>
            <a:r>
              <a:rPr lang="ko-KR" altLang="en-US" dirty="0"/>
              <a:t>→ </a:t>
            </a:r>
            <a:r>
              <a:rPr lang="en-US" altLang="ko-KR" dirty="0">
                <a:solidFill>
                  <a:schemeClr val="accent1"/>
                </a:solidFill>
              </a:rPr>
              <a:t>100%</a:t>
            </a:r>
            <a:r>
              <a:rPr lang="ko-KR" altLang="en-US" dirty="0">
                <a:solidFill>
                  <a:schemeClr val="accent1"/>
                </a:solidFill>
              </a:rPr>
              <a:t>로 적용 </a:t>
            </a:r>
            <a:r>
              <a:rPr lang="en-US" altLang="ko-KR" dirty="0">
                <a:solidFill>
                  <a:schemeClr val="accent1"/>
                </a:solidFill>
              </a:rPr>
              <a:t>(Worst case </a:t>
            </a:r>
            <a:r>
              <a:rPr lang="ko-KR" altLang="en-US" dirty="0">
                <a:solidFill>
                  <a:schemeClr val="accent1"/>
                </a:solidFill>
              </a:rPr>
              <a:t>고려</a:t>
            </a:r>
            <a:r>
              <a:rPr lang="en-US" altLang="ko-KR" dirty="0">
                <a:solidFill>
                  <a:schemeClr val="accent1"/>
                </a:solidFill>
              </a:rPr>
              <a:t>) </a:t>
            </a:r>
            <a:endParaRPr lang="ko-KR" altLang="en-US" dirty="0">
              <a:solidFill>
                <a:schemeClr val="accent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0AA3C5B-0C0C-0AC0-3952-D933C6000294}"/>
              </a:ext>
            </a:extLst>
          </p:cNvPr>
          <p:cNvSpPr/>
          <p:nvPr/>
        </p:nvSpPr>
        <p:spPr>
          <a:xfrm>
            <a:off x="11219778" y="4416136"/>
            <a:ext cx="491210" cy="145473"/>
          </a:xfrm>
          <a:prstGeom prst="rect">
            <a:avLst/>
          </a:prstGeom>
          <a:noFill/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D474AD43-4D42-8999-4216-AA3725F37D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69343"/>
            <a:ext cx="12192000" cy="3919313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1358EC5C-A2DC-C126-F462-BE2C7F337E94}"/>
              </a:ext>
            </a:extLst>
          </p:cNvPr>
          <p:cNvSpPr/>
          <p:nvPr/>
        </p:nvSpPr>
        <p:spPr>
          <a:xfrm>
            <a:off x="11334079" y="3308534"/>
            <a:ext cx="819148" cy="204788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21268556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2022-12-22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8831BB-1155-404C-981F-0067EF5C7392}"/>
              </a:ext>
            </a:extLst>
          </p:cNvPr>
          <p:cNvSpPr txBox="1"/>
          <p:nvPr/>
        </p:nvSpPr>
        <p:spPr>
          <a:xfrm>
            <a:off x="350692" y="858197"/>
            <a:ext cx="78941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0" dirty="0">
                <a:solidFill>
                  <a:schemeClr val="tx1"/>
                </a:solidFill>
              </a:rPr>
              <a:t>4. </a:t>
            </a:r>
            <a:r>
              <a:rPr lang="ko-KR" altLang="en-US" dirty="0"/>
              <a:t>통신모드 </a:t>
            </a:r>
            <a:r>
              <a:rPr lang="en-US" altLang="ko-KR" dirty="0"/>
              <a:t>Rx : Tx</a:t>
            </a:r>
            <a:r>
              <a:rPr lang="ko-KR" altLang="en-US" dirty="0"/>
              <a:t> </a:t>
            </a:r>
            <a:r>
              <a:rPr lang="en-US" altLang="ko-KR" dirty="0"/>
              <a:t>rate</a:t>
            </a:r>
            <a:r>
              <a:rPr lang="ko-KR" altLang="en-US" dirty="0"/>
              <a:t>   </a:t>
            </a:r>
            <a:r>
              <a:rPr lang="en-US" altLang="ko-KR" dirty="0"/>
              <a:t>80% : 20% </a:t>
            </a:r>
            <a:r>
              <a:rPr lang="ko-KR" altLang="en-US" dirty="0"/>
              <a:t>→ </a:t>
            </a:r>
            <a:r>
              <a:rPr lang="en-US" altLang="ko-KR" dirty="0">
                <a:solidFill>
                  <a:schemeClr val="accent1"/>
                </a:solidFill>
              </a:rPr>
              <a:t>50% : 50%</a:t>
            </a:r>
            <a:endParaRPr lang="ko-KR" altLang="en-US" dirty="0">
              <a:solidFill>
                <a:schemeClr val="accent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0AA3C5B-0C0C-0AC0-3952-D933C6000294}"/>
              </a:ext>
            </a:extLst>
          </p:cNvPr>
          <p:cNvSpPr/>
          <p:nvPr/>
        </p:nvSpPr>
        <p:spPr>
          <a:xfrm>
            <a:off x="11219778" y="4416136"/>
            <a:ext cx="491210" cy="145473"/>
          </a:xfrm>
          <a:prstGeom prst="rect">
            <a:avLst/>
          </a:prstGeom>
          <a:noFill/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D474AD43-4D42-8999-4216-AA3725F37D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69343"/>
            <a:ext cx="12192000" cy="3919313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1358EC5C-A2DC-C126-F462-BE2C7F337E94}"/>
              </a:ext>
            </a:extLst>
          </p:cNvPr>
          <p:cNvSpPr/>
          <p:nvPr/>
        </p:nvSpPr>
        <p:spPr>
          <a:xfrm>
            <a:off x="11315700" y="4185266"/>
            <a:ext cx="838200" cy="310534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38793973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2022-12-22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8831BB-1155-404C-981F-0067EF5C7392}"/>
              </a:ext>
            </a:extLst>
          </p:cNvPr>
          <p:cNvSpPr txBox="1"/>
          <p:nvPr/>
        </p:nvSpPr>
        <p:spPr>
          <a:xfrm>
            <a:off x="350692" y="858197"/>
            <a:ext cx="78941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0" dirty="0">
                <a:solidFill>
                  <a:schemeClr val="tx1"/>
                </a:solidFill>
              </a:rPr>
              <a:t>5. S-band</a:t>
            </a:r>
            <a:r>
              <a:rPr lang="ko-KR" altLang="en-US" sz="1800" b="0" dirty="0">
                <a:solidFill>
                  <a:schemeClr val="tx1"/>
                </a:solidFill>
              </a:rPr>
              <a:t> </a:t>
            </a:r>
            <a:r>
              <a:rPr lang="en-US" altLang="ko-KR" sz="1800" b="0" dirty="0">
                <a:solidFill>
                  <a:schemeClr val="tx1"/>
                </a:solidFill>
              </a:rPr>
              <a:t>:</a:t>
            </a:r>
            <a:r>
              <a:rPr lang="ko-KR" altLang="en-US" sz="1800" b="0" dirty="0">
                <a:solidFill>
                  <a:schemeClr val="tx1"/>
                </a:solidFill>
              </a:rPr>
              <a:t> </a:t>
            </a:r>
            <a:r>
              <a:rPr lang="en-US" altLang="ko-KR" dirty="0"/>
              <a:t>Idle mode </a:t>
            </a:r>
            <a:r>
              <a:rPr lang="ko-KR" altLang="en-US" dirty="0"/>
              <a:t>→ </a:t>
            </a:r>
            <a:r>
              <a:rPr lang="ko-KR" altLang="en-US" dirty="0">
                <a:solidFill>
                  <a:schemeClr val="accent1"/>
                </a:solidFill>
              </a:rPr>
              <a:t>전원 </a:t>
            </a:r>
            <a:r>
              <a:rPr lang="en-US" altLang="ko-KR" dirty="0">
                <a:solidFill>
                  <a:schemeClr val="accent1"/>
                </a:solidFill>
              </a:rPr>
              <a:t>OFF</a:t>
            </a:r>
            <a:endParaRPr lang="ko-KR" altLang="en-US" dirty="0">
              <a:solidFill>
                <a:schemeClr val="accent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0AA3C5B-0C0C-0AC0-3952-D933C6000294}"/>
              </a:ext>
            </a:extLst>
          </p:cNvPr>
          <p:cNvSpPr/>
          <p:nvPr/>
        </p:nvSpPr>
        <p:spPr>
          <a:xfrm>
            <a:off x="11219778" y="4416136"/>
            <a:ext cx="491210" cy="145473"/>
          </a:xfrm>
          <a:prstGeom prst="rect">
            <a:avLst/>
          </a:prstGeom>
          <a:noFill/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D474AD43-4D42-8999-4216-AA3725F37D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69343"/>
            <a:ext cx="12192000" cy="3919313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1358EC5C-A2DC-C126-F462-BE2C7F337E94}"/>
              </a:ext>
            </a:extLst>
          </p:cNvPr>
          <p:cNvSpPr/>
          <p:nvPr/>
        </p:nvSpPr>
        <p:spPr>
          <a:xfrm>
            <a:off x="10267950" y="4495222"/>
            <a:ext cx="1047750" cy="222828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18835572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2022-12-22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8831BB-1155-404C-981F-0067EF5C7392}"/>
              </a:ext>
            </a:extLst>
          </p:cNvPr>
          <p:cNvSpPr txBox="1"/>
          <p:nvPr/>
        </p:nvSpPr>
        <p:spPr>
          <a:xfrm>
            <a:off x="350692" y="858197"/>
            <a:ext cx="78941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0" dirty="0">
                <a:solidFill>
                  <a:schemeClr val="tx1"/>
                </a:solidFill>
              </a:rPr>
              <a:t>6. </a:t>
            </a:r>
            <a:r>
              <a:rPr lang="ko-KR" altLang="en-US" sz="1800" b="0" dirty="0">
                <a:solidFill>
                  <a:schemeClr val="tx1"/>
                </a:solidFill>
              </a:rPr>
              <a:t>박막전개 </a:t>
            </a:r>
            <a:r>
              <a:rPr lang="en-US" altLang="ko-KR" sz="1800" b="0" dirty="0">
                <a:solidFill>
                  <a:schemeClr val="tx1"/>
                </a:solidFill>
              </a:rPr>
              <a:t>:</a:t>
            </a:r>
            <a:r>
              <a:rPr lang="ko-KR" altLang="en-US" dirty="0"/>
              <a:t> </a:t>
            </a:r>
            <a:r>
              <a:rPr lang="en-US" altLang="ko-KR" dirty="0"/>
              <a:t>100% </a:t>
            </a:r>
            <a:r>
              <a:rPr lang="ko-KR" altLang="en-US" dirty="0"/>
              <a:t>→ </a:t>
            </a:r>
            <a:r>
              <a:rPr lang="en-US" altLang="ko-KR" dirty="0">
                <a:solidFill>
                  <a:schemeClr val="accent1"/>
                </a:solidFill>
              </a:rPr>
              <a:t>0%</a:t>
            </a:r>
            <a:endParaRPr lang="ko-KR" altLang="en-US" dirty="0">
              <a:solidFill>
                <a:schemeClr val="accent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0AA3C5B-0C0C-0AC0-3952-D933C6000294}"/>
              </a:ext>
            </a:extLst>
          </p:cNvPr>
          <p:cNvSpPr/>
          <p:nvPr/>
        </p:nvSpPr>
        <p:spPr>
          <a:xfrm>
            <a:off x="11219778" y="4416136"/>
            <a:ext cx="491210" cy="145473"/>
          </a:xfrm>
          <a:prstGeom prst="rect">
            <a:avLst/>
          </a:prstGeom>
          <a:noFill/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D474AD43-4D42-8999-4216-AA3725F37D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69343"/>
            <a:ext cx="12192000" cy="3919313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1358EC5C-A2DC-C126-F462-BE2C7F337E94}"/>
              </a:ext>
            </a:extLst>
          </p:cNvPr>
          <p:cNvSpPr/>
          <p:nvPr/>
        </p:nvSpPr>
        <p:spPr>
          <a:xfrm>
            <a:off x="10277475" y="5138739"/>
            <a:ext cx="1876425" cy="100012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82656700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2022-12-22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8831BB-1155-404C-981F-0067EF5C7392}"/>
              </a:ext>
            </a:extLst>
          </p:cNvPr>
          <p:cNvSpPr txBox="1"/>
          <p:nvPr/>
        </p:nvSpPr>
        <p:spPr>
          <a:xfrm>
            <a:off x="350691" y="858197"/>
            <a:ext cx="121599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0" dirty="0">
                <a:solidFill>
                  <a:schemeClr val="tx1"/>
                </a:solidFill>
              </a:rPr>
              <a:t>8. </a:t>
            </a:r>
            <a:r>
              <a:rPr lang="ko-KR" altLang="en-US" sz="1800" b="0" dirty="0">
                <a:solidFill>
                  <a:schemeClr val="tx1"/>
                </a:solidFill>
              </a:rPr>
              <a:t>수식 </a:t>
            </a:r>
            <a:r>
              <a:rPr lang="en-US" altLang="ko-KR" sz="1800" b="0" dirty="0">
                <a:solidFill>
                  <a:schemeClr val="tx1"/>
                </a:solidFill>
              </a:rPr>
              <a:t>:</a:t>
            </a:r>
            <a:r>
              <a:rPr lang="ko-KR" altLang="en-US" sz="1800" b="0" dirty="0">
                <a:solidFill>
                  <a:schemeClr val="tx1"/>
                </a:solidFill>
              </a:rPr>
              <a:t> 각 구간별 </a:t>
            </a:r>
            <a:r>
              <a:rPr lang="ko-KR" altLang="en-US" dirty="0"/>
              <a:t>시간에 비례한 </a:t>
            </a:r>
            <a:r>
              <a:rPr lang="en-US" altLang="ko-KR" dirty="0" err="1"/>
              <a:t>Wh</a:t>
            </a:r>
            <a:r>
              <a:rPr lang="ko-KR" altLang="en-US" dirty="0"/>
              <a:t>로 계산 → </a:t>
            </a:r>
            <a:r>
              <a:rPr lang="ko-KR" altLang="en-US" dirty="0">
                <a:solidFill>
                  <a:schemeClr val="accent1"/>
                </a:solidFill>
              </a:rPr>
              <a:t>계산한 </a:t>
            </a:r>
            <a:r>
              <a:rPr lang="en-US" altLang="ko-KR" dirty="0">
                <a:solidFill>
                  <a:schemeClr val="accent1"/>
                </a:solidFill>
              </a:rPr>
              <a:t>W</a:t>
            </a:r>
            <a:r>
              <a:rPr lang="ko-KR" altLang="en-US" dirty="0">
                <a:solidFill>
                  <a:schemeClr val="accent1"/>
                </a:solidFill>
              </a:rPr>
              <a:t>를</a:t>
            </a:r>
            <a:r>
              <a:rPr lang="en-US" altLang="ko-KR" dirty="0">
                <a:solidFill>
                  <a:schemeClr val="accent1"/>
                </a:solidFill>
              </a:rPr>
              <a:t> </a:t>
            </a:r>
            <a:r>
              <a:rPr lang="ko-KR" altLang="en-US" dirty="0">
                <a:solidFill>
                  <a:schemeClr val="accent1"/>
                </a:solidFill>
              </a:rPr>
              <a:t>그대로 쓰고 마지막에 시간에 비례한 </a:t>
            </a:r>
            <a:r>
              <a:rPr lang="en-US" altLang="ko-KR" dirty="0" err="1">
                <a:solidFill>
                  <a:schemeClr val="accent1"/>
                </a:solidFill>
              </a:rPr>
              <a:t>Wh</a:t>
            </a:r>
            <a:r>
              <a:rPr lang="ko-KR" altLang="en-US" dirty="0">
                <a:solidFill>
                  <a:schemeClr val="accent1"/>
                </a:solidFill>
              </a:rPr>
              <a:t>로 계산 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B83DA19-921B-92BB-E891-31F995FEFF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52" y="1352550"/>
            <a:ext cx="4842771" cy="531971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453CD90-7419-B347-C918-642F265714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9347" y="1352549"/>
            <a:ext cx="5077239" cy="531971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13D79BC-C820-B59D-EB91-6AF7DFBE4A46}"/>
              </a:ext>
            </a:extLst>
          </p:cNvPr>
          <p:cNvSpPr txBox="1"/>
          <p:nvPr/>
        </p:nvSpPr>
        <p:spPr>
          <a:xfrm>
            <a:off x="5749117" y="3643073"/>
            <a:ext cx="61226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chemeClr val="accent1"/>
                </a:solidFill>
              </a:rPr>
              <a:t>→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DEC549F-5BEB-C81E-626C-8C07AE68F2C9}"/>
              </a:ext>
            </a:extLst>
          </p:cNvPr>
          <p:cNvSpPr/>
          <p:nvPr/>
        </p:nvSpPr>
        <p:spPr>
          <a:xfrm>
            <a:off x="2266084" y="1724294"/>
            <a:ext cx="2368261" cy="4084223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9CEEB16-6030-7301-416F-6FAB7700310C}"/>
              </a:ext>
            </a:extLst>
          </p:cNvPr>
          <p:cNvSpPr/>
          <p:nvPr/>
        </p:nvSpPr>
        <p:spPr>
          <a:xfrm>
            <a:off x="7863321" y="1734685"/>
            <a:ext cx="2368261" cy="4084223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00488198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2022-12-22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8831BB-1155-404C-981F-0067EF5C7392}"/>
              </a:ext>
            </a:extLst>
          </p:cNvPr>
          <p:cNvSpPr txBox="1"/>
          <p:nvPr/>
        </p:nvSpPr>
        <p:spPr>
          <a:xfrm>
            <a:off x="350691" y="858197"/>
            <a:ext cx="121599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0" dirty="0">
                <a:solidFill>
                  <a:schemeClr val="tx1"/>
                </a:solidFill>
              </a:rPr>
              <a:t>9. </a:t>
            </a:r>
            <a:r>
              <a:rPr lang="ko-KR" altLang="en-US" sz="1800" b="0" dirty="0">
                <a:solidFill>
                  <a:schemeClr val="tx1"/>
                </a:solidFill>
              </a:rPr>
              <a:t>생산전력 </a:t>
            </a:r>
            <a:r>
              <a:rPr lang="en-US" altLang="ko-KR" sz="1800" b="0" dirty="0">
                <a:solidFill>
                  <a:schemeClr val="tx1"/>
                </a:solidFill>
              </a:rPr>
              <a:t>:                                                          </a:t>
            </a:r>
            <a:r>
              <a:rPr lang="ko-KR" altLang="en-US" sz="1800" b="0" dirty="0">
                <a:solidFill>
                  <a:schemeClr val="tx1"/>
                </a:solidFill>
              </a:rPr>
              <a:t>태양지향 </a:t>
            </a:r>
            <a:r>
              <a:rPr lang="en-US" altLang="ko-KR" sz="1800" b="0" dirty="0">
                <a:solidFill>
                  <a:schemeClr val="tx1"/>
                </a:solidFill>
              </a:rPr>
              <a:t>eclipse </a:t>
            </a:r>
            <a:r>
              <a:rPr lang="ko-KR" altLang="en-US" sz="1800" b="0" dirty="0">
                <a:solidFill>
                  <a:schemeClr val="tx1"/>
                </a:solidFill>
              </a:rPr>
              <a:t>전후로 </a:t>
            </a:r>
            <a:r>
              <a:rPr lang="ko-KR" altLang="en-US" sz="1800" b="0" dirty="0">
                <a:solidFill>
                  <a:schemeClr val="accent1"/>
                </a:solidFill>
              </a:rPr>
              <a:t>약 </a:t>
            </a:r>
            <a:r>
              <a:rPr lang="en-US" altLang="ko-KR" sz="1800" b="0" dirty="0">
                <a:solidFill>
                  <a:schemeClr val="accent1"/>
                </a:solidFill>
              </a:rPr>
              <a:t>17</a:t>
            </a:r>
            <a:r>
              <a:rPr lang="ko-KR" altLang="en-US" sz="1800" b="0" dirty="0">
                <a:solidFill>
                  <a:schemeClr val="accent1"/>
                </a:solidFill>
              </a:rPr>
              <a:t>분 늦게 하는 것 반영 </a:t>
            </a:r>
            <a:r>
              <a:rPr lang="en-US" altLang="ko-KR" sz="1800" b="0" dirty="0">
                <a:solidFill>
                  <a:schemeClr val="accent1"/>
                </a:solidFill>
              </a:rPr>
              <a:t> </a:t>
            </a:r>
            <a:endParaRPr lang="ko-KR" altLang="en-US" dirty="0">
              <a:solidFill>
                <a:schemeClr val="accent1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B83DA19-921B-92BB-E891-31F995FEFF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52" y="1352550"/>
            <a:ext cx="4842771" cy="531971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453CD90-7419-B347-C918-642F265714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9347" y="1352549"/>
            <a:ext cx="5077239" cy="531971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13D79BC-C820-B59D-EB91-6AF7DFBE4A46}"/>
              </a:ext>
            </a:extLst>
          </p:cNvPr>
          <p:cNvSpPr txBox="1"/>
          <p:nvPr/>
        </p:nvSpPr>
        <p:spPr>
          <a:xfrm>
            <a:off x="5749117" y="3643073"/>
            <a:ext cx="61226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chemeClr val="accent1"/>
                </a:solidFill>
              </a:rPr>
              <a:t>→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B3BCC45-0000-84F8-D3BE-BB3E587BD0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1812" y="916952"/>
            <a:ext cx="4364879" cy="28466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87C748F6-412B-12CC-FC31-8A0E97867F44}"/>
              </a:ext>
            </a:extLst>
          </p:cNvPr>
          <p:cNvSpPr/>
          <p:nvPr/>
        </p:nvSpPr>
        <p:spPr>
          <a:xfrm>
            <a:off x="2238275" y="5941048"/>
            <a:ext cx="733526" cy="100012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91C31E1-AC87-31DE-74A7-AA3B17BA6DBE}"/>
              </a:ext>
            </a:extLst>
          </p:cNvPr>
          <p:cNvSpPr/>
          <p:nvPr/>
        </p:nvSpPr>
        <p:spPr>
          <a:xfrm>
            <a:off x="7858025" y="5950573"/>
            <a:ext cx="733526" cy="100012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EF7C9A81-6EFF-EF81-110C-D2DB3B368AAF}"/>
              </a:ext>
            </a:extLst>
          </p:cNvPr>
          <p:cNvCxnSpPr/>
          <p:nvPr/>
        </p:nvCxnSpPr>
        <p:spPr>
          <a:xfrm>
            <a:off x="3352800" y="1138118"/>
            <a:ext cx="203200" cy="0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9805404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2022-12-22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8831BB-1155-404C-981F-0067EF5C7392}"/>
              </a:ext>
            </a:extLst>
          </p:cNvPr>
          <p:cNvSpPr txBox="1"/>
          <p:nvPr/>
        </p:nvSpPr>
        <p:spPr>
          <a:xfrm>
            <a:off x="350691" y="858197"/>
            <a:ext cx="121599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chemeClr val="tx2"/>
                </a:solidFill>
              </a:rPr>
              <a:t>새로운 코드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E30BF5B5-9DB5-15B8-5E47-0220AD55E1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6681" y="858197"/>
            <a:ext cx="7603204" cy="5798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158301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23A16E61-89F6-2300-C984-AD351675D6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2374" y="858197"/>
            <a:ext cx="7793901" cy="5762723"/>
          </a:xfrm>
          <a:prstGeom prst="rect">
            <a:avLst/>
          </a:prstGeom>
        </p:spPr>
      </p:pic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2022-12-22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15</a:t>
            </a:fld>
            <a:endParaRPr lang="en-US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8831BB-1155-404C-981F-0067EF5C7392}"/>
              </a:ext>
            </a:extLst>
          </p:cNvPr>
          <p:cNvSpPr txBox="1"/>
          <p:nvPr/>
        </p:nvSpPr>
        <p:spPr>
          <a:xfrm>
            <a:off x="350691" y="858197"/>
            <a:ext cx="121599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chemeClr val="tx2"/>
                </a:solidFill>
              </a:rPr>
              <a:t>새로운 코드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CE5782F-AC16-5E46-870E-0F813FF430ED}"/>
              </a:ext>
            </a:extLst>
          </p:cNvPr>
          <p:cNvSpPr/>
          <p:nvPr/>
        </p:nvSpPr>
        <p:spPr>
          <a:xfrm>
            <a:off x="2794000" y="1891624"/>
            <a:ext cx="5226050" cy="153076"/>
          </a:xfrm>
          <a:prstGeom prst="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05ED83D-476C-329F-165A-FFA9BAACB52A}"/>
              </a:ext>
            </a:extLst>
          </p:cNvPr>
          <p:cNvSpPr/>
          <p:nvPr/>
        </p:nvSpPr>
        <p:spPr>
          <a:xfrm>
            <a:off x="2794000" y="2590100"/>
            <a:ext cx="3086100" cy="153076"/>
          </a:xfrm>
          <a:prstGeom prst="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736709-27CA-88CE-E20C-D0467E97A134}"/>
              </a:ext>
            </a:extLst>
          </p:cNvPr>
          <p:cNvSpPr txBox="1"/>
          <p:nvPr/>
        </p:nvSpPr>
        <p:spPr>
          <a:xfrm>
            <a:off x="7592432" y="2267812"/>
            <a:ext cx="62801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accent1"/>
                </a:solidFill>
              </a:rPr>
              <a:t>ECI </a:t>
            </a:r>
            <a:r>
              <a:rPr lang="ko-KR" altLang="en-US" sz="1200" dirty="0">
                <a:solidFill>
                  <a:schemeClr val="accent1"/>
                </a:solidFill>
              </a:rPr>
              <a:t>좌표계에서의 지상국의 위치벡터를 추가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99C37EC-89EB-279B-2B42-895D45D24C0A}"/>
              </a:ext>
            </a:extLst>
          </p:cNvPr>
          <p:cNvSpPr/>
          <p:nvPr/>
        </p:nvSpPr>
        <p:spPr>
          <a:xfrm>
            <a:off x="2794000" y="6342950"/>
            <a:ext cx="3568700" cy="153076"/>
          </a:xfrm>
          <a:prstGeom prst="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8187948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24AF5A90-2C88-C6BF-8963-D24819B2B1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4476" y="858195"/>
            <a:ext cx="6895396" cy="5762723"/>
          </a:xfrm>
          <a:prstGeom prst="rect">
            <a:avLst/>
          </a:prstGeom>
        </p:spPr>
      </p:pic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2022-12-22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16</a:t>
            </a:fld>
            <a:endParaRPr lang="en-US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8831BB-1155-404C-981F-0067EF5C7392}"/>
              </a:ext>
            </a:extLst>
          </p:cNvPr>
          <p:cNvSpPr txBox="1"/>
          <p:nvPr/>
        </p:nvSpPr>
        <p:spPr>
          <a:xfrm>
            <a:off x="350691" y="858197"/>
            <a:ext cx="121599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chemeClr val="tx2"/>
                </a:solidFill>
              </a:rPr>
              <a:t>새로운 코드</a:t>
            </a:r>
          </a:p>
        </p:txBody>
      </p:sp>
    </p:spTree>
    <p:extLst>
      <p:ext uri="{BB962C8B-B14F-4D97-AF65-F5344CB8AC3E}">
        <p14:creationId xmlns:p14="http://schemas.microsoft.com/office/powerpoint/2010/main" val="2839980653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2022-12-22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17</a:t>
            </a:fld>
            <a:endParaRPr lang="en-US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8831BB-1155-404C-981F-0067EF5C7392}"/>
              </a:ext>
            </a:extLst>
          </p:cNvPr>
          <p:cNvSpPr txBox="1"/>
          <p:nvPr/>
        </p:nvSpPr>
        <p:spPr>
          <a:xfrm>
            <a:off x="350691" y="858197"/>
            <a:ext cx="121599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chemeClr val="tx2"/>
                </a:solidFill>
              </a:rPr>
              <a:t>새로운 코드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5302940-D618-1BD0-6638-A6E6604CCE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726" y="1406947"/>
            <a:ext cx="10127030" cy="10602887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C3C330E3-0AEB-4E58-FC1E-7C1C72D9A120}"/>
              </a:ext>
            </a:extLst>
          </p:cNvPr>
          <p:cNvSpPr/>
          <p:nvPr/>
        </p:nvSpPr>
        <p:spPr>
          <a:xfrm>
            <a:off x="2839719" y="3400182"/>
            <a:ext cx="1998981" cy="276999"/>
          </a:xfrm>
          <a:prstGeom prst="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67B5324-5C26-1384-8546-490318199ABA}"/>
              </a:ext>
            </a:extLst>
          </p:cNvPr>
          <p:cNvSpPr/>
          <p:nvPr/>
        </p:nvSpPr>
        <p:spPr>
          <a:xfrm>
            <a:off x="9906000" y="3808184"/>
            <a:ext cx="1638300" cy="192316"/>
          </a:xfrm>
          <a:prstGeom prst="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8F9DE4-6255-C204-FB98-53D15CC72538}"/>
              </a:ext>
            </a:extLst>
          </p:cNvPr>
          <p:cNvSpPr txBox="1"/>
          <p:nvPr/>
        </p:nvSpPr>
        <p:spPr>
          <a:xfrm>
            <a:off x="5522405" y="3350367"/>
            <a:ext cx="348514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 err="1">
                <a:solidFill>
                  <a:schemeClr val="accent1"/>
                </a:solidFill>
              </a:rPr>
              <a:t>지상국</a:t>
            </a:r>
            <a:r>
              <a:rPr lang="ko-KR" altLang="en-US" sz="1200" dirty="0">
                <a:solidFill>
                  <a:schemeClr val="accent1"/>
                </a:solidFill>
              </a:rPr>
              <a:t> 지향모드 추가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907F715-2DC1-FF55-A67B-C6F32D3B7B3F}"/>
              </a:ext>
            </a:extLst>
          </p:cNvPr>
          <p:cNvSpPr/>
          <p:nvPr/>
        </p:nvSpPr>
        <p:spPr>
          <a:xfrm>
            <a:off x="2019300" y="4089400"/>
            <a:ext cx="10491354" cy="27685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6452843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2022-12-22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18</a:t>
            </a:fld>
            <a:endParaRPr lang="en-US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8831BB-1155-404C-981F-0067EF5C7392}"/>
              </a:ext>
            </a:extLst>
          </p:cNvPr>
          <p:cNvSpPr txBox="1"/>
          <p:nvPr/>
        </p:nvSpPr>
        <p:spPr>
          <a:xfrm>
            <a:off x="350691" y="858197"/>
            <a:ext cx="121599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chemeClr val="tx2"/>
                </a:solidFill>
              </a:rPr>
              <a:t>새로운 코드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3C330E3-0AEB-4E58-FC1E-7C1C72D9A120}"/>
              </a:ext>
            </a:extLst>
          </p:cNvPr>
          <p:cNvSpPr/>
          <p:nvPr/>
        </p:nvSpPr>
        <p:spPr>
          <a:xfrm>
            <a:off x="2839719" y="3400182"/>
            <a:ext cx="1998981" cy="276999"/>
          </a:xfrm>
          <a:prstGeom prst="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8F9DE4-6255-C204-FB98-53D15CC72538}"/>
              </a:ext>
            </a:extLst>
          </p:cNvPr>
          <p:cNvSpPr txBox="1"/>
          <p:nvPr/>
        </p:nvSpPr>
        <p:spPr>
          <a:xfrm>
            <a:off x="5522405" y="3350367"/>
            <a:ext cx="348514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 err="1">
                <a:solidFill>
                  <a:schemeClr val="accent1"/>
                </a:solidFill>
              </a:rPr>
              <a:t>지상국</a:t>
            </a:r>
            <a:r>
              <a:rPr lang="ko-KR" altLang="en-US" sz="1200" dirty="0">
                <a:solidFill>
                  <a:schemeClr val="accent1"/>
                </a:solidFill>
              </a:rPr>
              <a:t> 지향모드 추가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329AF94-DC6A-4CAF-7C87-2664E0EC46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500" y="-1"/>
            <a:ext cx="6630373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1D58C7-465C-5DD1-F6AB-07856F30CA4F}"/>
              </a:ext>
            </a:extLst>
          </p:cNvPr>
          <p:cNvSpPr txBox="1"/>
          <p:nvPr/>
        </p:nvSpPr>
        <p:spPr>
          <a:xfrm>
            <a:off x="6096000" y="74831"/>
            <a:ext cx="348514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rgbClr val="7030A0"/>
                </a:solidFill>
              </a:rPr>
              <a:t>자세에 대한 정보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B31237-6156-3343-E8DA-1FC6AA393B8A}"/>
              </a:ext>
            </a:extLst>
          </p:cNvPr>
          <p:cNvSpPr txBox="1"/>
          <p:nvPr/>
        </p:nvSpPr>
        <p:spPr>
          <a:xfrm>
            <a:off x="7482279" y="82841"/>
            <a:ext cx="348514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rgbClr val="7030A0"/>
                </a:solidFill>
              </a:rPr>
              <a:t>- Triad</a:t>
            </a:r>
            <a:r>
              <a:rPr lang="ko-KR" altLang="en-US" sz="1200" dirty="0">
                <a:solidFill>
                  <a:srgbClr val="7030A0"/>
                </a:solidFill>
              </a:rPr>
              <a:t> </a:t>
            </a:r>
            <a:r>
              <a:rPr lang="en-US" altLang="ko-KR" sz="1200" dirty="0">
                <a:solidFill>
                  <a:srgbClr val="7030A0"/>
                </a:solidFill>
              </a:rPr>
              <a:t>Method</a:t>
            </a:r>
            <a:r>
              <a:rPr lang="ko-KR" altLang="en-US" sz="1200" dirty="0">
                <a:solidFill>
                  <a:srgbClr val="7030A0"/>
                </a:solidFill>
              </a:rPr>
              <a:t>를 이용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7CA987-321A-6319-2137-46773A3EB97E}"/>
              </a:ext>
            </a:extLst>
          </p:cNvPr>
          <p:cNvSpPr txBox="1"/>
          <p:nvPr/>
        </p:nvSpPr>
        <p:spPr>
          <a:xfrm>
            <a:off x="7968343" y="641359"/>
            <a:ext cx="212815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accent1"/>
                </a:solidFill>
              </a:rPr>
              <a:t>[ECI]</a:t>
            </a:r>
          </a:p>
          <a:p>
            <a:endParaRPr lang="en-US" altLang="ko-KR" sz="1200" dirty="0">
              <a:solidFill>
                <a:schemeClr val="accent1"/>
              </a:solidFill>
            </a:endParaRPr>
          </a:p>
          <a:p>
            <a:r>
              <a:rPr lang="en-US" altLang="ko-KR" sz="1200" dirty="0">
                <a:solidFill>
                  <a:schemeClr val="accent1"/>
                </a:solidFill>
              </a:rPr>
              <a:t>Primary </a:t>
            </a:r>
            <a:r>
              <a:rPr lang="ko-KR" altLang="en-US" sz="1200" dirty="0">
                <a:solidFill>
                  <a:schemeClr val="accent1"/>
                </a:solidFill>
              </a:rPr>
              <a:t>벡터</a:t>
            </a:r>
            <a:r>
              <a:rPr lang="en-US" altLang="ko-KR" sz="1200" dirty="0">
                <a:solidFill>
                  <a:schemeClr val="accent1"/>
                </a:solidFill>
              </a:rPr>
              <a:t> : </a:t>
            </a:r>
            <a:r>
              <a:rPr lang="ko-KR" altLang="en-US" sz="1200" dirty="0">
                <a:solidFill>
                  <a:schemeClr val="accent1"/>
                </a:solidFill>
              </a:rPr>
              <a:t>태양방향</a:t>
            </a:r>
            <a:endParaRPr lang="en-US" altLang="ko-KR" sz="1200" dirty="0">
              <a:solidFill>
                <a:schemeClr val="accent1"/>
              </a:solidFill>
            </a:endParaRPr>
          </a:p>
          <a:p>
            <a:endParaRPr lang="en-US" altLang="ko-KR" sz="1200" dirty="0">
              <a:solidFill>
                <a:schemeClr val="accent1"/>
              </a:solidFill>
            </a:endParaRPr>
          </a:p>
          <a:p>
            <a:r>
              <a:rPr lang="en-US" altLang="ko-KR" sz="1200" dirty="0">
                <a:solidFill>
                  <a:schemeClr val="accent1"/>
                </a:solidFill>
              </a:rPr>
              <a:t>Second </a:t>
            </a:r>
            <a:r>
              <a:rPr lang="ko-KR" altLang="en-US" sz="1200" dirty="0">
                <a:solidFill>
                  <a:schemeClr val="accent1"/>
                </a:solidFill>
              </a:rPr>
              <a:t>벡터 </a:t>
            </a:r>
            <a:r>
              <a:rPr lang="en-US" altLang="ko-KR" sz="1200" dirty="0">
                <a:solidFill>
                  <a:schemeClr val="accent1"/>
                </a:solidFill>
              </a:rPr>
              <a:t>: Velocity </a:t>
            </a:r>
            <a:r>
              <a:rPr lang="ko-KR" altLang="en-US" sz="1200" dirty="0">
                <a:solidFill>
                  <a:schemeClr val="accent1"/>
                </a:solidFill>
              </a:rPr>
              <a:t>방향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78D950-1979-7D12-F442-C7DBD670969A}"/>
              </a:ext>
            </a:extLst>
          </p:cNvPr>
          <p:cNvSpPr txBox="1"/>
          <p:nvPr/>
        </p:nvSpPr>
        <p:spPr>
          <a:xfrm>
            <a:off x="10351062" y="661402"/>
            <a:ext cx="348514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accent1"/>
                </a:solidFill>
              </a:rPr>
              <a:t>[Body-frame]</a:t>
            </a:r>
          </a:p>
          <a:p>
            <a:endParaRPr lang="en-US" altLang="ko-KR" sz="1200" dirty="0">
              <a:solidFill>
                <a:schemeClr val="accent1"/>
              </a:solidFill>
            </a:endParaRPr>
          </a:p>
          <a:p>
            <a:r>
              <a:rPr lang="en-US" altLang="ko-KR" sz="1200" dirty="0">
                <a:solidFill>
                  <a:schemeClr val="accent1"/>
                </a:solidFill>
              </a:rPr>
              <a:t>Primary </a:t>
            </a:r>
            <a:r>
              <a:rPr lang="ko-KR" altLang="en-US" sz="1200" dirty="0">
                <a:solidFill>
                  <a:schemeClr val="accent1"/>
                </a:solidFill>
              </a:rPr>
              <a:t>벡터</a:t>
            </a:r>
            <a:r>
              <a:rPr lang="en-US" altLang="ko-KR" sz="1200" dirty="0">
                <a:solidFill>
                  <a:schemeClr val="accent1"/>
                </a:solidFill>
              </a:rPr>
              <a:t> : [0, 0, 1]</a:t>
            </a:r>
          </a:p>
          <a:p>
            <a:endParaRPr lang="en-US" altLang="ko-KR" sz="1200" dirty="0">
              <a:solidFill>
                <a:schemeClr val="accent1"/>
              </a:solidFill>
            </a:endParaRPr>
          </a:p>
          <a:p>
            <a:r>
              <a:rPr lang="en-US" altLang="ko-KR" sz="1200" dirty="0">
                <a:solidFill>
                  <a:schemeClr val="accent1"/>
                </a:solidFill>
              </a:rPr>
              <a:t>Second </a:t>
            </a:r>
            <a:r>
              <a:rPr lang="ko-KR" altLang="en-US" sz="1200" dirty="0">
                <a:solidFill>
                  <a:schemeClr val="accent1"/>
                </a:solidFill>
              </a:rPr>
              <a:t>벡터 </a:t>
            </a:r>
            <a:r>
              <a:rPr lang="en-US" altLang="ko-KR" sz="1200" dirty="0">
                <a:solidFill>
                  <a:schemeClr val="accent1"/>
                </a:solidFill>
              </a:rPr>
              <a:t>: [1, 0, 0]</a:t>
            </a:r>
            <a:endParaRPr lang="ko-KR" altLang="en-US" sz="1200" dirty="0">
              <a:solidFill>
                <a:schemeClr val="accent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59C2CE6-C171-267D-3EF3-C6B561931C8A}"/>
              </a:ext>
            </a:extLst>
          </p:cNvPr>
          <p:cNvSpPr txBox="1"/>
          <p:nvPr/>
        </p:nvSpPr>
        <p:spPr>
          <a:xfrm>
            <a:off x="7968343" y="2078937"/>
            <a:ext cx="223293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accent2"/>
                </a:solidFill>
              </a:rPr>
              <a:t>[ECI]</a:t>
            </a:r>
          </a:p>
          <a:p>
            <a:endParaRPr lang="en-US" altLang="ko-KR" sz="1200" dirty="0">
              <a:solidFill>
                <a:schemeClr val="accent2"/>
              </a:solidFill>
            </a:endParaRPr>
          </a:p>
          <a:p>
            <a:r>
              <a:rPr lang="en-US" altLang="ko-KR" sz="1200" dirty="0">
                <a:solidFill>
                  <a:schemeClr val="accent2"/>
                </a:solidFill>
              </a:rPr>
              <a:t>Primary </a:t>
            </a:r>
            <a:r>
              <a:rPr lang="ko-KR" altLang="en-US" sz="1200" dirty="0">
                <a:solidFill>
                  <a:schemeClr val="accent2"/>
                </a:solidFill>
              </a:rPr>
              <a:t>벡터</a:t>
            </a:r>
            <a:r>
              <a:rPr lang="en-US" altLang="ko-KR" sz="1200" dirty="0">
                <a:solidFill>
                  <a:schemeClr val="accent2"/>
                </a:solidFill>
              </a:rPr>
              <a:t> : mode1</a:t>
            </a:r>
            <a:r>
              <a:rPr lang="ko-KR" altLang="en-US" sz="1200" dirty="0">
                <a:solidFill>
                  <a:schemeClr val="accent2"/>
                </a:solidFill>
              </a:rPr>
              <a:t>과 반대</a:t>
            </a:r>
            <a:endParaRPr lang="en-US" altLang="ko-KR" sz="1200" dirty="0">
              <a:solidFill>
                <a:schemeClr val="accent2"/>
              </a:solidFill>
            </a:endParaRPr>
          </a:p>
          <a:p>
            <a:endParaRPr lang="en-US" altLang="ko-KR" sz="1200" dirty="0">
              <a:solidFill>
                <a:schemeClr val="accent2"/>
              </a:solidFill>
            </a:endParaRPr>
          </a:p>
          <a:p>
            <a:r>
              <a:rPr lang="en-US" altLang="ko-KR" sz="1200" dirty="0">
                <a:solidFill>
                  <a:schemeClr val="accent2"/>
                </a:solidFill>
              </a:rPr>
              <a:t>Second </a:t>
            </a:r>
            <a:r>
              <a:rPr lang="ko-KR" altLang="en-US" sz="1200" dirty="0">
                <a:solidFill>
                  <a:schemeClr val="accent2"/>
                </a:solidFill>
              </a:rPr>
              <a:t>벡터 </a:t>
            </a:r>
            <a:r>
              <a:rPr lang="en-US" altLang="ko-KR" sz="1200" dirty="0">
                <a:solidFill>
                  <a:schemeClr val="accent2"/>
                </a:solidFill>
              </a:rPr>
              <a:t>: Velocity </a:t>
            </a:r>
            <a:r>
              <a:rPr lang="ko-KR" altLang="en-US" sz="1200" dirty="0">
                <a:solidFill>
                  <a:schemeClr val="accent2"/>
                </a:solidFill>
              </a:rPr>
              <a:t>방향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FB82E1-7AC1-74C7-121C-8E65CC96CE4A}"/>
              </a:ext>
            </a:extLst>
          </p:cNvPr>
          <p:cNvSpPr txBox="1"/>
          <p:nvPr/>
        </p:nvSpPr>
        <p:spPr>
          <a:xfrm>
            <a:off x="10351062" y="2098980"/>
            <a:ext cx="348514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accent2"/>
                </a:solidFill>
              </a:rPr>
              <a:t>[Body-frame]</a:t>
            </a:r>
          </a:p>
          <a:p>
            <a:endParaRPr lang="en-US" altLang="ko-KR" sz="1200" dirty="0">
              <a:solidFill>
                <a:schemeClr val="accent2"/>
              </a:solidFill>
            </a:endParaRPr>
          </a:p>
          <a:p>
            <a:r>
              <a:rPr lang="en-US" altLang="ko-KR" sz="1200" dirty="0">
                <a:solidFill>
                  <a:schemeClr val="accent2"/>
                </a:solidFill>
              </a:rPr>
              <a:t>Primary </a:t>
            </a:r>
            <a:r>
              <a:rPr lang="ko-KR" altLang="en-US" sz="1200" dirty="0">
                <a:solidFill>
                  <a:schemeClr val="accent2"/>
                </a:solidFill>
              </a:rPr>
              <a:t>벡터</a:t>
            </a:r>
            <a:r>
              <a:rPr lang="en-US" altLang="ko-KR" sz="1200" dirty="0">
                <a:solidFill>
                  <a:schemeClr val="accent2"/>
                </a:solidFill>
              </a:rPr>
              <a:t> : [0, 0, 1]</a:t>
            </a:r>
          </a:p>
          <a:p>
            <a:endParaRPr lang="en-US" altLang="ko-KR" sz="1200" dirty="0">
              <a:solidFill>
                <a:schemeClr val="accent2"/>
              </a:solidFill>
            </a:endParaRPr>
          </a:p>
          <a:p>
            <a:r>
              <a:rPr lang="en-US" altLang="ko-KR" sz="1200" dirty="0">
                <a:solidFill>
                  <a:schemeClr val="accent2"/>
                </a:solidFill>
              </a:rPr>
              <a:t>Second </a:t>
            </a:r>
            <a:r>
              <a:rPr lang="ko-KR" altLang="en-US" sz="1200" dirty="0">
                <a:solidFill>
                  <a:schemeClr val="accent2"/>
                </a:solidFill>
              </a:rPr>
              <a:t>벡터 </a:t>
            </a:r>
            <a:r>
              <a:rPr lang="en-US" altLang="ko-KR" sz="1200" dirty="0">
                <a:solidFill>
                  <a:schemeClr val="accent2"/>
                </a:solidFill>
              </a:rPr>
              <a:t>: [1, 0, 0]</a:t>
            </a:r>
            <a:endParaRPr lang="ko-KR" altLang="en-US" sz="1200" dirty="0">
              <a:solidFill>
                <a:schemeClr val="accent2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C9160AA-059C-34D6-DEAE-57580B0FC0AC}"/>
              </a:ext>
            </a:extLst>
          </p:cNvPr>
          <p:cNvSpPr txBox="1"/>
          <p:nvPr/>
        </p:nvSpPr>
        <p:spPr>
          <a:xfrm>
            <a:off x="6781360" y="1042863"/>
            <a:ext cx="16322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accent1"/>
                </a:solidFill>
              </a:rPr>
              <a:t>Mode 1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E94F6F-CA1A-7B6F-2E35-A7B8C4B1DA74}"/>
              </a:ext>
            </a:extLst>
          </p:cNvPr>
          <p:cNvSpPr txBox="1"/>
          <p:nvPr/>
        </p:nvSpPr>
        <p:spPr>
          <a:xfrm>
            <a:off x="6781360" y="2290002"/>
            <a:ext cx="16322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accent2"/>
                </a:solidFill>
              </a:rPr>
              <a:t>Mode 2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78BD236-3C98-6343-5D7D-1D4F6C6732D7}"/>
              </a:ext>
            </a:extLst>
          </p:cNvPr>
          <p:cNvSpPr txBox="1"/>
          <p:nvPr/>
        </p:nvSpPr>
        <p:spPr>
          <a:xfrm>
            <a:off x="7968343" y="3504851"/>
            <a:ext cx="223293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rgbClr val="00B050"/>
                </a:solidFill>
              </a:rPr>
              <a:t>[ECI]</a:t>
            </a:r>
          </a:p>
          <a:p>
            <a:endParaRPr lang="en-US" altLang="ko-KR" sz="1200" dirty="0">
              <a:solidFill>
                <a:srgbClr val="00B050"/>
              </a:solidFill>
            </a:endParaRPr>
          </a:p>
          <a:p>
            <a:r>
              <a:rPr lang="en-US" altLang="ko-KR" sz="1200" dirty="0">
                <a:solidFill>
                  <a:srgbClr val="00B050"/>
                </a:solidFill>
              </a:rPr>
              <a:t>Primary </a:t>
            </a:r>
            <a:r>
              <a:rPr lang="ko-KR" altLang="en-US" sz="1200" dirty="0">
                <a:solidFill>
                  <a:srgbClr val="00B050"/>
                </a:solidFill>
              </a:rPr>
              <a:t>벡터</a:t>
            </a:r>
            <a:r>
              <a:rPr lang="en-US" altLang="ko-KR" sz="1200" dirty="0">
                <a:solidFill>
                  <a:srgbClr val="00B050"/>
                </a:solidFill>
              </a:rPr>
              <a:t> : </a:t>
            </a:r>
            <a:r>
              <a:rPr lang="ko-KR" altLang="en-US" sz="1200" dirty="0" err="1">
                <a:solidFill>
                  <a:srgbClr val="00B050"/>
                </a:solidFill>
              </a:rPr>
              <a:t>지상국</a:t>
            </a:r>
            <a:r>
              <a:rPr lang="ko-KR" altLang="en-US" sz="1200" dirty="0">
                <a:solidFill>
                  <a:srgbClr val="00B050"/>
                </a:solidFill>
              </a:rPr>
              <a:t> 방향</a:t>
            </a:r>
            <a:endParaRPr lang="en-US" altLang="ko-KR" sz="1200" dirty="0">
              <a:solidFill>
                <a:srgbClr val="00B050"/>
              </a:solidFill>
            </a:endParaRPr>
          </a:p>
          <a:p>
            <a:endParaRPr lang="en-US" altLang="ko-KR" sz="1200" dirty="0">
              <a:solidFill>
                <a:srgbClr val="00B050"/>
              </a:solidFill>
            </a:endParaRPr>
          </a:p>
          <a:p>
            <a:r>
              <a:rPr lang="en-US" altLang="ko-KR" sz="1200" dirty="0">
                <a:solidFill>
                  <a:srgbClr val="00B050"/>
                </a:solidFill>
              </a:rPr>
              <a:t>Second </a:t>
            </a:r>
            <a:r>
              <a:rPr lang="ko-KR" altLang="en-US" sz="1200" dirty="0">
                <a:solidFill>
                  <a:srgbClr val="00B050"/>
                </a:solidFill>
              </a:rPr>
              <a:t>벡터 </a:t>
            </a:r>
            <a:r>
              <a:rPr lang="en-US" altLang="ko-KR" sz="1200" dirty="0">
                <a:solidFill>
                  <a:srgbClr val="00B050"/>
                </a:solidFill>
              </a:rPr>
              <a:t>: Velocity </a:t>
            </a:r>
            <a:r>
              <a:rPr lang="ko-KR" altLang="en-US" sz="1200" dirty="0">
                <a:solidFill>
                  <a:srgbClr val="00B050"/>
                </a:solidFill>
              </a:rPr>
              <a:t>방향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A40457E-B871-7537-82DE-74F661B0DDE6}"/>
              </a:ext>
            </a:extLst>
          </p:cNvPr>
          <p:cNvSpPr txBox="1"/>
          <p:nvPr/>
        </p:nvSpPr>
        <p:spPr>
          <a:xfrm>
            <a:off x="10351062" y="3524894"/>
            <a:ext cx="348514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rgbClr val="00B050"/>
                </a:solidFill>
              </a:rPr>
              <a:t>[Body-frame]</a:t>
            </a:r>
          </a:p>
          <a:p>
            <a:endParaRPr lang="en-US" altLang="ko-KR" sz="1200" dirty="0">
              <a:solidFill>
                <a:srgbClr val="00B050"/>
              </a:solidFill>
            </a:endParaRPr>
          </a:p>
          <a:p>
            <a:r>
              <a:rPr lang="en-US" altLang="ko-KR" sz="1200" dirty="0">
                <a:solidFill>
                  <a:srgbClr val="00B050"/>
                </a:solidFill>
              </a:rPr>
              <a:t>Primary </a:t>
            </a:r>
            <a:r>
              <a:rPr lang="ko-KR" altLang="en-US" sz="1200" dirty="0">
                <a:solidFill>
                  <a:srgbClr val="00B050"/>
                </a:solidFill>
              </a:rPr>
              <a:t>벡터</a:t>
            </a:r>
            <a:r>
              <a:rPr lang="en-US" altLang="ko-KR" sz="1200" dirty="0">
                <a:solidFill>
                  <a:srgbClr val="00B050"/>
                </a:solidFill>
              </a:rPr>
              <a:t> : [0, 0, -1]</a:t>
            </a:r>
          </a:p>
          <a:p>
            <a:endParaRPr lang="en-US" altLang="ko-KR" sz="1200" dirty="0">
              <a:solidFill>
                <a:srgbClr val="00B050"/>
              </a:solidFill>
            </a:endParaRPr>
          </a:p>
          <a:p>
            <a:r>
              <a:rPr lang="en-US" altLang="ko-KR" sz="1200" dirty="0">
                <a:solidFill>
                  <a:srgbClr val="00B050"/>
                </a:solidFill>
              </a:rPr>
              <a:t>Second </a:t>
            </a:r>
            <a:r>
              <a:rPr lang="ko-KR" altLang="en-US" sz="1200" dirty="0">
                <a:solidFill>
                  <a:srgbClr val="00B050"/>
                </a:solidFill>
              </a:rPr>
              <a:t>벡터 </a:t>
            </a:r>
            <a:r>
              <a:rPr lang="en-US" altLang="ko-KR" sz="1200" dirty="0">
                <a:solidFill>
                  <a:srgbClr val="00B050"/>
                </a:solidFill>
              </a:rPr>
              <a:t>: [1, 0, 0]</a:t>
            </a:r>
            <a:endParaRPr lang="ko-KR" altLang="en-US" sz="1200" dirty="0">
              <a:solidFill>
                <a:srgbClr val="00B05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22BFD3-EEB7-70CF-BE76-E7DE95197D75}"/>
              </a:ext>
            </a:extLst>
          </p:cNvPr>
          <p:cNvSpPr txBox="1"/>
          <p:nvPr/>
        </p:nvSpPr>
        <p:spPr>
          <a:xfrm>
            <a:off x="6781360" y="3715916"/>
            <a:ext cx="16322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rgbClr val="00B050"/>
                </a:solidFill>
              </a:rPr>
              <a:t>Mode 3</a:t>
            </a:r>
            <a:endParaRPr lang="ko-KR" altLang="en-US" dirty="0">
              <a:solidFill>
                <a:srgbClr val="00B05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8D16982-3644-A071-1540-B36A586EC96E}"/>
              </a:ext>
            </a:extLst>
          </p:cNvPr>
          <p:cNvSpPr txBox="1"/>
          <p:nvPr/>
        </p:nvSpPr>
        <p:spPr>
          <a:xfrm>
            <a:off x="5888535" y="5611704"/>
            <a:ext cx="50788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rgbClr val="7030A0"/>
                </a:solidFill>
              </a:rPr>
              <a:t>Interpolation</a:t>
            </a:r>
            <a:r>
              <a:rPr lang="ko-KR" altLang="en-US" sz="1200" dirty="0">
                <a:solidFill>
                  <a:srgbClr val="7030A0"/>
                </a:solidFill>
              </a:rPr>
              <a:t>을 이용하여 각 모드 간의 불연속성 제거 </a:t>
            </a:r>
            <a:r>
              <a:rPr lang="en-US" altLang="ko-KR" sz="1200" dirty="0">
                <a:solidFill>
                  <a:srgbClr val="7030A0"/>
                </a:solidFill>
              </a:rPr>
              <a:t>(150</a:t>
            </a:r>
            <a:r>
              <a:rPr lang="ko-KR" altLang="en-US" sz="1200" dirty="0">
                <a:solidFill>
                  <a:srgbClr val="7030A0"/>
                </a:solidFill>
              </a:rPr>
              <a:t>초 동안 적용</a:t>
            </a:r>
            <a:r>
              <a:rPr lang="en-US" altLang="ko-KR" sz="1200" dirty="0">
                <a:solidFill>
                  <a:srgbClr val="7030A0"/>
                </a:solidFill>
              </a:rPr>
              <a:t>)</a:t>
            </a:r>
            <a:endParaRPr lang="ko-KR" altLang="en-US" sz="12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4085622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2022-12-22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19</a:t>
            </a:fld>
            <a:endParaRPr lang="en-US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8831BB-1155-404C-981F-0067EF5C7392}"/>
              </a:ext>
            </a:extLst>
          </p:cNvPr>
          <p:cNvSpPr txBox="1"/>
          <p:nvPr/>
        </p:nvSpPr>
        <p:spPr>
          <a:xfrm>
            <a:off x="350691" y="858197"/>
            <a:ext cx="121599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chemeClr val="tx2"/>
                </a:solidFill>
              </a:rPr>
              <a:t>새로운 코드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A70BC86-C581-553E-A6F3-154615E15B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4010" y="1122217"/>
            <a:ext cx="6606163" cy="51434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8825EB9-BF72-2B29-6847-3530A4B0A85F}"/>
              </a:ext>
            </a:extLst>
          </p:cNvPr>
          <p:cNvSpPr txBox="1"/>
          <p:nvPr/>
        </p:nvSpPr>
        <p:spPr>
          <a:xfrm>
            <a:off x="5230863" y="2197744"/>
            <a:ext cx="212815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chemeClr val="accent1"/>
                </a:solidFill>
              </a:rPr>
              <a:t>각 면에 부착된 셀의 벡터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E5FD06-8C1C-0EAA-86E1-56F38B757ADF}"/>
              </a:ext>
            </a:extLst>
          </p:cNvPr>
          <p:cNvSpPr txBox="1"/>
          <p:nvPr/>
        </p:nvSpPr>
        <p:spPr>
          <a:xfrm>
            <a:off x="4730795" y="2600263"/>
            <a:ext cx="212815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dirty="0">
                <a:solidFill>
                  <a:schemeClr val="accent1"/>
                </a:solidFill>
              </a:rPr>
              <a:t>네 방향의 </a:t>
            </a:r>
            <a:r>
              <a:rPr lang="en-US" altLang="ko-KR" sz="1050" dirty="0" err="1">
                <a:solidFill>
                  <a:schemeClr val="accent1"/>
                </a:solidFill>
              </a:rPr>
              <a:t>Sollar</a:t>
            </a:r>
            <a:r>
              <a:rPr lang="en-US" altLang="ko-KR" sz="1050" dirty="0">
                <a:solidFill>
                  <a:schemeClr val="accent1"/>
                </a:solidFill>
              </a:rPr>
              <a:t> </a:t>
            </a:r>
            <a:r>
              <a:rPr lang="en-US" altLang="ko-KR" sz="1050" dirty="0" err="1">
                <a:solidFill>
                  <a:schemeClr val="accent1"/>
                </a:solidFill>
              </a:rPr>
              <a:t>Pannel</a:t>
            </a:r>
            <a:r>
              <a:rPr lang="en-US" altLang="ko-KR" sz="1050" dirty="0">
                <a:solidFill>
                  <a:schemeClr val="accent1"/>
                </a:solidFill>
              </a:rPr>
              <a:t> </a:t>
            </a:r>
            <a:r>
              <a:rPr lang="ko-KR" altLang="en-US" sz="1050" dirty="0" err="1">
                <a:solidFill>
                  <a:schemeClr val="accent1"/>
                </a:solidFill>
              </a:rPr>
              <a:t>윗</a:t>
            </a:r>
            <a:r>
              <a:rPr lang="ko-KR" altLang="en-US" sz="1050" dirty="0">
                <a:solidFill>
                  <a:schemeClr val="accent1"/>
                </a:solidFill>
              </a:rPr>
              <a:t> 방향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A65FDF0-896C-CC99-8532-7D521B15EE89}"/>
              </a:ext>
            </a:extLst>
          </p:cNvPr>
          <p:cNvSpPr/>
          <p:nvPr/>
        </p:nvSpPr>
        <p:spPr>
          <a:xfrm>
            <a:off x="4605338" y="2509838"/>
            <a:ext cx="125457" cy="40957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AE60426-95D4-D908-CD71-AD9334D753A4}"/>
              </a:ext>
            </a:extLst>
          </p:cNvPr>
          <p:cNvSpPr/>
          <p:nvPr/>
        </p:nvSpPr>
        <p:spPr>
          <a:xfrm>
            <a:off x="4572002" y="2474743"/>
            <a:ext cx="52388" cy="497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2255472-2070-D535-B598-0AB8AE5C1013}"/>
              </a:ext>
            </a:extLst>
          </p:cNvPr>
          <p:cNvSpPr txBox="1"/>
          <p:nvPr/>
        </p:nvSpPr>
        <p:spPr>
          <a:xfrm>
            <a:off x="4732430" y="3088123"/>
            <a:ext cx="212815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dirty="0">
                <a:solidFill>
                  <a:schemeClr val="accent1"/>
                </a:solidFill>
              </a:rPr>
              <a:t>네 방향의 </a:t>
            </a:r>
            <a:r>
              <a:rPr lang="en-US" altLang="ko-KR" sz="1050" dirty="0" err="1">
                <a:solidFill>
                  <a:schemeClr val="accent1"/>
                </a:solidFill>
              </a:rPr>
              <a:t>Sollar</a:t>
            </a:r>
            <a:r>
              <a:rPr lang="en-US" altLang="ko-KR" sz="1050" dirty="0">
                <a:solidFill>
                  <a:schemeClr val="accent1"/>
                </a:solidFill>
              </a:rPr>
              <a:t> </a:t>
            </a:r>
            <a:r>
              <a:rPr lang="en-US" altLang="ko-KR" sz="1050" dirty="0" err="1">
                <a:solidFill>
                  <a:schemeClr val="accent1"/>
                </a:solidFill>
              </a:rPr>
              <a:t>Pannel</a:t>
            </a:r>
            <a:r>
              <a:rPr lang="en-US" altLang="ko-KR" sz="1050" dirty="0">
                <a:solidFill>
                  <a:schemeClr val="accent1"/>
                </a:solidFill>
              </a:rPr>
              <a:t> </a:t>
            </a:r>
            <a:r>
              <a:rPr lang="ko-KR" altLang="en-US" sz="1050" dirty="0" err="1">
                <a:solidFill>
                  <a:schemeClr val="accent1"/>
                </a:solidFill>
              </a:rPr>
              <a:t>뒷</a:t>
            </a:r>
            <a:r>
              <a:rPr lang="ko-KR" altLang="en-US" sz="1050" dirty="0">
                <a:solidFill>
                  <a:schemeClr val="accent1"/>
                </a:solidFill>
              </a:rPr>
              <a:t> 방향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873904B-665D-3BD4-E04A-9B1A7991430E}"/>
              </a:ext>
            </a:extLst>
          </p:cNvPr>
          <p:cNvSpPr/>
          <p:nvPr/>
        </p:nvSpPr>
        <p:spPr>
          <a:xfrm>
            <a:off x="4606973" y="2997698"/>
            <a:ext cx="125457" cy="40957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7170390-25D9-AB34-34A6-91241441EAB8}"/>
              </a:ext>
            </a:extLst>
          </p:cNvPr>
          <p:cNvSpPr/>
          <p:nvPr/>
        </p:nvSpPr>
        <p:spPr>
          <a:xfrm>
            <a:off x="4574381" y="2953671"/>
            <a:ext cx="52388" cy="497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208D8AC-4171-0739-5A56-686F5656CA80}"/>
              </a:ext>
            </a:extLst>
          </p:cNvPr>
          <p:cNvSpPr txBox="1"/>
          <p:nvPr/>
        </p:nvSpPr>
        <p:spPr>
          <a:xfrm>
            <a:off x="4740321" y="3514166"/>
            <a:ext cx="212815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dirty="0">
                <a:solidFill>
                  <a:schemeClr val="accent1"/>
                </a:solidFill>
              </a:rPr>
              <a:t>위성의 옆면 </a:t>
            </a:r>
            <a:r>
              <a:rPr lang="en-US" altLang="ko-KR" sz="1050" dirty="0">
                <a:solidFill>
                  <a:schemeClr val="accent1"/>
                </a:solidFill>
              </a:rPr>
              <a:t>(X</a:t>
            </a:r>
            <a:r>
              <a:rPr lang="ko-KR" altLang="en-US" sz="1050" dirty="0">
                <a:solidFill>
                  <a:schemeClr val="accent1"/>
                </a:solidFill>
              </a:rPr>
              <a:t>방향만</a:t>
            </a:r>
            <a:r>
              <a:rPr lang="en-US" altLang="ko-KR" sz="1050" dirty="0">
                <a:solidFill>
                  <a:schemeClr val="accent1"/>
                </a:solidFill>
              </a:rPr>
              <a:t>)</a:t>
            </a:r>
            <a:endParaRPr lang="ko-KR" altLang="en-US" sz="1050" dirty="0">
              <a:solidFill>
                <a:schemeClr val="accent1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3958DE2B-8677-68F0-98A8-55F255EE3952}"/>
              </a:ext>
            </a:extLst>
          </p:cNvPr>
          <p:cNvSpPr/>
          <p:nvPr/>
        </p:nvSpPr>
        <p:spPr>
          <a:xfrm>
            <a:off x="4614864" y="3521138"/>
            <a:ext cx="125457" cy="1914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457EE7B-3606-D5FD-6737-BFC5A2DDA761}"/>
              </a:ext>
            </a:extLst>
          </p:cNvPr>
          <p:cNvSpPr/>
          <p:nvPr/>
        </p:nvSpPr>
        <p:spPr>
          <a:xfrm>
            <a:off x="4582272" y="3477110"/>
            <a:ext cx="52388" cy="497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0543189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2022-12-22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20</a:t>
            </a:fld>
            <a:endParaRPr lang="en-US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8831BB-1155-404C-981F-0067EF5C7392}"/>
              </a:ext>
            </a:extLst>
          </p:cNvPr>
          <p:cNvSpPr txBox="1"/>
          <p:nvPr/>
        </p:nvSpPr>
        <p:spPr>
          <a:xfrm>
            <a:off x="350691" y="858197"/>
            <a:ext cx="121599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chemeClr val="tx2"/>
                </a:solidFill>
              </a:rPr>
              <a:t>새로운 코드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825EB9-BF72-2B29-6847-3530A4B0A85F}"/>
              </a:ext>
            </a:extLst>
          </p:cNvPr>
          <p:cNvSpPr txBox="1"/>
          <p:nvPr/>
        </p:nvSpPr>
        <p:spPr>
          <a:xfrm>
            <a:off x="5230863" y="2197744"/>
            <a:ext cx="212815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chemeClr val="accent1"/>
                </a:solidFill>
              </a:rPr>
              <a:t>각 면에 부착된 셀의 벡터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E5FD06-8C1C-0EAA-86E1-56F38B757ADF}"/>
              </a:ext>
            </a:extLst>
          </p:cNvPr>
          <p:cNvSpPr txBox="1"/>
          <p:nvPr/>
        </p:nvSpPr>
        <p:spPr>
          <a:xfrm>
            <a:off x="4730795" y="2600263"/>
            <a:ext cx="212815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dirty="0">
                <a:solidFill>
                  <a:schemeClr val="accent1"/>
                </a:solidFill>
              </a:rPr>
              <a:t>네 방향의 </a:t>
            </a:r>
            <a:r>
              <a:rPr lang="en-US" altLang="ko-KR" sz="1050" dirty="0" err="1">
                <a:solidFill>
                  <a:schemeClr val="accent1"/>
                </a:solidFill>
              </a:rPr>
              <a:t>Sollar</a:t>
            </a:r>
            <a:r>
              <a:rPr lang="en-US" altLang="ko-KR" sz="1050" dirty="0">
                <a:solidFill>
                  <a:schemeClr val="accent1"/>
                </a:solidFill>
              </a:rPr>
              <a:t> </a:t>
            </a:r>
            <a:r>
              <a:rPr lang="en-US" altLang="ko-KR" sz="1050" dirty="0" err="1">
                <a:solidFill>
                  <a:schemeClr val="accent1"/>
                </a:solidFill>
              </a:rPr>
              <a:t>Pannel</a:t>
            </a:r>
            <a:r>
              <a:rPr lang="en-US" altLang="ko-KR" sz="1050" dirty="0">
                <a:solidFill>
                  <a:schemeClr val="accent1"/>
                </a:solidFill>
              </a:rPr>
              <a:t> </a:t>
            </a:r>
            <a:r>
              <a:rPr lang="ko-KR" altLang="en-US" sz="1050" dirty="0" err="1">
                <a:solidFill>
                  <a:schemeClr val="accent1"/>
                </a:solidFill>
              </a:rPr>
              <a:t>윗</a:t>
            </a:r>
            <a:r>
              <a:rPr lang="ko-KR" altLang="en-US" sz="1050" dirty="0">
                <a:solidFill>
                  <a:schemeClr val="accent1"/>
                </a:solidFill>
              </a:rPr>
              <a:t> 방향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A65FDF0-896C-CC99-8532-7D521B15EE89}"/>
              </a:ext>
            </a:extLst>
          </p:cNvPr>
          <p:cNvSpPr/>
          <p:nvPr/>
        </p:nvSpPr>
        <p:spPr>
          <a:xfrm>
            <a:off x="4605338" y="2509838"/>
            <a:ext cx="125457" cy="40957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AE60426-95D4-D908-CD71-AD9334D753A4}"/>
              </a:ext>
            </a:extLst>
          </p:cNvPr>
          <p:cNvSpPr/>
          <p:nvPr/>
        </p:nvSpPr>
        <p:spPr>
          <a:xfrm>
            <a:off x="4572002" y="2474743"/>
            <a:ext cx="52388" cy="497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2255472-2070-D535-B598-0AB8AE5C1013}"/>
              </a:ext>
            </a:extLst>
          </p:cNvPr>
          <p:cNvSpPr txBox="1"/>
          <p:nvPr/>
        </p:nvSpPr>
        <p:spPr>
          <a:xfrm>
            <a:off x="4732430" y="3088123"/>
            <a:ext cx="212815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dirty="0">
                <a:solidFill>
                  <a:schemeClr val="accent1"/>
                </a:solidFill>
              </a:rPr>
              <a:t>네 방향의 </a:t>
            </a:r>
            <a:r>
              <a:rPr lang="en-US" altLang="ko-KR" sz="1050" dirty="0" err="1">
                <a:solidFill>
                  <a:schemeClr val="accent1"/>
                </a:solidFill>
              </a:rPr>
              <a:t>Sollar</a:t>
            </a:r>
            <a:r>
              <a:rPr lang="en-US" altLang="ko-KR" sz="1050" dirty="0">
                <a:solidFill>
                  <a:schemeClr val="accent1"/>
                </a:solidFill>
              </a:rPr>
              <a:t> </a:t>
            </a:r>
            <a:r>
              <a:rPr lang="en-US" altLang="ko-KR" sz="1050" dirty="0" err="1">
                <a:solidFill>
                  <a:schemeClr val="accent1"/>
                </a:solidFill>
              </a:rPr>
              <a:t>Pannel</a:t>
            </a:r>
            <a:r>
              <a:rPr lang="en-US" altLang="ko-KR" sz="1050" dirty="0">
                <a:solidFill>
                  <a:schemeClr val="accent1"/>
                </a:solidFill>
              </a:rPr>
              <a:t> </a:t>
            </a:r>
            <a:r>
              <a:rPr lang="ko-KR" altLang="en-US" sz="1050" dirty="0" err="1">
                <a:solidFill>
                  <a:schemeClr val="accent1"/>
                </a:solidFill>
              </a:rPr>
              <a:t>뒷</a:t>
            </a:r>
            <a:r>
              <a:rPr lang="ko-KR" altLang="en-US" sz="1050" dirty="0">
                <a:solidFill>
                  <a:schemeClr val="accent1"/>
                </a:solidFill>
              </a:rPr>
              <a:t> 방향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873904B-665D-3BD4-E04A-9B1A7991430E}"/>
              </a:ext>
            </a:extLst>
          </p:cNvPr>
          <p:cNvSpPr/>
          <p:nvPr/>
        </p:nvSpPr>
        <p:spPr>
          <a:xfrm>
            <a:off x="4606973" y="2997698"/>
            <a:ext cx="125457" cy="40957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7170390-25D9-AB34-34A6-91241441EAB8}"/>
              </a:ext>
            </a:extLst>
          </p:cNvPr>
          <p:cNvSpPr/>
          <p:nvPr/>
        </p:nvSpPr>
        <p:spPr>
          <a:xfrm>
            <a:off x="4574381" y="2953671"/>
            <a:ext cx="52388" cy="497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208D8AC-4171-0739-5A56-686F5656CA80}"/>
              </a:ext>
            </a:extLst>
          </p:cNvPr>
          <p:cNvSpPr txBox="1"/>
          <p:nvPr/>
        </p:nvSpPr>
        <p:spPr>
          <a:xfrm>
            <a:off x="4740321" y="3514166"/>
            <a:ext cx="212815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dirty="0">
                <a:solidFill>
                  <a:schemeClr val="accent1"/>
                </a:solidFill>
              </a:rPr>
              <a:t>위성의 옆면 </a:t>
            </a:r>
            <a:r>
              <a:rPr lang="en-US" altLang="ko-KR" sz="1050" dirty="0">
                <a:solidFill>
                  <a:schemeClr val="accent1"/>
                </a:solidFill>
              </a:rPr>
              <a:t>(X</a:t>
            </a:r>
            <a:r>
              <a:rPr lang="ko-KR" altLang="en-US" sz="1050" dirty="0">
                <a:solidFill>
                  <a:schemeClr val="accent1"/>
                </a:solidFill>
              </a:rPr>
              <a:t>방향만</a:t>
            </a:r>
            <a:r>
              <a:rPr lang="en-US" altLang="ko-KR" sz="1050" dirty="0">
                <a:solidFill>
                  <a:schemeClr val="accent1"/>
                </a:solidFill>
              </a:rPr>
              <a:t>)</a:t>
            </a:r>
            <a:endParaRPr lang="ko-KR" altLang="en-US" sz="1050" dirty="0">
              <a:solidFill>
                <a:schemeClr val="accent1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3958DE2B-8677-68F0-98A8-55F255EE3952}"/>
              </a:ext>
            </a:extLst>
          </p:cNvPr>
          <p:cNvSpPr/>
          <p:nvPr/>
        </p:nvSpPr>
        <p:spPr>
          <a:xfrm>
            <a:off x="4614864" y="3521138"/>
            <a:ext cx="125457" cy="1914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457EE7B-3606-D5FD-6737-BFC5A2DDA761}"/>
              </a:ext>
            </a:extLst>
          </p:cNvPr>
          <p:cNvSpPr/>
          <p:nvPr/>
        </p:nvSpPr>
        <p:spPr>
          <a:xfrm>
            <a:off x="4582272" y="3477110"/>
            <a:ext cx="52388" cy="497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3CAD65A-27CB-D725-D54B-A7B298CC68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4010" y="1122217"/>
            <a:ext cx="5804067" cy="5405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597941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2022-12-22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21</a:t>
            </a:fld>
            <a:endParaRPr lang="en-US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8831BB-1155-404C-981F-0067EF5C7392}"/>
              </a:ext>
            </a:extLst>
          </p:cNvPr>
          <p:cNvSpPr txBox="1"/>
          <p:nvPr/>
        </p:nvSpPr>
        <p:spPr>
          <a:xfrm>
            <a:off x="350691" y="858197"/>
            <a:ext cx="121599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chemeClr val="tx2"/>
                </a:solidFill>
              </a:rPr>
              <a:t>새로운 코드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825EB9-BF72-2B29-6847-3530A4B0A85F}"/>
              </a:ext>
            </a:extLst>
          </p:cNvPr>
          <p:cNvSpPr txBox="1"/>
          <p:nvPr/>
        </p:nvSpPr>
        <p:spPr>
          <a:xfrm>
            <a:off x="5230863" y="2197744"/>
            <a:ext cx="212815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chemeClr val="accent1"/>
                </a:solidFill>
              </a:rPr>
              <a:t>각 면에 부착된 셀의 벡터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E5FD06-8C1C-0EAA-86E1-56F38B757ADF}"/>
              </a:ext>
            </a:extLst>
          </p:cNvPr>
          <p:cNvSpPr txBox="1"/>
          <p:nvPr/>
        </p:nvSpPr>
        <p:spPr>
          <a:xfrm>
            <a:off x="4730795" y="2600263"/>
            <a:ext cx="212815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dirty="0">
                <a:solidFill>
                  <a:schemeClr val="accent1"/>
                </a:solidFill>
              </a:rPr>
              <a:t>네 방향의 </a:t>
            </a:r>
            <a:r>
              <a:rPr lang="en-US" altLang="ko-KR" sz="1050" dirty="0" err="1">
                <a:solidFill>
                  <a:schemeClr val="accent1"/>
                </a:solidFill>
              </a:rPr>
              <a:t>Sollar</a:t>
            </a:r>
            <a:r>
              <a:rPr lang="en-US" altLang="ko-KR" sz="1050" dirty="0">
                <a:solidFill>
                  <a:schemeClr val="accent1"/>
                </a:solidFill>
              </a:rPr>
              <a:t> </a:t>
            </a:r>
            <a:r>
              <a:rPr lang="en-US" altLang="ko-KR" sz="1050" dirty="0" err="1">
                <a:solidFill>
                  <a:schemeClr val="accent1"/>
                </a:solidFill>
              </a:rPr>
              <a:t>Pannel</a:t>
            </a:r>
            <a:r>
              <a:rPr lang="en-US" altLang="ko-KR" sz="1050" dirty="0">
                <a:solidFill>
                  <a:schemeClr val="accent1"/>
                </a:solidFill>
              </a:rPr>
              <a:t> </a:t>
            </a:r>
            <a:r>
              <a:rPr lang="ko-KR" altLang="en-US" sz="1050" dirty="0" err="1">
                <a:solidFill>
                  <a:schemeClr val="accent1"/>
                </a:solidFill>
              </a:rPr>
              <a:t>윗</a:t>
            </a:r>
            <a:r>
              <a:rPr lang="ko-KR" altLang="en-US" sz="1050" dirty="0">
                <a:solidFill>
                  <a:schemeClr val="accent1"/>
                </a:solidFill>
              </a:rPr>
              <a:t> 방향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A65FDF0-896C-CC99-8532-7D521B15EE89}"/>
              </a:ext>
            </a:extLst>
          </p:cNvPr>
          <p:cNvSpPr/>
          <p:nvPr/>
        </p:nvSpPr>
        <p:spPr>
          <a:xfrm>
            <a:off x="4605338" y="2509838"/>
            <a:ext cx="125457" cy="40957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AE60426-95D4-D908-CD71-AD9334D753A4}"/>
              </a:ext>
            </a:extLst>
          </p:cNvPr>
          <p:cNvSpPr/>
          <p:nvPr/>
        </p:nvSpPr>
        <p:spPr>
          <a:xfrm>
            <a:off x="4572002" y="2474743"/>
            <a:ext cx="52388" cy="497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2255472-2070-D535-B598-0AB8AE5C1013}"/>
              </a:ext>
            </a:extLst>
          </p:cNvPr>
          <p:cNvSpPr txBox="1"/>
          <p:nvPr/>
        </p:nvSpPr>
        <p:spPr>
          <a:xfrm>
            <a:off x="4732430" y="3088123"/>
            <a:ext cx="212815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dirty="0">
                <a:solidFill>
                  <a:schemeClr val="accent1"/>
                </a:solidFill>
              </a:rPr>
              <a:t>네 방향의 </a:t>
            </a:r>
            <a:r>
              <a:rPr lang="en-US" altLang="ko-KR" sz="1050" dirty="0" err="1">
                <a:solidFill>
                  <a:schemeClr val="accent1"/>
                </a:solidFill>
              </a:rPr>
              <a:t>Sollar</a:t>
            </a:r>
            <a:r>
              <a:rPr lang="en-US" altLang="ko-KR" sz="1050" dirty="0">
                <a:solidFill>
                  <a:schemeClr val="accent1"/>
                </a:solidFill>
              </a:rPr>
              <a:t> </a:t>
            </a:r>
            <a:r>
              <a:rPr lang="en-US" altLang="ko-KR" sz="1050" dirty="0" err="1">
                <a:solidFill>
                  <a:schemeClr val="accent1"/>
                </a:solidFill>
              </a:rPr>
              <a:t>Pannel</a:t>
            </a:r>
            <a:r>
              <a:rPr lang="en-US" altLang="ko-KR" sz="1050" dirty="0">
                <a:solidFill>
                  <a:schemeClr val="accent1"/>
                </a:solidFill>
              </a:rPr>
              <a:t> </a:t>
            </a:r>
            <a:r>
              <a:rPr lang="ko-KR" altLang="en-US" sz="1050" dirty="0" err="1">
                <a:solidFill>
                  <a:schemeClr val="accent1"/>
                </a:solidFill>
              </a:rPr>
              <a:t>뒷</a:t>
            </a:r>
            <a:r>
              <a:rPr lang="ko-KR" altLang="en-US" sz="1050" dirty="0">
                <a:solidFill>
                  <a:schemeClr val="accent1"/>
                </a:solidFill>
              </a:rPr>
              <a:t> 방향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873904B-665D-3BD4-E04A-9B1A7991430E}"/>
              </a:ext>
            </a:extLst>
          </p:cNvPr>
          <p:cNvSpPr/>
          <p:nvPr/>
        </p:nvSpPr>
        <p:spPr>
          <a:xfrm>
            <a:off x="4606973" y="2997698"/>
            <a:ext cx="125457" cy="40957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7170390-25D9-AB34-34A6-91241441EAB8}"/>
              </a:ext>
            </a:extLst>
          </p:cNvPr>
          <p:cNvSpPr/>
          <p:nvPr/>
        </p:nvSpPr>
        <p:spPr>
          <a:xfrm>
            <a:off x="4574381" y="2953671"/>
            <a:ext cx="52388" cy="497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208D8AC-4171-0739-5A56-686F5656CA80}"/>
              </a:ext>
            </a:extLst>
          </p:cNvPr>
          <p:cNvSpPr txBox="1"/>
          <p:nvPr/>
        </p:nvSpPr>
        <p:spPr>
          <a:xfrm>
            <a:off x="4740321" y="3514166"/>
            <a:ext cx="212815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dirty="0">
                <a:solidFill>
                  <a:schemeClr val="accent1"/>
                </a:solidFill>
              </a:rPr>
              <a:t>위성의 옆면 </a:t>
            </a:r>
            <a:r>
              <a:rPr lang="en-US" altLang="ko-KR" sz="1050" dirty="0">
                <a:solidFill>
                  <a:schemeClr val="accent1"/>
                </a:solidFill>
              </a:rPr>
              <a:t>(X</a:t>
            </a:r>
            <a:r>
              <a:rPr lang="ko-KR" altLang="en-US" sz="1050" dirty="0">
                <a:solidFill>
                  <a:schemeClr val="accent1"/>
                </a:solidFill>
              </a:rPr>
              <a:t>방향만</a:t>
            </a:r>
            <a:r>
              <a:rPr lang="en-US" altLang="ko-KR" sz="1050" dirty="0">
                <a:solidFill>
                  <a:schemeClr val="accent1"/>
                </a:solidFill>
              </a:rPr>
              <a:t>)</a:t>
            </a:r>
            <a:endParaRPr lang="ko-KR" altLang="en-US" sz="1050" dirty="0">
              <a:solidFill>
                <a:schemeClr val="accent1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3958DE2B-8677-68F0-98A8-55F255EE3952}"/>
              </a:ext>
            </a:extLst>
          </p:cNvPr>
          <p:cNvSpPr/>
          <p:nvPr/>
        </p:nvSpPr>
        <p:spPr>
          <a:xfrm>
            <a:off x="4614864" y="3521138"/>
            <a:ext cx="125457" cy="1914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457EE7B-3606-D5FD-6737-BFC5A2DDA761}"/>
              </a:ext>
            </a:extLst>
          </p:cNvPr>
          <p:cNvSpPr/>
          <p:nvPr/>
        </p:nvSpPr>
        <p:spPr>
          <a:xfrm>
            <a:off x="4582272" y="3477110"/>
            <a:ext cx="52388" cy="497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755EC73-2440-88D3-983E-C3BA2C1953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4010" y="1122217"/>
            <a:ext cx="7840436" cy="535444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44A46C1-5B30-7859-AA24-37D59FFFBB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7685" y="5359481"/>
            <a:ext cx="4272916" cy="1104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819021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Normal">
  <a:themeElements>
    <a:clrScheme name="사용자 지정 2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FF0000"/>
      </a:accent1>
      <a:accent2>
        <a:srgbClr val="0000FF"/>
      </a:accent2>
      <a:accent3>
        <a:srgbClr val="FFFF00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square">
        <a:spAutoFit/>
      </a:bodyPr>
      <a:lstStyle>
        <a:defPPr lvl="2">
          <a:defRPr lang="en-US" altLang="ko-KR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1251</TotalTime>
  <Words>870</Words>
  <Application>Microsoft Office PowerPoint</Application>
  <PresentationFormat>와이드스크린</PresentationFormat>
  <Paragraphs>282</Paragraphs>
  <Slides>21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6" baseType="lpstr">
      <vt:lpstr>나눔스퀘어</vt:lpstr>
      <vt:lpstr>맑은 고딕</vt:lpstr>
      <vt:lpstr>Arial</vt:lpstr>
      <vt:lpstr>Wingdings</vt:lpstr>
      <vt:lpstr>Normal</vt:lpstr>
      <vt:lpstr>PowerPoint 프레젠테이션</vt:lpstr>
      <vt:lpstr>Level 1: Electrical Power System</vt:lpstr>
      <vt:lpstr>BUS (본체): EPS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강 대은</dc:creator>
  <cp:lastModifiedBy>이진진</cp:lastModifiedBy>
  <cp:revision>147</cp:revision>
  <dcterms:created xsi:type="dcterms:W3CDTF">2021-06-14T06:44:23Z</dcterms:created>
  <dcterms:modified xsi:type="dcterms:W3CDTF">2022-12-22T10:56:39Z</dcterms:modified>
  <cp:version/>
</cp:coreProperties>
</file>