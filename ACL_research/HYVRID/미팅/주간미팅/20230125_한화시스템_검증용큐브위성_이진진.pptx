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4" r:id="rId1"/>
  </p:sldMasterIdLst>
  <p:notesMasterIdLst>
    <p:notesMasterId r:id="rId30"/>
  </p:notesMasterIdLst>
  <p:sldIdLst>
    <p:sldId id="256" r:id="rId2"/>
    <p:sldId id="257" r:id="rId3"/>
    <p:sldId id="318" r:id="rId4"/>
    <p:sldId id="320" r:id="rId5"/>
    <p:sldId id="2300" r:id="rId6"/>
    <p:sldId id="2304" r:id="rId7"/>
    <p:sldId id="2305" r:id="rId8"/>
    <p:sldId id="322" r:id="rId9"/>
    <p:sldId id="2315" r:id="rId10"/>
    <p:sldId id="2316" r:id="rId11"/>
    <p:sldId id="2317" r:id="rId12"/>
    <p:sldId id="2327" r:id="rId13"/>
    <p:sldId id="2318" r:id="rId14"/>
    <p:sldId id="2319" r:id="rId15"/>
    <p:sldId id="2320" r:id="rId16"/>
    <p:sldId id="2321" r:id="rId17"/>
    <p:sldId id="2322" r:id="rId18"/>
    <p:sldId id="2323" r:id="rId19"/>
    <p:sldId id="2324" r:id="rId20"/>
    <p:sldId id="2325" r:id="rId21"/>
    <p:sldId id="2328" r:id="rId22"/>
    <p:sldId id="2329" r:id="rId23"/>
    <p:sldId id="2330" r:id="rId24"/>
    <p:sldId id="2331" r:id="rId25"/>
    <p:sldId id="2333" r:id="rId26"/>
    <p:sldId id="2334" r:id="rId27"/>
    <p:sldId id="2326" r:id="rId28"/>
    <p:sldId id="2332" r:id="rId2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A5"/>
    <a:srgbClr val="EFEEF7"/>
    <a:srgbClr val="CBA9E5"/>
    <a:srgbClr val="E6AF00"/>
    <a:srgbClr val="3CE8FA"/>
    <a:srgbClr val="55FF55"/>
    <a:srgbClr val="3FFF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644" autoAdjust="0"/>
  </p:normalViewPr>
  <p:slideViewPr>
    <p:cSldViewPr snapToGrid="0">
      <p:cViewPr>
        <p:scale>
          <a:sx n="75" d="100"/>
          <a:sy n="75" d="100"/>
        </p:scale>
        <p:origin x="1914" y="444"/>
      </p:cViewPr>
      <p:guideLst>
        <p:guide orient="horz" pos="2158"/>
        <p:guide pos="3839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4444ADC7-D137-4355-B287-E417A90F4D15}" type="datetime1">
              <a:rPr lang="ko-KR" altLang="en-US"/>
              <a:pPr lvl="0">
                <a:defRPr/>
              </a:pPr>
              <a:t>2023-01-25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B8E8DA4-E2D7-43C2-B6C4-2E5B1B19F402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46534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53812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8427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93119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8628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41525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50394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50557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338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74650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29555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434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32507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57243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90718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58881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639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6816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06787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91893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9196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61250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31152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169548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789089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9910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CB5FD6-A2DE-4563-BDD9-970544F4D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551608-DD27-4795-B323-401D3C83F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77F833-C2AE-4216-8871-52717469E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4E6671EE-0BC6-43D9-95C1-E999911B0F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7999" y="1707834"/>
            <a:ext cx="4500000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11D38D3C-35BA-40CB-8AC0-E2A6A6D454C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0" y="1707834"/>
            <a:ext cx="4448502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AA2A7109-DF7D-4EB0-AA89-8DE0E3E62A68}"/>
              </a:ext>
            </a:extLst>
          </p:cNvPr>
          <p:cNvSpPr txBox="1">
            <a:spLocks/>
          </p:cNvSpPr>
          <p:nvPr userDrawn="1"/>
        </p:nvSpPr>
        <p:spPr>
          <a:xfrm>
            <a:off x="1524000" y="1131070"/>
            <a:ext cx="9144000" cy="47783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0" rIns="91440" bIns="0" rtlCol="0" anchor="ctr" anchorCtr="0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1518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81A23-558C-45ED-98AD-790BDCB69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643398"/>
            <a:ext cx="10515600" cy="566527"/>
          </a:xfrm>
        </p:spPr>
        <p:txBody>
          <a:bodyPr anchor="ctr" anchorCtr="0"/>
          <a:lstStyle>
            <a:lvl1pPr>
              <a:defRPr sz="3000"/>
            </a:lvl1pPr>
          </a:lstStyle>
          <a:p>
            <a:r>
              <a:rPr lang="en-US" altLang="ko-KR" dirty="0"/>
              <a:t>Level 1 Title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E7D3B2-67B7-4B48-A0BB-0C91B9C8DB0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288620"/>
            <a:ext cx="10515600" cy="428851"/>
          </a:xfrm>
        </p:spPr>
        <p:txBody>
          <a:bodyPr anchor="ctr" anchorCtr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Level 2 Title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DB0C4F-B05E-4BB8-8959-4A7045B3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FFEBB5-2730-4F42-B547-4F1D75B06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0FFEE1-9D1B-4562-BEB9-F1D36609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776145B-5468-43F7-BC17-C1B9CB5D7C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9956" y="3796165"/>
            <a:ext cx="10063843" cy="118949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ko-KR" dirty="0"/>
              <a:t>Level 3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186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43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30400" indent="-230400">
              <a:buFont typeface="+mj-lt"/>
              <a:buAutoNum type="arabicPeriod"/>
              <a:defRPr/>
            </a:lvl1pPr>
            <a:lvl2pPr marL="687600" indent="-230400">
              <a:buFont typeface="+mj-lt"/>
              <a:buAutoNum type="arabicPeriod"/>
              <a:defRPr/>
            </a:lvl2pPr>
            <a:lvl3pPr marL="1144800" indent="-230400">
              <a:buFont typeface="+mj-lt"/>
              <a:buAutoNum type="arabicPeriod"/>
              <a:defRPr/>
            </a:lvl3pPr>
            <a:lvl4pPr marL="1602000" indent="-230400">
              <a:buFont typeface="+mj-lt"/>
              <a:buAutoNum type="arabicPeriod"/>
              <a:defRPr/>
            </a:lvl4pPr>
            <a:lvl5pPr marL="2059200" indent="-230400">
              <a:buFont typeface="+mj-lt"/>
              <a:buAutoNum type="arabicPeriod"/>
              <a:defRPr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759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s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8ED9E-1B3E-43D3-A1E4-DA95D262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A1A2BE-B3CB-4E99-8FBA-B0D43546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ABA880-A6C3-4F04-8D72-A5F69848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B759D5-6101-4028-9764-14853A423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362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A3D82-C5C0-4922-91A8-8509A9CA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85A98B-BE8E-48BD-9792-89E0CD12B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919" y="635223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28A94B-4E02-48FA-B00D-919E373D6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6149" y="635222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FF3D3F-7973-483D-B851-281CB52D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5B6405-CAA7-4753-8A8A-064423C9D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1C8E86-99CB-4565-B7CA-0F44CF631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285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6694E0-9343-4893-8463-1145B6CF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B42A68-D9BB-4EA1-8739-191E265A2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598DC4-1BD5-4BB9-B399-28926DBB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71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1ECE7B7-AA9D-4251-AEFA-95130E496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726" y="1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F0D367-F6F4-4F72-A8D1-137C1A702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920" y="635225"/>
            <a:ext cx="12030160" cy="6051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206645-6D5E-4C5E-9ED5-F78BD2458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2021-06-14</a:t>
            </a:r>
            <a:endParaRPr lang="ko-KR" altLang="en-US" dirty="0"/>
          </a:p>
        </p:txBody>
      </p:sp>
      <p:sp>
        <p:nvSpPr>
          <p:cNvPr id="5" name="바닥글 개체 틀 4" descr="서브시스템명">
            <a:extLst>
              <a:ext uri="{FF2B5EF4-FFF2-40B4-BE49-F238E27FC236}">
                <a16:creationId xmlns:a16="http://schemas.microsoft.com/office/drawing/2014/main" id="{878F36F7-C21A-419B-8BED-2C1A2503B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1274" y="0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lvl1pPr algn="ct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서브시스템명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C6C9F-1062-43C7-8857-4890E5D68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185739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800" b="1">
                <a:solidFill>
                  <a:schemeClr val="tx1"/>
                </a:solidFill>
              </a:defRPr>
            </a:lvl1pPr>
          </a:lstStyle>
          <a:p>
            <a:fld id="{0CB21479-F3CA-4373-A45A-41FA028DDA7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5397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63" r:id="rId4"/>
    <p:sldLayoutId id="2147483654" r:id="rId5"/>
    <p:sldLayoutId id="2147483652" r:id="rId6"/>
    <p:sldLayoutId id="2147483655" r:id="rId7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2023-01-11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CDR (2023.04)</a:t>
            </a:r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</p:txBody>
      </p:sp>
      <p:sp>
        <p:nvSpPr>
          <p:cNvPr id="9" name="내용 개체 틀 8"/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Electrical Power System</a:t>
            </a:r>
          </a:p>
          <a:p>
            <a:pPr lvl="1">
              <a:defRPr/>
            </a:pPr>
            <a:r>
              <a:rPr lang="en-US" altLang="ko-KR" dirty="0"/>
              <a:t>Hardware</a:t>
            </a:r>
          </a:p>
          <a:p>
            <a:pPr lvl="2">
              <a:defRPr/>
            </a:pPr>
            <a:r>
              <a:rPr lang="en-US" altLang="ko-KR" dirty="0"/>
              <a:t>PCDU</a:t>
            </a:r>
          </a:p>
          <a:p>
            <a:pPr lvl="2">
              <a:defRPr/>
            </a:pPr>
            <a:r>
              <a:rPr lang="en-US" altLang="ko-KR" dirty="0"/>
              <a:t>Solar Cell, Panel</a:t>
            </a:r>
          </a:p>
          <a:p>
            <a:pPr lvl="2">
              <a:defRPr/>
            </a:pPr>
            <a:r>
              <a:rPr lang="en-US" altLang="ko-KR" dirty="0"/>
              <a:t>Battery</a:t>
            </a:r>
          </a:p>
          <a:p>
            <a:pPr lvl="1">
              <a:defRPr/>
            </a:pPr>
            <a:r>
              <a:rPr lang="en-US" altLang="ko-KR" dirty="0"/>
              <a:t>Experiment</a:t>
            </a:r>
          </a:p>
          <a:p>
            <a:pPr lvl="1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3">
              <a:defRPr/>
            </a:pPr>
            <a:endParaRPr lang="en-US" altLang="ko-KR" dirty="0"/>
          </a:p>
          <a:p>
            <a:pPr lvl="3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marL="914400" lvl="2" indent="0">
              <a:buNone/>
              <a:defRPr/>
            </a:pPr>
            <a:endParaRPr lang="en-US" altLang="ko-KR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Level 1: Electrical Power System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2023-01-11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  <p:graphicFrame>
        <p:nvGraphicFramePr>
          <p:cNvPr id="25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0664773"/>
              </p:ext>
            </p:extLst>
          </p:nvPr>
        </p:nvGraphicFramePr>
        <p:xfrm>
          <a:off x="223158" y="719666"/>
          <a:ext cx="11748949" cy="474115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194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5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84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Level 2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Level 3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DAYS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trike="sngStri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trike="sngStrike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ko-KR" altLang="en-US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39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trike="sngStrike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39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 rowSpan="6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14400" marR="0" lvl="2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14400" marR="0" lvl="2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7737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7737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75474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0900424" cy="55660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CDR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까지 준비할 내용</a:t>
            </a: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2023-01-11</a:t>
            </a:r>
            <a:endParaRPr lang="ko-KR" altLang="en-US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향후 계획 </a:t>
            </a:r>
            <a:r>
              <a:rPr lang="ko-KR" altLang="en-US" dirty="0"/>
              <a:t>   </a:t>
            </a:r>
          </a:p>
        </p:txBody>
      </p:sp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A09A0BE7-8E08-F314-9D6C-A9FB08D2BB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2014700"/>
              </p:ext>
            </p:extLst>
          </p:nvPr>
        </p:nvGraphicFramePr>
        <p:xfrm>
          <a:off x="1300228" y="1397902"/>
          <a:ext cx="9899813" cy="4379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67682">
                  <a:extLst>
                    <a:ext uri="{9D8B030D-6E8A-4147-A177-3AD203B41FA5}">
                      <a16:colId xmlns:a16="http://schemas.microsoft.com/office/drawing/2014/main" val="963791253"/>
                    </a:ext>
                  </a:extLst>
                </a:gridCol>
                <a:gridCol w="1379934">
                  <a:extLst>
                    <a:ext uri="{9D8B030D-6E8A-4147-A177-3AD203B41FA5}">
                      <a16:colId xmlns:a16="http://schemas.microsoft.com/office/drawing/2014/main" val="3503235211"/>
                    </a:ext>
                  </a:extLst>
                </a:gridCol>
                <a:gridCol w="1379934">
                  <a:extLst>
                    <a:ext uri="{9D8B030D-6E8A-4147-A177-3AD203B41FA5}">
                      <a16:colId xmlns:a16="http://schemas.microsoft.com/office/drawing/2014/main" val="1441410675"/>
                    </a:ext>
                  </a:extLst>
                </a:gridCol>
                <a:gridCol w="1080380">
                  <a:extLst>
                    <a:ext uri="{9D8B030D-6E8A-4147-A177-3AD203B41FA5}">
                      <a16:colId xmlns:a16="http://schemas.microsoft.com/office/drawing/2014/main" val="468541899"/>
                    </a:ext>
                  </a:extLst>
                </a:gridCol>
                <a:gridCol w="1191883">
                  <a:extLst>
                    <a:ext uri="{9D8B030D-6E8A-4147-A177-3AD203B41FA5}">
                      <a16:colId xmlns:a16="http://schemas.microsoft.com/office/drawing/2014/main" val="2901240694"/>
                    </a:ext>
                  </a:extLst>
                </a:gridCol>
              </a:tblGrid>
              <a:tr h="5280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주요 목표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착수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마감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진행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비고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40598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EPS </a:t>
                      </a:r>
                      <a:r>
                        <a:rPr lang="ko-KR" altLang="en-US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하드웨어 숙지하기 </a:t>
                      </a:r>
                      <a:r>
                        <a:rPr lang="en-US" altLang="ko-KR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(PCDU)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2023-01-08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2023-01-24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80%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637751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EPS </a:t>
                      </a:r>
                      <a:r>
                        <a:rPr lang="ko-KR" altLang="en-US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하드웨어 숙지하기 </a:t>
                      </a:r>
                      <a:r>
                        <a:rPr lang="en-US" altLang="ko-KR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(Battery)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2023-01-25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2023-01-26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20%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742848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EPS </a:t>
                      </a:r>
                      <a:r>
                        <a:rPr lang="ko-KR" altLang="en-US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하드웨어 숙지하기 </a:t>
                      </a:r>
                      <a:r>
                        <a:rPr lang="en-US" altLang="ko-KR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(Solar Cell, Panel)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2023-01-27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2023-01-27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0%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050648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400" b="0" dirty="0"/>
                        <a:t>실험 계획 </a:t>
                      </a:r>
                      <a:r>
                        <a:rPr lang="en-US" altLang="ko-KR" sz="1400" b="0" dirty="0"/>
                        <a:t>&amp; </a:t>
                      </a:r>
                      <a:r>
                        <a:rPr lang="ko-KR" altLang="en-US" sz="1400" b="0" dirty="0"/>
                        <a:t>실험 리스트 작성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2023-01-30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2023-02-03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0%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481568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400" b="0" dirty="0"/>
                        <a:t>실험 시작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2023-02-06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2023-03-10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0%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6699472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CDR </a:t>
                      </a:r>
                      <a:r>
                        <a:rPr lang="ko-KR" altLang="en-US" sz="1400" b="0" dirty="0"/>
                        <a:t>자료 </a:t>
                      </a:r>
                      <a:r>
                        <a:rPr lang="ko-KR" altLang="en-US" sz="1400" b="0" dirty="0" err="1"/>
                        <a:t>준바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2023-03-13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2023-03-31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0%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7811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3360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0900424" cy="55660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월 스케줄</a:t>
            </a: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2023-01-11</a:t>
            </a:r>
            <a:endParaRPr lang="ko-KR" altLang="en-US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향후 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계획</a:t>
            </a:r>
            <a:r>
              <a:rPr lang="ko-KR" altLang="en-US" dirty="0"/>
              <a:t>   </a:t>
            </a:r>
          </a:p>
        </p:txBody>
      </p:sp>
      <p:graphicFrame>
        <p:nvGraphicFramePr>
          <p:cNvPr id="2" name="표 8">
            <a:extLst>
              <a:ext uri="{FF2B5EF4-FFF2-40B4-BE49-F238E27FC236}">
                <a16:creationId xmlns:a16="http://schemas.microsoft.com/office/drawing/2014/main" id="{0AD24071-3047-61CF-3835-5BCC752A9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6924629"/>
              </p:ext>
            </p:extLst>
          </p:nvPr>
        </p:nvGraphicFramePr>
        <p:xfrm>
          <a:off x="322216" y="1524834"/>
          <a:ext cx="11570168" cy="5069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1512">
                  <a:extLst>
                    <a:ext uri="{9D8B030D-6E8A-4147-A177-3AD203B41FA5}">
                      <a16:colId xmlns:a16="http://schemas.microsoft.com/office/drawing/2014/main" val="4012279475"/>
                    </a:ext>
                  </a:extLst>
                </a:gridCol>
                <a:gridCol w="1565678">
                  <a:extLst>
                    <a:ext uri="{9D8B030D-6E8A-4147-A177-3AD203B41FA5}">
                      <a16:colId xmlns:a16="http://schemas.microsoft.com/office/drawing/2014/main" val="2872001738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093518070"/>
                    </a:ext>
                  </a:extLst>
                </a:gridCol>
                <a:gridCol w="1444378">
                  <a:extLst>
                    <a:ext uri="{9D8B030D-6E8A-4147-A177-3AD203B41FA5}">
                      <a16:colId xmlns:a16="http://schemas.microsoft.com/office/drawing/2014/main" val="893368758"/>
                    </a:ext>
                  </a:extLst>
                </a:gridCol>
                <a:gridCol w="1521512">
                  <a:extLst>
                    <a:ext uri="{9D8B030D-6E8A-4147-A177-3AD203B41FA5}">
                      <a16:colId xmlns:a16="http://schemas.microsoft.com/office/drawing/2014/main" val="404635953"/>
                    </a:ext>
                  </a:extLst>
                </a:gridCol>
                <a:gridCol w="1521512">
                  <a:extLst>
                    <a:ext uri="{9D8B030D-6E8A-4147-A177-3AD203B41FA5}">
                      <a16:colId xmlns:a16="http://schemas.microsoft.com/office/drawing/2014/main" val="3452772827"/>
                    </a:ext>
                  </a:extLst>
                </a:gridCol>
                <a:gridCol w="1521512">
                  <a:extLst>
                    <a:ext uri="{9D8B030D-6E8A-4147-A177-3AD203B41FA5}">
                      <a16:colId xmlns:a16="http://schemas.microsoft.com/office/drawing/2014/main" val="1452797700"/>
                    </a:ext>
                  </a:extLst>
                </a:gridCol>
                <a:gridCol w="919584">
                  <a:extLst>
                    <a:ext uri="{9D8B030D-6E8A-4147-A177-3AD203B41FA5}">
                      <a16:colId xmlns:a16="http://schemas.microsoft.com/office/drawing/2014/main" val="904128740"/>
                    </a:ext>
                  </a:extLst>
                </a:gridCol>
              </a:tblGrid>
              <a:tr h="3752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37029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58247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84588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14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64562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9803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17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19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21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6455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Hardware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(PCDU)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Hardware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(PCDU)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Hardware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(PCDU)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Hardware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(PCDU)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Hardware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(PCDU)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84532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22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rgbClr val="FF0000"/>
                          </a:solidFill>
                        </a:rPr>
                        <a:t>23</a:t>
                      </a:r>
                      <a:endParaRPr lang="ko-KR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rgbClr val="FF0000"/>
                          </a:solidFill>
                        </a:rPr>
                        <a:t>24</a:t>
                      </a:r>
                      <a:endParaRPr lang="ko-KR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28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30866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Hardware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(Battery)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Hardware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(Battery)</a:t>
                      </a:r>
                      <a:endParaRPr lang="ko-KR" altLang="en-US" sz="1200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Hardware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(Solar Panel, Cell)</a:t>
                      </a:r>
                      <a:endParaRPr lang="ko-KR" altLang="en-US" sz="1200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87343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29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30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31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98189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dirty="0"/>
                        <a:t>실험</a:t>
                      </a:r>
                      <a:r>
                        <a:rPr lang="en-US" altLang="ko-KR" sz="1400" b="1" dirty="0"/>
                        <a:t> </a:t>
                      </a:r>
                      <a:r>
                        <a:rPr lang="ko-KR" altLang="en-US" sz="1400" b="1" dirty="0"/>
                        <a:t>계획 </a:t>
                      </a:r>
                      <a:r>
                        <a:rPr lang="en-US" altLang="ko-KR" sz="1400" b="1" dirty="0"/>
                        <a:t>&amp;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dirty="0"/>
                        <a:t>실험 리스트 작성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dirty="0"/>
                        <a:t>실험</a:t>
                      </a:r>
                      <a:r>
                        <a:rPr lang="en-US" altLang="ko-KR" sz="1400" b="1" dirty="0"/>
                        <a:t> </a:t>
                      </a:r>
                      <a:r>
                        <a:rPr lang="ko-KR" altLang="en-US" sz="1400" b="1" dirty="0"/>
                        <a:t>계획 </a:t>
                      </a:r>
                      <a:r>
                        <a:rPr lang="en-US" altLang="ko-KR" sz="1400" b="1" dirty="0"/>
                        <a:t>&amp;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dirty="0"/>
                        <a:t>실험 리스트 작성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154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4636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0900424" cy="55660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월 스케줄</a:t>
            </a: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2023-01-11</a:t>
            </a:r>
            <a:endParaRPr lang="ko-KR" altLang="en-US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향후 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계획</a:t>
            </a:r>
            <a:r>
              <a:rPr lang="ko-KR" altLang="en-US" dirty="0"/>
              <a:t>   </a:t>
            </a:r>
          </a:p>
        </p:txBody>
      </p:sp>
      <p:graphicFrame>
        <p:nvGraphicFramePr>
          <p:cNvPr id="2" name="표 8">
            <a:extLst>
              <a:ext uri="{FF2B5EF4-FFF2-40B4-BE49-F238E27FC236}">
                <a16:creationId xmlns:a16="http://schemas.microsoft.com/office/drawing/2014/main" id="{0AD24071-3047-61CF-3835-5BCC752A9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9867678"/>
              </p:ext>
            </p:extLst>
          </p:nvPr>
        </p:nvGraphicFramePr>
        <p:xfrm>
          <a:off x="322216" y="1524834"/>
          <a:ext cx="11554593" cy="5058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1512">
                  <a:extLst>
                    <a:ext uri="{9D8B030D-6E8A-4147-A177-3AD203B41FA5}">
                      <a16:colId xmlns:a16="http://schemas.microsoft.com/office/drawing/2014/main" val="4012279475"/>
                    </a:ext>
                  </a:extLst>
                </a:gridCol>
                <a:gridCol w="1565678">
                  <a:extLst>
                    <a:ext uri="{9D8B030D-6E8A-4147-A177-3AD203B41FA5}">
                      <a16:colId xmlns:a16="http://schemas.microsoft.com/office/drawing/2014/main" val="2872001738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093518070"/>
                    </a:ext>
                  </a:extLst>
                </a:gridCol>
                <a:gridCol w="1444378">
                  <a:extLst>
                    <a:ext uri="{9D8B030D-6E8A-4147-A177-3AD203B41FA5}">
                      <a16:colId xmlns:a16="http://schemas.microsoft.com/office/drawing/2014/main" val="893368758"/>
                    </a:ext>
                  </a:extLst>
                </a:gridCol>
                <a:gridCol w="1530391">
                  <a:extLst>
                    <a:ext uri="{9D8B030D-6E8A-4147-A177-3AD203B41FA5}">
                      <a16:colId xmlns:a16="http://schemas.microsoft.com/office/drawing/2014/main" val="404635953"/>
                    </a:ext>
                  </a:extLst>
                </a:gridCol>
                <a:gridCol w="1517072">
                  <a:extLst>
                    <a:ext uri="{9D8B030D-6E8A-4147-A177-3AD203B41FA5}">
                      <a16:colId xmlns:a16="http://schemas.microsoft.com/office/drawing/2014/main" val="3452772827"/>
                    </a:ext>
                  </a:extLst>
                </a:gridCol>
                <a:gridCol w="1517073">
                  <a:extLst>
                    <a:ext uri="{9D8B030D-6E8A-4147-A177-3AD203B41FA5}">
                      <a16:colId xmlns:a16="http://schemas.microsoft.com/office/drawing/2014/main" val="1452797700"/>
                    </a:ext>
                  </a:extLst>
                </a:gridCol>
                <a:gridCol w="904009">
                  <a:extLst>
                    <a:ext uri="{9D8B030D-6E8A-4147-A177-3AD203B41FA5}">
                      <a16:colId xmlns:a16="http://schemas.microsoft.com/office/drawing/2014/main" val="904128740"/>
                    </a:ext>
                  </a:extLst>
                </a:gridCol>
              </a:tblGrid>
              <a:tr h="3752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370294"/>
                  </a:ext>
                </a:extLst>
              </a:tr>
              <a:tr h="457200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3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4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582471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실험</a:t>
                      </a:r>
                      <a:r>
                        <a:rPr lang="en-US" altLang="ko-KR" sz="1200" b="1" dirty="0"/>
                        <a:t> </a:t>
                      </a:r>
                      <a:r>
                        <a:rPr lang="ko-KR" altLang="en-US" sz="1200" b="1" dirty="0"/>
                        <a:t>계획 </a:t>
                      </a:r>
                      <a:r>
                        <a:rPr lang="en-US" altLang="ko-KR" sz="1200" b="1" dirty="0"/>
                        <a:t>&amp;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실험 리스트 작성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실험</a:t>
                      </a:r>
                      <a:r>
                        <a:rPr lang="en-US" altLang="ko-KR" sz="1200" b="1" dirty="0"/>
                        <a:t> </a:t>
                      </a:r>
                      <a:r>
                        <a:rPr lang="ko-KR" altLang="en-US" sz="1200" b="1" dirty="0"/>
                        <a:t>계획 </a:t>
                      </a:r>
                      <a:r>
                        <a:rPr lang="en-US" altLang="ko-KR" sz="1200" b="1" dirty="0"/>
                        <a:t>&amp;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실험 리스트 작성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실험</a:t>
                      </a:r>
                      <a:r>
                        <a:rPr lang="en-US" altLang="ko-KR" sz="1200" b="1" dirty="0"/>
                        <a:t> </a:t>
                      </a:r>
                      <a:r>
                        <a:rPr lang="ko-KR" altLang="en-US" sz="1200" b="1" dirty="0"/>
                        <a:t>계획 </a:t>
                      </a:r>
                      <a:r>
                        <a:rPr lang="en-US" altLang="ko-KR" sz="1200" b="1" dirty="0"/>
                        <a:t>&amp;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실험 리스트 작성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84588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6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7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8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9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10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11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64562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dirty="0"/>
                        <a:t>실험 시작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9803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13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14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17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18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64554"/>
                  </a:ext>
                </a:extLst>
              </a:tr>
              <a:tr h="51651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84532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19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30866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87343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26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27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28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981899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154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417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0900424" cy="55660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3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월 스케줄</a:t>
            </a: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2023-01-11</a:t>
            </a:r>
            <a:endParaRPr lang="ko-KR" altLang="en-US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향후 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계획</a:t>
            </a:r>
            <a:r>
              <a:rPr lang="ko-KR" altLang="en-US" dirty="0"/>
              <a:t>   </a:t>
            </a:r>
          </a:p>
        </p:txBody>
      </p:sp>
      <p:graphicFrame>
        <p:nvGraphicFramePr>
          <p:cNvPr id="2" name="표 8">
            <a:extLst>
              <a:ext uri="{FF2B5EF4-FFF2-40B4-BE49-F238E27FC236}">
                <a16:creationId xmlns:a16="http://schemas.microsoft.com/office/drawing/2014/main" id="{0AD24071-3047-61CF-3835-5BCC752A9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3653927"/>
              </p:ext>
            </p:extLst>
          </p:nvPr>
        </p:nvGraphicFramePr>
        <p:xfrm>
          <a:off x="322216" y="1524834"/>
          <a:ext cx="11570168" cy="5058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1512">
                  <a:extLst>
                    <a:ext uri="{9D8B030D-6E8A-4147-A177-3AD203B41FA5}">
                      <a16:colId xmlns:a16="http://schemas.microsoft.com/office/drawing/2014/main" val="4012279475"/>
                    </a:ext>
                  </a:extLst>
                </a:gridCol>
                <a:gridCol w="1565678">
                  <a:extLst>
                    <a:ext uri="{9D8B030D-6E8A-4147-A177-3AD203B41FA5}">
                      <a16:colId xmlns:a16="http://schemas.microsoft.com/office/drawing/2014/main" val="2872001738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093518070"/>
                    </a:ext>
                  </a:extLst>
                </a:gridCol>
                <a:gridCol w="1444378">
                  <a:extLst>
                    <a:ext uri="{9D8B030D-6E8A-4147-A177-3AD203B41FA5}">
                      <a16:colId xmlns:a16="http://schemas.microsoft.com/office/drawing/2014/main" val="893368758"/>
                    </a:ext>
                  </a:extLst>
                </a:gridCol>
                <a:gridCol w="1521512">
                  <a:extLst>
                    <a:ext uri="{9D8B030D-6E8A-4147-A177-3AD203B41FA5}">
                      <a16:colId xmlns:a16="http://schemas.microsoft.com/office/drawing/2014/main" val="404635953"/>
                    </a:ext>
                  </a:extLst>
                </a:gridCol>
                <a:gridCol w="1521512">
                  <a:extLst>
                    <a:ext uri="{9D8B030D-6E8A-4147-A177-3AD203B41FA5}">
                      <a16:colId xmlns:a16="http://schemas.microsoft.com/office/drawing/2014/main" val="3452772827"/>
                    </a:ext>
                  </a:extLst>
                </a:gridCol>
                <a:gridCol w="1521512">
                  <a:extLst>
                    <a:ext uri="{9D8B030D-6E8A-4147-A177-3AD203B41FA5}">
                      <a16:colId xmlns:a16="http://schemas.microsoft.com/office/drawing/2014/main" val="1452797700"/>
                    </a:ext>
                  </a:extLst>
                </a:gridCol>
                <a:gridCol w="919584">
                  <a:extLst>
                    <a:ext uri="{9D8B030D-6E8A-4147-A177-3AD203B41FA5}">
                      <a16:colId xmlns:a16="http://schemas.microsoft.com/office/drawing/2014/main" val="904128740"/>
                    </a:ext>
                  </a:extLst>
                </a:gridCol>
              </a:tblGrid>
              <a:tr h="3752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370294"/>
                  </a:ext>
                </a:extLst>
              </a:tr>
              <a:tr h="457200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3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4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582471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84588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6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7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8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9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10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11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64562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9803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13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14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17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18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64554"/>
                  </a:ext>
                </a:extLst>
              </a:tr>
              <a:tr h="51651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/>
                        <a:t>CDR </a:t>
                      </a:r>
                      <a:r>
                        <a:rPr lang="ko-KR" altLang="en-US" sz="1400" b="1" dirty="0"/>
                        <a:t>자료 만들기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84532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19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30866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/>
                        <a:t>CDR </a:t>
                      </a:r>
                      <a:r>
                        <a:rPr lang="ko-KR" altLang="en-US" sz="1400" b="1" dirty="0"/>
                        <a:t>자료 만들기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87343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26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27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28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29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30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31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981899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/>
                        <a:t>CDR</a:t>
                      </a:r>
                      <a:r>
                        <a:rPr lang="ko-KR" altLang="en-US" sz="1400" b="1" dirty="0"/>
                        <a:t> 자료 제출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154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025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0900424" cy="55660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4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월 스케줄</a:t>
            </a: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2023-01-11</a:t>
            </a:r>
            <a:endParaRPr lang="ko-KR" altLang="en-US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향후 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계획</a:t>
            </a:r>
            <a:r>
              <a:rPr lang="ko-KR" altLang="en-US" dirty="0"/>
              <a:t>   </a:t>
            </a:r>
          </a:p>
        </p:txBody>
      </p:sp>
      <p:graphicFrame>
        <p:nvGraphicFramePr>
          <p:cNvPr id="2" name="표 8">
            <a:extLst>
              <a:ext uri="{FF2B5EF4-FFF2-40B4-BE49-F238E27FC236}">
                <a16:creationId xmlns:a16="http://schemas.microsoft.com/office/drawing/2014/main" id="{0AD24071-3047-61CF-3835-5BCC752A9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49215"/>
              </p:ext>
            </p:extLst>
          </p:nvPr>
        </p:nvGraphicFramePr>
        <p:xfrm>
          <a:off x="322216" y="1524834"/>
          <a:ext cx="11570168" cy="5058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1512">
                  <a:extLst>
                    <a:ext uri="{9D8B030D-6E8A-4147-A177-3AD203B41FA5}">
                      <a16:colId xmlns:a16="http://schemas.microsoft.com/office/drawing/2014/main" val="4012279475"/>
                    </a:ext>
                  </a:extLst>
                </a:gridCol>
                <a:gridCol w="1565678">
                  <a:extLst>
                    <a:ext uri="{9D8B030D-6E8A-4147-A177-3AD203B41FA5}">
                      <a16:colId xmlns:a16="http://schemas.microsoft.com/office/drawing/2014/main" val="2872001738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093518070"/>
                    </a:ext>
                  </a:extLst>
                </a:gridCol>
                <a:gridCol w="1444378">
                  <a:extLst>
                    <a:ext uri="{9D8B030D-6E8A-4147-A177-3AD203B41FA5}">
                      <a16:colId xmlns:a16="http://schemas.microsoft.com/office/drawing/2014/main" val="893368758"/>
                    </a:ext>
                  </a:extLst>
                </a:gridCol>
                <a:gridCol w="1521512">
                  <a:extLst>
                    <a:ext uri="{9D8B030D-6E8A-4147-A177-3AD203B41FA5}">
                      <a16:colId xmlns:a16="http://schemas.microsoft.com/office/drawing/2014/main" val="404635953"/>
                    </a:ext>
                  </a:extLst>
                </a:gridCol>
                <a:gridCol w="1521512">
                  <a:extLst>
                    <a:ext uri="{9D8B030D-6E8A-4147-A177-3AD203B41FA5}">
                      <a16:colId xmlns:a16="http://schemas.microsoft.com/office/drawing/2014/main" val="3452772827"/>
                    </a:ext>
                  </a:extLst>
                </a:gridCol>
                <a:gridCol w="1521512">
                  <a:extLst>
                    <a:ext uri="{9D8B030D-6E8A-4147-A177-3AD203B41FA5}">
                      <a16:colId xmlns:a16="http://schemas.microsoft.com/office/drawing/2014/main" val="1452797700"/>
                    </a:ext>
                  </a:extLst>
                </a:gridCol>
                <a:gridCol w="919584">
                  <a:extLst>
                    <a:ext uri="{9D8B030D-6E8A-4147-A177-3AD203B41FA5}">
                      <a16:colId xmlns:a16="http://schemas.microsoft.com/office/drawing/2014/main" val="904128740"/>
                    </a:ext>
                  </a:extLst>
                </a:gridCol>
              </a:tblGrid>
              <a:tr h="3752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370294"/>
                  </a:ext>
                </a:extLst>
              </a:tr>
              <a:tr h="457200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3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582471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CDR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84588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6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7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8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9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10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11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64562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9803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13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14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17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18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64554"/>
                  </a:ext>
                </a:extLst>
              </a:tr>
              <a:tr h="51651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84532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19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30866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87343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26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27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28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29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30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31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981899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154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4673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1770464" cy="55660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1/18 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코멘트</a:t>
            </a:r>
            <a:endParaRPr lang="en-US" altLang="ko-KR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김지훈 연구원 </a:t>
            </a:r>
            <a:endParaRPr lang="en-US" altLang="ko-KR" sz="18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sz="1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EPS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는 전기를 어디서 끌어와서 사용하는가</a:t>
            </a: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? (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어디서부터 공급되는가</a:t>
            </a: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?)</a:t>
            </a:r>
          </a:p>
          <a:p>
            <a:pPr marL="0" indent="0">
              <a:buNone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→ 태양 전지판에 태양 빛이 들어오면 </a:t>
            </a:r>
            <a:r>
              <a:rPr lang="en-US" altLang="ko-KR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PCDU</a:t>
            </a:r>
            <a:r>
              <a:rPr lang="ko-KR" altLang="en-US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의 </a:t>
            </a:r>
            <a:r>
              <a:rPr lang="en-US" altLang="ko-KR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BCR</a:t>
            </a:r>
            <a:r>
              <a:rPr lang="ko-KR" altLang="en-US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를 걸쳐 전압이 </a:t>
            </a:r>
            <a:r>
              <a:rPr lang="en-US" altLang="ko-KR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Battery voltage</a:t>
            </a:r>
            <a:r>
              <a:rPr lang="ko-KR" altLang="en-US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로 맞춰진다</a:t>
            </a:r>
            <a:r>
              <a:rPr lang="en-US" altLang="ko-KR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r>
              <a:rPr lang="ko-KR" altLang="en-US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그 이후에는</a:t>
            </a:r>
            <a:endParaRPr lang="en-US" altLang="ko-KR" sz="18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 1. (Dayside </a:t>
            </a:r>
            <a:r>
              <a:rPr lang="ko-KR" altLang="en-US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일 때</a:t>
            </a:r>
            <a:r>
              <a:rPr lang="en-US" altLang="ko-KR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 </a:t>
            </a:r>
            <a:r>
              <a:rPr lang="ko-KR" altLang="en-US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태양으로부터 오는 에너지가 </a:t>
            </a:r>
            <a:r>
              <a:rPr lang="en-US" altLang="ko-KR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BUS</a:t>
            </a:r>
            <a:r>
              <a:rPr lang="ko-KR" altLang="en-US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에서 사용되고 남는 전력은 </a:t>
            </a:r>
            <a:r>
              <a:rPr lang="en-US" altLang="ko-KR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Battery</a:t>
            </a:r>
            <a:r>
              <a:rPr lang="ko-KR" altLang="en-US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에 충전된다</a:t>
            </a:r>
            <a:r>
              <a:rPr lang="en-US" altLang="ko-KR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r>
              <a:rPr lang="en-US" altLang="ko-KR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    </a:t>
            </a:r>
            <a:r>
              <a:rPr lang="ko-KR" altLang="en-US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전력이 충분히 공급되지 않으면 </a:t>
            </a:r>
            <a:r>
              <a:rPr lang="en-US" altLang="ko-KR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Battery</a:t>
            </a:r>
            <a:r>
              <a:rPr lang="ko-KR" altLang="en-US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에 저장된 에너지를 추가로 끌어와서 사용한다</a:t>
            </a:r>
            <a:r>
              <a:rPr lang="en-US" altLang="ko-KR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altLang="ko-KR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 2. (Eclipse</a:t>
            </a:r>
            <a:r>
              <a:rPr lang="ko-KR" altLang="en-US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일 때</a:t>
            </a:r>
            <a:r>
              <a:rPr lang="en-US" altLang="ko-KR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 Dayside</a:t>
            </a:r>
            <a:r>
              <a:rPr lang="ko-KR" altLang="en-US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구간에서 </a:t>
            </a:r>
            <a:r>
              <a:rPr lang="en-US" altLang="ko-KR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Battery</a:t>
            </a:r>
            <a:r>
              <a:rPr lang="ko-KR" altLang="en-US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에 저장해둔 전력을 끌어와서 사용한다</a:t>
            </a:r>
            <a:r>
              <a:rPr lang="en-US" altLang="ko-KR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en-US" altLang="ko-KR" sz="18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ko-KR" altLang="en-US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2023-01-20</a:t>
            </a:r>
            <a:endParaRPr lang="ko-KR" altLang="en-US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EPS – Hardware (PCDU)</a:t>
            </a: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4F4AA866-25F9-0148-205A-B6F052B1B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12" y="3841645"/>
            <a:ext cx="10620375" cy="28384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221EB1BA-D2B7-0E4D-978B-1A5ABA1E2E4B}"/>
              </a:ext>
            </a:extLst>
          </p:cNvPr>
          <p:cNvSpPr txBox="1"/>
          <p:nvPr/>
        </p:nvSpPr>
        <p:spPr>
          <a:xfrm>
            <a:off x="2963711" y="5732227"/>
            <a:ext cx="37458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000000"/>
                </a:solidFill>
                <a:latin typeface="noto"/>
              </a:rPr>
              <a:t>7.4V </a:t>
            </a:r>
            <a:r>
              <a:rPr lang="ko-KR" altLang="en-US" sz="1200" dirty="0">
                <a:solidFill>
                  <a:srgbClr val="000000"/>
                </a:solidFill>
                <a:latin typeface="noto"/>
              </a:rPr>
              <a:t>이상의 입력전압에 대해서는 </a:t>
            </a:r>
            <a:r>
              <a:rPr lang="en-US" altLang="ko-KR" sz="1200" dirty="0">
                <a:solidFill>
                  <a:srgbClr val="000000"/>
                </a:solidFill>
                <a:latin typeface="noto"/>
              </a:rPr>
              <a:t>SEPIC BCR</a:t>
            </a:r>
            <a:r>
              <a:rPr lang="ko-KR" altLang="en-US" sz="1200" dirty="0">
                <a:solidFill>
                  <a:srgbClr val="000000"/>
                </a:solidFill>
                <a:latin typeface="noto"/>
              </a:rPr>
              <a:t>보다 </a:t>
            </a:r>
            <a:endParaRPr lang="en-US" altLang="ko-KR" sz="1200" dirty="0">
              <a:solidFill>
                <a:srgbClr val="000000"/>
              </a:solidFill>
              <a:latin typeface="noto"/>
            </a:endParaRPr>
          </a:p>
          <a:p>
            <a:r>
              <a:rPr lang="ko-KR" altLang="en-US" sz="1200" dirty="0">
                <a:solidFill>
                  <a:srgbClr val="000000"/>
                </a:solidFill>
                <a:latin typeface="noto"/>
              </a:rPr>
              <a:t>효율이 좋은 </a:t>
            </a:r>
            <a:r>
              <a:rPr lang="en-US" altLang="ko-KR" sz="1200" dirty="0">
                <a:solidFill>
                  <a:srgbClr val="000000"/>
                </a:solidFill>
                <a:latin typeface="noto"/>
              </a:rPr>
              <a:t>Buck BCR</a:t>
            </a:r>
            <a:r>
              <a:rPr lang="ko-KR" altLang="en-US" sz="1200" dirty="0">
                <a:solidFill>
                  <a:srgbClr val="000000"/>
                </a:solidFill>
                <a:latin typeface="noto"/>
              </a:rPr>
              <a:t>이 이용됨</a:t>
            </a:r>
            <a:endParaRPr lang="ko-KR" altLang="en-US" sz="1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F968294-4BF8-495E-256A-E44EBD39C298}"/>
              </a:ext>
            </a:extLst>
          </p:cNvPr>
          <p:cNvSpPr txBox="1"/>
          <p:nvPr/>
        </p:nvSpPr>
        <p:spPr>
          <a:xfrm>
            <a:off x="991274" y="6257593"/>
            <a:ext cx="394487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rgbClr val="C000A5"/>
                </a:solidFill>
                <a:latin typeface="noto"/>
              </a:rPr>
              <a:t>Q.</a:t>
            </a:r>
            <a:r>
              <a:rPr lang="ko-KR" altLang="en-US" sz="1100" dirty="0">
                <a:solidFill>
                  <a:srgbClr val="C000A5"/>
                </a:solidFill>
                <a:latin typeface="noto"/>
              </a:rPr>
              <a:t> </a:t>
            </a:r>
            <a:r>
              <a:rPr lang="en-US" altLang="ko-KR" sz="1100" dirty="0">
                <a:solidFill>
                  <a:srgbClr val="C000A5"/>
                </a:solidFill>
                <a:latin typeface="noto"/>
              </a:rPr>
              <a:t>Board key</a:t>
            </a:r>
            <a:r>
              <a:rPr lang="ko-KR" altLang="en-US" sz="1100" dirty="0">
                <a:solidFill>
                  <a:srgbClr val="C000A5"/>
                </a:solidFill>
                <a:latin typeface="noto"/>
              </a:rPr>
              <a:t>는 무슨 그림인가</a:t>
            </a:r>
            <a:r>
              <a:rPr lang="en-US" altLang="ko-KR" sz="1100" dirty="0">
                <a:solidFill>
                  <a:srgbClr val="C000A5"/>
                </a:solidFill>
                <a:latin typeface="noto"/>
              </a:rPr>
              <a:t>?</a:t>
            </a:r>
          </a:p>
          <a:p>
            <a:r>
              <a:rPr lang="en-US" altLang="ko-KR" sz="1100" dirty="0">
                <a:solidFill>
                  <a:srgbClr val="C000A5"/>
                </a:solidFill>
              </a:rPr>
              <a:t>A. </a:t>
            </a:r>
            <a:r>
              <a:rPr lang="ko-KR" altLang="en-US" sz="1100" dirty="0">
                <a:solidFill>
                  <a:srgbClr val="C000A5"/>
                </a:solidFill>
              </a:rPr>
              <a:t>도식도에서 각각의 구성을 보여주는 그림 </a:t>
            </a:r>
          </a:p>
          <a:p>
            <a:endParaRPr lang="ko-KR" altLang="en-US" sz="1100" dirty="0">
              <a:solidFill>
                <a:srgbClr val="C000A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1212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1770464" cy="57633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1/18 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코멘트</a:t>
            </a:r>
            <a:endParaRPr lang="en-US" altLang="ko-KR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김지훈 연구원 </a:t>
            </a:r>
            <a:endParaRPr lang="en-US" altLang="ko-KR" sz="18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sz="1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EPS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는 전기를 어디서 끌어와서 사용하는가</a:t>
            </a: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? (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어디서부터 공급되는가</a:t>
            </a: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?)</a:t>
            </a:r>
          </a:p>
          <a:p>
            <a:pPr marL="0" indent="0">
              <a:buNone/>
            </a:pPr>
            <a:endParaRPr lang="en-US" altLang="ko-KR" sz="18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ko-KR" altLang="en-US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2023-01-20</a:t>
            </a:r>
            <a:endParaRPr lang="ko-KR" altLang="en-US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9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EPS – Hardware (PCDU)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46DA1620-322D-D996-2D86-96F0D91AA1FC}"/>
              </a:ext>
            </a:extLst>
          </p:cNvPr>
          <p:cNvGrpSpPr/>
          <p:nvPr/>
        </p:nvGrpSpPr>
        <p:grpSpPr>
          <a:xfrm>
            <a:off x="857924" y="2685106"/>
            <a:ext cx="11479348" cy="3666871"/>
            <a:chOff x="991274" y="2690336"/>
            <a:chExt cx="11479348" cy="3666871"/>
          </a:xfrm>
        </p:grpSpPr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B77E8538-7BAF-13AA-5046-2BA7EDC91060}"/>
                </a:ext>
              </a:extLst>
            </p:cNvPr>
            <p:cNvGrpSpPr/>
            <p:nvPr/>
          </p:nvGrpSpPr>
          <p:grpSpPr>
            <a:xfrm>
              <a:off x="1356587" y="2946112"/>
              <a:ext cx="6797241" cy="3317967"/>
              <a:chOff x="2751735" y="3266845"/>
              <a:chExt cx="6797241" cy="3317967"/>
            </a:xfrm>
          </p:grpSpPr>
          <p:grpSp>
            <p:nvGrpSpPr>
              <p:cNvPr id="19" name="그룹 18">
                <a:extLst>
                  <a:ext uri="{FF2B5EF4-FFF2-40B4-BE49-F238E27FC236}">
                    <a16:creationId xmlns:a16="http://schemas.microsoft.com/office/drawing/2014/main" id="{CDAD8CA3-05B3-097A-FC11-CEDA2862789B}"/>
                  </a:ext>
                </a:extLst>
              </p:cNvPr>
              <p:cNvGrpSpPr/>
              <p:nvPr/>
            </p:nvGrpSpPr>
            <p:grpSpPr>
              <a:xfrm>
                <a:off x="2751735" y="3972048"/>
                <a:ext cx="6797241" cy="1850066"/>
                <a:chOff x="1242681" y="2923952"/>
                <a:chExt cx="6797241" cy="1850066"/>
              </a:xfrm>
            </p:grpSpPr>
            <p:sp>
              <p:nvSpPr>
                <p:cNvPr id="20" name="직사각형 19">
                  <a:extLst>
                    <a:ext uri="{FF2B5EF4-FFF2-40B4-BE49-F238E27FC236}">
                      <a16:creationId xmlns:a16="http://schemas.microsoft.com/office/drawing/2014/main" id="{B7FE9E7A-B342-CE09-F804-076A2F28BCC6}"/>
                    </a:ext>
                  </a:extLst>
                </p:cNvPr>
                <p:cNvSpPr/>
                <p:nvPr/>
              </p:nvSpPr>
              <p:spPr bwMode="auto">
                <a:xfrm>
                  <a:off x="4221126" y="2923952"/>
                  <a:ext cx="2806995" cy="1850065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l"/>
                  <a:endParaRPr lang="ko-KR" altLang="en-US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grpSp>
              <p:nvGrpSpPr>
                <p:cNvPr id="25" name="그룹 24">
                  <a:extLst>
                    <a:ext uri="{FF2B5EF4-FFF2-40B4-BE49-F238E27FC236}">
                      <a16:creationId xmlns:a16="http://schemas.microsoft.com/office/drawing/2014/main" id="{DBDB637B-7724-30F4-C1A6-6FE7A8B65696}"/>
                    </a:ext>
                  </a:extLst>
                </p:cNvPr>
                <p:cNvGrpSpPr/>
                <p:nvPr/>
              </p:nvGrpSpPr>
              <p:grpSpPr>
                <a:xfrm>
                  <a:off x="1242681" y="2923953"/>
                  <a:ext cx="6797241" cy="1850065"/>
                  <a:chOff x="1242681" y="2923953"/>
                  <a:chExt cx="6797241" cy="1850065"/>
                </a:xfrm>
              </p:grpSpPr>
              <p:sp>
                <p:nvSpPr>
                  <p:cNvPr id="26" name="직사각형 25">
                    <a:extLst>
                      <a:ext uri="{FF2B5EF4-FFF2-40B4-BE49-F238E27FC236}">
                        <a16:creationId xmlns:a16="http://schemas.microsoft.com/office/drawing/2014/main" id="{6E1E2124-E77C-AB67-4929-4376011D9DC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414131" y="2923953"/>
                    <a:ext cx="2806995" cy="1850065"/>
                  </a:xfrm>
                  <a:prstGeom prst="rect">
                    <a:avLst/>
                  </a:prstGeom>
                  <a:ln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algn="l"/>
                    <a:endParaRPr lang="ko-KR" altLang="en-US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27" name="직사각형 26">
                    <a:extLst>
                      <a:ext uri="{FF2B5EF4-FFF2-40B4-BE49-F238E27FC236}">
                        <a16:creationId xmlns:a16="http://schemas.microsoft.com/office/drawing/2014/main" id="{7FC7498E-BF36-0A2C-E37A-0DC7F6AB5EB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064152" y="3561905"/>
                    <a:ext cx="313947" cy="574158"/>
                  </a:xfrm>
                  <a:prstGeom prst="rect">
                    <a:avLst/>
                  </a:prstGeom>
                  <a:ln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algn="l"/>
                    <a:endParaRPr lang="ko-KR" altLang="en-US"/>
                  </a:p>
                </p:txBody>
              </p:sp>
              <p:sp>
                <p:nvSpPr>
                  <p:cNvPr id="28" name="직사각형 27">
                    <a:extLst>
                      <a:ext uri="{FF2B5EF4-FFF2-40B4-BE49-F238E27FC236}">
                        <a16:creationId xmlns:a16="http://schemas.microsoft.com/office/drawing/2014/main" id="{25AEA0C2-9015-D9CD-9CDE-351C136D8C2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156075" y="3483047"/>
                    <a:ext cx="146050" cy="78929"/>
                  </a:xfrm>
                  <a:prstGeom prst="rect">
                    <a:avLst/>
                  </a:prstGeom>
                  <a:ln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algn="l"/>
                    <a:endParaRPr lang="ko-KR" altLang="en-US"/>
                  </a:p>
                </p:txBody>
              </p:sp>
              <p:sp>
                <p:nvSpPr>
                  <p:cNvPr id="29" name="직사각형 28">
                    <a:extLst>
                      <a:ext uri="{FF2B5EF4-FFF2-40B4-BE49-F238E27FC236}">
                        <a16:creationId xmlns:a16="http://schemas.microsoft.com/office/drawing/2014/main" id="{A90567EE-2541-591C-BB31-DD4920CCD8E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600708" y="3981884"/>
                    <a:ext cx="854823" cy="525451"/>
                  </a:xfrm>
                  <a:prstGeom prst="rect">
                    <a:avLst/>
                  </a:prstGeom>
                  <a:ln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algn="l"/>
                    <a:endParaRPr lang="ko-KR" altLang="en-US"/>
                  </a:p>
                </p:txBody>
              </p:sp>
              <p:cxnSp>
                <p:nvCxnSpPr>
                  <p:cNvPr id="30" name="직선 연결선 29">
                    <a:extLst>
                      <a:ext uri="{FF2B5EF4-FFF2-40B4-BE49-F238E27FC236}">
                        <a16:creationId xmlns:a16="http://schemas.microsoft.com/office/drawing/2014/main" id="{39929C8E-BD90-672C-C545-85C3E7D8DE27}"/>
                      </a:ext>
                    </a:extLst>
                  </p:cNvPr>
                  <p:cNvCxnSpPr/>
                  <p:nvPr/>
                </p:nvCxnSpPr>
                <p:spPr>
                  <a:xfrm>
                    <a:off x="1242681" y="3787775"/>
                    <a:ext cx="342900" cy="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직선 연결선 30">
                    <a:extLst>
                      <a:ext uri="{FF2B5EF4-FFF2-40B4-BE49-F238E27FC236}">
                        <a16:creationId xmlns:a16="http://schemas.microsoft.com/office/drawing/2014/main" id="{004BBD98-2739-36D2-9238-71ECF0485E55}"/>
                      </a:ext>
                    </a:extLst>
                  </p:cNvPr>
                  <p:cNvCxnSpPr/>
                  <p:nvPr/>
                </p:nvCxnSpPr>
                <p:spPr>
                  <a:xfrm>
                    <a:off x="1242681" y="3917156"/>
                    <a:ext cx="342900" cy="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2" name="직사각형 31">
                    <a:extLst>
                      <a:ext uri="{FF2B5EF4-FFF2-40B4-BE49-F238E27FC236}">
                        <a16:creationId xmlns:a16="http://schemas.microsoft.com/office/drawing/2014/main" id="{CC4E32F8-012D-F04E-F81D-324579F9068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333239" y="3793950"/>
                    <a:ext cx="161783" cy="120823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algn="l"/>
                    <a:endParaRPr lang="ko-KR" altLang="en-US"/>
                  </a:p>
                </p:txBody>
              </p:sp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A26AAB45-7C72-DBC9-EA9A-A34CA5F0F3EE}"/>
                      </a:ext>
                    </a:extLst>
                  </p:cNvPr>
                  <p:cNvSpPr txBox="1"/>
                  <p:nvPr/>
                </p:nvSpPr>
                <p:spPr>
                  <a:xfrm>
                    <a:off x="6741661" y="4054567"/>
                    <a:ext cx="1298261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altLang="ko-KR" dirty="0">
                        <a:solidFill>
                          <a:srgbClr val="000000"/>
                        </a:solidFill>
                        <a:latin typeface="noto"/>
                      </a:rPr>
                      <a:t>BUS</a:t>
                    </a:r>
                    <a:endParaRPr lang="ko-KR" altLang="en-US" dirty="0"/>
                  </a:p>
                </p:txBody>
              </p:sp>
            </p:grpSp>
          </p:grp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946DB80-606C-5370-5DC5-714BD4063535}"/>
                  </a:ext>
                </a:extLst>
              </p:cNvPr>
              <p:cNvSpPr txBox="1"/>
              <p:nvPr/>
            </p:nvSpPr>
            <p:spPr>
              <a:xfrm>
                <a:off x="7168027" y="3266845"/>
                <a:ext cx="2254039" cy="5770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050" dirty="0">
                    <a:solidFill>
                      <a:srgbClr val="FF0000"/>
                    </a:solidFill>
                    <a:latin typeface="noto"/>
                  </a:rPr>
                  <a:t>배터리 남은 양이 기준가 이하 되면 </a:t>
                </a:r>
                <a:endParaRPr lang="en-US" altLang="ko-KR" sz="1050" dirty="0">
                  <a:solidFill>
                    <a:srgbClr val="FF0000"/>
                  </a:solidFill>
                  <a:latin typeface="noto"/>
                </a:endParaRPr>
              </a:p>
              <a:p>
                <a:r>
                  <a:rPr lang="ko-KR" altLang="en-US" sz="1050" dirty="0">
                    <a:solidFill>
                      <a:srgbClr val="FF0000"/>
                    </a:solidFill>
                    <a:latin typeface="noto"/>
                  </a:rPr>
                  <a:t>전력 공급 끊음  →  충전만 됨</a:t>
                </a:r>
                <a:endParaRPr lang="en-US" altLang="ko-KR" sz="1050" dirty="0">
                  <a:solidFill>
                    <a:srgbClr val="FF0000"/>
                  </a:solidFill>
                  <a:latin typeface="noto"/>
                </a:endParaRPr>
              </a:p>
              <a:p>
                <a:r>
                  <a:rPr lang="en-US" altLang="ko-KR" sz="1050" dirty="0">
                    <a:solidFill>
                      <a:srgbClr val="FF0000"/>
                    </a:solidFill>
                    <a:latin typeface="noto"/>
                  </a:rPr>
                  <a:t>                    </a:t>
                </a:r>
                <a:r>
                  <a:rPr lang="ko-KR" altLang="en-US" sz="1050" dirty="0">
                    <a:solidFill>
                      <a:srgbClr val="FF0000"/>
                    </a:solidFill>
                    <a:latin typeface="noto"/>
                  </a:rPr>
                  <a:t>                                                                        </a:t>
                </a:r>
                <a:endParaRPr lang="ko-KR" alt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6046945-80B6-33B7-95E6-5F3F9998B656}"/>
                  </a:ext>
                </a:extLst>
              </p:cNvPr>
              <p:cNvSpPr txBox="1"/>
              <p:nvPr/>
            </p:nvSpPr>
            <p:spPr>
              <a:xfrm>
                <a:off x="3043301" y="4049458"/>
                <a:ext cx="176076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200" dirty="0">
                    <a:solidFill>
                      <a:srgbClr val="000000"/>
                    </a:solidFill>
                    <a:latin typeface="noto"/>
                  </a:rPr>
                  <a:t>태양빛이 있으면 충전</a:t>
                </a:r>
                <a:endParaRPr lang="ko-KR" altLang="en-US" sz="1200" dirty="0"/>
              </a:p>
            </p:txBody>
          </p:sp>
          <p:cxnSp>
            <p:nvCxnSpPr>
              <p:cNvPr id="37" name="직선 연결선 36">
                <a:extLst>
                  <a:ext uri="{FF2B5EF4-FFF2-40B4-BE49-F238E27FC236}">
                    <a16:creationId xmlns:a16="http://schemas.microsoft.com/office/drawing/2014/main" id="{1EC9FF4E-E6F2-9E69-6282-3E702F691F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05631" y="5184159"/>
                <a:ext cx="885129" cy="1400653"/>
              </a:xfrm>
              <a:prstGeom prst="line">
                <a:avLst/>
              </a:prstGeom>
              <a:ln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직선 연결선 37">
                <a:extLst>
                  <a:ext uri="{FF2B5EF4-FFF2-40B4-BE49-F238E27FC236}">
                    <a16:creationId xmlns:a16="http://schemas.microsoft.com/office/drawing/2014/main" id="{1973D6E5-7596-1607-CBD2-7464DE21222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57223" y="5176713"/>
                <a:ext cx="864182" cy="1367506"/>
              </a:xfrm>
              <a:prstGeom prst="line">
                <a:avLst/>
              </a:prstGeom>
              <a:ln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E620C74-2284-B685-7F97-2212EF2F84BE}"/>
                </a:ext>
              </a:extLst>
            </p:cNvPr>
            <p:cNvSpPr txBox="1"/>
            <p:nvPr/>
          </p:nvSpPr>
          <p:spPr>
            <a:xfrm>
              <a:off x="991274" y="5623699"/>
              <a:ext cx="327870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200" dirty="0">
                  <a:solidFill>
                    <a:srgbClr val="FF0000"/>
                  </a:solidFill>
                  <a:latin typeface="noto"/>
                </a:rPr>
                <a:t>태양빛이 없으면 방전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9CAFFAD3-8535-7F69-5D29-726F57C9B62F}"/>
                </a:ext>
              </a:extLst>
            </p:cNvPr>
            <p:cNvCxnSpPr/>
            <p:nvPr/>
          </p:nvCxnSpPr>
          <p:spPr>
            <a:xfrm>
              <a:off x="2274241" y="3503143"/>
              <a:ext cx="508583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6D7444B-4AFF-7D58-04CF-A621158DD123}"/>
                </a:ext>
              </a:extLst>
            </p:cNvPr>
            <p:cNvSpPr txBox="1"/>
            <p:nvPr/>
          </p:nvSpPr>
          <p:spPr>
            <a:xfrm>
              <a:off x="2561823" y="4225471"/>
              <a:ext cx="1639504" cy="5770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50" dirty="0">
                  <a:solidFill>
                    <a:srgbClr val="000000"/>
                  </a:solidFill>
                  <a:latin typeface="noto"/>
                </a:rPr>
                <a:t>BUS</a:t>
              </a:r>
              <a:r>
                <a:rPr lang="ko-KR" altLang="en-US" sz="1050" dirty="0">
                  <a:solidFill>
                    <a:srgbClr val="000000"/>
                  </a:solidFill>
                  <a:latin typeface="noto"/>
                </a:rPr>
                <a:t>에서 사용하고 남는 </a:t>
              </a:r>
              <a:endParaRPr lang="en-US" altLang="ko-KR" sz="1050" dirty="0">
                <a:solidFill>
                  <a:srgbClr val="000000"/>
                </a:solidFill>
                <a:latin typeface="noto"/>
              </a:endParaRPr>
            </a:p>
            <a:p>
              <a:pPr algn="ctr"/>
              <a:r>
                <a:rPr lang="ko-KR" altLang="en-US" sz="1050" dirty="0">
                  <a:solidFill>
                    <a:srgbClr val="000000"/>
                  </a:solidFill>
                  <a:latin typeface="noto"/>
                </a:rPr>
                <a:t>에너지 배터리에 저장</a:t>
              </a:r>
              <a:endParaRPr lang="en-US" altLang="ko-KR" sz="1050" dirty="0">
                <a:solidFill>
                  <a:srgbClr val="000000"/>
                </a:solidFill>
                <a:latin typeface="noto"/>
              </a:endParaRPr>
            </a:p>
            <a:p>
              <a:pPr algn="ctr"/>
              <a:r>
                <a:rPr lang="en-US" altLang="ko-KR" sz="1050" dirty="0">
                  <a:solidFill>
                    <a:srgbClr val="000000"/>
                  </a:solidFill>
                  <a:latin typeface="noto"/>
                </a:rPr>
                <a:t>(</a:t>
              </a:r>
              <a:r>
                <a:rPr lang="ko-KR" altLang="en-US" sz="1050" dirty="0" err="1">
                  <a:solidFill>
                    <a:srgbClr val="000000"/>
                  </a:solidFill>
                  <a:latin typeface="noto"/>
                </a:rPr>
                <a:t>충전량</a:t>
              </a:r>
              <a:r>
                <a:rPr lang="en-US" altLang="ko-KR" sz="1050" dirty="0">
                  <a:solidFill>
                    <a:srgbClr val="000000"/>
                  </a:solidFill>
                  <a:latin typeface="noto"/>
                </a:rPr>
                <a:t>-</a:t>
              </a:r>
              <a:r>
                <a:rPr lang="ko-KR" altLang="en-US" sz="1050" dirty="0">
                  <a:solidFill>
                    <a:srgbClr val="000000"/>
                  </a:solidFill>
                  <a:latin typeface="noto"/>
                </a:rPr>
                <a:t>사용량</a:t>
              </a:r>
              <a:r>
                <a:rPr lang="en-US" altLang="ko-KR" sz="1050" dirty="0">
                  <a:solidFill>
                    <a:srgbClr val="000000"/>
                  </a:solidFill>
                  <a:latin typeface="noto"/>
                </a:rPr>
                <a:t>)</a:t>
              </a:r>
              <a:r>
                <a:rPr lang="ko-KR" altLang="en-US" sz="1050" dirty="0">
                  <a:solidFill>
                    <a:srgbClr val="000000"/>
                  </a:solidFill>
                  <a:latin typeface="noto"/>
                </a:rPr>
                <a:t>이 저장</a:t>
              </a:r>
              <a:endParaRPr lang="ko-KR" altLang="en-US" sz="1050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BAA3453-088E-0315-7DCD-375040FA1DFA}"/>
                </a:ext>
              </a:extLst>
            </p:cNvPr>
            <p:cNvSpPr txBox="1"/>
            <p:nvPr/>
          </p:nvSpPr>
          <p:spPr>
            <a:xfrm>
              <a:off x="4335031" y="4855980"/>
              <a:ext cx="904257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>
                  <a:solidFill>
                    <a:srgbClr val="000000"/>
                  </a:solidFill>
                  <a:latin typeface="noto"/>
                </a:rPr>
                <a:t>Battery</a:t>
              </a:r>
            </a:p>
            <a:p>
              <a:r>
                <a:rPr lang="en-US" altLang="ko-KR" dirty="0">
                  <a:solidFill>
                    <a:srgbClr val="000000"/>
                  </a:solidFill>
                  <a:latin typeface="noto"/>
                </a:rPr>
                <a:t>(8.2V)</a:t>
              </a:r>
            </a:p>
            <a:p>
              <a:endParaRPr lang="ko-KR" altLang="en-US" dirty="0"/>
            </a:p>
          </p:txBody>
        </p:sp>
        <p:cxnSp>
          <p:nvCxnSpPr>
            <p:cNvPr id="53" name="직선 화살표 연결선 52">
              <a:extLst>
                <a:ext uri="{FF2B5EF4-FFF2-40B4-BE49-F238E27FC236}">
                  <a16:creationId xmlns:a16="http://schemas.microsoft.com/office/drawing/2014/main" id="{CB71F57D-F029-76DB-3C68-D3E2368B52C6}"/>
                </a:ext>
              </a:extLst>
            </p:cNvPr>
            <p:cNvCxnSpPr>
              <a:cxnSpLocks/>
            </p:cNvCxnSpPr>
            <p:nvPr/>
          </p:nvCxnSpPr>
          <p:spPr>
            <a:xfrm>
              <a:off x="4492005" y="3728725"/>
              <a:ext cx="105789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8A53BA89-F3F7-DFB5-90DE-682638B484F5}"/>
                </a:ext>
              </a:extLst>
            </p:cNvPr>
            <p:cNvCxnSpPr/>
            <p:nvPr/>
          </p:nvCxnSpPr>
          <p:spPr>
            <a:xfrm>
              <a:off x="4492005" y="3728725"/>
              <a:ext cx="0" cy="27699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1B12754-7302-DE7E-F134-816E2FBCB580}"/>
                </a:ext>
              </a:extLst>
            </p:cNvPr>
            <p:cNvSpPr txBox="1"/>
            <p:nvPr/>
          </p:nvSpPr>
          <p:spPr>
            <a:xfrm>
              <a:off x="4499778" y="3795642"/>
              <a:ext cx="1407903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200" dirty="0">
                  <a:solidFill>
                    <a:srgbClr val="000000"/>
                  </a:solidFill>
                  <a:latin typeface="noto"/>
                </a:rPr>
                <a:t>전력이</a:t>
              </a:r>
              <a:r>
                <a:rPr lang="en-US" altLang="ko-KR" sz="1200" dirty="0">
                  <a:solidFill>
                    <a:srgbClr val="000000"/>
                  </a:solidFill>
                  <a:latin typeface="noto"/>
                </a:rPr>
                <a:t> </a:t>
              </a:r>
              <a:r>
                <a:rPr lang="ko-KR" altLang="en-US" sz="1200" dirty="0">
                  <a:solidFill>
                    <a:srgbClr val="000000"/>
                  </a:solidFill>
                  <a:latin typeface="noto"/>
                </a:rPr>
                <a:t>부족하면</a:t>
              </a:r>
              <a:endParaRPr lang="en-US" altLang="ko-KR" sz="1200" dirty="0">
                <a:solidFill>
                  <a:srgbClr val="000000"/>
                </a:solidFill>
                <a:latin typeface="noto"/>
              </a:endParaRPr>
            </a:p>
            <a:p>
              <a:r>
                <a:rPr lang="ko-KR" altLang="en-US" sz="1200" dirty="0">
                  <a:solidFill>
                    <a:srgbClr val="000000"/>
                  </a:solidFill>
                  <a:latin typeface="noto"/>
                </a:rPr>
                <a:t>저장된 전력 </a:t>
              </a:r>
              <a:endParaRPr lang="en-US" altLang="ko-KR" sz="1200" dirty="0">
                <a:solidFill>
                  <a:srgbClr val="000000"/>
                </a:solidFill>
                <a:latin typeface="noto"/>
              </a:endParaRPr>
            </a:p>
            <a:p>
              <a:r>
                <a:rPr lang="en-US" altLang="ko-KR" sz="1200" dirty="0">
                  <a:solidFill>
                    <a:schemeClr val="accent2"/>
                  </a:solidFill>
                  <a:latin typeface="noto"/>
                </a:rPr>
                <a:t>PDM</a:t>
              </a:r>
              <a:r>
                <a:rPr lang="ko-KR" altLang="en-US" sz="1200" dirty="0">
                  <a:solidFill>
                    <a:srgbClr val="000000"/>
                  </a:solidFill>
                  <a:latin typeface="noto"/>
                </a:rPr>
                <a:t>으로 전달</a:t>
              </a:r>
              <a:endParaRPr lang="en-US" altLang="ko-KR" sz="1200" dirty="0">
                <a:solidFill>
                  <a:srgbClr val="000000"/>
                </a:solidFill>
                <a:latin typeface="noto"/>
              </a:endParaRPr>
            </a:p>
            <a:p>
              <a:r>
                <a:rPr lang="en-US" altLang="ko-KR" sz="1200" dirty="0">
                  <a:solidFill>
                    <a:srgbClr val="000000"/>
                  </a:solidFill>
                  <a:latin typeface="noto"/>
                </a:rPr>
                <a:t>(</a:t>
              </a:r>
              <a:r>
                <a:rPr lang="ko-KR" altLang="en-US" sz="1200" dirty="0">
                  <a:solidFill>
                    <a:srgbClr val="000000"/>
                  </a:solidFill>
                  <a:latin typeface="noto"/>
                </a:rPr>
                <a:t>또는 바로 </a:t>
              </a:r>
              <a:r>
                <a:rPr lang="en-US" altLang="ko-KR" sz="1200" dirty="0">
                  <a:solidFill>
                    <a:srgbClr val="000000"/>
                  </a:solidFill>
                  <a:latin typeface="noto"/>
                </a:rPr>
                <a:t>BUS</a:t>
              </a:r>
              <a:r>
                <a:rPr lang="ko-KR" altLang="en-US" sz="1200" dirty="0">
                  <a:solidFill>
                    <a:srgbClr val="000000"/>
                  </a:solidFill>
                  <a:latin typeface="noto"/>
                </a:rPr>
                <a:t>로</a:t>
              </a:r>
              <a:r>
                <a:rPr lang="en-US" altLang="ko-KR" sz="1200" dirty="0">
                  <a:solidFill>
                    <a:srgbClr val="000000"/>
                  </a:solidFill>
                  <a:latin typeface="noto"/>
                </a:rPr>
                <a:t>)</a:t>
              </a:r>
              <a:endParaRPr lang="ko-KR" altLang="en-US" sz="1200" dirty="0"/>
            </a:p>
          </p:txBody>
        </p:sp>
        <p:pic>
          <p:nvPicPr>
            <p:cNvPr id="58" name="그림 57">
              <a:extLst>
                <a:ext uri="{FF2B5EF4-FFF2-40B4-BE49-F238E27FC236}">
                  <a16:creationId xmlns:a16="http://schemas.microsoft.com/office/drawing/2014/main" id="{3B9E6F73-9C7E-9B37-90A3-CC7FF7CBA3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78540" y="3438038"/>
              <a:ext cx="907781" cy="42103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2BB871C-E7A4-0D2E-2B6A-9869654BA366}"/>
                </a:ext>
              </a:extLst>
            </p:cNvPr>
            <p:cNvSpPr txBox="1"/>
            <p:nvPr/>
          </p:nvSpPr>
          <p:spPr>
            <a:xfrm>
              <a:off x="3511774" y="3065459"/>
              <a:ext cx="9042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>
                  <a:solidFill>
                    <a:srgbClr val="000000"/>
                  </a:solidFill>
                  <a:latin typeface="noto"/>
                </a:rPr>
                <a:t>BCR</a:t>
              </a:r>
              <a:endParaRPr lang="ko-KR" altLang="en-US" dirty="0"/>
            </a:p>
          </p:txBody>
        </p:sp>
        <p:cxnSp>
          <p:nvCxnSpPr>
            <p:cNvPr id="64" name="직선 화살표 연결선 63">
              <a:extLst>
                <a:ext uri="{FF2B5EF4-FFF2-40B4-BE49-F238E27FC236}">
                  <a16:creationId xmlns:a16="http://schemas.microsoft.com/office/drawing/2014/main" id="{6C810CDA-A6C8-CD4B-66A0-0854078DC7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88448" y="3932986"/>
              <a:ext cx="8264" cy="24073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4181C892-D6EB-01D6-82DB-5ECFE58E4FD4}"/>
                </a:ext>
              </a:extLst>
            </p:cNvPr>
            <p:cNvSpPr/>
            <p:nvPr/>
          </p:nvSpPr>
          <p:spPr bwMode="auto">
            <a:xfrm>
              <a:off x="6828981" y="3730218"/>
              <a:ext cx="649817" cy="399436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68CF844-3089-3AA2-4681-456D2FE55246}"/>
                </a:ext>
              </a:extLst>
            </p:cNvPr>
            <p:cNvSpPr txBox="1"/>
            <p:nvPr/>
          </p:nvSpPr>
          <p:spPr>
            <a:xfrm>
              <a:off x="6841000" y="3738104"/>
              <a:ext cx="75231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>
                  <a:solidFill>
                    <a:schemeClr val="accent2"/>
                  </a:solidFill>
                  <a:latin typeface="noto"/>
                </a:rPr>
                <a:t>PDM</a:t>
              </a:r>
              <a:endParaRPr lang="ko-KR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7FF6CC19-8833-22EB-76AE-66258E0DE29E}"/>
                </a:ext>
              </a:extLst>
            </p:cNvPr>
            <p:cNvSpPr/>
            <p:nvPr/>
          </p:nvSpPr>
          <p:spPr bwMode="auto">
            <a:xfrm>
              <a:off x="5727872" y="3448837"/>
              <a:ext cx="649817" cy="399436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9B0D6FB4-8C52-DC3F-59CD-6E35C75D72CE}"/>
                </a:ext>
              </a:extLst>
            </p:cNvPr>
            <p:cNvSpPr txBox="1"/>
            <p:nvPr/>
          </p:nvSpPr>
          <p:spPr>
            <a:xfrm>
              <a:off x="5759662" y="3460761"/>
              <a:ext cx="7858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>
                  <a:solidFill>
                    <a:srgbClr val="FF0000"/>
                  </a:solidFill>
                  <a:latin typeface="noto"/>
                </a:rPr>
                <a:t>PCM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C9D9562E-C345-65B9-FB21-73937CD26111}"/>
                </a:ext>
              </a:extLst>
            </p:cNvPr>
            <p:cNvSpPr txBox="1"/>
            <p:nvPr/>
          </p:nvSpPr>
          <p:spPr>
            <a:xfrm>
              <a:off x="7606846" y="3647188"/>
              <a:ext cx="3944875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100" dirty="0">
                  <a:solidFill>
                    <a:schemeClr val="accent2"/>
                  </a:solidFill>
                </a:rPr>
                <a:t>Switch 10</a:t>
              </a:r>
              <a:r>
                <a:rPr lang="ko-KR" altLang="en-US" sz="1100" dirty="0">
                  <a:solidFill>
                    <a:schemeClr val="accent2"/>
                  </a:solidFill>
                </a:rPr>
                <a:t>개로 나누어 줌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10B1A1E-656F-271C-B6CC-A20255FE72E9}"/>
                </a:ext>
              </a:extLst>
            </p:cNvPr>
            <p:cNvSpPr txBox="1"/>
            <p:nvPr/>
          </p:nvSpPr>
          <p:spPr>
            <a:xfrm>
              <a:off x="7593319" y="3910178"/>
              <a:ext cx="3379390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100" dirty="0">
                  <a:solidFill>
                    <a:schemeClr val="accent2"/>
                  </a:solidFill>
                </a:rPr>
                <a:t>3.3V - 3</a:t>
              </a:r>
              <a:r>
                <a:rPr lang="ko-KR" altLang="en-US" sz="1100" dirty="0">
                  <a:solidFill>
                    <a:schemeClr val="accent2"/>
                  </a:solidFill>
                </a:rPr>
                <a:t>개 </a:t>
              </a:r>
              <a:r>
                <a:rPr lang="en-US" altLang="ko-KR" sz="1100" dirty="0">
                  <a:solidFill>
                    <a:schemeClr val="accent2"/>
                  </a:solidFill>
                </a:rPr>
                <a:t>: SW1(GPSRX), SW2(CAM), SW3(PAYR)</a:t>
              </a:r>
            </a:p>
            <a:p>
              <a:r>
                <a:rPr lang="en-US" altLang="ko-KR" sz="1100" dirty="0">
                  <a:solidFill>
                    <a:schemeClr val="accent2"/>
                  </a:solidFill>
                </a:rPr>
                <a:t>5V - 3</a:t>
              </a:r>
              <a:r>
                <a:rPr lang="ko-KR" altLang="en-US" sz="1100" dirty="0">
                  <a:solidFill>
                    <a:schemeClr val="accent2"/>
                  </a:solidFill>
                </a:rPr>
                <a:t>개 </a:t>
              </a:r>
              <a:r>
                <a:rPr lang="en-US" altLang="ko-KR" sz="1100" dirty="0">
                  <a:solidFill>
                    <a:schemeClr val="accent2"/>
                  </a:solidFill>
                </a:rPr>
                <a:t>: SW1(PAYR), SW2(PAYS), SW3</a:t>
              </a:r>
            </a:p>
            <a:p>
              <a:r>
                <a:rPr lang="en-US" altLang="ko-KR" sz="1100" dirty="0">
                  <a:solidFill>
                    <a:schemeClr val="accent2"/>
                  </a:solidFill>
                </a:rPr>
                <a:t>12V - 2</a:t>
              </a:r>
              <a:r>
                <a:rPr lang="ko-KR" altLang="en-US" sz="1100" dirty="0">
                  <a:solidFill>
                    <a:schemeClr val="accent2"/>
                  </a:solidFill>
                </a:rPr>
                <a:t>개 </a:t>
              </a:r>
              <a:endParaRPr lang="en-US" altLang="ko-KR" sz="1100" dirty="0">
                <a:solidFill>
                  <a:schemeClr val="accent2"/>
                </a:solidFill>
              </a:endParaRPr>
            </a:p>
            <a:p>
              <a:r>
                <a:rPr lang="en-US" altLang="ko-KR" sz="1100" dirty="0">
                  <a:solidFill>
                    <a:schemeClr val="accent2"/>
                  </a:solidFill>
                </a:rPr>
                <a:t>VBAT  - 2</a:t>
              </a:r>
              <a:r>
                <a:rPr lang="ko-KR" altLang="en-US" sz="1100" dirty="0">
                  <a:solidFill>
                    <a:schemeClr val="accent2"/>
                  </a:solidFill>
                </a:rPr>
                <a:t>개</a:t>
              </a:r>
              <a:endParaRPr lang="en-US" altLang="ko-KR" sz="1100" dirty="0">
                <a:solidFill>
                  <a:schemeClr val="accent2"/>
                </a:solidFill>
              </a:endParaRPr>
            </a:p>
            <a:p>
              <a:endParaRPr lang="en-US" altLang="ko-KR" sz="1100" dirty="0">
                <a:solidFill>
                  <a:schemeClr val="accent2"/>
                </a:solidFill>
              </a:endParaRPr>
            </a:p>
            <a:p>
              <a:endParaRPr lang="ko-KR" altLang="en-US" sz="1100" dirty="0">
                <a:solidFill>
                  <a:schemeClr val="accent2"/>
                </a:solidFill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0F4B9532-C1F5-8881-A3E4-9CC4324C0259}"/>
                </a:ext>
              </a:extLst>
            </p:cNvPr>
            <p:cNvSpPr txBox="1"/>
            <p:nvPr/>
          </p:nvSpPr>
          <p:spPr>
            <a:xfrm>
              <a:off x="7144303" y="5311608"/>
              <a:ext cx="4063788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100" dirty="0"/>
                <a:t>배터리에서 온 전력이 </a:t>
              </a:r>
              <a:r>
                <a:rPr lang="en-US" altLang="ko-KR" sz="1100" dirty="0"/>
                <a:t>PDM </a:t>
              </a:r>
              <a:r>
                <a:rPr lang="ko-KR" altLang="en-US" sz="1100" dirty="0"/>
                <a:t>거치치 않고 </a:t>
              </a:r>
              <a:r>
                <a:rPr lang="en-US" altLang="ko-KR" sz="1100" dirty="0"/>
                <a:t>BUS</a:t>
              </a:r>
              <a:r>
                <a:rPr lang="ko-KR" altLang="en-US" sz="1100" dirty="0"/>
                <a:t>로 올 수도 있음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B330142-E4B8-9817-2760-F669B5B2F065}"/>
                </a:ext>
              </a:extLst>
            </p:cNvPr>
            <p:cNvSpPr txBox="1"/>
            <p:nvPr/>
          </p:nvSpPr>
          <p:spPr>
            <a:xfrm>
              <a:off x="4593564" y="3083692"/>
              <a:ext cx="120471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50" dirty="0">
                  <a:solidFill>
                    <a:srgbClr val="FF0000"/>
                  </a:solidFill>
                  <a:latin typeface="noto"/>
                </a:rPr>
                <a:t>배터리 상태 조절</a:t>
              </a:r>
              <a:r>
                <a:rPr lang="en-US" altLang="ko-KR" sz="1050" dirty="0">
                  <a:solidFill>
                    <a:srgbClr val="FF0000"/>
                  </a:solidFill>
                  <a:latin typeface="noto"/>
                </a:rPr>
                <a:t>            </a:t>
              </a:r>
              <a:r>
                <a:rPr lang="ko-KR" altLang="en-US" sz="1050" dirty="0">
                  <a:solidFill>
                    <a:srgbClr val="FF0000"/>
                  </a:solidFill>
                  <a:latin typeface="noto"/>
                </a:rPr>
                <a:t>                                                                        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3683ACBD-6F5C-79FB-6421-AB141E403E98}"/>
                </a:ext>
              </a:extLst>
            </p:cNvPr>
            <p:cNvSpPr txBox="1"/>
            <p:nvPr/>
          </p:nvSpPr>
          <p:spPr>
            <a:xfrm>
              <a:off x="7745317" y="5587766"/>
              <a:ext cx="3647832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100" dirty="0"/>
                <a:t>Ex. 3.3V : UANT, UTRX, ADCS, OBC</a:t>
              </a:r>
            </a:p>
            <a:p>
              <a:r>
                <a:rPr lang="en-US" altLang="ko-KR" sz="1100" dirty="0"/>
                <a:t>     5V : SANT, STX, ADCS(MTQ) </a:t>
              </a:r>
            </a:p>
            <a:p>
              <a:r>
                <a:rPr lang="en-US" altLang="ko-KR" sz="1100" dirty="0"/>
                <a:t>     VBAT : ADCS(RWA)</a:t>
              </a:r>
            </a:p>
            <a:p>
              <a:r>
                <a:rPr lang="en-US" altLang="ko-KR" sz="1100" dirty="0"/>
                <a:t>     </a:t>
              </a:r>
              <a:endParaRPr lang="ko-KR" altLang="en-US" sz="1100" dirty="0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B4ABB4B3-0D6E-B48F-2452-FF4F87E9FC5E}"/>
                </a:ext>
              </a:extLst>
            </p:cNvPr>
            <p:cNvSpPr txBox="1"/>
            <p:nvPr/>
          </p:nvSpPr>
          <p:spPr>
            <a:xfrm>
              <a:off x="8294111" y="2690336"/>
              <a:ext cx="2254040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50" dirty="0">
                  <a:solidFill>
                    <a:srgbClr val="C000A5"/>
                  </a:solidFill>
                  <a:latin typeface="noto"/>
                </a:rPr>
                <a:t>Q.</a:t>
              </a:r>
              <a:r>
                <a:rPr lang="ko-KR" altLang="en-US" sz="1050" dirty="0">
                  <a:solidFill>
                    <a:srgbClr val="C000A5"/>
                  </a:solidFill>
                  <a:latin typeface="noto"/>
                </a:rPr>
                <a:t> 그 기준점이 몇 인가</a:t>
              </a:r>
              <a:r>
                <a:rPr lang="en-US" altLang="ko-KR" sz="1050" dirty="0">
                  <a:solidFill>
                    <a:srgbClr val="C000A5"/>
                  </a:solidFill>
                  <a:latin typeface="noto"/>
                </a:rPr>
                <a:t>?</a:t>
              </a:r>
            </a:p>
            <a:p>
              <a:r>
                <a:rPr lang="en-US" altLang="ko-KR" sz="1050" dirty="0">
                  <a:solidFill>
                    <a:srgbClr val="C000A5"/>
                  </a:solidFill>
                  <a:latin typeface="noto"/>
                </a:rPr>
                <a:t>      Datasheet</a:t>
              </a:r>
              <a:r>
                <a:rPr lang="ko-KR" altLang="en-US" sz="1050" dirty="0">
                  <a:solidFill>
                    <a:srgbClr val="C000A5"/>
                  </a:solidFill>
                  <a:latin typeface="noto"/>
                </a:rPr>
                <a:t>에 나와있는가 </a:t>
              </a:r>
              <a:endParaRPr lang="en-US" altLang="ko-KR" sz="1050" dirty="0">
                <a:solidFill>
                  <a:srgbClr val="C000A5"/>
                </a:solidFill>
                <a:latin typeface="noto"/>
              </a:endParaRPr>
            </a:p>
            <a:p>
              <a:r>
                <a:rPr lang="ko-KR" altLang="en-US" sz="1050" dirty="0">
                  <a:solidFill>
                    <a:srgbClr val="C000A5"/>
                  </a:solidFill>
                  <a:latin typeface="noto"/>
                </a:rPr>
                <a:t>     아니면 </a:t>
              </a:r>
              <a:r>
                <a:rPr lang="en-US" altLang="ko-KR" sz="1050" dirty="0">
                  <a:solidFill>
                    <a:srgbClr val="C000A5"/>
                  </a:solidFill>
                  <a:latin typeface="noto"/>
                </a:rPr>
                <a:t>EPS</a:t>
              </a:r>
              <a:r>
                <a:rPr lang="ko-KR" altLang="en-US" sz="1050" dirty="0">
                  <a:solidFill>
                    <a:srgbClr val="C000A5"/>
                  </a:solidFill>
                  <a:latin typeface="noto"/>
                </a:rPr>
                <a:t>에서 정해야 하는가</a:t>
              </a:r>
              <a:r>
                <a:rPr lang="en-US" altLang="ko-KR" sz="1050" dirty="0">
                  <a:solidFill>
                    <a:srgbClr val="C000A5"/>
                  </a:solidFill>
                  <a:latin typeface="noto"/>
                </a:rPr>
                <a:t>?</a:t>
              </a:r>
            </a:p>
            <a:p>
              <a:r>
                <a:rPr lang="ko-KR" altLang="en-US" sz="1050" dirty="0">
                  <a:solidFill>
                    <a:srgbClr val="C000A5"/>
                  </a:solidFill>
                  <a:latin typeface="noto"/>
                </a:rPr>
                <a:t>     그리고 단위는 </a:t>
              </a:r>
              <a:r>
                <a:rPr lang="en-US" altLang="ko-KR" sz="1050" dirty="0">
                  <a:solidFill>
                    <a:srgbClr val="C000A5"/>
                  </a:solidFill>
                  <a:latin typeface="noto"/>
                </a:rPr>
                <a:t>V</a:t>
              </a:r>
              <a:r>
                <a:rPr lang="ko-KR" altLang="en-US" sz="1050" dirty="0">
                  <a:solidFill>
                    <a:srgbClr val="C000A5"/>
                  </a:solidFill>
                  <a:latin typeface="noto"/>
                </a:rPr>
                <a:t>인가 </a:t>
              </a:r>
              <a:r>
                <a:rPr lang="en-US" altLang="ko-KR" sz="1050" dirty="0">
                  <a:solidFill>
                    <a:srgbClr val="C000A5"/>
                  </a:solidFill>
                  <a:latin typeface="noto"/>
                </a:rPr>
                <a:t>%</a:t>
              </a:r>
              <a:r>
                <a:rPr lang="ko-KR" altLang="en-US" sz="1050" dirty="0">
                  <a:solidFill>
                    <a:srgbClr val="C000A5"/>
                  </a:solidFill>
                  <a:latin typeface="noto"/>
                </a:rPr>
                <a:t>인가</a:t>
              </a:r>
              <a:r>
                <a:rPr lang="en-US" altLang="ko-KR" sz="1050" dirty="0">
                  <a:solidFill>
                    <a:srgbClr val="C000A5"/>
                  </a:solidFill>
                  <a:latin typeface="noto"/>
                </a:rPr>
                <a:t>?</a:t>
              </a:r>
              <a:endParaRPr lang="ko-KR" altLang="en-US" dirty="0">
                <a:solidFill>
                  <a:srgbClr val="C000A5"/>
                </a:solidFill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D973E770-2244-5FDA-5F88-C682DAF8DE24}"/>
                </a:ext>
              </a:extLst>
            </p:cNvPr>
            <p:cNvSpPr txBox="1"/>
            <p:nvPr/>
          </p:nvSpPr>
          <p:spPr>
            <a:xfrm>
              <a:off x="8525747" y="4462930"/>
              <a:ext cx="3944875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50" dirty="0">
                  <a:solidFill>
                    <a:srgbClr val="C000A5"/>
                  </a:solidFill>
                  <a:latin typeface="noto"/>
                </a:rPr>
                <a:t>Q. Power</a:t>
              </a:r>
              <a:r>
                <a:rPr lang="ko-KR" altLang="en-US" sz="1050" dirty="0">
                  <a:solidFill>
                    <a:srgbClr val="C000A5"/>
                  </a:solidFill>
                  <a:latin typeface="noto"/>
                </a:rPr>
                <a:t> </a:t>
              </a:r>
              <a:r>
                <a:rPr lang="en-US" altLang="ko-KR" sz="1050" dirty="0">
                  <a:solidFill>
                    <a:srgbClr val="C000A5"/>
                  </a:solidFill>
                  <a:latin typeface="noto"/>
                </a:rPr>
                <a:t>Budget</a:t>
              </a:r>
              <a:r>
                <a:rPr lang="ko-KR" altLang="en-US" sz="1050" dirty="0">
                  <a:solidFill>
                    <a:srgbClr val="C000A5"/>
                  </a:solidFill>
                  <a:latin typeface="noto"/>
                </a:rPr>
                <a:t> </a:t>
              </a:r>
              <a:r>
                <a:rPr lang="en-US" altLang="ko-KR" sz="1050" dirty="0">
                  <a:solidFill>
                    <a:srgbClr val="C000A5"/>
                  </a:solidFill>
                  <a:latin typeface="noto"/>
                </a:rPr>
                <a:t>excel</a:t>
              </a:r>
              <a:r>
                <a:rPr lang="ko-KR" altLang="en-US" sz="1050" dirty="0">
                  <a:solidFill>
                    <a:srgbClr val="C000A5"/>
                  </a:solidFill>
                  <a:latin typeface="noto"/>
                </a:rPr>
                <a:t> </a:t>
              </a:r>
              <a:r>
                <a:rPr lang="en-US" altLang="ko-KR" sz="1050" dirty="0">
                  <a:solidFill>
                    <a:srgbClr val="C000A5"/>
                  </a:solidFill>
                  <a:latin typeface="noto"/>
                </a:rPr>
                <a:t>sheet</a:t>
              </a:r>
              <a:r>
                <a:rPr lang="ko-KR" altLang="en-US" sz="1050" dirty="0">
                  <a:solidFill>
                    <a:srgbClr val="C000A5"/>
                  </a:solidFill>
                  <a:latin typeface="noto"/>
                </a:rPr>
                <a:t>에서</a:t>
              </a:r>
              <a:endParaRPr lang="en-US" altLang="ko-KR" sz="1050" dirty="0">
                <a:solidFill>
                  <a:srgbClr val="C000A5"/>
                </a:solidFill>
                <a:latin typeface="noto"/>
              </a:endParaRPr>
            </a:p>
            <a:p>
              <a:r>
                <a:rPr lang="en-US" altLang="ko-KR" sz="1050" dirty="0">
                  <a:solidFill>
                    <a:srgbClr val="C000A5"/>
                  </a:solidFill>
                  <a:latin typeface="noto"/>
                </a:rPr>
                <a:t>     VBAT (1),</a:t>
              </a:r>
              <a:r>
                <a:rPr lang="ko-KR" altLang="en-US" sz="1050" dirty="0">
                  <a:solidFill>
                    <a:srgbClr val="C000A5"/>
                  </a:solidFill>
                  <a:latin typeface="noto"/>
                </a:rPr>
                <a:t> </a:t>
              </a:r>
              <a:r>
                <a:rPr lang="en-US" altLang="ko-KR" sz="1050" dirty="0">
                  <a:solidFill>
                    <a:srgbClr val="C000A5"/>
                  </a:solidFill>
                  <a:latin typeface="noto"/>
                </a:rPr>
                <a:t>(2)</a:t>
              </a:r>
              <a:r>
                <a:rPr lang="ko-KR" altLang="en-US" sz="1050" dirty="0">
                  <a:solidFill>
                    <a:srgbClr val="C000A5"/>
                  </a:solidFill>
                  <a:latin typeface="noto"/>
                </a:rPr>
                <a:t>는 채널인가</a:t>
              </a:r>
              <a:r>
                <a:rPr lang="en-US" altLang="ko-KR" sz="1050" dirty="0">
                  <a:solidFill>
                    <a:srgbClr val="C000A5"/>
                  </a:solidFill>
                  <a:latin typeface="noto"/>
                </a:rPr>
                <a:t>? Bus</a:t>
              </a:r>
              <a:r>
                <a:rPr lang="ko-KR" altLang="en-US" sz="1050" dirty="0">
                  <a:solidFill>
                    <a:srgbClr val="C000A5"/>
                  </a:solidFill>
                  <a:latin typeface="noto"/>
                </a:rPr>
                <a:t>인가</a:t>
              </a:r>
              <a:r>
                <a:rPr lang="en-US" altLang="ko-KR" sz="1050" dirty="0">
                  <a:solidFill>
                    <a:srgbClr val="C000A5"/>
                  </a:solidFill>
                  <a:latin typeface="noto"/>
                </a:rPr>
                <a:t>?</a:t>
              </a:r>
            </a:p>
            <a:p>
              <a:endParaRPr lang="en-US" altLang="ko-KR" sz="1050" dirty="0">
                <a:solidFill>
                  <a:srgbClr val="C000A5"/>
                </a:solidFill>
                <a:latin typeface="noto"/>
              </a:endParaRPr>
            </a:p>
            <a:p>
              <a:r>
                <a:rPr lang="en-US" altLang="ko-KR" sz="1050" dirty="0">
                  <a:solidFill>
                    <a:srgbClr val="C000A5"/>
                  </a:solidFill>
                  <a:latin typeface="noto"/>
                </a:rPr>
                <a:t>A. VBAT</a:t>
              </a:r>
              <a:r>
                <a:rPr lang="ko-KR" altLang="en-US" sz="1050" dirty="0">
                  <a:solidFill>
                    <a:srgbClr val="C000A5"/>
                  </a:solidFill>
                  <a:latin typeface="noto"/>
                </a:rPr>
                <a:t>은 </a:t>
              </a:r>
              <a:r>
                <a:rPr lang="en-US" altLang="ko-KR" sz="1050" dirty="0">
                  <a:solidFill>
                    <a:srgbClr val="C000A5"/>
                  </a:solidFill>
                  <a:latin typeface="noto"/>
                </a:rPr>
                <a:t>ADCS</a:t>
              </a:r>
              <a:r>
                <a:rPr lang="ko-KR" altLang="en-US" sz="1050" dirty="0">
                  <a:solidFill>
                    <a:srgbClr val="C000A5"/>
                  </a:solidFill>
                  <a:latin typeface="noto"/>
                </a:rPr>
                <a:t>의 </a:t>
              </a:r>
              <a:r>
                <a:rPr lang="en-US" altLang="ko-KR" sz="1050" dirty="0">
                  <a:solidFill>
                    <a:srgbClr val="C000A5"/>
                  </a:solidFill>
                  <a:latin typeface="noto"/>
                </a:rPr>
                <a:t>RWA </a:t>
              </a:r>
              <a:r>
                <a:rPr lang="ko-KR" altLang="en-US" sz="1050" dirty="0">
                  <a:solidFill>
                    <a:srgbClr val="C000A5"/>
                  </a:solidFill>
                  <a:latin typeface="noto"/>
                </a:rPr>
                <a:t>하나임</a:t>
              </a:r>
              <a:r>
                <a:rPr lang="en-US" altLang="ko-KR" sz="1050" dirty="0">
                  <a:solidFill>
                    <a:srgbClr val="C000A5"/>
                  </a:solidFill>
                  <a:latin typeface="noto"/>
                </a:rPr>
                <a:t>.</a:t>
              </a:r>
              <a:endParaRPr lang="ko-KR" altLang="en-US" dirty="0">
                <a:solidFill>
                  <a:srgbClr val="C000A5"/>
                </a:solidFill>
              </a:endParaRPr>
            </a:p>
          </p:txBody>
        </p:sp>
        <p:cxnSp>
          <p:nvCxnSpPr>
            <p:cNvPr id="78" name="직선 화살표 연결선 77">
              <a:extLst>
                <a:ext uri="{FF2B5EF4-FFF2-40B4-BE49-F238E27FC236}">
                  <a16:creationId xmlns:a16="http://schemas.microsoft.com/office/drawing/2014/main" id="{41F6ABAB-74E7-B6EC-F588-034774978897}"/>
                </a:ext>
              </a:extLst>
            </p:cNvPr>
            <p:cNvCxnSpPr>
              <a:cxnSpLocks/>
            </p:cNvCxnSpPr>
            <p:nvPr/>
          </p:nvCxnSpPr>
          <p:spPr>
            <a:xfrm>
              <a:off x="7241761" y="4189255"/>
              <a:ext cx="0" cy="45589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2BBFF300-63A8-2D3A-8D43-8F9774215249}"/>
                </a:ext>
              </a:extLst>
            </p:cNvPr>
            <p:cNvSpPr txBox="1"/>
            <p:nvPr/>
          </p:nvSpPr>
          <p:spPr>
            <a:xfrm>
              <a:off x="5924654" y="4187249"/>
              <a:ext cx="4063788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100" dirty="0"/>
                <a:t>PDM</a:t>
              </a:r>
              <a:r>
                <a:rPr lang="ko-KR" altLang="en-US" sz="1100" dirty="0"/>
                <a:t>에서 나눠져</a:t>
              </a:r>
              <a:endParaRPr lang="en-US" altLang="ko-KR" sz="1100" dirty="0"/>
            </a:p>
            <a:p>
              <a:r>
                <a:rPr lang="ko-KR" altLang="en-US" sz="1100" dirty="0"/>
                <a:t>다시 </a:t>
              </a:r>
              <a:r>
                <a:rPr lang="en-US" altLang="ko-KR" sz="1100" dirty="0"/>
                <a:t>BUS</a:t>
              </a:r>
              <a:r>
                <a:rPr lang="ko-KR" altLang="en-US" sz="1100" dirty="0"/>
                <a:t>로 전달</a:t>
              </a:r>
              <a:endParaRPr lang="en-US" altLang="ko-KR" sz="1100" dirty="0"/>
            </a:p>
          </p:txBody>
        </p:sp>
      </p:grp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38DBB40-B13C-74B3-7530-1E8AF5353F9C}"/>
              </a:ext>
            </a:extLst>
          </p:cNvPr>
          <p:cNvCxnSpPr/>
          <p:nvPr/>
        </p:nvCxnSpPr>
        <p:spPr>
          <a:xfrm flipV="1">
            <a:off x="7810500" y="2867025"/>
            <a:ext cx="350260" cy="73857"/>
          </a:xfrm>
          <a:prstGeom prst="line">
            <a:avLst/>
          </a:prstGeom>
          <a:ln w="12700">
            <a:solidFill>
              <a:srgbClr val="C000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9861C6-0004-3730-C8CD-27B7F8C776CD}"/>
              </a:ext>
            </a:extLst>
          </p:cNvPr>
          <p:cNvSpPr txBox="1"/>
          <p:nvPr/>
        </p:nvSpPr>
        <p:spPr>
          <a:xfrm>
            <a:off x="10141179" y="2650235"/>
            <a:ext cx="22540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dirty="0">
                <a:solidFill>
                  <a:srgbClr val="C000A5"/>
                </a:solidFill>
                <a:latin typeface="noto"/>
              </a:rPr>
              <a:t>A. Discharge</a:t>
            </a:r>
            <a:r>
              <a:rPr lang="ko-KR" altLang="en-US" sz="1050" dirty="0">
                <a:solidFill>
                  <a:srgbClr val="C000A5"/>
                </a:solidFill>
                <a:latin typeface="noto"/>
              </a:rPr>
              <a:t> </a:t>
            </a:r>
            <a:r>
              <a:rPr lang="en-US" altLang="ko-KR" sz="1050" dirty="0">
                <a:solidFill>
                  <a:srgbClr val="C000A5"/>
                </a:solidFill>
                <a:latin typeface="noto"/>
              </a:rPr>
              <a:t>Limits minimum 6.2V </a:t>
            </a:r>
          </a:p>
          <a:p>
            <a:r>
              <a:rPr lang="en-US" altLang="ko-KR" sz="1050" dirty="0">
                <a:solidFill>
                  <a:srgbClr val="C000A5"/>
                </a:solidFill>
                <a:latin typeface="noto"/>
              </a:rPr>
              <a:t>                                   maximum 8A</a:t>
            </a:r>
            <a:endParaRPr lang="ko-KR" altLang="en-US" dirty="0">
              <a:solidFill>
                <a:srgbClr val="C000A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284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1770464" cy="55660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1/18 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코멘트</a:t>
            </a:r>
            <a:endParaRPr lang="en-US" altLang="ko-KR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김지훈 연구원 </a:t>
            </a:r>
            <a:endParaRPr lang="en-US" altLang="ko-KR" sz="18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sz="18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2. 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위성에서 </a:t>
            </a: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BCR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은 몇 개로 구성되어 있는가</a:t>
            </a: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?</a:t>
            </a:r>
          </a:p>
          <a:p>
            <a:pPr marL="0" indent="0">
              <a:buNone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→ 총 </a:t>
            </a:r>
            <a:r>
              <a:rPr lang="en-US" altLang="ko-KR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9</a:t>
            </a:r>
            <a:r>
              <a:rPr lang="ko-KR" altLang="en-US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개로 </a:t>
            </a:r>
            <a:r>
              <a:rPr lang="en-US" altLang="ko-KR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Buck BCR 8</a:t>
            </a:r>
            <a:r>
              <a:rPr lang="ko-KR" altLang="en-US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개</a:t>
            </a:r>
            <a:r>
              <a:rPr lang="en-US" altLang="ko-KR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SEPIC BCR</a:t>
            </a:r>
            <a:r>
              <a:rPr lang="ko-KR" altLang="en-US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</a:t>
            </a:r>
            <a:r>
              <a:rPr lang="ko-KR" altLang="en-US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개로 구성되어 있음</a:t>
            </a:r>
            <a:r>
              <a:rPr lang="en-US" altLang="ko-KR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en-US" altLang="ko-KR" sz="18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ko-KR" altLang="en-US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2023-01-20</a:t>
            </a:r>
            <a:endParaRPr lang="ko-KR" altLang="en-US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10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EPS – Hardware (PCDU)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AB3307F-CFB7-FBB4-DC2C-71F9034F1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37" y="3082772"/>
            <a:ext cx="8610600" cy="1457325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446699F3-0C6A-C23B-D820-5314903FCF6E}"/>
              </a:ext>
            </a:extLst>
          </p:cNvPr>
          <p:cNvSpPr/>
          <p:nvPr/>
        </p:nvSpPr>
        <p:spPr>
          <a:xfrm>
            <a:off x="6431518" y="3082771"/>
            <a:ext cx="2674719" cy="1437843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28575">
                <a:solidFill>
                  <a:schemeClr val="tx1"/>
                </a:solidFill>
              </a:ln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AEC228-B138-1E2B-F041-6547EBB3E8BD}"/>
              </a:ext>
            </a:extLst>
          </p:cNvPr>
          <p:cNvSpPr txBox="1"/>
          <p:nvPr/>
        </p:nvSpPr>
        <p:spPr>
          <a:xfrm>
            <a:off x="495637" y="5115157"/>
            <a:ext cx="11298045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Buck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은 입력 전압을 강압만 가능 </a:t>
            </a:r>
            <a:r>
              <a:rPr lang="ko-KR" altLang="en-US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→ 위성 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x, y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면에 사용 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(14.4V or 9.6V 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▶ 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8.2V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로 낮추는 기능을 해 줌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</a:p>
          <a:p>
            <a:r>
              <a:rPr lang="en-US" altLang="ko-KR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Input</a:t>
            </a:r>
            <a:r>
              <a:rPr lang="ko-KR" altLang="en-US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voltage : 7.4V ~ 30.0V (8.2V</a:t>
            </a:r>
            <a:r>
              <a:rPr lang="ko-KR" altLang="en-US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의 </a:t>
            </a:r>
            <a:r>
              <a:rPr lang="en-US" altLang="ko-KR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10%</a:t>
            </a:r>
            <a:r>
              <a:rPr lang="ko-KR" altLang="en-US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정도를 </a:t>
            </a:r>
            <a:r>
              <a:rPr lang="en-US" altLang="ko-KR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Margin</a:t>
            </a:r>
            <a:r>
              <a:rPr lang="ko-KR" altLang="en-US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으로</a:t>
            </a:r>
            <a:r>
              <a:rPr lang="en-US" altLang="ko-KR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</a:p>
          <a:p>
            <a:endParaRPr lang="en-US" altLang="ko-KR" sz="18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en-US" altLang="ko-KR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SEPIC</a:t>
            </a:r>
            <a:r>
              <a:rPr lang="ko-KR" altLang="en-US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은 </a:t>
            </a:r>
            <a:r>
              <a:rPr lang="ko-KR" altLang="en-US" sz="18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승압</a:t>
            </a:r>
            <a:r>
              <a:rPr lang="en-US" altLang="ko-KR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강압이 모두 가능 → </a:t>
            </a:r>
            <a:r>
              <a:rPr lang="en-US" altLang="ko-KR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z</a:t>
            </a:r>
            <a:r>
              <a:rPr lang="ko-KR" altLang="en-US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면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에만 사용 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(4.8V 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▶ 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8.2V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로 올리는 기능을 해 줌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endParaRPr lang="en-US" altLang="ko-KR" sz="18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21C7B3-56E1-6166-A25C-8B8C43F2D9B6}"/>
              </a:ext>
            </a:extLst>
          </p:cNvPr>
          <p:cNvSpPr txBox="1"/>
          <p:nvPr/>
        </p:nvSpPr>
        <p:spPr>
          <a:xfrm>
            <a:off x="6297925" y="4961865"/>
            <a:ext cx="40637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2.4V x 6       2.4V x 4</a:t>
            </a:r>
            <a:endParaRPr lang="ko-KR" altLang="en-US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6F08DD-C045-7E41-17FF-EB045DA07CFC}"/>
              </a:ext>
            </a:extLst>
          </p:cNvPr>
          <p:cNvSpPr txBox="1"/>
          <p:nvPr/>
        </p:nvSpPr>
        <p:spPr>
          <a:xfrm>
            <a:off x="6431518" y="5756503"/>
            <a:ext cx="40637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2.4V x 2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7952842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1770464" cy="55660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1/18 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코멘트</a:t>
            </a:r>
            <a:endParaRPr lang="en-US" altLang="ko-KR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김지훈 연구원 </a:t>
            </a:r>
            <a:endParaRPr lang="en-US" altLang="ko-KR" sz="18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sz="18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2. 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위성에서 </a:t>
            </a: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BCR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은 몇 개로 구성되어 있는가</a:t>
            </a: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?</a:t>
            </a:r>
          </a:p>
          <a:p>
            <a:pPr marL="0" indent="0">
              <a:buNone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→ 총 </a:t>
            </a:r>
            <a:r>
              <a:rPr lang="en-US" altLang="ko-KR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9</a:t>
            </a:r>
            <a:r>
              <a:rPr lang="ko-KR" altLang="en-US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개로 </a:t>
            </a:r>
            <a:r>
              <a:rPr lang="en-US" altLang="ko-KR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Buck BCR 8</a:t>
            </a:r>
            <a:r>
              <a:rPr lang="ko-KR" altLang="en-US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개</a:t>
            </a:r>
            <a:r>
              <a:rPr lang="en-US" altLang="ko-KR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SEPIC BCR</a:t>
            </a:r>
            <a:r>
              <a:rPr lang="ko-KR" altLang="en-US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</a:t>
            </a:r>
            <a:r>
              <a:rPr lang="ko-KR" altLang="en-US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개로 구성되어 있음</a:t>
            </a:r>
            <a:r>
              <a:rPr lang="en-US" altLang="ko-KR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en-US" altLang="ko-KR" sz="18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ko-KR" altLang="en-US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2023-01-20</a:t>
            </a:r>
            <a:endParaRPr lang="ko-KR" altLang="en-US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11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EPS – Hardware (PCDU)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57B6F39-78F8-B937-D516-A20669F4F1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37" y="3012879"/>
            <a:ext cx="6947776" cy="817835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446699F3-0C6A-C23B-D820-5314903FCF6E}"/>
              </a:ext>
            </a:extLst>
          </p:cNvPr>
          <p:cNvSpPr/>
          <p:nvPr/>
        </p:nvSpPr>
        <p:spPr>
          <a:xfrm>
            <a:off x="5487723" y="3027285"/>
            <a:ext cx="1920827" cy="803429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28575">
                <a:solidFill>
                  <a:schemeClr val="tx1"/>
                </a:solidFill>
              </a:ln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DA70AAD-A66C-BD5D-6DA0-B52233B4D4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4803" y="1764857"/>
            <a:ext cx="3819269" cy="4273630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11E935F7-513C-1699-AE94-7313E50FEA47}"/>
              </a:ext>
            </a:extLst>
          </p:cNvPr>
          <p:cNvSpPr/>
          <p:nvPr/>
        </p:nvSpPr>
        <p:spPr>
          <a:xfrm>
            <a:off x="8749146" y="1717300"/>
            <a:ext cx="872836" cy="26137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C1630725-F5DC-0BAA-9042-803615A128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37" y="4066888"/>
            <a:ext cx="3149523" cy="2579492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4F218C8E-1227-0A6F-69D2-A6F8820F4655}"/>
              </a:ext>
            </a:extLst>
          </p:cNvPr>
          <p:cNvSpPr/>
          <p:nvPr/>
        </p:nvSpPr>
        <p:spPr>
          <a:xfrm>
            <a:off x="516419" y="4852622"/>
            <a:ext cx="3058054" cy="280488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28575">
                <a:solidFill>
                  <a:schemeClr val="tx1"/>
                </a:solidFill>
              </a:ln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C8068A-8593-62B3-3E2C-2668F81FB864}"/>
              </a:ext>
            </a:extLst>
          </p:cNvPr>
          <p:cNvSpPr txBox="1"/>
          <p:nvPr/>
        </p:nvSpPr>
        <p:spPr>
          <a:xfrm>
            <a:off x="3693200" y="4852622"/>
            <a:ext cx="49832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그래서 위성의 </a:t>
            </a:r>
            <a:r>
              <a:rPr lang="en-US" altLang="ko-KR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z</a:t>
            </a:r>
            <a:r>
              <a:rPr lang="ko-KR" altLang="en-US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면에 부착된 </a:t>
            </a:r>
            <a:r>
              <a:rPr lang="en-US" altLang="ko-KR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SA3A, SA3B</a:t>
            </a:r>
            <a:r>
              <a:rPr lang="ko-KR" altLang="en-US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만 </a:t>
            </a:r>
            <a:endParaRPr lang="en-US" altLang="ko-KR" sz="14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en-US" altLang="ko-KR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SEPIC BCR</a:t>
            </a:r>
            <a:r>
              <a:rPr lang="ko-KR" altLang="en-US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인 </a:t>
            </a:r>
            <a:r>
              <a:rPr lang="en-US" altLang="ko-KR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BCR3 </a:t>
            </a:r>
            <a:r>
              <a:rPr lang="ko-KR" altLang="en-US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사용</a:t>
            </a:r>
            <a:endParaRPr lang="en-US" altLang="ko-KR" sz="14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E5F588E-53C9-F89B-7C3D-CF9A5F26BB31}"/>
              </a:ext>
            </a:extLst>
          </p:cNvPr>
          <p:cNvSpPr/>
          <p:nvPr/>
        </p:nvSpPr>
        <p:spPr>
          <a:xfrm>
            <a:off x="10532919" y="5778405"/>
            <a:ext cx="872836" cy="26137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61B3A6-985B-256D-C71B-801A7B5003C9}"/>
              </a:ext>
            </a:extLst>
          </p:cNvPr>
          <p:cNvSpPr txBox="1"/>
          <p:nvPr/>
        </p:nvSpPr>
        <p:spPr>
          <a:xfrm>
            <a:off x="3724847" y="5517587"/>
            <a:ext cx="291431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dirty="0">
                <a:solidFill>
                  <a:srgbClr val="C000A5"/>
                </a:solidFill>
                <a:latin typeface="noto"/>
              </a:rPr>
              <a:t>Q.</a:t>
            </a:r>
            <a:r>
              <a:rPr lang="ko-KR" altLang="en-US" sz="1050" dirty="0">
                <a:solidFill>
                  <a:srgbClr val="C000A5"/>
                </a:solidFill>
                <a:latin typeface="noto"/>
              </a:rPr>
              <a:t> </a:t>
            </a:r>
            <a:r>
              <a:rPr lang="en-US" altLang="ko-KR" sz="1050" dirty="0">
                <a:solidFill>
                  <a:srgbClr val="C000A5"/>
                </a:solidFill>
                <a:latin typeface="noto"/>
              </a:rPr>
              <a:t>z</a:t>
            </a:r>
            <a:r>
              <a:rPr lang="ko-KR" altLang="en-US" sz="1050" dirty="0">
                <a:solidFill>
                  <a:srgbClr val="C000A5"/>
                </a:solidFill>
                <a:latin typeface="noto"/>
              </a:rPr>
              <a:t>면에도 </a:t>
            </a:r>
            <a:r>
              <a:rPr lang="en-US" altLang="ko-KR" sz="1050" dirty="0">
                <a:solidFill>
                  <a:srgbClr val="C000A5"/>
                </a:solidFill>
                <a:latin typeface="noto"/>
              </a:rPr>
              <a:t>Solar panel</a:t>
            </a:r>
            <a:r>
              <a:rPr lang="ko-KR" altLang="en-US" sz="1050" dirty="0">
                <a:solidFill>
                  <a:srgbClr val="C000A5"/>
                </a:solidFill>
                <a:latin typeface="noto"/>
              </a:rPr>
              <a:t>이 부착되는가</a:t>
            </a:r>
            <a:r>
              <a:rPr lang="en-US" altLang="ko-KR" sz="1050" dirty="0">
                <a:solidFill>
                  <a:srgbClr val="C000A5"/>
                </a:solidFill>
                <a:latin typeface="noto"/>
              </a:rPr>
              <a:t>? </a:t>
            </a:r>
          </a:p>
          <a:p>
            <a:r>
              <a:rPr lang="en-US" altLang="ko-KR" sz="1050" dirty="0">
                <a:solidFill>
                  <a:srgbClr val="C000A5"/>
                </a:solidFill>
                <a:latin typeface="noto"/>
              </a:rPr>
              <a:t>     (x, y</a:t>
            </a:r>
            <a:r>
              <a:rPr lang="ko-KR" altLang="en-US" sz="1050" dirty="0">
                <a:solidFill>
                  <a:srgbClr val="C000A5"/>
                </a:solidFill>
                <a:latin typeface="noto"/>
              </a:rPr>
              <a:t>면에만 </a:t>
            </a:r>
            <a:r>
              <a:rPr lang="en-US" altLang="ko-KR" sz="1050" dirty="0">
                <a:solidFill>
                  <a:srgbClr val="C000A5"/>
                </a:solidFill>
                <a:latin typeface="noto"/>
              </a:rPr>
              <a:t>6 + 6 + 4 + 4 = 20</a:t>
            </a:r>
            <a:r>
              <a:rPr lang="ko-KR" altLang="en-US" sz="1050" dirty="0">
                <a:solidFill>
                  <a:srgbClr val="C000A5"/>
                </a:solidFill>
                <a:latin typeface="noto"/>
              </a:rPr>
              <a:t>개로 알고 있음</a:t>
            </a:r>
            <a:r>
              <a:rPr lang="en-US" altLang="ko-KR" sz="1050" dirty="0">
                <a:solidFill>
                  <a:srgbClr val="C000A5"/>
                </a:solidFill>
                <a:latin typeface="noto"/>
              </a:rPr>
              <a:t>)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B9C976-3FDD-2C61-7647-81492700EB32}"/>
              </a:ext>
            </a:extLst>
          </p:cNvPr>
          <p:cNvSpPr txBox="1"/>
          <p:nvPr/>
        </p:nvSpPr>
        <p:spPr>
          <a:xfrm>
            <a:off x="3724847" y="6132290"/>
            <a:ext cx="43318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dirty="0">
                <a:solidFill>
                  <a:srgbClr val="C000A5"/>
                </a:solidFill>
                <a:latin typeface="noto"/>
              </a:rPr>
              <a:t>A.</a:t>
            </a:r>
            <a:r>
              <a:rPr lang="ko-KR" altLang="en-US" sz="1050" dirty="0">
                <a:solidFill>
                  <a:srgbClr val="C000A5"/>
                </a:solidFill>
                <a:latin typeface="noto"/>
              </a:rPr>
              <a:t> 우리</a:t>
            </a:r>
            <a:r>
              <a:rPr lang="en-US" altLang="ko-KR" sz="1050" dirty="0">
                <a:solidFill>
                  <a:srgbClr val="C000A5"/>
                </a:solidFill>
                <a:latin typeface="noto"/>
              </a:rPr>
              <a:t> </a:t>
            </a:r>
            <a:r>
              <a:rPr lang="ko-KR" altLang="en-US" sz="1050" dirty="0">
                <a:solidFill>
                  <a:srgbClr val="C000A5"/>
                </a:solidFill>
                <a:latin typeface="noto"/>
              </a:rPr>
              <a:t>위성에서는 </a:t>
            </a:r>
            <a:r>
              <a:rPr lang="en-US" altLang="ko-KR" sz="1050" dirty="0">
                <a:solidFill>
                  <a:srgbClr val="C000A5"/>
                </a:solidFill>
                <a:latin typeface="noto"/>
              </a:rPr>
              <a:t>x, y</a:t>
            </a:r>
            <a:r>
              <a:rPr lang="ko-KR" altLang="en-US" sz="1050" dirty="0">
                <a:solidFill>
                  <a:srgbClr val="C000A5"/>
                </a:solidFill>
                <a:latin typeface="noto"/>
              </a:rPr>
              <a:t>면에만 부착</a:t>
            </a:r>
            <a:endParaRPr lang="en-US" altLang="ko-KR" sz="1050" dirty="0">
              <a:solidFill>
                <a:srgbClr val="C000A5"/>
              </a:solidFill>
              <a:latin typeface="noto"/>
            </a:endParaRPr>
          </a:p>
        </p:txBody>
      </p:sp>
    </p:spTree>
    <p:extLst>
      <p:ext uri="{BB962C8B-B14F-4D97-AF65-F5344CB8AC3E}">
        <p14:creationId xmlns:p14="http://schemas.microsoft.com/office/powerpoint/2010/main" val="462552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1770464" cy="55660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1/18 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코멘트</a:t>
            </a:r>
            <a:endParaRPr lang="en-US" altLang="ko-KR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김지훈 연구원 </a:t>
            </a:r>
            <a:endParaRPr lang="en-US" altLang="ko-KR" sz="18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sz="18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2. 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위성에서 </a:t>
            </a: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BCR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은 몇 개로 구성되어 있는가</a:t>
            </a: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?</a:t>
            </a:r>
          </a:p>
          <a:p>
            <a:pPr marL="0" indent="0">
              <a:buNone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en-US" altLang="ko-KR" sz="18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sz="18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ko-KR" altLang="en-US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2023-01-20</a:t>
            </a:r>
            <a:endParaRPr lang="ko-KR" altLang="en-US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11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EPS – Hardware (PCDU)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5E70EA7-DE5A-3FC9-C131-99CCACA7AB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37" y="2723787"/>
            <a:ext cx="5895975" cy="33147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4C7F46-736B-33F5-03AF-061F5EC2BFBB}"/>
              </a:ext>
            </a:extLst>
          </p:cNvPr>
          <p:cNvSpPr txBox="1"/>
          <p:nvPr/>
        </p:nvSpPr>
        <p:spPr>
          <a:xfrm>
            <a:off x="6713068" y="2723787"/>
            <a:ext cx="498329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12.5V </a:t>
            </a:r>
            <a:r>
              <a:rPr lang="ko-KR" altLang="en-US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이상에서는 </a:t>
            </a:r>
            <a:r>
              <a:rPr lang="en-US" altLang="ko-KR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Dual Channel</a:t>
            </a:r>
            <a:r>
              <a:rPr lang="ko-KR" altLang="en-US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의 효율이 떨어짐</a:t>
            </a:r>
            <a:endParaRPr lang="en-US" altLang="ko-KR" sz="14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en-US" altLang="ko-KR" sz="14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en-US" altLang="ko-KR" sz="14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en-US" altLang="ko-KR" sz="14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6298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1770464" cy="55660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1/18 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코멘트</a:t>
            </a:r>
            <a:endParaRPr lang="en-US" altLang="ko-KR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김지훈 연구원 </a:t>
            </a:r>
            <a:endParaRPr lang="en-US" altLang="ko-KR" sz="18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sz="18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3. Ground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가 중요한 이유는</a:t>
            </a: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?</a:t>
            </a:r>
          </a:p>
          <a:p>
            <a:pPr marL="0" indent="0">
              <a:buNone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→ 접지</a:t>
            </a:r>
            <a:r>
              <a:rPr lang="en-US" altLang="ko-KR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(Ground)</a:t>
            </a:r>
            <a:r>
              <a:rPr lang="ko-KR" altLang="en-US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에서 </a:t>
            </a:r>
            <a:r>
              <a:rPr lang="ko-KR" altLang="en-US" sz="18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단락되면</a:t>
            </a:r>
            <a:r>
              <a:rPr lang="ko-KR" altLang="en-US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Battery</a:t>
            </a:r>
            <a:r>
              <a:rPr lang="ko-KR" altLang="en-US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가 손상되거나 </a:t>
            </a:r>
            <a:r>
              <a:rPr lang="en-US" altLang="ko-KR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EPS</a:t>
            </a:r>
            <a:r>
              <a:rPr lang="ko-KR" altLang="en-US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가 고장 날 수 있다</a:t>
            </a:r>
            <a:r>
              <a:rPr lang="en-US" altLang="ko-KR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altLang="ko-KR" sz="18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ko-KR" altLang="en-US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2023-01-20</a:t>
            </a:r>
            <a:endParaRPr lang="ko-KR" altLang="en-US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12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EPS – Hardware (PCDU)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84D875-C2F3-70B0-DD8E-2925E2B39485}"/>
              </a:ext>
            </a:extLst>
          </p:cNvPr>
          <p:cNvSpPr txBox="1"/>
          <p:nvPr/>
        </p:nvSpPr>
        <p:spPr>
          <a:xfrm>
            <a:off x="770128" y="2912497"/>
            <a:ext cx="4331808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dirty="0">
                <a:solidFill>
                  <a:srgbClr val="C000A5"/>
                </a:solidFill>
                <a:latin typeface="noto"/>
              </a:rPr>
              <a:t>Q.</a:t>
            </a:r>
            <a:r>
              <a:rPr lang="ko-KR" altLang="en-US" sz="1050" dirty="0">
                <a:solidFill>
                  <a:srgbClr val="C000A5"/>
                </a:solidFill>
                <a:latin typeface="noto"/>
              </a:rPr>
              <a:t> 그래서 접지의 원리는 무엇인가</a:t>
            </a:r>
            <a:r>
              <a:rPr lang="en-US" altLang="ko-KR" sz="1050" dirty="0">
                <a:solidFill>
                  <a:srgbClr val="C000A5"/>
                </a:solidFill>
                <a:latin typeface="noto"/>
              </a:rPr>
              <a:t>?  </a:t>
            </a:r>
          </a:p>
          <a:p>
            <a:r>
              <a:rPr lang="ko-KR" altLang="en-US" sz="1050" dirty="0">
                <a:solidFill>
                  <a:srgbClr val="C000A5"/>
                </a:solidFill>
                <a:latin typeface="noto"/>
              </a:rPr>
              <a:t>어떤 장치를 이용하여 접지를 하는 것인지</a:t>
            </a:r>
            <a:r>
              <a:rPr lang="en-US" altLang="ko-KR" sz="1050" dirty="0">
                <a:solidFill>
                  <a:srgbClr val="C000A5"/>
                </a:solidFill>
                <a:latin typeface="noto"/>
              </a:rPr>
              <a:t>. (Star grounding scheme?)</a:t>
            </a:r>
          </a:p>
          <a:p>
            <a:endParaRPr lang="en-US" altLang="ko-KR" sz="1050" dirty="0">
              <a:solidFill>
                <a:srgbClr val="C000A5"/>
              </a:solidFill>
              <a:latin typeface="noto"/>
            </a:endParaRPr>
          </a:p>
          <a:p>
            <a:r>
              <a:rPr lang="ko-KR" altLang="en-US" sz="1050" dirty="0">
                <a:solidFill>
                  <a:srgbClr val="C000A5"/>
                </a:solidFill>
                <a:latin typeface="noto"/>
              </a:rPr>
              <a:t>김지훈 연구원이 반대로 꽂으면 안된다</a:t>
            </a:r>
            <a:r>
              <a:rPr lang="en-US" altLang="ko-KR" sz="1050" dirty="0">
                <a:solidFill>
                  <a:srgbClr val="C000A5"/>
                </a:solidFill>
                <a:latin typeface="noto"/>
              </a:rPr>
              <a:t>, </a:t>
            </a:r>
            <a:r>
              <a:rPr lang="ko-KR" altLang="en-US" sz="1050" dirty="0">
                <a:solidFill>
                  <a:srgbClr val="C000A5"/>
                </a:solidFill>
                <a:latin typeface="noto"/>
              </a:rPr>
              <a:t>전압차이를 고려해야 한다 등을 얘기했는데 무슨 의미인지</a:t>
            </a:r>
            <a:r>
              <a:rPr lang="en-US" altLang="ko-KR" sz="1050" dirty="0">
                <a:solidFill>
                  <a:srgbClr val="C000A5"/>
                </a:solidFill>
                <a:latin typeface="noto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7138C3-E52C-84AB-43E8-261E54E3C1EF}"/>
              </a:ext>
            </a:extLst>
          </p:cNvPr>
          <p:cNvSpPr txBox="1"/>
          <p:nvPr/>
        </p:nvSpPr>
        <p:spPr>
          <a:xfrm>
            <a:off x="5359447" y="2912497"/>
            <a:ext cx="43318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dirty="0">
                <a:solidFill>
                  <a:srgbClr val="C000A5"/>
                </a:solidFill>
                <a:latin typeface="noto"/>
              </a:rPr>
              <a:t>A. </a:t>
            </a:r>
            <a:r>
              <a:rPr lang="ko-KR" altLang="en-US" sz="1050" dirty="0">
                <a:solidFill>
                  <a:srgbClr val="C000A5"/>
                </a:solidFill>
                <a:latin typeface="noto"/>
              </a:rPr>
              <a:t>기준 전압을 하나로 일치시키는 것</a:t>
            </a:r>
            <a:endParaRPr lang="en-US" altLang="ko-KR" sz="1050" dirty="0">
              <a:solidFill>
                <a:srgbClr val="C000A5"/>
              </a:solidFill>
              <a:latin typeface="noto"/>
            </a:endParaRPr>
          </a:p>
        </p:txBody>
      </p:sp>
    </p:spTree>
    <p:extLst>
      <p:ext uri="{BB962C8B-B14F-4D97-AF65-F5344CB8AC3E}">
        <p14:creationId xmlns:p14="http://schemas.microsoft.com/office/powerpoint/2010/main" val="4214304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D0B68BF-0E90-2DD3-DA15-2CA774F18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96491"/>
            <a:ext cx="5653809" cy="436150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1770464" cy="55660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1/18 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코멘트</a:t>
            </a:r>
            <a:endParaRPr lang="en-US" altLang="ko-KR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김지훈 연구원 </a:t>
            </a:r>
            <a:endParaRPr lang="en-US" altLang="ko-KR" sz="18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sz="18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4. 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그래프에서 </a:t>
            </a: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MPPT mode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는 몇 초부터 몇 </a:t>
            </a:r>
            <a:r>
              <a:rPr lang="ko-KR" altLang="en-US" sz="1800" b="1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초까지인가</a:t>
            </a: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? 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전압이 변하는데 왜 전류는 일정한가</a:t>
            </a: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?</a:t>
            </a:r>
          </a:p>
          <a:p>
            <a:pPr marL="0" indent="0">
              <a:buNone/>
            </a:pPr>
            <a:endParaRPr lang="en-US" altLang="ko-KR" sz="18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2023-01-20</a:t>
            </a:r>
            <a:endParaRPr lang="ko-KR" altLang="en-US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13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EPS – Hardware (PCDU)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4DF950-B2D2-F068-AD75-AA3FE350AECB}"/>
              </a:ext>
            </a:extLst>
          </p:cNvPr>
          <p:cNvSpPr txBox="1"/>
          <p:nvPr/>
        </p:nvSpPr>
        <p:spPr>
          <a:xfrm>
            <a:off x="5801949" y="2546015"/>
            <a:ext cx="685961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MPPT mode : 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배터리 전압이 </a:t>
            </a:r>
            <a:r>
              <a:rPr lang="en-US" altLang="ko-KR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EoC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전압 아래일 때 해당한다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altLang="ko-KR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                   constant current charge mode</a:t>
            </a:r>
            <a:r>
              <a:rPr lang="ko-KR" altLang="en-US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를 따름</a:t>
            </a:r>
            <a:endParaRPr lang="en-US" altLang="ko-KR" sz="18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sz="18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EOC mode : 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배터리 전압이 </a:t>
            </a:r>
            <a:r>
              <a:rPr lang="en-US" altLang="ko-KR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EoC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에 도달하면 </a:t>
            </a:r>
            <a:r>
              <a:rPr lang="en-US" altLang="ko-KR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EoC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mode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에 </a:t>
            </a:r>
            <a:endParaRPr lang="en-US" altLang="ko-KR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               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들어선다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altLang="ko-KR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               </a:t>
            </a:r>
            <a:r>
              <a:rPr lang="ko-KR" altLang="en-US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전압이 일정하게 유지되고 완충 될 때까지</a:t>
            </a:r>
            <a:endParaRPr lang="en-US" altLang="ko-KR" sz="18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               패널에서 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tapering 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전류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en-US" altLang="ko-KR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EoC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에 근접해지면  </a:t>
            </a:r>
            <a:endParaRPr lang="en-US" altLang="ko-KR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               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전류가 가늘어지는 현상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가 공급된다</a:t>
            </a:r>
            <a:r>
              <a:rPr lang="en-US" altLang="ko-KR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                  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70E73F-6262-0ABB-F566-192C8799A1D8}"/>
              </a:ext>
            </a:extLst>
          </p:cNvPr>
          <p:cNvSpPr txBox="1"/>
          <p:nvPr/>
        </p:nvSpPr>
        <p:spPr>
          <a:xfrm>
            <a:off x="5953425" y="5392156"/>
            <a:ext cx="65566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→ 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따라서 </a:t>
            </a:r>
            <a:r>
              <a:rPr lang="en-US" altLang="ko-KR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EoC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모드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약 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800s~1100s)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를 제외한 모든 부분이</a:t>
            </a:r>
            <a:endParaRPr lang="en-US" altLang="ko-KR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MPPT 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모드이다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74155D-DA6A-8469-120F-A4F48C97229B}"/>
              </a:ext>
            </a:extLst>
          </p:cNvPr>
          <p:cNvSpPr txBox="1"/>
          <p:nvPr/>
        </p:nvSpPr>
        <p:spPr>
          <a:xfrm>
            <a:off x="6270013" y="6038487"/>
            <a:ext cx="580006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dirty="0">
                <a:solidFill>
                  <a:srgbClr val="C000A5"/>
                </a:solidFill>
                <a:latin typeface="noto"/>
              </a:rPr>
              <a:t>Q.</a:t>
            </a:r>
            <a:r>
              <a:rPr lang="ko-KR" altLang="en-US" sz="1050" dirty="0">
                <a:solidFill>
                  <a:srgbClr val="C000A5"/>
                </a:solidFill>
                <a:latin typeface="noto"/>
              </a:rPr>
              <a:t> </a:t>
            </a:r>
            <a:r>
              <a:rPr lang="en-US" altLang="ko-KR" sz="1050" dirty="0" err="1">
                <a:solidFill>
                  <a:srgbClr val="C000A5"/>
                </a:solidFill>
                <a:latin typeface="noto"/>
              </a:rPr>
              <a:t>EoC</a:t>
            </a:r>
            <a:r>
              <a:rPr lang="en-US" altLang="ko-KR" sz="1050" dirty="0">
                <a:solidFill>
                  <a:srgbClr val="C000A5"/>
                </a:solidFill>
                <a:latin typeface="noto"/>
              </a:rPr>
              <a:t> </a:t>
            </a:r>
            <a:r>
              <a:rPr lang="ko-KR" altLang="en-US" sz="1050" dirty="0">
                <a:solidFill>
                  <a:srgbClr val="C000A5"/>
                </a:solidFill>
                <a:latin typeface="noto"/>
              </a:rPr>
              <a:t>모드 설명에서는 완충 될 때까지 </a:t>
            </a:r>
            <a:r>
              <a:rPr lang="en-US" altLang="ko-KR" sz="1050" dirty="0">
                <a:solidFill>
                  <a:srgbClr val="C000A5"/>
                </a:solidFill>
                <a:latin typeface="noto"/>
              </a:rPr>
              <a:t>tapering </a:t>
            </a:r>
            <a:r>
              <a:rPr lang="ko-KR" altLang="en-US" sz="1050" dirty="0">
                <a:solidFill>
                  <a:srgbClr val="C000A5"/>
                </a:solidFill>
                <a:latin typeface="noto"/>
              </a:rPr>
              <a:t>전류가 공급된다고 되어있는데</a:t>
            </a:r>
            <a:endParaRPr lang="en-US" altLang="ko-KR" sz="1050" dirty="0">
              <a:solidFill>
                <a:srgbClr val="C000A5"/>
              </a:solidFill>
              <a:latin typeface="noto"/>
            </a:endParaRPr>
          </a:p>
          <a:p>
            <a:r>
              <a:rPr lang="en-US" altLang="ko-KR" sz="1050" dirty="0">
                <a:solidFill>
                  <a:srgbClr val="C000A5"/>
                </a:solidFill>
                <a:latin typeface="noto"/>
              </a:rPr>
              <a:t>    </a:t>
            </a:r>
            <a:r>
              <a:rPr lang="ko-KR" altLang="en-US" sz="1050" dirty="0">
                <a:solidFill>
                  <a:srgbClr val="C000A5"/>
                </a:solidFill>
                <a:latin typeface="noto"/>
              </a:rPr>
              <a:t>그럼 </a:t>
            </a:r>
            <a:r>
              <a:rPr lang="en-US" altLang="ko-KR" sz="1050" dirty="0">
                <a:solidFill>
                  <a:srgbClr val="C000A5"/>
                </a:solidFill>
                <a:latin typeface="noto"/>
              </a:rPr>
              <a:t>1100s </a:t>
            </a:r>
            <a:r>
              <a:rPr lang="ko-KR" altLang="en-US" sz="1050" dirty="0">
                <a:solidFill>
                  <a:srgbClr val="C000A5"/>
                </a:solidFill>
                <a:latin typeface="noto"/>
              </a:rPr>
              <a:t>이전에는 완충 상태가 아닌지</a:t>
            </a:r>
            <a:r>
              <a:rPr lang="en-US" altLang="ko-KR" sz="1050" dirty="0">
                <a:solidFill>
                  <a:srgbClr val="C000A5"/>
                </a:solidFill>
                <a:latin typeface="noto"/>
              </a:rPr>
              <a:t>? </a:t>
            </a:r>
          </a:p>
          <a:p>
            <a:endParaRPr lang="en-US" altLang="ko-KR" sz="1050" dirty="0">
              <a:solidFill>
                <a:srgbClr val="C000A5"/>
              </a:solidFill>
              <a:latin typeface="noto"/>
            </a:endParaRPr>
          </a:p>
          <a:p>
            <a:r>
              <a:rPr lang="en-US" altLang="ko-KR" sz="1050" dirty="0">
                <a:solidFill>
                  <a:srgbClr val="C000A5"/>
                </a:solidFill>
                <a:latin typeface="noto"/>
              </a:rPr>
              <a:t>A.</a:t>
            </a:r>
            <a:r>
              <a:rPr lang="ko-KR" altLang="en-US" sz="1050" dirty="0">
                <a:solidFill>
                  <a:srgbClr val="C000A5"/>
                </a:solidFill>
                <a:latin typeface="noto"/>
              </a:rPr>
              <a:t> </a:t>
            </a:r>
            <a:r>
              <a:rPr lang="en-US" altLang="ko-KR" sz="1050" dirty="0">
                <a:solidFill>
                  <a:srgbClr val="C000A5"/>
                </a:solidFill>
                <a:latin typeface="noto"/>
              </a:rPr>
              <a:t>800s</a:t>
            </a:r>
            <a:r>
              <a:rPr lang="ko-KR" altLang="en-US" sz="1050" dirty="0">
                <a:solidFill>
                  <a:srgbClr val="C000A5"/>
                </a:solidFill>
                <a:latin typeface="noto"/>
              </a:rPr>
              <a:t> </a:t>
            </a:r>
            <a:r>
              <a:rPr lang="en-US" altLang="ko-KR" sz="1050" dirty="0">
                <a:solidFill>
                  <a:srgbClr val="C000A5"/>
                </a:solidFill>
                <a:latin typeface="noto"/>
              </a:rPr>
              <a:t>~ 1100s </a:t>
            </a:r>
            <a:r>
              <a:rPr lang="ko-KR" altLang="en-US" sz="1050" dirty="0">
                <a:solidFill>
                  <a:srgbClr val="C000A5"/>
                </a:solidFill>
                <a:latin typeface="noto"/>
              </a:rPr>
              <a:t>구간에는 </a:t>
            </a:r>
            <a:r>
              <a:rPr lang="ko-KR" altLang="en-US" sz="1050" dirty="0" err="1">
                <a:solidFill>
                  <a:srgbClr val="C000A5"/>
                </a:solidFill>
                <a:latin typeface="noto"/>
              </a:rPr>
              <a:t>완충될</a:t>
            </a:r>
            <a:r>
              <a:rPr lang="ko-KR" altLang="en-US" sz="1050" dirty="0">
                <a:solidFill>
                  <a:srgbClr val="C000A5"/>
                </a:solidFill>
                <a:latin typeface="noto"/>
              </a:rPr>
              <a:t> 때 까지 서서히 충전되는 것을 의미하므로 </a:t>
            </a:r>
            <a:r>
              <a:rPr lang="en-US" altLang="ko-KR" sz="1050" dirty="0">
                <a:solidFill>
                  <a:srgbClr val="C000A5"/>
                </a:solidFill>
                <a:latin typeface="noto"/>
              </a:rPr>
              <a:t>100% </a:t>
            </a:r>
            <a:r>
              <a:rPr lang="ko-KR" altLang="en-US" sz="1050" dirty="0">
                <a:solidFill>
                  <a:srgbClr val="C000A5"/>
                </a:solidFill>
                <a:latin typeface="noto"/>
              </a:rPr>
              <a:t>충전은 아님</a:t>
            </a:r>
            <a:endParaRPr lang="en-US" altLang="ko-KR" sz="1050" dirty="0">
              <a:solidFill>
                <a:srgbClr val="C000A5"/>
              </a:solidFill>
              <a:latin typeface="noto"/>
            </a:endParaRPr>
          </a:p>
        </p:txBody>
      </p:sp>
    </p:spTree>
    <p:extLst>
      <p:ext uri="{BB962C8B-B14F-4D97-AF65-F5344CB8AC3E}">
        <p14:creationId xmlns:p14="http://schemas.microsoft.com/office/powerpoint/2010/main" val="28963890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D0B68BF-0E90-2DD3-DA15-2CA774F18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96491"/>
            <a:ext cx="5653809" cy="436150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1770464" cy="55660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1/18 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코멘트</a:t>
            </a:r>
            <a:endParaRPr lang="en-US" altLang="ko-KR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김지훈 연구원 </a:t>
            </a:r>
            <a:endParaRPr lang="en-US" altLang="ko-KR" sz="18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sz="18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4. 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그래프에서 </a:t>
            </a: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MPPT mode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는 몇 초부터 몇 초 </a:t>
            </a:r>
            <a:r>
              <a:rPr lang="ko-KR" altLang="en-US" sz="1800" b="1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까지인가</a:t>
            </a: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? 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전압이 변하는데 왜 전류는 일정한가</a:t>
            </a: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?</a:t>
            </a:r>
          </a:p>
          <a:p>
            <a:pPr marL="0" indent="0">
              <a:buNone/>
            </a:pPr>
            <a:endParaRPr lang="en-US" altLang="ko-KR" sz="18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2023-01-20</a:t>
            </a:r>
            <a:endParaRPr lang="ko-KR" altLang="en-US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14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EPS – Hardware (PCDU)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70E73F-6262-0ABB-F566-192C8799A1D8}"/>
              </a:ext>
            </a:extLst>
          </p:cNvPr>
          <p:cNvSpPr txBox="1"/>
          <p:nvPr/>
        </p:nvSpPr>
        <p:spPr>
          <a:xfrm>
            <a:off x="5735216" y="2662783"/>
            <a:ext cx="655666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→ 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노란 부분을 보면 전류에 관계없이 전압 상태가 불규칙함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완전 충전 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or 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방전 근처에서 어느 기준 이상 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or 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이하에</a:t>
            </a:r>
            <a:endParaRPr lang="en-US" altLang="ko-KR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도달할 때 전압이 급격히 변하기 때문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</a:p>
          <a:p>
            <a:endParaRPr lang="en-US" altLang="ko-KR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마찬가지로 녹색 부분에도 전류가 흐름에 따라 급격하게 </a:t>
            </a:r>
            <a:endParaRPr lang="en-US" altLang="ko-KR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전압이 증가함</a:t>
            </a:r>
            <a:endParaRPr lang="en-US" altLang="ko-KR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en-US" altLang="ko-KR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그래서 수명을 고려하면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배터리 용량의 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20% 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이하로는 </a:t>
            </a:r>
            <a:endParaRPr lang="en-US" altLang="ko-KR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떨어뜨리지 않는 것이 좋다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74155D-DA6A-8469-120F-A4F48C97229B}"/>
              </a:ext>
            </a:extLst>
          </p:cNvPr>
          <p:cNvSpPr txBox="1"/>
          <p:nvPr/>
        </p:nvSpPr>
        <p:spPr>
          <a:xfrm>
            <a:off x="6096000" y="5476147"/>
            <a:ext cx="5653809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dirty="0">
                <a:solidFill>
                  <a:srgbClr val="C000A5"/>
                </a:solidFill>
                <a:latin typeface="noto"/>
              </a:rPr>
              <a:t>Q.</a:t>
            </a:r>
            <a:r>
              <a:rPr lang="ko-KR" altLang="en-US" sz="1050" dirty="0">
                <a:solidFill>
                  <a:srgbClr val="C000A5"/>
                </a:solidFill>
                <a:latin typeface="noto"/>
              </a:rPr>
              <a:t> 왼쪽 그래프에서 </a:t>
            </a:r>
            <a:r>
              <a:rPr lang="en-US" altLang="ko-KR" sz="1050" dirty="0">
                <a:solidFill>
                  <a:srgbClr val="C000A5"/>
                </a:solidFill>
                <a:latin typeface="noto"/>
              </a:rPr>
              <a:t>End of charge</a:t>
            </a:r>
            <a:r>
              <a:rPr lang="ko-KR" altLang="en-US" sz="1050" dirty="0">
                <a:solidFill>
                  <a:srgbClr val="C000A5"/>
                </a:solidFill>
                <a:latin typeface="noto"/>
              </a:rPr>
              <a:t>는 </a:t>
            </a:r>
            <a:r>
              <a:rPr lang="en-US" altLang="ko-KR" sz="1050" dirty="0">
                <a:solidFill>
                  <a:srgbClr val="C000A5"/>
                </a:solidFill>
                <a:latin typeface="noto"/>
              </a:rPr>
              <a:t>SOC 100%, end of discharge 0%</a:t>
            </a:r>
            <a:r>
              <a:rPr lang="ko-KR" altLang="en-US" sz="1050" dirty="0">
                <a:solidFill>
                  <a:srgbClr val="C000A5"/>
                </a:solidFill>
                <a:latin typeface="noto"/>
              </a:rPr>
              <a:t>를 의미하는지</a:t>
            </a:r>
            <a:r>
              <a:rPr lang="en-US" altLang="ko-KR" sz="1050" dirty="0">
                <a:solidFill>
                  <a:srgbClr val="C000A5"/>
                </a:solidFill>
                <a:latin typeface="noto"/>
              </a:rPr>
              <a:t>?</a:t>
            </a:r>
          </a:p>
          <a:p>
            <a:r>
              <a:rPr lang="en-US" altLang="ko-KR" sz="1050" dirty="0">
                <a:solidFill>
                  <a:srgbClr val="C000A5"/>
                </a:solidFill>
                <a:latin typeface="noto"/>
              </a:rPr>
              <a:t>     </a:t>
            </a:r>
            <a:r>
              <a:rPr lang="ko-KR" altLang="en-US" sz="1050" dirty="0">
                <a:solidFill>
                  <a:srgbClr val="C000A5"/>
                </a:solidFill>
                <a:latin typeface="noto"/>
              </a:rPr>
              <a:t>전류가 음의 값이면 배터리에서 전류가 빠져나가 방전되고 있다는 뜻인지</a:t>
            </a:r>
            <a:r>
              <a:rPr lang="en-US" altLang="ko-KR" sz="1050" dirty="0">
                <a:solidFill>
                  <a:srgbClr val="C000A5"/>
                </a:solidFill>
                <a:latin typeface="noto"/>
              </a:rPr>
              <a:t>?</a:t>
            </a:r>
          </a:p>
          <a:p>
            <a:endParaRPr lang="en-US" altLang="ko-KR" sz="1050" dirty="0">
              <a:solidFill>
                <a:srgbClr val="C000A5"/>
              </a:solidFill>
              <a:latin typeface="noto"/>
            </a:endParaRPr>
          </a:p>
          <a:p>
            <a:pPr marL="228600" indent="-228600">
              <a:buAutoNum type="alphaUcPeriod"/>
            </a:pPr>
            <a:r>
              <a:rPr lang="en-US" altLang="ko-KR" sz="1050" dirty="0">
                <a:solidFill>
                  <a:srgbClr val="C000A5"/>
                </a:solidFill>
                <a:latin typeface="noto"/>
              </a:rPr>
              <a:t>End of Charge : SOC 100%, Voltage 8.2V</a:t>
            </a:r>
          </a:p>
          <a:p>
            <a:r>
              <a:rPr lang="en-US" altLang="ko-KR" sz="1050" dirty="0">
                <a:solidFill>
                  <a:srgbClr val="C000A5"/>
                </a:solidFill>
                <a:latin typeface="noto"/>
              </a:rPr>
              <a:t>       End of Discharge : SOC 0%, Voltage 6.2V 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846A41D-B75A-0D01-2FAE-E43E4D2F9FB7}"/>
              </a:ext>
            </a:extLst>
          </p:cNvPr>
          <p:cNvSpPr/>
          <p:nvPr/>
        </p:nvSpPr>
        <p:spPr>
          <a:xfrm>
            <a:off x="2159726" y="2587336"/>
            <a:ext cx="2422666" cy="3304309"/>
          </a:xfrm>
          <a:prstGeom prst="rect">
            <a:avLst/>
          </a:prstGeom>
          <a:noFill/>
          <a:ln w="12700">
            <a:solidFill>
              <a:srgbClr val="FFFF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ln w="9525">
                <a:solidFill>
                  <a:schemeClr val="tx1"/>
                </a:solidFill>
              </a:ln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ABDCCA-ABB4-101E-41D8-E51C97AD308C}"/>
              </a:ext>
            </a:extLst>
          </p:cNvPr>
          <p:cNvSpPr/>
          <p:nvPr/>
        </p:nvSpPr>
        <p:spPr>
          <a:xfrm>
            <a:off x="4592783" y="2587336"/>
            <a:ext cx="299616" cy="3304309"/>
          </a:xfrm>
          <a:prstGeom prst="rect">
            <a:avLst/>
          </a:prstGeom>
          <a:noFill/>
          <a:ln>
            <a:solidFill>
              <a:srgbClr val="55FF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28646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D0B68BF-0E90-2DD3-DA15-2CA774F18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96491"/>
            <a:ext cx="5653809" cy="436150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1770464" cy="55660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1/18 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코멘트</a:t>
            </a:r>
            <a:endParaRPr lang="en-US" altLang="ko-KR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김지훈 연구원 </a:t>
            </a:r>
            <a:endParaRPr lang="en-US" altLang="ko-KR" sz="18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sz="18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4. 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그래프에서 </a:t>
            </a: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MPPT mode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는 몇 초부터 몇 초 </a:t>
            </a:r>
            <a:r>
              <a:rPr lang="ko-KR" altLang="en-US" sz="1800" b="1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까지인가</a:t>
            </a: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? 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전압이 변하는데 왜 전류는 일정한가</a:t>
            </a: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?</a:t>
            </a:r>
          </a:p>
          <a:p>
            <a:pPr marL="0" indent="0">
              <a:buNone/>
            </a:pPr>
            <a:endParaRPr lang="en-US" altLang="ko-KR" sz="18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2023-01-20</a:t>
            </a:r>
            <a:endParaRPr lang="ko-KR" altLang="en-US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15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EPS – Hardware (PCDU)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846A41D-B75A-0D01-2FAE-E43E4D2F9FB7}"/>
              </a:ext>
            </a:extLst>
          </p:cNvPr>
          <p:cNvSpPr/>
          <p:nvPr/>
        </p:nvSpPr>
        <p:spPr>
          <a:xfrm>
            <a:off x="2159726" y="2587336"/>
            <a:ext cx="2422666" cy="3304309"/>
          </a:xfrm>
          <a:prstGeom prst="rect">
            <a:avLst/>
          </a:prstGeom>
          <a:noFill/>
          <a:ln w="12700">
            <a:solidFill>
              <a:srgbClr val="FFFF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ln w="9525">
                <a:solidFill>
                  <a:schemeClr val="tx1"/>
                </a:solidFill>
              </a:ln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ACD572F-C0D0-3112-8D07-DB4D3A2C7F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5200" y="2733619"/>
            <a:ext cx="5428385" cy="365194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4E7EFB8-2E1C-75CC-9C18-B99E33C6DA02}"/>
              </a:ext>
            </a:extLst>
          </p:cNvPr>
          <p:cNvSpPr/>
          <p:nvPr/>
        </p:nvSpPr>
        <p:spPr>
          <a:xfrm>
            <a:off x="4592783" y="2587336"/>
            <a:ext cx="299616" cy="3304309"/>
          </a:xfrm>
          <a:prstGeom prst="rect">
            <a:avLst/>
          </a:prstGeom>
          <a:noFill/>
          <a:ln>
            <a:solidFill>
              <a:srgbClr val="55FF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65347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1770464" cy="55660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1/18 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코멘트</a:t>
            </a:r>
            <a:endParaRPr lang="en-US" altLang="ko-KR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김지훈 연구원 </a:t>
            </a:r>
            <a:endParaRPr lang="en-US" altLang="ko-KR" sz="18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sz="18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4. 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그래프에서 </a:t>
            </a: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MPPT mode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는 몇 초부터 몇 초 </a:t>
            </a:r>
            <a:r>
              <a:rPr lang="ko-KR" altLang="en-US" sz="1800" b="1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까지인가</a:t>
            </a: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? 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전압이 변하는데 왜 전류는 일정한가</a:t>
            </a: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?</a:t>
            </a:r>
          </a:p>
          <a:p>
            <a:pPr marL="0" indent="0">
              <a:buNone/>
            </a:pPr>
            <a:endParaRPr lang="en-US" altLang="ko-KR" sz="18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2023-01-20</a:t>
            </a:r>
            <a:endParaRPr lang="ko-KR" altLang="en-US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16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EPS – Hardware (PCDU)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846A41D-B75A-0D01-2FAE-E43E4D2F9FB7}"/>
              </a:ext>
            </a:extLst>
          </p:cNvPr>
          <p:cNvSpPr/>
          <p:nvPr/>
        </p:nvSpPr>
        <p:spPr>
          <a:xfrm>
            <a:off x="2159726" y="2587336"/>
            <a:ext cx="2422666" cy="3304309"/>
          </a:xfrm>
          <a:prstGeom prst="rect">
            <a:avLst/>
          </a:prstGeom>
          <a:noFill/>
          <a:ln w="12700">
            <a:solidFill>
              <a:srgbClr val="FFFF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ln w="9525">
                <a:solidFill>
                  <a:schemeClr val="tx1"/>
                </a:solidFill>
              </a:ln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A1059EB-3165-D1E0-6CD6-818E90DDE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484" y="2528494"/>
            <a:ext cx="6768379" cy="406219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EFCC879-DFFD-90AF-FBD5-812DA3D72239}"/>
              </a:ext>
            </a:extLst>
          </p:cNvPr>
          <p:cNvSpPr txBox="1"/>
          <p:nvPr/>
        </p:nvSpPr>
        <p:spPr>
          <a:xfrm>
            <a:off x="7283731" y="2587336"/>
            <a:ext cx="565380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dirty="0">
                <a:solidFill>
                  <a:srgbClr val="C000A5"/>
                </a:solidFill>
                <a:latin typeface="noto"/>
              </a:rPr>
              <a:t>Q.</a:t>
            </a:r>
            <a:r>
              <a:rPr lang="ko-KR" altLang="en-US" sz="1050" dirty="0">
                <a:solidFill>
                  <a:srgbClr val="C000A5"/>
                </a:solidFill>
                <a:latin typeface="noto"/>
              </a:rPr>
              <a:t> </a:t>
            </a:r>
            <a:r>
              <a:rPr lang="en-US" altLang="ko-KR" sz="1050" dirty="0">
                <a:solidFill>
                  <a:srgbClr val="C000A5"/>
                </a:solidFill>
                <a:latin typeface="noto"/>
              </a:rPr>
              <a:t>SOC </a:t>
            </a:r>
            <a:r>
              <a:rPr lang="ko-KR" altLang="en-US" sz="1050" dirty="0">
                <a:solidFill>
                  <a:srgbClr val="C000A5"/>
                </a:solidFill>
                <a:latin typeface="noto"/>
              </a:rPr>
              <a:t>계산을 위해 이렇게 복잡한 과정이 꼭 필요한지</a:t>
            </a:r>
            <a:r>
              <a:rPr lang="en-US" altLang="ko-KR" sz="1050" dirty="0">
                <a:solidFill>
                  <a:srgbClr val="C000A5"/>
                </a:solidFill>
                <a:latin typeface="noto"/>
              </a:rPr>
              <a:t>?</a:t>
            </a:r>
          </a:p>
          <a:p>
            <a:r>
              <a:rPr lang="en-US" altLang="ko-KR" sz="1050" dirty="0">
                <a:solidFill>
                  <a:srgbClr val="C000A5"/>
                </a:solidFill>
                <a:latin typeface="noto"/>
              </a:rPr>
              <a:t>     </a:t>
            </a:r>
            <a:r>
              <a:rPr lang="ko-KR" altLang="en-US" sz="1050" dirty="0">
                <a:solidFill>
                  <a:srgbClr val="C000A5"/>
                </a:solidFill>
                <a:latin typeface="noto"/>
              </a:rPr>
              <a:t>간단하게 직접 계산해볼 수는 없는지</a:t>
            </a:r>
            <a:r>
              <a:rPr lang="en-US" altLang="ko-KR" sz="1050" dirty="0">
                <a:solidFill>
                  <a:srgbClr val="C000A5"/>
                </a:solidFill>
                <a:latin typeface="noto"/>
              </a:rPr>
              <a:t>?</a:t>
            </a:r>
            <a:r>
              <a:rPr lang="ko-KR" altLang="en-US" sz="1050" dirty="0">
                <a:solidFill>
                  <a:srgbClr val="C000A5"/>
                </a:solidFill>
                <a:latin typeface="noto"/>
              </a:rPr>
              <a:t> </a:t>
            </a:r>
            <a:endParaRPr lang="en-US" altLang="ko-KR" sz="1050" dirty="0">
              <a:solidFill>
                <a:srgbClr val="C000A5"/>
              </a:solidFill>
              <a:latin typeface="noto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059626C-9A83-94CC-F226-BF473C0A3B5B}"/>
              </a:ext>
            </a:extLst>
          </p:cNvPr>
          <p:cNvSpPr/>
          <p:nvPr/>
        </p:nvSpPr>
        <p:spPr>
          <a:xfrm>
            <a:off x="6337300" y="4927600"/>
            <a:ext cx="635000" cy="330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68992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1770464" cy="55660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1/18 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코멘트</a:t>
            </a:r>
            <a:endParaRPr lang="en-US" altLang="ko-KR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김지훈 연구원 </a:t>
            </a:r>
            <a:endParaRPr lang="en-US" altLang="ko-KR" sz="18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sz="18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5. SOC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보다 </a:t>
            </a: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DOD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를 사용하는 이유</a:t>
            </a: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?</a:t>
            </a:r>
          </a:p>
          <a:p>
            <a:pPr marL="0" indent="0">
              <a:buNone/>
            </a:pPr>
            <a:endParaRPr lang="en-US" altLang="ko-KR" sz="18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2023-01-20</a:t>
            </a:r>
            <a:endParaRPr lang="ko-KR" altLang="en-US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17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EPS – Hardware (PCDU)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EEF1DD-6135-820E-7618-FD1C384EA3C0}"/>
              </a:ext>
            </a:extLst>
          </p:cNvPr>
          <p:cNvSpPr txBox="1"/>
          <p:nvPr/>
        </p:nvSpPr>
        <p:spPr>
          <a:xfrm>
            <a:off x="121920" y="2679207"/>
            <a:ext cx="125907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→ </a:t>
            </a:r>
            <a:r>
              <a:rPr lang="en-US" altLang="ko-KR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SOC</a:t>
            </a:r>
            <a:r>
              <a:rPr lang="ko-KR" altLang="en-US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는 배터리의 잔존 용량을 나타내는 만큼 배치필터</a:t>
            </a:r>
            <a:r>
              <a:rPr lang="en-US" altLang="ko-KR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칼만 필터 등의 추정 알고리즘에 따라 부정확할 수 있다</a:t>
            </a:r>
            <a:r>
              <a:rPr lang="en-US" altLang="ko-KR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따라서 이전 상태보다 배터리 용량이 얼마나 줄어들었는지 </a:t>
            </a:r>
            <a:r>
              <a:rPr lang="ko-KR" altLang="en-US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방전량을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추정하는 것이 현재 배터리 상태를 더</a:t>
            </a:r>
            <a:endParaRPr lang="en-US" altLang="ko-KR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직관적으로 이해할 수 있다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57953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1770464" cy="55660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1/18 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코멘트</a:t>
            </a:r>
            <a:endParaRPr lang="en-US" altLang="ko-KR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ko-KR" altLang="en-US" sz="1800" b="1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원소영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연구원 </a:t>
            </a:r>
            <a:endParaRPr lang="en-US" altLang="ko-KR" sz="18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sz="18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6. I2C 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엑셀시트 작성하는 이유</a:t>
            </a:r>
            <a:endParaRPr lang="en-US" altLang="ko-KR" sz="18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sz="18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2023-01-20</a:t>
            </a:r>
            <a:endParaRPr lang="ko-KR" altLang="en-US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18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EPS – Hardware (PCDU)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EEF1DD-6135-820E-7618-FD1C384EA3C0}"/>
              </a:ext>
            </a:extLst>
          </p:cNvPr>
          <p:cNvSpPr txBox="1"/>
          <p:nvPr/>
        </p:nvSpPr>
        <p:spPr>
          <a:xfrm>
            <a:off x="121920" y="2679207"/>
            <a:ext cx="125907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→ 우리가 원하는 데이터는 요청해서 받는 그대로 바로 쓸 수 있는 것이 아니라 변환을 해야 한다</a:t>
            </a:r>
            <a:r>
              <a:rPr lang="en-US" altLang="ko-KR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예를 들어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소수점 단위인 값을 얻기 위해서는 정수 데이터에 다음과 같은 상수를 곱하여 얻을 수 있다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endParaRPr lang="en-US" altLang="ko-KR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그래서 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Analog 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값만 입력해도 바로 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Digital 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데이터로 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convert 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될 수 있도록 엑셀에 함수를 적용시키는 것이다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72AAED5-2E39-B785-06C2-3702C237F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525" y="4020655"/>
            <a:ext cx="8667750" cy="24860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C507A9-1DB5-E0E2-AE4D-0A6D4D6C9F85}"/>
              </a:ext>
            </a:extLst>
          </p:cNvPr>
          <p:cNvSpPr txBox="1"/>
          <p:nvPr/>
        </p:nvSpPr>
        <p:spPr>
          <a:xfrm>
            <a:off x="1363213" y="6557564"/>
            <a:ext cx="964327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dirty="0">
                <a:solidFill>
                  <a:srgbClr val="C000A5"/>
                </a:solidFill>
                <a:latin typeface="noto"/>
              </a:rPr>
              <a:t>Q.</a:t>
            </a:r>
            <a:r>
              <a:rPr lang="ko-KR" altLang="en-US" sz="1050" dirty="0">
                <a:solidFill>
                  <a:srgbClr val="C000A5"/>
                </a:solidFill>
                <a:latin typeface="noto"/>
              </a:rPr>
              <a:t> </a:t>
            </a:r>
            <a:r>
              <a:rPr lang="en-US" altLang="ko-KR" sz="1050" dirty="0">
                <a:solidFill>
                  <a:srgbClr val="C000A5"/>
                </a:solidFill>
                <a:latin typeface="noto"/>
              </a:rPr>
              <a:t>ADC count</a:t>
            </a:r>
            <a:r>
              <a:rPr lang="ko-KR" altLang="en-US" sz="1050" dirty="0">
                <a:solidFill>
                  <a:srgbClr val="C000A5"/>
                </a:solidFill>
                <a:latin typeface="noto"/>
              </a:rPr>
              <a:t>는 </a:t>
            </a:r>
            <a:r>
              <a:rPr lang="en-US" altLang="ko-KR" sz="1050" dirty="0">
                <a:solidFill>
                  <a:srgbClr val="C000A5"/>
                </a:solidFill>
                <a:latin typeface="noto"/>
              </a:rPr>
              <a:t>Analog to Digital </a:t>
            </a:r>
            <a:r>
              <a:rPr lang="en-US" altLang="ko-KR" sz="1050" dirty="0" err="1">
                <a:solidFill>
                  <a:srgbClr val="C000A5"/>
                </a:solidFill>
                <a:latin typeface="noto"/>
              </a:rPr>
              <a:t>conver</a:t>
            </a:r>
            <a:r>
              <a:rPr lang="ko-KR" altLang="en-US" sz="1050" dirty="0">
                <a:solidFill>
                  <a:srgbClr val="C000A5"/>
                </a:solidFill>
                <a:latin typeface="noto"/>
              </a:rPr>
              <a:t>인데 </a:t>
            </a:r>
            <a:r>
              <a:rPr lang="en-US" altLang="ko-KR" sz="1050" dirty="0">
                <a:solidFill>
                  <a:srgbClr val="C000A5"/>
                </a:solidFill>
                <a:latin typeface="noto"/>
              </a:rPr>
              <a:t>Analog</a:t>
            </a:r>
            <a:r>
              <a:rPr lang="ko-KR" altLang="en-US" sz="1050" dirty="0">
                <a:solidFill>
                  <a:srgbClr val="C000A5"/>
                </a:solidFill>
                <a:latin typeface="noto"/>
              </a:rPr>
              <a:t>는 무엇을 의미하는지</a:t>
            </a:r>
            <a:r>
              <a:rPr lang="en-US" altLang="ko-KR" sz="1050" dirty="0">
                <a:solidFill>
                  <a:srgbClr val="C000A5"/>
                </a:solidFill>
                <a:latin typeface="noto"/>
              </a:rPr>
              <a:t>? </a:t>
            </a:r>
            <a:r>
              <a:rPr lang="ko-KR" altLang="en-US" sz="1050" dirty="0">
                <a:solidFill>
                  <a:srgbClr val="C000A5"/>
                </a:solidFill>
                <a:latin typeface="noto"/>
              </a:rPr>
              <a:t>예를 들면 어떤 숫자로 표현되는지</a:t>
            </a:r>
            <a:r>
              <a:rPr lang="en-US" altLang="ko-KR" sz="1050" dirty="0">
                <a:solidFill>
                  <a:srgbClr val="C000A5"/>
                </a:solidFill>
                <a:latin typeface="noto"/>
              </a:rPr>
              <a:t>? </a:t>
            </a:r>
            <a:r>
              <a:rPr lang="ko-KR" altLang="en-US" sz="1050" dirty="0">
                <a:solidFill>
                  <a:srgbClr val="C000A5"/>
                </a:solidFill>
                <a:latin typeface="noto"/>
              </a:rPr>
              <a:t>위의 표로만 보면 직관적으로 이해하기 어렵다</a:t>
            </a:r>
            <a:r>
              <a:rPr lang="en-US" altLang="ko-KR" sz="1050" dirty="0">
                <a:solidFill>
                  <a:srgbClr val="C000A5"/>
                </a:solidFill>
                <a:latin typeface="not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697276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1770464" cy="55660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1/18 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코멘트</a:t>
            </a:r>
            <a:endParaRPr lang="en-US" altLang="ko-KR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ko-KR" altLang="en-US" sz="1800" b="1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원소영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연구원 </a:t>
            </a:r>
            <a:endParaRPr lang="en-US" altLang="ko-KR" sz="18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sz="18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7. 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실험을 하기에 앞서 어떤 것들을 실험 해야 하는지 알고 있는가</a:t>
            </a: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2023-01-20</a:t>
            </a:r>
            <a:endParaRPr lang="ko-KR" altLang="en-US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19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EPS – Hardware (PCDU)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EEF1DD-6135-820E-7618-FD1C384EA3C0}"/>
              </a:ext>
            </a:extLst>
          </p:cNvPr>
          <p:cNvSpPr txBox="1"/>
          <p:nvPr/>
        </p:nvSpPr>
        <p:spPr>
          <a:xfrm>
            <a:off x="121920" y="2679207"/>
            <a:ext cx="1259078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→ 데이터시트에 나와 있는 수치들 중 신뢰할 수 없는 것들을 직접 실험해 볼 것이다</a:t>
            </a:r>
            <a:r>
              <a:rPr lang="en-US" altLang="ko-KR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ex. 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충전 효율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전압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등 </a:t>
            </a:r>
            <a:endParaRPr lang="en-US" altLang="ko-KR" sz="18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en-US" altLang="ko-KR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 (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구체적으로 어떤 것들을 실험해야 할 지는 잘 모르겠음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</a:p>
          <a:p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  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데이터시트를 공부하며 필요하다고 생각되는 부분들을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적어 놓을 예정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</a:p>
          <a:p>
            <a:endParaRPr lang="en-US" altLang="ko-KR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</a:t>
            </a:r>
            <a:endParaRPr lang="en-US" altLang="ko-KR" sz="18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  실험 전 실험리스트를 작성하여 계획을 꼼꼼하게 세울 것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EPS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는 실험 중 고장이 나면 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risk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가 크다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endParaRPr lang="en-US" altLang="ko-KR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en-US" altLang="ko-KR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</a:t>
            </a:r>
            <a:r>
              <a:rPr lang="ko-KR" altLang="en-US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en-US" altLang="ko-KR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en-US" altLang="ko-KR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8031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1770464" cy="55660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PCDU 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주의사항</a:t>
            </a:r>
            <a:endParaRPr lang="en-US" altLang="ko-KR" sz="18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sz="18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2023-01-20</a:t>
            </a:r>
            <a:endParaRPr lang="ko-KR" altLang="en-US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EPS – Hardware (PCDU)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EEF1DD-6135-820E-7618-FD1C384EA3C0}"/>
              </a:ext>
            </a:extLst>
          </p:cNvPr>
          <p:cNvSpPr txBox="1"/>
          <p:nvPr/>
        </p:nvSpPr>
        <p:spPr>
          <a:xfrm>
            <a:off x="121920" y="1617378"/>
            <a:ext cx="12370398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AutoNum type="arabicPeriod"/>
            </a:pPr>
            <a:r>
              <a:rPr lang="ko-KR" altLang="en-US" b="1" dirty="0"/>
              <a:t>헤더 </a:t>
            </a:r>
            <a:r>
              <a:rPr lang="en-US" altLang="ko-KR" b="1" dirty="0"/>
              <a:t>H1</a:t>
            </a:r>
            <a:r>
              <a:rPr lang="ko-KR" altLang="en-US" b="1" dirty="0"/>
              <a:t>과 </a:t>
            </a:r>
            <a:r>
              <a:rPr lang="en-US" altLang="ko-KR" b="1" dirty="0"/>
              <a:t>H2</a:t>
            </a:r>
            <a:r>
              <a:rPr lang="ko-KR" altLang="en-US" b="1" dirty="0"/>
              <a:t>가 올바르게 연결 되었는지 확인 </a:t>
            </a:r>
            <a:r>
              <a:rPr lang="ko-KR" altLang="en-US" dirty="0"/>
              <a:t>→ 배터리 양극의 접지가 </a:t>
            </a:r>
            <a:r>
              <a:rPr lang="ko-KR" altLang="en-US" dirty="0" err="1"/>
              <a:t>단락될</a:t>
            </a:r>
            <a:r>
              <a:rPr lang="ko-KR" altLang="en-US" dirty="0"/>
              <a:t> 수 있다</a:t>
            </a:r>
            <a:r>
              <a:rPr lang="en-US" altLang="ko-KR" dirty="0"/>
              <a:t>.</a:t>
            </a:r>
          </a:p>
          <a:p>
            <a:pPr marL="800100" lvl="1" indent="-342900">
              <a:buAutoNum type="arabicPeriod"/>
            </a:pPr>
            <a:endParaRPr lang="en-US" altLang="ko-KR" dirty="0"/>
          </a:p>
          <a:p>
            <a:pPr marL="800100" lvl="1" indent="-342900">
              <a:buAutoNum type="arabicPeriod"/>
            </a:pPr>
            <a:r>
              <a:rPr lang="ko-KR" altLang="en-US" b="1" dirty="0"/>
              <a:t>스위치 구성이 올바르게 구현되었는지 확인 </a:t>
            </a:r>
            <a:r>
              <a:rPr lang="ko-KR" altLang="en-US" dirty="0"/>
              <a:t>→ </a:t>
            </a:r>
            <a:r>
              <a:rPr lang="en-US" altLang="ko-KR" dirty="0"/>
              <a:t>BCR</a:t>
            </a:r>
            <a:r>
              <a:rPr lang="ko-KR" altLang="en-US" dirty="0"/>
              <a:t>이 출력이 끊어질 수 있다</a:t>
            </a:r>
            <a:r>
              <a:rPr lang="en-US" altLang="ko-KR" dirty="0"/>
              <a:t>.</a:t>
            </a:r>
          </a:p>
          <a:p>
            <a:pPr marL="800100" lvl="1" indent="-342900">
              <a:buAutoNum type="arabicPeriod"/>
            </a:pPr>
            <a:endParaRPr lang="en-US" altLang="ko-KR" dirty="0"/>
          </a:p>
          <a:p>
            <a:pPr marL="800100" lvl="1" indent="-342900">
              <a:buFontTx/>
              <a:buAutoNum type="arabicPeriod"/>
            </a:pPr>
            <a:r>
              <a:rPr lang="ko-KR" altLang="en-US" b="1" dirty="0"/>
              <a:t>방전이 되지 않도록 유의 </a:t>
            </a:r>
            <a:r>
              <a:rPr lang="ko-KR" altLang="en-US" dirty="0"/>
              <a:t>→ </a:t>
            </a:r>
            <a:r>
              <a:rPr lang="en-US" altLang="ko-KR" dirty="0"/>
              <a:t>EPS</a:t>
            </a:r>
            <a:r>
              <a:rPr lang="ko-KR" altLang="en-US" dirty="0"/>
              <a:t>는 정전기에 민감한 시스템이므로 </a:t>
            </a:r>
            <a:r>
              <a:rPr lang="en-US" altLang="ko-KR" dirty="0"/>
              <a:t>ESD</a:t>
            </a:r>
            <a:r>
              <a:rPr lang="ko-KR" altLang="en-US" dirty="0"/>
              <a:t>에 유의하지 않으면 고장 날 수 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                                        (</a:t>
            </a:r>
            <a:r>
              <a:rPr lang="ko-KR" altLang="en-US" dirty="0"/>
              <a:t>보호장치 없이 만지지 않도록</a:t>
            </a:r>
            <a:r>
              <a:rPr lang="en-US" altLang="ko-KR" dirty="0"/>
              <a:t>, </a:t>
            </a:r>
            <a:r>
              <a:rPr lang="ko-KR" altLang="en-US" dirty="0"/>
              <a:t>작동하지 않을 때만 다루도록</a:t>
            </a:r>
            <a:r>
              <a:rPr lang="en-US" altLang="ko-KR" dirty="0"/>
              <a:t>)</a:t>
            </a:r>
          </a:p>
          <a:p>
            <a:pPr marL="800100" lvl="1" indent="-342900">
              <a:buFontTx/>
              <a:buAutoNum type="arabicPeriod"/>
            </a:pPr>
            <a:endParaRPr lang="en-US" altLang="ko-KR" dirty="0"/>
          </a:p>
          <a:p>
            <a:pPr marL="800100" lvl="1" indent="-342900">
              <a:buFontTx/>
              <a:buAutoNum type="arabicPeriod"/>
            </a:pPr>
            <a:endParaRPr lang="en-US" altLang="ko-KR" b="1" dirty="0"/>
          </a:p>
          <a:p>
            <a:pPr lvl="1"/>
            <a:r>
              <a:rPr lang="en-US" altLang="ko-KR" b="1" dirty="0"/>
              <a:t>4. </a:t>
            </a:r>
            <a:r>
              <a:rPr lang="ko-KR" altLang="en-US" b="1" dirty="0"/>
              <a:t>최대 </a:t>
            </a:r>
            <a:r>
              <a:rPr lang="en-US" altLang="ko-KR" b="1" dirty="0"/>
              <a:t>Stated limits</a:t>
            </a:r>
            <a:r>
              <a:rPr lang="ko-KR" altLang="en-US" b="1" dirty="0"/>
              <a:t>을 넘지 않도록 유의</a:t>
            </a:r>
            <a:endParaRPr lang="en-US" altLang="ko-KR" b="1" dirty="0"/>
          </a:p>
          <a:p>
            <a:pPr marL="800100" lvl="1" indent="-342900">
              <a:buFontTx/>
              <a:buAutoNum type="arabicPeriod"/>
            </a:pPr>
            <a:endParaRPr lang="en-US" altLang="ko-KR" dirty="0"/>
          </a:p>
          <a:p>
            <a:pPr lvl="1"/>
            <a:r>
              <a:rPr lang="en-US" altLang="ko-KR" b="1" dirty="0"/>
              <a:t>5. </a:t>
            </a:r>
            <a:r>
              <a:rPr lang="ko-KR" altLang="en-US" b="1" dirty="0"/>
              <a:t>저장되는 동안 배터리가 완전히 격리되도록 유의 </a:t>
            </a:r>
            <a:r>
              <a:rPr lang="ko-KR" altLang="en-US" dirty="0"/>
              <a:t>→ 배터리가 </a:t>
            </a:r>
            <a:r>
              <a:rPr lang="ko-KR" altLang="en-US" dirty="0" err="1"/>
              <a:t>과방전될</a:t>
            </a:r>
            <a:r>
              <a:rPr lang="ko-KR" altLang="en-US" dirty="0"/>
              <a:t> 수 있다</a:t>
            </a:r>
            <a:r>
              <a:rPr lang="en-US" altLang="ko-KR" dirty="0"/>
              <a:t>.</a:t>
            </a:r>
          </a:p>
          <a:p>
            <a:pPr marL="800100" lvl="1" indent="-342900">
              <a:buFontTx/>
              <a:buAutoNum type="arabicPeriod"/>
            </a:pPr>
            <a:endParaRPr lang="en-US" altLang="ko-KR" dirty="0"/>
          </a:p>
          <a:p>
            <a:pPr lvl="1"/>
            <a:r>
              <a:rPr lang="en-US" altLang="ko-KR" b="1" dirty="0"/>
              <a:t>6. H2</a:t>
            </a:r>
            <a:r>
              <a:rPr lang="ko-KR" altLang="en-US" b="1" dirty="0"/>
              <a:t> </a:t>
            </a:r>
            <a:r>
              <a:rPr lang="en-US" altLang="ko-KR" b="1" dirty="0"/>
              <a:t>35,36 ,41~44</a:t>
            </a:r>
            <a:r>
              <a:rPr lang="ko-KR" altLang="en-US" b="1" dirty="0"/>
              <a:t> 에는 연결되지 않도록 유의 </a:t>
            </a:r>
            <a:r>
              <a:rPr lang="ko-KR" altLang="en-US" dirty="0"/>
              <a:t>→ 배터리와 연결되는 곳이다</a:t>
            </a:r>
            <a:r>
              <a:rPr lang="en-US" altLang="ko-KR" dirty="0"/>
              <a:t>. </a:t>
            </a:r>
          </a:p>
          <a:p>
            <a:pPr lvl="1"/>
            <a:r>
              <a:rPr lang="en-US" altLang="ko-KR" dirty="0"/>
              <a:t>                                                                  Unregulated</a:t>
            </a:r>
            <a:r>
              <a:rPr lang="ko-KR" altLang="en-US" dirty="0"/>
              <a:t> </a:t>
            </a:r>
            <a:r>
              <a:rPr lang="en-US" altLang="ko-KR" dirty="0"/>
              <a:t>battery</a:t>
            </a:r>
            <a:r>
              <a:rPr lang="ko-KR" altLang="en-US" dirty="0"/>
              <a:t>는 </a:t>
            </a:r>
            <a:r>
              <a:rPr lang="en-US" altLang="ko-KR" dirty="0"/>
              <a:t>45,46</a:t>
            </a:r>
            <a:r>
              <a:rPr lang="ko-KR" altLang="en-US" dirty="0"/>
              <a:t>에 연결하도록 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b="1" dirty="0"/>
              <a:t>7. H1</a:t>
            </a:r>
            <a:r>
              <a:rPr lang="ko-KR" altLang="en-US" b="1" dirty="0"/>
              <a:t>과 </a:t>
            </a:r>
            <a:r>
              <a:rPr lang="en-US" altLang="ko-KR" b="1" dirty="0"/>
              <a:t>H2</a:t>
            </a:r>
            <a:r>
              <a:rPr lang="ko-KR" altLang="en-US" b="1" dirty="0"/>
              <a:t>가 단락 되지 않도록 유의 </a:t>
            </a:r>
            <a:endParaRPr lang="en-US" altLang="ko-KR" b="1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800100" lvl="1" indent="-342900">
              <a:buAutoNum type="arabicPeriod"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674873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1770464" cy="55660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LCL(Latching current limiter)</a:t>
            </a:r>
          </a:p>
          <a:p>
            <a:pPr marL="0" indent="0">
              <a:buNone/>
            </a:pPr>
            <a:endParaRPr lang="en-US" altLang="ko-KR" sz="18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과전류로부터 보호하기 위해 </a:t>
            </a: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PCM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과 </a:t>
            </a: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PDM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에 내장된 보호기능</a:t>
            </a:r>
            <a:endParaRPr lang="en-US" altLang="ko-KR" sz="18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2023-01-20</a:t>
            </a:r>
            <a:endParaRPr lang="ko-KR" altLang="en-US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EPS – Hardware (PCDU)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8D9C191-ECC9-4536-28C8-56397A5363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616" y="2127887"/>
            <a:ext cx="7248525" cy="41433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0310203-E28C-CA7C-85A4-7993E2237FCF}"/>
              </a:ext>
            </a:extLst>
          </p:cNvPr>
          <p:cNvSpPr txBox="1"/>
          <p:nvPr/>
        </p:nvSpPr>
        <p:spPr>
          <a:xfrm>
            <a:off x="7548141" y="2454624"/>
            <a:ext cx="6125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arenBoth"/>
            </a:pP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요구전류는 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3A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이지만 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LCL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에 의해 </a:t>
            </a:r>
            <a:endParaRPr lang="en-US" altLang="ko-KR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허용되는 전류는 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2A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까지 이다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3FF1A0-F401-0CB0-E71A-4514EE0713BC}"/>
              </a:ext>
            </a:extLst>
          </p:cNvPr>
          <p:cNvSpPr txBox="1"/>
          <p:nvPr/>
        </p:nvSpPr>
        <p:spPr>
          <a:xfrm>
            <a:off x="7548141" y="3279371"/>
            <a:ext cx="6125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(2</a:t>
            </a:r>
            <a:r>
              <a:rPr lang="en-US" altLang="ko-KR" kern="10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 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요구전류가 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0.5A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이므로 허용전류 미만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08AE9A-1F3B-7EF0-AFA9-AAAA064F0070}"/>
              </a:ext>
            </a:extLst>
          </p:cNvPr>
          <p:cNvSpPr txBox="1"/>
          <p:nvPr/>
        </p:nvSpPr>
        <p:spPr>
          <a:xfrm>
            <a:off x="7548141" y="3909521"/>
            <a:ext cx="6125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(3) 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요구전류가 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4A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이지만 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LCL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에 의해</a:t>
            </a:r>
            <a:endParaRPr lang="en-US" altLang="ko-KR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허용되는 전류는 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2A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까지 이다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FC2658-63D3-AB17-DA9E-747ACEE3CFE5}"/>
              </a:ext>
            </a:extLst>
          </p:cNvPr>
          <p:cNvSpPr txBox="1"/>
          <p:nvPr/>
        </p:nvSpPr>
        <p:spPr>
          <a:xfrm>
            <a:off x="7548141" y="4736066"/>
            <a:ext cx="6125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(4) 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요구전류의 시간이 </a:t>
            </a:r>
            <a:r>
              <a:rPr lang="en-US" altLang="ko-KR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Tlatch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를 넘어가면</a:t>
            </a:r>
            <a:endParaRPr lang="en-US" altLang="ko-KR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 PDM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에서 전류를 차단한다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640967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1770464" cy="55660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LCL(Latching current limiter)</a:t>
            </a:r>
          </a:p>
          <a:p>
            <a:pPr marL="0" indent="0">
              <a:buNone/>
            </a:pPr>
            <a:endParaRPr lang="en-US" altLang="ko-KR" sz="18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과전류로부터 보호하기 위해 </a:t>
            </a: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PCM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과 </a:t>
            </a: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PDM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에 내장된 보호기능</a:t>
            </a:r>
            <a:endParaRPr lang="en-US" altLang="ko-KR" sz="18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2023-01-20</a:t>
            </a:r>
            <a:endParaRPr lang="ko-KR" altLang="en-US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EPS – Hardware (PCDU)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242F238-5544-D760-BD0B-69BD4ACA3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37" y="2035018"/>
            <a:ext cx="5896251" cy="464507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681784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1770464" cy="55660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Battery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Undervoltage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Protection</a:t>
            </a:r>
            <a:endParaRPr lang="ko-KR" altLang="en-US" sz="1800" b="1" dirty="0"/>
          </a:p>
          <a:p>
            <a:pPr marL="0" indent="0">
              <a:buNone/>
            </a:pPr>
            <a:endParaRPr lang="en-US" altLang="ko-KR" sz="18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2023-01-20</a:t>
            </a:r>
            <a:endParaRPr lang="ko-KR" altLang="en-US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EPS – Hardware (PCDU)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02B798D-94D1-E581-40E4-FD645CDA5C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891" y="2005446"/>
            <a:ext cx="6748486" cy="36592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804CFF5-30E7-4175-6D45-707D49E0E143}"/>
              </a:ext>
            </a:extLst>
          </p:cNvPr>
          <p:cNvSpPr txBox="1"/>
          <p:nvPr/>
        </p:nvSpPr>
        <p:spPr>
          <a:xfrm>
            <a:off x="7048102" y="2005446"/>
            <a:ext cx="612544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배터리의 과방전을 방지하기 위해  전압이 </a:t>
            </a:r>
            <a:r>
              <a:rPr lang="en-US" altLang="ko-KR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6.144V</a:t>
            </a:r>
            <a:r>
              <a:rPr lang="ko-KR" altLang="en-US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에 근접하면</a:t>
            </a:r>
            <a:endParaRPr lang="en-US" altLang="ko-KR" sz="14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ko-KR" altLang="en-US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전원공급을 차단한다</a:t>
            </a:r>
            <a:r>
              <a:rPr lang="en-US" altLang="ko-KR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endParaRPr lang="en-US" altLang="ko-KR" sz="14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en-US" altLang="ko-KR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EPS</a:t>
            </a:r>
            <a:r>
              <a:rPr lang="ko-KR" altLang="en-US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에 전원이 공급되면 즉시 충전되지만 </a:t>
            </a:r>
            <a:r>
              <a:rPr lang="en-US" altLang="ko-KR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Bus</a:t>
            </a:r>
            <a:r>
              <a:rPr lang="ko-KR" altLang="en-US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는 배터리 전압 </a:t>
            </a:r>
            <a:endParaRPr lang="en-US" altLang="ko-KR" sz="14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en-US" altLang="ko-KR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7V</a:t>
            </a:r>
            <a:r>
              <a:rPr lang="ko-KR" altLang="en-US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까지 상승하기 전에는 활성화되지 않는다</a:t>
            </a:r>
            <a:r>
              <a:rPr lang="en-US" altLang="ko-KR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158913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1770464" cy="55660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Telemetry &amp; Telecommand</a:t>
            </a: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2023-01-20</a:t>
            </a:r>
            <a:endParaRPr lang="ko-KR" altLang="en-US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EPS – Hardware (PCDU)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BB8440C-3561-CD4F-75C2-E99D34F15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3166" y="819513"/>
            <a:ext cx="5788330" cy="58166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619568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1770464" cy="55660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TEST – Required Equipment</a:t>
            </a:r>
          </a:p>
          <a:p>
            <a:pPr marL="0" indent="0">
              <a:buNone/>
            </a:pPr>
            <a:endParaRPr lang="en-US" altLang="ko-KR" sz="18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sz="18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2023-01-20</a:t>
            </a:r>
            <a:endParaRPr lang="ko-KR" altLang="en-US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EPS – Hardware (PCDU)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C51E45-3E38-0D37-81F0-6F8A773710F8}"/>
              </a:ext>
            </a:extLst>
          </p:cNvPr>
          <p:cNvSpPr txBox="1"/>
          <p:nvPr/>
        </p:nvSpPr>
        <p:spPr>
          <a:xfrm>
            <a:off x="406002" y="1446646"/>
            <a:ext cx="1112559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Solar Arrays – Solar array simulators, PSU, inline resistor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Battery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Oscilloscope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Multimeter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Electronic Load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Method to communicate with TTC node</a:t>
            </a:r>
          </a:p>
        </p:txBody>
      </p:sp>
    </p:spTree>
    <p:extLst>
      <p:ext uri="{BB962C8B-B14F-4D97-AF65-F5344CB8AC3E}">
        <p14:creationId xmlns:p14="http://schemas.microsoft.com/office/powerpoint/2010/main" val="10284977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1770464" cy="55660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질문 사항</a:t>
            </a:r>
            <a:endParaRPr lang="en-US" altLang="ko-KR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sz="18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sz="18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2023-01-20</a:t>
            </a:r>
            <a:endParaRPr lang="ko-KR" altLang="en-US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EPS – Hardware (PCDU)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EEF1DD-6135-820E-7618-FD1C384EA3C0}"/>
              </a:ext>
            </a:extLst>
          </p:cNvPr>
          <p:cNvSpPr txBox="1"/>
          <p:nvPr/>
        </p:nvSpPr>
        <p:spPr>
          <a:xfrm>
            <a:off x="121920" y="1548907"/>
            <a:ext cx="1026668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ko-KR" dirty="0"/>
              <a:t>Charge/Discharge limit current(max)</a:t>
            </a:r>
            <a:r>
              <a:rPr lang="ko-KR" altLang="en-US" dirty="0"/>
              <a:t> 배터리</a:t>
            </a:r>
            <a:r>
              <a:rPr lang="en-US" altLang="ko-KR" dirty="0"/>
              <a:t> </a:t>
            </a:r>
            <a:r>
              <a:rPr lang="ko-KR" altLang="en-US" dirty="0"/>
              <a:t>용량에 따라 어떻게 변하는지 </a:t>
            </a:r>
            <a:r>
              <a:rPr lang="en-US" altLang="ko-KR" dirty="0"/>
              <a:t>(8A @ 40Whr)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Buck/SEPIC Input voltage (P.11 table4-1)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Telemetry command </a:t>
            </a:r>
            <a:r>
              <a:rPr lang="ko-KR" altLang="en-US" dirty="0"/>
              <a:t>어떻게 구성되는지</a:t>
            </a:r>
            <a:endParaRPr lang="en-US" altLang="ko-KR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806065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1770464" cy="55660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I2C </a:t>
            </a:r>
          </a:p>
          <a:p>
            <a:pPr marL="0" indent="0">
              <a:buNone/>
            </a:pPr>
            <a:endParaRPr lang="en-US" altLang="ko-KR" sz="18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sz="18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2023-01-20</a:t>
            </a:r>
            <a:endParaRPr lang="ko-KR" altLang="en-US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EPS – Hardware (PCDU)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C51E45-3E38-0D37-81F0-6F8A773710F8}"/>
              </a:ext>
            </a:extLst>
          </p:cNvPr>
          <p:cNvSpPr txBox="1"/>
          <p:nvPr/>
        </p:nvSpPr>
        <p:spPr>
          <a:xfrm>
            <a:off x="406002" y="1446646"/>
            <a:ext cx="1112559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읽기명령과 쓰기명령 두 가지로 메시지 구조를 사용</a:t>
            </a:r>
            <a:r>
              <a:rPr lang="en-US" altLang="ko-KR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모든 명령은 </a:t>
            </a:r>
            <a:r>
              <a:rPr lang="en-US" altLang="ko-KR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7</a:t>
            </a:r>
            <a:r>
              <a:rPr lang="ko-KR" altLang="en-US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비트 </a:t>
            </a:r>
            <a:r>
              <a:rPr lang="en-US" altLang="ko-KR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slave-address</a:t>
            </a:r>
            <a:r>
              <a:rPr lang="ko-KR" altLang="en-US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로 시작하고 데이터 바이트 다음에 나옴</a:t>
            </a:r>
            <a:r>
              <a:rPr lang="en-US" altLang="ko-KR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endParaRPr lang="en-US" altLang="ko-KR" sz="14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en-US" altLang="ko-KR" sz="14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ko-KR" altLang="en-US" sz="14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쓰기명령</a:t>
            </a:r>
            <a:r>
              <a:rPr lang="ko-KR" altLang="en-US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– </a:t>
            </a:r>
            <a:r>
              <a:rPr lang="ko-KR" altLang="en-US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첫 번째 데이터 바이트가 시작할 명령을 결정</a:t>
            </a:r>
            <a:r>
              <a:rPr lang="en-US" altLang="ko-KR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</a:p>
          <a:p>
            <a:r>
              <a:rPr lang="ko-KR" altLang="en-US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           두 번째 바이트에는 해당 명령과 관련된 매개변수가 포함</a:t>
            </a:r>
            <a:r>
              <a:rPr lang="en-US" altLang="ko-KR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r>
              <a:rPr lang="en-US" altLang="ko-KR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           </a:t>
            </a:r>
            <a:r>
              <a:rPr lang="ko-KR" altLang="en-US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파라미터에 대한 특정 요구사항이 없는 명령이면 두 번째 데이터 바이트를 </a:t>
            </a:r>
            <a:r>
              <a:rPr lang="en-US" altLang="ko-KR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0x00</a:t>
            </a:r>
            <a:r>
              <a:rPr lang="ko-KR" altLang="en-US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으로 설정</a:t>
            </a:r>
            <a:r>
              <a:rPr lang="en-US" altLang="ko-KR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r>
              <a:rPr lang="en-US" altLang="ko-KR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           </a:t>
            </a:r>
          </a:p>
          <a:p>
            <a:endParaRPr lang="en-US" altLang="ko-KR" sz="14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ko-KR" altLang="en-US" sz="14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읽기명령</a:t>
            </a:r>
            <a:r>
              <a:rPr lang="ko-KR" altLang="en-US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– </a:t>
            </a:r>
            <a:r>
              <a:rPr lang="ko-KR" altLang="en-US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첫 번째 데이터 바이트는 결과의 가장 중요한 바이트</a:t>
            </a:r>
            <a:endParaRPr lang="en-US" altLang="ko-KR" sz="14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en-US" altLang="ko-KR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           </a:t>
            </a:r>
            <a:r>
              <a:rPr lang="ko-KR" altLang="en-US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두 번째 데이터 바이트는 가장 중요하지 않은 바이트를 나타냄</a:t>
            </a:r>
            <a:r>
              <a:rPr lang="en-US" altLang="ko-KR" sz="14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42B47CA-7801-FE38-73D5-1032D9DAA8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1876" y="4023362"/>
            <a:ext cx="6724650" cy="23622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30715013"/>
      </p:ext>
    </p:extLst>
  </p:cSld>
  <p:clrMapOvr>
    <a:masterClrMapping/>
  </p:clrMapOvr>
</p:sld>
</file>

<file path=ppt/theme/theme1.xml><?xml version="1.0" encoding="utf-8"?>
<a:theme xmlns:a="http://schemas.openxmlformats.org/drawingml/2006/main" name="Normal">
  <a:themeElements>
    <a:clrScheme name="사용자 지정 2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FF0000"/>
      </a:accent1>
      <a:accent2>
        <a:srgbClr val="0000FF"/>
      </a:accent2>
      <a:accent3>
        <a:srgbClr val="FFFF00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>
        <a:spAutoFit/>
      </a:bodyPr>
      <a:lstStyle>
        <a:defPPr lvl="2">
          <a:defRPr lang="en-US" altLang="ko-KR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2153</TotalTime>
  <Words>2139</Words>
  <Application>Microsoft Office PowerPoint</Application>
  <PresentationFormat>와이드스크린</PresentationFormat>
  <Paragraphs>634</Paragraphs>
  <Slides>28</Slides>
  <Notes>28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3" baseType="lpstr">
      <vt:lpstr>noto</vt:lpstr>
      <vt:lpstr>맑은 고딕</vt:lpstr>
      <vt:lpstr>Arial</vt:lpstr>
      <vt:lpstr>Wingdings</vt:lpstr>
      <vt:lpstr>Normal</vt:lpstr>
      <vt:lpstr>PowerPoint 프레젠테이션</vt:lpstr>
      <vt:lpstr>Level 1: Electrical Power System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강 대은</dc:creator>
  <cp:lastModifiedBy>이진진</cp:lastModifiedBy>
  <cp:revision>163</cp:revision>
  <dcterms:created xsi:type="dcterms:W3CDTF">2021-06-14T06:44:23Z</dcterms:created>
  <dcterms:modified xsi:type="dcterms:W3CDTF">2023-01-25T08:57:22Z</dcterms:modified>
  <cp:version/>
</cp:coreProperties>
</file>