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18"/>
  </p:notesMasterIdLst>
  <p:sldIdLst>
    <p:sldId id="256" r:id="rId2"/>
    <p:sldId id="257" r:id="rId3"/>
    <p:sldId id="320" r:id="rId4"/>
    <p:sldId id="2300" r:id="rId5"/>
    <p:sldId id="2304" r:id="rId6"/>
    <p:sldId id="2305" r:id="rId7"/>
    <p:sldId id="318" r:id="rId8"/>
    <p:sldId id="2320" r:id="rId9"/>
    <p:sldId id="2316" r:id="rId10"/>
    <p:sldId id="2317" r:id="rId11"/>
    <p:sldId id="2318" r:id="rId12"/>
    <p:sldId id="2319" r:id="rId13"/>
    <p:sldId id="2321" r:id="rId14"/>
    <p:sldId id="2322" r:id="rId15"/>
    <p:sldId id="2323" r:id="rId16"/>
    <p:sldId id="232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A5"/>
    <a:srgbClr val="EFEEF7"/>
    <a:srgbClr val="CBA9E5"/>
    <a:srgbClr val="E6AF00"/>
    <a:srgbClr val="3CE8FA"/>
    <a:srgbClr val="55FF55"/>
    <a:srgbClr val="3FF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92" d="100"/>
          <a:sy n="92" d="100"/>
        </p:scale>
        <p:origin x="1278" y="102"/>
      </p:cViewPr>
      <p:guideLst>
        <p:guide orient="horz" pos="2158"/>
        <p:guide pos="383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2023-02-01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81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42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11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2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59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055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077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689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605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12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2729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474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659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CDR (2023.04)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Hardware</a:t>
            </a:r>
          </a:p>
          <a:p>
            <a:pPr lvl="2">
              <a:defRPr/>
            </a:pPr>
            <a:r>
              <a:rPr lang="en-US" altLang="ko-KR" dirty="0"/>
              <a:t>PCDU</a:t>
            </a:r>
          </a:p>
          <a:p>
            <a:pPr lvl="2">
              <a:defRPr/>
            </a:pPr>
            <a:r>
              <a:rPr lang="en-US" altLang="ko-KR" dirty="0"/>
              <a:t>Solar Cell, Panel</a:t>
            </a:r>
          </a:p>
          <a:p>
            <a:pPr lvl="2">
              <a:defRPr/>
            </a:pPr>
            <a:r>
              <a:rPr lang="en-US" altLang="ko-KR" dirty="0"/>
              <a:t>Battery</a:t>
            </a:r>
          </a:p>
          <a:p>
            <a:pPr lvl="1">
              <a:defRPr/>
            </a:pPr>
            <a:r>
              <a:rPr lang="en-US" altLang="ko-KR" dirty="0"/>
              <a:t>Test plan</a:t>
            </a: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64773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946730"/>
              </p:ext>
            </p:extLst>
          </p:nvPr>
        </p:nvGraphicFramePr>
        <p:xfrm>
          <a:off x="322216" y="1524834"/>
          <a:ext cx="11570168" cy="506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(Battery)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(Battery)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(Solar Panel, Cell)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</a:t>
                      </a:r>
                      <a:r>
                        <a:rPr lang="en-US" altLang="ko-KR" sz="1400" b="1" dirty="0"/>
                        <a:t> </a:t>
                      </a:r>
                      <a:r>
                        <a:rPr lang="ko-KR" altLang="en-US" sz="1400" b="1" dirty="0"/>
                        <a:t>계획 </a:t>
                      </a:r>
                      <a:r>
                        <a:rPr lang="en-US" altLang="ko-KR" sz="14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</a:t>
                      </a:r>
                      <a:r>
                        <a:rPr lang="en-US" altLang="ko-KR" sz="1400" b="1" dirty="0"/>
                        <a:t> </a:t>
                      </a:r>
                      <a:r>
                        <a:rPr lang="ko-KR" altLang="en-US" sz="1400" b="1" dirty="0"/>
                        <a:t>계획 </a:t>
                      </a:r>
                      <a:r>
                        <a:rPr lang="en-US" altLang="ko-KR" sz="14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3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775985"/>
              </p:ext>
            </p:extLst>
          </p:nvPr>
        </p:nvGraphicFramePr>
        <p:xfrm>
          <a:off x="322216" y="1524834"/>
          <a:ext cx="11554593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30391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1707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17073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04009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1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653927"/>
              </p:ext>
            </p:extLst>
          </p:nvPr>
        </p:nvGraphicFramePr>
        <p:xfrm>
          <a:off x="322216" y="1524834"/>
          <a:ext cx="11570168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</a:t>
                      </a:r>
                      <a:r>
                        <a:rPr lang="ko-KR" altLang="en-US" sz="1400" b="1" dirty="0"/>
                        <a:t> 자료 제출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2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9215"/>
              </p:ext>
            </p:extLst>
          </p:nvPr>
        </p:nvGraphicFramePr>
        <p:xfrm>
          <a:off x="322216" y="1524834"/>
          <a:ext cx="11570168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CDR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673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88431"/>
              </p:ext>
            </p:extLst>
          </p:nvPr>
        </p:nvGraphicFramePr>
        <p:xfrm>
          <a:off x="1300228" y="1397902"/>
          <a:ext cx="9899813" cy="43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(PCDU)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2023-01-08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2023-01-24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80%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(Battery)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80%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(Solar Cell, Panel)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2023-01-27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2023-01-27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70%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실험 계획 </a:t>
                      </a:r>
                      <a:r>
                        <a:rPr lang="en-US" altLang="ko-KR" sz="1400" b="0" dirty="0"/>
                        <a:t>&amp; </a:t>
                      </a:r>
                      <a:r>
                        <a:rPr lang="ko-KR" altLang="en-US" sz="1400" b="0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2023-01-30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2023-02-03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10%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실험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2023-02-06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CDR </a:t>
                      </a:r>
                      <a:r>
                        <a:rPr lang="ko-KR" altLang="en-US" sz="1400" b="0" dirty="0"/>
                        <a:t>자료 </a:t>
                      </a:r>
                      <a:r>
                        <a:rPr lang="ko-KR" altLang="en-US" sz="1400" b="0" dirty="0" err="1"/>
                        <a:t>준바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2023-03-13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2023-03-31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27DC1-0F69-3D1D-62A6-FCBE4AF79C05}"/>
              </a:ext>
            </a:extLst>
          </p:cNvPr>
          <p:cNvSpPr txBox="1"/>
          <p:nvPr/>
        </p:nvSpPr>
        <p:spPr>
          <a:xfrm>
            <a:off x="279069" y="744431"/>
            <a:ext cx="786631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Test List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BCR test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PCM test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Battery charging / discharging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Get I2C telemetry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Solar Array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Set Equipment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Power supply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Multi-meter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Electronic Load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I2C communicate board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Under ESD protection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In clean-booth</a:t>
            </a:r>
          </a:p>
        </p:txBody>
      </p:sp>
    </p:spTree>
    <p:extLst>
      <p:ext uri="{BB962C8B-B14F-4D97-AF65-F5344CB8AC3E}">
        <p14:creationId xmlns:p14="http://schemas.microsoft.com/office/powerpoint/2010/main" val="2647212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1U</a:t>
            </a:r>
          </a:p>
        </p:txBody>
      </p:sp>
      <p:pic>
        <p:nvPicPr>
          <p:cNvPr id="6" name="table">
            <a:extLst>
              <a:ext uri="{FF2B5EF4-FFF2-40B4-BE49-F238E27FC236}">
                <a16:creationId xmlns:a16="http://schemas.microsoft.com/office/drawing/2014/main" id="{B421ED14-9468-3567-89F9-DA343E6D5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445" y="3828698"/>
            <a:ext cx="7703109" cy="2556199"/>
          </a:xfrm>
          <a:prstGeom prst="rect">
            <a:avLst/>
          </a:prstGeom>
        </p:spPr>
      </p:pic>
      <p:pic>
        <p:nvPicPr>
          <p:cNvPr id="2" name="table">
            <a:extLst>
              <a:ext uri="{FF2B5EF4-FFF2-40B4-BE49-F238E27FC236}">
                <a16:creationId xmlns:a16="http://schemas.microsoft.com/office/drawing/2014/main" id="{BE9BC75E-95F5-2C63-A75F-DFEEE5FFA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244446" y="651562"/>
            <a:ext cx="7703109" cy="39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84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EPS Module</a:t>
            </a:r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5693B89D-2923-434D-FEDC-8CC99FD79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00" y="1665419"/>
            <a:ext cx="8640000" cy="352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12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ble">
            <a:extLst>
              <a:ext uri="{FF2B5EF4-FFF2-40B4-BE49-F238E27FC236}">
                <a16:creationId xmlns:a16="http://schemas.microsoft.com/office/drawing/2014/main" id="{50532099-4202-77BD-6A4A-78982A2B0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00" y="1726290"/>
            <a:ext cx="8640000" cy="3405420"/>
          </a:xfrm>
          <a:prstGeom prst="rect">
            <a:avLst/>
          </a:prstGeom>
        </p:spPr>
      </p:pic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Battery</a:t>
            </a:r>
          </a:p>
        </p:txBody>
      </p:sp>
    </p:spTree>
    <p:extLst>
      <p:ext uri="{BB962C8B-B14F-4D97-AF65-F5344CB8AC3E}">
        <p14:creationId xmlns:p14="http://schemas.microsoft.com/office/powerpoint/2010/main" val="276769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Solar Panel</a:t>
            </a: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290A4E23-7913-3019-D724-B7D5F73E3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00" y="2524470"/>
            <a:ext cx="8640000" cy="180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49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Product Specification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896D25F-8E40-2819-3214-EEA90D549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51" y="914884"/>
            <a:ext cx="5743325" cy="25141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0B471DF-339F-A35F-3422-2912E48F0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50" y="3773157"/>
            <a:ext cx="5743325" cy="251411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9559149-F445-5833-8150-F36824F8F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209" y="4235115"/>
            <a:ext cx="1887892" cy="152801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0285AEA-C6F4-2902-9814-760810D9A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062" y="4235115"/>
            <a:ext cx="1774240" cy="152801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AED67D8-9F31-A894-25D5-B93E923D73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9255" y="4254870"/>
            <a:ext cx="1814775" cy="1409208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027251-F4F9-8C86-DF7F-031D91D5CBC4}"/>
              </a:ext>
            </a:extLst>
          </p:cNvPr>
          <p:cNvSpPr/>
          <p:nvPr/>
        </p:nvSpPr>
        <p:spPr>
          <a:xfrm>
            <a:off x="3167062" y="5763126"/>
            <a:ext cx="1774240" cy="46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7D9470D-163B-C6A4-7B8C-5B0A25D2F0C9}"/>
              </a:ext>
            </a:extLst>
          </p:cNvPr>
          <p:cNvSpPr/>
          <p:nvPr/>
        </p:nvSpPr>
        <p:spPr>
          <a:xfrm>
            <a:off x="5026991" y="5773438"/>
            <a:ext cx="1774240" cy="46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2E55D6-E910-C4CB-2212-F2D8CDFBA1D9}"/>
              </a:ext>
            </a:extLst>
          </p:cNvPr>
          <p:cNvSpPr/>
          <p:nvPr/>
        </p:nvSpPr>
        <p:spPr>
          <a:xfrm>
            <a:off x="6959008" y="5763126"/>
            <a:ext cx="1774240" cy="46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FD10E4-325A-F4A7-8249-EC9C312674BB}"/>
              </a:ext>
            </a:extLst>
          </p:cNvPr>
          <p:cNvSpPr txBox="1"/>
          <p:nvPr/>
        </p:nvSpPr>
        <p:spPr>
          <a:xfrm>
            <a:off x="6923599" y="5732495"/>
            <a:ext cx="1871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3U Solar Array</a:t>
            </a:r>
          </a:p>
          <a:p>
            <a:pPr algn="ctr"/>
            <a:r>
              <a:rPr lang="en-US" altLang="ko-KR" sz="1400" b="1" dirty="0" err="1"/>
              <a:t>Gomspace</a:t>
            </a:r>
            <a:endParaRPr lang="ko-KR" altLang="en-US" sz="1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D31363-808A-23E6-E490-82D83088FC85}"/>
              </a:ext>
            </a:extLst>
          </p:cNvPr>
          <p:cNvSpPr txBox="1"/>
          <p:nvPr/>
        </p:nvSpPr>
        <p:spPr>
          <a:xfrm>
            <a:off x="3119053" y="5856702"/>
            <a:ext cx="1871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AAC Clyde Space</a:t>
            </a:r>
            <a:endParaRPr lang="ko-KR" altLang="en-US" sz="1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34AFA9-9C9C-238F-2A97-600515A8CCE7}"/>
              </a:ext>
            </a:extLst>
          </p:cNvPr>
          <p:cNvSpPr txBox="1"/>
          <p:nvPr/>
        </p:nvSpPr>
        <p:spPr>
          <a:xfrm>
            <a:off x="5063670" y="5851546"/>
            <a:ext cx="1871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AAC Clyde Space</a:t>
            </a:r>
            <a:endParaRPr lang="ko-KR" altLang="en-US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298668-415E-5117-4744-337FB0479DED}"/>
              </a:ext>
            </a:extLst>
          </p:cNvPr>
          <p:cNvSpPr txBox="1"/>
          <p:nvPr/>
        </p:nvSpPr>
        <p:spPr>
          <a:xfrm>
            <a:off x="1051791" y="2148699"/>
            <a:ext cx="1282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MIMAN</a:t>
            </a:r>
            <a:endParaRPr lang="ko-KR" altLang="en-US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7DD8F0-AE62-7FB6-F262-43AF8D0C20E7}"/>
              </a:ext>
            </a:extLst>
          </p:cNvPr>
          <p:cNvSpPr txBox="1"/>
          <p:nvPr/>
        </p:nvSpPr>
        <p:spPr>
          <a:xfrm>
            <a:off x="1051791" y="4799382"/>
            <a:ext cx="1282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HYVRID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2882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PCM</a:t>
            </a: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116BEFE2-4AB3-5329-DBD6-C5BF2BA55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942974"/>
            <a:ext cx="8640000" cy="5220000"/>
          </a:xfrm>
        </p:spPr>
        <p:txBody>
          <a:bodyPr/>
          <a:lstStyle/>
          <a:p>
            <a:r>
              <a:rPr lang="en-US" altLang="ko-KR" dirty="0"/>
              <a:t>PCM (Power Conditioning Module)</a:t>
            </a:r>
          </a:p>
          <a:p>
            <a:pPr lvl="1"/>
            <a:r>
              <a:rPr lang="en-US" altLang="ko-KR" dirty="0"/>
              <a:t>1) 3.3, 5 V, unregulated bus regulator</a:t>
            </a:r>
          </a:p>
          <a:p>
            <a:pPr lvl="2"/>
            <a:r>
              <a:rPr lang="en-US" altLang="ko-KR" dirty="0"/>
              <a:t>Sweep load current up</a:t>
            </a:r>
          </a:p>
          <a:p>
            <a:pPr lvl="2"/>
            <a:r>
              <a:rPr lang="en-US" altLang="ko-KR" dirty="0"/>
              <a:t>Voltage check per load current</a:t>
            </a:r>
          </a:p>
          <a:p>
            <a:pPr lvl="2"/>
            <a:r>
              <a:rPr lang="en-US" altLang="ko-KR" dirty="0"/>
              <a:t>Peak-to-peak noise of DC</a:t>
            </a:r>
          </a:p>
          <a:p>
            <a:pPr lvl="1"/>
            <a:r>
              <a:rPr lang="en-US" altLang="ko-KR" dirty="0"/>
              <a:t>2) 12 V bus regulator (2U only)</a:t>
            </a:r>
          </a:p>
          <a:p>
            <a:pPr lvl="1"/>
            <a:r>
              <a:rPr lang="en-US" altLang="ko-KR" dirty="0"/>
              <a:t>3) Battery under-voltage shutdown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Test Setup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D02129E-72A9-822B-474B-AA8219704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618189"/>
              </p:ext>
            </p:extLst>
          </p:nvPr>
        </p:nvGraphicFramePr>
        <p:xfrm>
          <a:off x="252000" y="4159875"/>
          <a:ext cx="4788924" cy="2003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4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Power Supply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Electrical load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Oscilloscope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7279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ko-KR" sz="1400" b="0" dirty="0">
                          <a:latin typeface="+mn-lt"/>
                        </a:rPr>
                        <a:t>Connect pin#36 with 7.74 V (typ.)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itchFamily="34" charset="0"/>
                        </a:rPr>
                        <a:t>Connect with PCM pin and change load current (50 ~ 1500 mA)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itchFamily="34" charset="0"/>
                        </a:rPr>
                        <a:t>Connect with electrical load node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F53266DA-4EDF-3CE1-07C9-A5025F15777C}"/>
              </a:ext>
            </a:extLst>
          </p:cNvPr>
          <p:cNvGrpSpPr/>
          <p:nvPr/>
        </p:nvGrpSpPr>
        <p:grpSpPr>
          <a:xfrm>
            <a:off x="6096000" y="651564"/>
            <a:ext cx="4788923" cy="5946492"/>
            <a:chOff x="5228250" y="1270663"/>
            <a:chExt cx="3740272" cy="4644363"/>
          </a:xfrm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928974A6-3241-022C-678B-B4A70A0A87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2485" y="1472802"/>
              <a:ext cx="1616037" cy="4442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A5FC5B-FFDF-2BA6-4D5F-B6235D621280}"/>
                </a:ext>
              </a:extLst>
            </p:cNvPr>
            <p:cNvSpPr txBox="1"/>
            <p:nvPr/>
          </p:nvSpPr>
          <p:spPr>
            <a:xfrm>
              <a:off x="7710811" y="1270663"/>
              <a:ext cx="9525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b="1" dirty="0"/>
                <a:t>EPS</a:t>
              </a:r>
            </a:p>
            <a:p>
              <a:pPr algn="ctr"/>
              <a:r>
                <a:rPr lang="en-US" altLang="ko-KR" sz="2000" b="1" dirty="0"/>
                <a:t>PC104</a:t>
              </a:r>
              <a:endParaRPr lang="ko-KR" altLang="en-US" sz="2000" b="1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1F50240-929F-B035-59B2-71D21922204B}"/>
                </a:ext>
              </a:extLst>
            </p:cNvPr>
            <p:cNvSpPr/>
            <p:nvPr/>
          </p:nvSpPr>
          <p:spPr>
            <a:xfrm>
              <a:off x="5228250" y="1473802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Oscilloscope</a:t>
              </a:r>
              <a:endParaRPr lang="ko-KR" altLang="en-US" dirty="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6DB3D2C9-17DD-31DF-A0F3-550A408D9E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393" y="1843401"/>
              <a:ext cx="1301218" cy="90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3">
              <a:extLst>
                <a:ext uri="{FF2B5EF4-FFF2-40B4-BE49-F238E27FC236}">
                  <a16:creationId xmlns:a16="http://schemas.microsoft.com/office/drawing/2014/main" id="{5D018B5F-E117-CA4E-989D-D711F55622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292000" y="3280064"/>
              <a:ext cx="1510988" cy="778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8CB664A-4039-2F69-FD78-D7ED85F709F7}"/>
                </a:ext>
              </a:extLst>
            </p:cNvPr>
            <p:cNvSpPr/>
            <p:nvPr/>
          </p:nvSpPr>
          <p:spPr>
            <a:xfrm>
              <a:off x="5239475" y="2962836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Electric load</a:t>
              </a:r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A00E1B9-D959-2332-F996-9D7A5D00F04B}"/>
                </a:ext>
              </a:extLst>
            </p:cNvPr>
            <p:cNvSpPr/>
            <p:nvPr/>
          </p:nvSpPr>
          <p:spPr>
            <a:xfrm>
              <a:off x="5239475" y="4451870"/>
              <a:ext cx="1616037" cy="6172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Power supply</a:t>
              </a:r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742C0D9-7B5D-74D4-A155-7245CB7F3321}"/>
                </a:ext>
              </a:extLst>
            </p:cNvPr>
            <p:cNvSpPr/>
            <p:nvPr/>
          </p:nvSpPr>
          <p:spPr>
            <a:xfrm>
              <a:off x="5239475" y="5260239"/>
              <a:ext cx="1616037" cy="6172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Multi-meter</a:t>
              </a:r>
              <a:endParaRPr lang="ko-KR" altLang="en-US" dirty="0"/>
            </a:p>
          </p:txBody>
        </p:sp>
        <p:cxnSp>
          <p:nvCxnSpPr>
            <p:cNvPr id="17" name="꺾인 연결선 7">
              <a:extLst>
                <a:ext uri="{FF2B5EF4-FFF2-40B4-BE49-F238E27FC236}">
                  <a16:creationId xmlns:a16="http://schemas.microsoft.com/office/drawing/2014/main" id="{AE8BF160-3C73-6317-F281-3B8F169EB6F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410604" y="3844260"/>
              <a:ext cx="1883163" cy="98628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꺾인 연결선 7">
              <a:extLst>
                <a:ext uri="{FF2B5EF4-FFF2-40B4-BE49-F238E27FC236}">
                  <a16:creationId xmlns:a16="http://schemas.microsoft.com/office/drawing/2014/main" id="{B00658CE-A2BC-67AE-6B8A-B7DE1FA8111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572749" y="3884748"/>
              <a:ext cx="1721017" cy="199514"/>
            </a:xfrm>
            <a:prstGeom prst="bentConnector3">
              <a:avLst>
                <a:gd name="adj1" fmla="val 57668"/>
              </a:avLst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꺾인 연결선 7">
              <a:extLst>
                <a:ext uri="{FF2B5EF4-FFF2-40B4-BE49-F238E27FC236}">
                  <a16:creationId xmlns:a16="http://schemas.microsoft.com/office/drawing/2014/main" id="{1F1102F9-8A15-142D-E682-856E3EBADD21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rot="10800000" flipV="1">
              <a:off x="6855512" y="4588451"/>
              <a:ext cx="1438254" cy="172064"/>
            </a:xfrm>
            <a:prstGeom prst="bentConnector3">
              <a:avLst>
                <a:gd name="adj1" fmla="val 63109"/>
              </a:avLst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꺾인 연결선 7">
              <a:extLst>
                <a:ext uri="{FF2B5EF4-FFF2-40B4-BE49-F238E27FC236}">
                  <a16:creationId xmlns:a16="http://schemas.microsoft.com/office/drawing/2014/main" id="{E787A04B-5EF5-90D0-0B4F-5F19F1850AA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844288" y="4265668"/>
              <a:ext cx="1461617" cy="679096"/>
            </a:xfrm>
            <a:prstGeom prst="bentConnector3">
              <a:avLst>
                <a:gd name="adj1" fmla="val 68704"/>
              </a:avLst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B52383C-6D80-D28D-0CF7-DEF81CA3E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5400000">
              <a:off x="6703975" y="3207336"/>
              <a:ext cx="852570" cy="356298"/>
            </a:xfrm>
            <a:prstGeom prst="rect">
              <a:avLst/>
            </a:prstGeom>
          </p:spPr>
        </p:pic>
        <p:cxnSp>
          <p:nvCxnSpPr>
            <p:cNvPr id="26" name="꺾인 연결선 7">
              <a:extLst>
                <a:ext uri="{FF2B5EF4-FFF2-40B4-BE49-F238E27FC236}">
                  <a16:creationId xmlns:a16="http://schemas.microsoft.com/office/drawing/2014/main" id="{6BB4FF29-E859-1C25-F110-FE4C40BF985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269754" y="2491232"/>
              <a:ext cx="983534" cy="473358"/>
            </a:xfrm>
            <a:prstGeom prst="bentConnector3">
              <a:avLst>
                <a:gd name="adj1" fmla="val 19252"/>
              </a:avLst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꺾인 연결선 7">
              <a:extLst>
                <a:ext uri="{FF2B5EF4-FFF2-40B4-BE49-F238E27FC236}">
                  <a16:creationId xmlns:a16="http://schemas.microsoft.com/office/drawing/2014/main" id="{4096D3F5-8D2C-CE3C-D4BD-B3DBC6DEFD1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254072" y="4581724"/>
              <a:ext cx="1482535" cy="269842"/>
            </a:xfrm>
            <a:prstGeom prst="bentConnector3">
              <a:avLst>
                <a:gd name="adj1" fmla="val 99471"/>
              </a:avLst>
            </a:prstGeom>
            <a:ln w="3810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꺾인 연결선 7">
              <a:extLst>
                <a:ext uri="{FF2B5EF4-FFF2-40B4-BE49-F238E27FC236}">
                  <a16:creationId xmlns:a16="http://schemas.microsoft.com/office/drawing/2014/main" id="{38C70F63-1586-E5CE-B6A6-FDDC196B2A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97036" y="5061665"/>
              <a:ext cx="907031" cy="357815"/>
            </a:xfrm>
            <a:prstGeom prst="bentConnector3">
              <a:avLst>
                <a:gd name="adj1" fmla="val 96206"/>
              </a:avLst>
            </a:prstGeom>
            <a:ln w="3810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6709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PCM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3"/>
            <a:ext cx="8640000" cy="5220000"/>
          </a:xfrm>
        </p:spPr>
        <p:txBody>
          <a:bodyPr/>
          <a:lstStyle/>
          <a:p>
            <a:r>
              <a:rPr lang="en-US" altLang="ko-KR" dirty="0"/>
              <a:t>Charge Mode</a:t>
            </a:r>
          </a:p>
          <a:p>
            <a:pPr lvl="1"/>
            <a:r>
              <a:rPr lang="en-US" altLang="ko-KR" dirty="0"/>
              <a:t>MPPT mode</a:t>
            </a:r>
          </a:p>
          <a:p>
            <a:pPr lvl="2"/>
            <a:r>
              <a:rPr lang="en-US" altLang="ko-KR" dirty="0"/>
              <a:t>Before battery voltage reaches to </a:t>
            </a:r>
            <a:r>
              <a:rPr lang="en-US" altLang="ko-KR" dirty="0" err="1"/>
              <a:t>EoC</a:t>
            </a:r>
            <a:r>
              <a:rPr lang="en-US" altLang="ko-KR" dirty="0"/>
              <a:t> </a:t>
            </a:r>
          </a:p>
          <a:p>
            <a:pPr lvl="3"/>
            <a:r>
              <a:rPr lang="en-US" altLang="ko-KR" dirty="0" err="1"/>
              <a:t>EoC</a:t>
            </a:r>
            <a:r>
              <a:rPr lang="en-US" altLang="ko-KR" dirty="0"/>
              <a:t> level: 8.26 V</a:t>
            </a:r>
          </a:p>
          <a:p>
            <a:pPr lvl="2"/>
            <a:r>
              <a:rPr lang="en-US" altLang="ko-KR" dirty="0"/>
              <a:t>Check voltage level during charging</a:t>
            </a:r>
          </a:p>
          <a:p>
            <a:pPr lvl="3"/>
            <a:r>
              <a:rPr lang="en-US" altLang="ko-KR" dirty="0"/>
              <a:t>7.0 ~ 8.0 V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231CC7DE-B757-95EC-5453-85A5BFE089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91893" y="725866"/>
            <a:ext cx="3937178" cy="3210441"/>
          </a:xfrm>
          <a:prstGeom prst="rect">
            <a:avLst/>
          </a:prstGeom>
        </p:spPr>
      </p:pic>
      <p:grpSp>
        <p:nvGrpSpPr>
          <p:cNvPr id="33" name="그룹 7178">
            <a:extLst>
              <a:ext uri="{FF2B5EF4-FFF2-40B4-BE49-F238E27FC236}">
                <a16:creationId xmlns:a16="http://schemas.microsoft.com/office/drawing/2014/main" id="{2B341D11-F008-FF3C-5AC0-39F46471D9F7}"/>
              </a:ext>
            </a:extLst>
          </p:cNvPr>
          <p:cNvGrpSpPr/>
          <p:nvPr/>
        </p:nvGrpSpPr>
        <p:grpSpPr>
          <a:xfrm>
            <a:off x="841573" y="4152560"/>
            <a:ext cx="8492811" cy="2525958"/>
            <a:chOff x="543193" y="3867718"/>
            <a:chExt cx="8492811" cy="2525958"/>
          </a:xfrm>
        </p:grpSpPr>
        <p:pic>
          <p:nvPicPr>
            <p:cNvPr id="34" name="Picture 7">
              <a:extLst>
                <a:ext uri="{FF2B5EF4-FFF2-40B4-BE49-F238E27FC236}">
                  <a16:creationId xmlns:a16="http://schemas.microsoft.com/office/drawing/2014/main" id="{3A45A972-E8B3-8FA1-AE7C-73727A98C3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305579" y="3785419"/>
              <a:ext cx="2525958" cy="2690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03D75F7-37DE-82CE-99A4-ACBAE54EBCDB}"/>
                </a:ext>
              </a:extLst>
            </p:cNvPr>
            <p:cNvSpPr/>
            <p:nvPr/>
          </p:nvSpPr>
          <p:spPr>
            <a:xfrm>
              <a:off x="543193" y="4347129"/>
              <a:ext cx="1031238" cy="6703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Power</a:t>
              </a:r>
            </a:p>
            <a:p>
              <a:pPr algn="ctr"/>
              <a:r>
                <a:rPr lang="en-US" altLang="ko-KR" dirty="0"/>
                <a:t>Supply</a:t>
              </a:r>
              <a:endParaRPr lang="ko-KR" altLang="en-US" dirty="0"/>
            </a:p>
          </p:txBody>
        </p:sp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3991715A-7D27-4689-32AB-0336FCF6F0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8955218">
              <a:off x="649110" y="5107336"/>
              <a:ext cx="502027" cy="4677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1D3D00B-5E7C-8835-4408-1D7A294FA622}"/>
                </a:ext>
              </a:extLst>
            </p:cNvPr>
            <p:cNvCxnSpPr/>
            <p:nvPr/>
          </p:nvCxnSpPr>
          <p:spPr>
            <a:xfrm>
              <a:off x="900123" y="5636943"/>
              <a:ext cx="2352493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F045111A-7F96-A0E2-9D96-5F5676311757}"/>
                </a:ext>
              </a:extLst>
            </p:cNvPr>
            <p:cNvCxnSpPr/>
            <p:nvPr/>
          </p:nvCxnSpPr>
          <p:spPr>
            <a:xfrm>
              <a:off x="1254863" y="5010303"/>
              <a:ext cx="0" cy="51581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B58C7EEF-FF03-88F9-4AAE-180C9512476A}"/>
                </a:ext>
              </a:extLst>
            </p:cNvPr>
            <p:cNvCxnSpPr/>
            <p:nvPr/>
          </p:nvCxnSpPr>
          <p:spPr>
            <a:xfrm>
              <a:off x="1243140" y="5537842"/>
              <a:ext cx="200947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4824069-2A8E-92AE-B976-75DA8B1F2AF3}"/>
                </a:ext>
              </a:extLst>
            </p:cNvPr>
            <p:cNvSpPr/>
            <p:nvPr/>
          </p:nvSpPr>
          <p:spPr>
            <a:xfrm>
              <a:off x="1636579" y="3979979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Oscilloscope</a:t>
              </a:r>
              <a:endParaRPr lang="ko-KR" altLang="en-US" dirty="0"/>
            </a:p>
          </p:txBody>
        </p:sp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B461685-2614-8519-D53A-4939B294E9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722" y="4349578"/>
              <a:ext cx="1301218" cy="90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F1F8EF3B-17FA-28AC-94C7-85C08C55F341}"/>
                </a:ext>
              </a:extLst>
            </p:cNvPr>
            <p:cNvCxnSpPr/>
            <p:nvPr/>
          </p:nvCxnSpPr>
          <p:spPr>
            <a:xfrm flipV="1">
              <a:off x="2673056" y="5017477"/>
              <a:ext cx="11192" cy="61946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603459AA-75FB-D52A-C5B7-41FB6AB79748}"/>
                </a:ext>
              </a:extLst>
            </p:cNvPr>
            <p:cNvCxnSpPr/>
            <p:nvPr/>
          </p:nvCxnSpPr>
          <p:spPr>
            <a:xfrm>
              <a:off x="2818324" y="5026960"/>
              <a:ext cx="0" cy="52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1E04E62-3AD4-82D6-4FD9-7FB5D244FF2A}"/>
                </a:ext>
              </a:extLst>
            </p:cNvPr>
            <p:cNvSpPr/>
            <p:nvPr/>
          </p:nvSpPr>
          <p:spPr>
            <a:xfrm>
              <a:off x="6275777" y="3946411"/>
              <a:ext cx="1031238" cy="6703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Power</a:t>
              </a:r>
            </a:p>
            <a:p>
              <a:pPr algn="ctr"/>
              <a:r>
                <a:rPr lang="en-US" altLang="ko-KR" dirty="0"/>
                <a:t>Supply</a:t>
              </a:r>
              <a:endParaRPr lang="ko-KR" altLang="en-US" dirty="0"/>
            </a:p>
          </p:txBody>
        </p:sp>
        <p:pic>
          <p:nvPicPr>
            <p:cNvPr id="45" name="Picture 3">
              <a:extLst>
                <a:ext uri="{FF2B5EF4-FFF2-40B4-BE49-F238E27FC236}">
                  <a16:creationId xmlns:a16="http://schemas.microsoft.com/office/drawing/2014/main" id="{C1F68D8A-4C81-BFE3-1CC9-27C5BE9D54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472492" y="4273696"/>
              <a:ext cx="1510988" cy="778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32A48CA-F2A8-F25A-3F90-AF7295A93206}"/>
                </a:ext>
              </a:extLst>
            </p:cNvPr>
            <p:cNvSpPr/>
            <p:nvPr/>
          </p:nvSpPr>
          <p:spPr>
            <a:xfrm>
              <a:off x="7419967" y="3956468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Electric load</a:t>
              </a:r>
              <a:endParaRPr lang="ko-KR" altLang="en-US" dirty="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838A83EE-D43D-30C9-A8E5-345EF69BF14E}"/>
                </a:ext>
              </a:extLst>
            </p:cNvPr>
            <p:cNvCxnSpPr/>
            <p:nvPr/>
          </p:nvCxnSpPr>
          <p:spPr>
            <a:xfrm>
              <a:off x="7046063" y="4614880"/>
              <a:ext cx="0" cy="51581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9">
              <a:extLst>
                <a:ext uri="{FF2B5EF4-FFF2-40B4-BE49-F238E27FC236}">
                  <a16:creationId xmlns:a16="http://schemas.microsoft.com/office/drawing/2014/main" id="{2BCCCFE6-B266-8FBE-1759-0CE5F990409B}"/>
                </a:ext>
              </a:extLst>
            </p:cNvPr>
            <p:cNvCxnSpPr/>
            <p:nvPr/>
          </p:nvCxnSpPr>
          <p:spPr>
            <a:xfrm rot="10800000" flipV="1">
              <a:off x="5720862" y="4872787"/>
              <a:ext cx="3012830" cy="257909"/>
            </a:xfrm>
            <a:prstGeom prst="bentConnector3">
              <a:avLst>
                <a:gd name="adj1" fmla="val -58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꺾인 연결선 56">
              <a:extLst>
                <a:ext uri="{FF2B5EF4-FFF2-40B4-BE49-F238E27FC236}">
                  <a16:creationId xmlns:a16="http://schemas.microsoft.com/office/drawing/2014/main" id="{326D8C38-2624-2923-767E-0415BEB0DE02}"/>
                </a:ext>
              </a:extLst>
            </p:cNvPr>
            <p:cNvCxnSpPr/>
            <p:nvPr/>
          </p:nvCxnSpPr>
          <p:spPr>
            <a:xfrm rot="10800000" flipV="1">
              <a:off x="5720862" y="4923128"/>
              <a:ext cx="2831616" cy="333359"/>
            </a:xfrm>
            <a:prstGeom prst="bentConnector3">
              <a:avLst>
                <a:gd name="adj1" fmla="val 319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7726BE9A-9C6A-8479-E1D8-D049A6FCC17F}"/>
                </a:ext>
              </a:extLst>
            </p:cNvPr>
            <p:cNvCxnSpPr/>
            <p:nvPr/>
          </p:nvCxnSpPr>
          <p:spPr>
            <a:xfrm flipV="1">
              <a:off x="6612009" y="4620783"/>
              <a:ext cx="11192" cy="61946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9C82E0ED-BA82-0B68-9318-8B40B54EAD28}"/>
                </a:ext>
              </a:extLst>
            </p:cNvPr>
            <p:cNvSpPr/>
            <p:nvPr/>
          </p:nvSpPr>
          <p:spPr>
            <a:xfrm>
              <a:off x="3520475" y="5580601"/>
              <a:ext cx="1682427" cy="60918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Multi-meter (V)</a:t>
              </a:r>
              <a:endParaRPr lang="ko-KR" altLang="en-US" dirty="0"/>
            </a:p>
          </p:txBody>
        </p:sp>
        <p:cxnSp>
          <p:nvCxnSpPr>
            <p:cNvPr id="52" name="꺾인 연결선 60">
              <a:extLst>
                <a:ext uri="{FF2B5EF4-FFF2-40B4-BE49-F238E27FC236}">
                  <a16:creationId xmlns:a16="http://schemas.microsoft.com/office/drawing/2014/main" id="{19CA7E79-0989-6C1A-F53F-6CF7451B2B67}"/>
                </a:ext>
              </a:extLst>
            </p:cNvPr>
            <p:cNvCxnSpPr/>
            <p:nvPr/>
          </p:nvCxnSpPr>
          <p:spPr>
            <a:xfrm flipV="1">
              <a:off x="3821723" y="5028638"/>
              <a:ext cx="1735015" cy="528517"/>
            </a:xfrm>
            <a:prstGeom prst="bentConnector3">
              <a:avLst>
                <a:gd name="adj1" fmla="val -676"/>
              </a:avLst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꺾인 연결선 70">
              <a:extLst>
                <a:ext uri="{FF2B5EF4-FFF2-40B4-BE49-F238E27FC236}">
                  <a16:creationId xmlns:a16="http://schemas.microsoft.com/office/drawing/2014/main" id="{E0D21CB6-8677-CA4A-826F-B17912F2DF56}"/>
                </a:ext>
              </a:extLst>
            </p:cNvPr>
            <p:cNvCxnSpPr/>
            <p:nvPr/>
          </p:nvCxnSpPr>
          <p:spPr>
            <a:xfrm flipV="1">
              <a:off x="4888186" y="5341208"/>
              <a:ext cx="668552" cy="215947"/>
            </a:xfrm>
            <a:prstGeom prst="bentConnector3">
              <a:avLst>
                <a:gd name="adj1" fmla="val -4359"/>
              </a:avLst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5D1DC1F-9556-AB15-1425-83A0A50F4C25}"/>
                </a:ext>
              </a:extLst>
            </p:cNvPr>
            <p:cNvSpPr txBox="1"/>
            <p:nvPr/>
          </p:nvSpPr>
          <p:spPr>
            <a:xfrm>
              <a:off x="3650962" y="4273696"/>
              <a:ext cx="16162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/>
                <a:t>BAT-EPS</a:t>
              </a:r>
              <a:endParaRPr lang="ko-KR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86926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PCM</a:t>
            </a: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4E382372-1FEA-AB85-F2BC-79FA52B8C129}"/>
              </a:ext>
            </a:extLst>
          </p:cNvPr>
          <p:cNvSpPr txBox="1">
            <a:spLocks/>
          </p:cNvSpPr>
          <p:nvPr/>
        </p:nvSpPr>
        <p:spPr>
          <a:xfrm>
            <a:off x="233320" y="7876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Load Electric Power and Monitor Battery Voltage</a:t>
            </a:r>
          </a:p>
          <a:p>
            <a:pPr lvl="1"/>
            <a:r>
              <a:rPr lang="en-US" altLang="ko-KR"/>
              <a:t>Convert C rate to current value</a:t>
            </a:r>
          </a:p>
          <a:p>
            <a:pPr lvl="2"/>
            <a:r>
              <a:rPr lang="en-US" altLang="ko-KR"/>
              <a:t>30 Wh Battery capacity: 3.435 Ah @20 degree</a:t>
            </a:r>
          </a:p>
          <a:p>
            <a:pPr lvl="2"/>
            <a:r>
              <a:rPr lang="en-US" altLang="ko-KR"/>
              <a:t>Recommended maximum C/2 	</a:t>
            </a:r>
          </a:p>
          <a:p>
            <a:pPr lvl="3"/>
            <a:r>
              <a:rPr lang="en-US" altLang="ko-KR"/>
              <a:t>C/2: 1.718 A loaded by electric load</a:t>
            </a:r>
          </a:p>
          <a:p>
            <a:pPr lvl="3"/>
            <a:r>
              <a:rPr lang="en-US" altLang="ko-KR"/>
              <a:t>C/5: 0.687 A loaded by electric load</a:t>
            </a:r>
          </a:p>
          <a:p>
            <a:pPr lvl="3"/>
            <a:r>
              <a:rPr lang="en-US" altLang="ko-KR"/>
              <a:t>C/10: 0.344 A loaded by electric load</a:t>
            </a:r>
          </a:p>
          <a:p>
            <a:pPr lvl="3"/>
            <a:r>
              <a:rPr lang="en-US" altLang="ko-KR"/>
              <a:t>C/15: 0.229 A loaded by electric load</a:t>
            </a:r>
            <a:endParaRPr lang="en-US" altLang="ko-K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749D092-1405-E8C6-8C08-27D7B3A6E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51251" y="3703780"/>
            <a:ext cx="3464800" cy="2008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1CE4C3E6-FB2A-7F0A-41A4-94F0C3AE2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62371" y="1975632"/>
            <a:ext cx="2448582" cy="126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834D225D-3F58-F650-04CA-699733C07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62371" y="1975632"/>
            <a:ext cx="2448582" cy="126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B37AAF-3F5A-FB3F-5344-2A5BE018680B}"/>
              </a:ext>
            </a:extLst>
          </p:cNvPr>
          <p:cNvSpPr txBox="1"/>
          <p:nvPr/>
        </p:nvSpPr>
        <p:spPr>
          <a:xfrm>
            <a:off x="8607972" y="1484404"/>
            <a:ext cx="746235" cy="1569660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/>
              <a:t>Tune Current load</a:t>
            </a:r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059BE3-4DF9-4034-F236-91002229EB89}"/>
              </a:ext>
            </a:extLst>
          </p:cNvPr>
          <p:cNvSpPr txBox="1"/>
          <p:nvPr/>
        </p:nvSpPr>
        <p:spPr>
          <a:xfrm>
            <a:off x="7793452" y="1479154"/>
            <a:ext cx="746235" cy="1569660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/>
              <a:t>Check Voltage</a:t>
            </a:r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ko-KR" altLang="en-US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E2F3A-FA29-7FAD-128E-DEA5A5F8CB08}"/>
              </a:ext>
            </a:extLst>
          </p:cNvPr>
          <p:cNvSpPr txBox="1"/>
          <p:nvPr/>
        </p:nvSpPr>
        <p:spPr>
          <a:xfrm>
            <a:off x="9422525" y="1486609"/>
            <a:ext cx="746235" cy="461665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/>
              <a:t>Check Time </a:t>
            </a:r>
          </a:p>
        </p:txBody>
      </p:sp>
      <p:cxnSp>
        <p:nvCxnSpPr>
          <p:cNvPr id="7" name="꺾인 연결선 22">
            <a:extLst>
              <a:ext uri="{FF2B5EF4-FFF2-40B4-BE49-F238E27FC236}">
                <a16:creationId xmlns:a16="http://schemas.microsoft.com/office/drawing/2014/main" id="{C70B4DBA-CB25-FCD4-E2E2-E4542710112A}"/>
              </a:ext>
            </a:extLst>
          </p:cNvPr>
          <p:cNvCxnSpPr/>
          <p:nvPr/>
        </p:nvCxnSpPr>
        <p:spPr>
          <a:xfrm rot="5400000" flipH="1" flipV="1">
            <a:off x="8586954" y="2963922"/>
            <a:ext cx="903889" cy="84082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23">
            <a:extLst>
              <a:ext uri="{FF2B5EF4-FFF2-40B4-BE49-F238E27FC236}">
                <a16:creationId xmlns:a16="http://schemas.microsoft.com/office/drawing/2014/main" id="{7A2549DC-D234-F161-3BA0-BE91A9F4AC5F}"/>
              </a:ext>
            </a:extLst>
          </p:cNvPr>
          <p:cNvCxnSpPr/>
          <p:nvPr/>
        </p:nvCxnSpPr>
        <p:spPr>
          <a:xfrm rot="5400000" flipH="1" flipV="1">
            <a:off x="8037787" y="3530351"/>
            <a:ext cx="2263476" cy="10810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D2D4AEB8-7B85-2B07-1766-5F991545B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660" y="3525780"/>
            <a:ext cx="4719798" cy="26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61907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</TotalTime>
  <Words>693</Words>
  <Application>Microsoft Office PowerPoint</Application>
  <PresentationFormat>와이드스크린</PresentationFormat>
  <Paragraphs>392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166</cp:revision>
  <dcterms:created xsi:type="dcterms:W3CDTF">2021-06-14T06:44:23Z</dcterms:created>
  <dcterms:modified xsi:type="dcterms:W3CDTF">2023-02-01T08:10:32Z</dcterms:modified>
  <cp:version/>
</cp:coreProperties>
</file>