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25"/>
  </p:notesMasterIdLst>
  <p:sldIdLst>
    <p:sldId id="256" r:id="rId2"/>
    <p:sldId id="257" r:id="rId3"/>
    <p:sldId id="2300" r:id="rId4"/>
    <p:sldId id="2304" r:id="rId5"/>
    <p:sldId id="2305" r:id="rId6"/>
    <p:sldId id="318" r:id="rId7"/>
    <p:sldId id="2325" r:id="rId8"/>
    <p:sldId id="2326" r:id="rId9"/>
    <p:sldId id="2316" r:id="rId10"/>
    <p:sldId id="2332" r:id="rId11"/>
    <p:sldId id="2317" r:id="rId12"/>
    <p:sldId id="2327" r:id="rId13"/>
    <p:sldId id="2321" r:id="rId14"/>
    <p:sldId id="2333" r:id="rId15"/>
    <p:sldId id="2334" r:id="rId16"/>
    <p:sldId id="2329" r:id="rId17"/>
    <p:sldId id="2330" r:id="rId18"/>
    <p:sldId id="2323" r:id="rId19"/>
    <p:sldId id="2324" r:id="rId20"/>
    <p:sldId id="2335" r:id="rId21"/>
    <p:sldId id="2322" r:id="rId22"/>
    <p:sldId id="2328" r:id="rId23"/>
    <p:sldId id="2336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FF55"/>
    <a:srgbClr val="3CE8FA"/>
    <a:srgbClr val="FBCF8F"/>
    <a:srgbClr val="FADE90"/>
    <a:srgbClr val="E6AF00"/>
    <a:srgbClr val="C0E399"/>
    <a:srgbClr val="C000A5"/>
    <a:srgbClr val="EFEEF7"/>
    <a:srgbClr val="CBA9E5"/>
    <a:srgbClr val="3FFF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557" autoAdjust="0"/>
  </p:normalViewPr>
  <p:slideViewPr>
    <p:cSldViewPr snapToGrid="0">
      <p:cViewPr varScale="1">
        <p:scale>
          <a:sx n="61" d="100"/>
          <a:sy n="61" d="100"/>
        </p:scale>
        <p:origin x="84" y="732"/>
      </p:cViewPr>
      <p:guideLst>
        <p:guide orient="horz" pos="2158"/>
        <p:guide pos="383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2023-02-08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842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311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62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653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835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774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055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703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077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61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12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494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262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0719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2447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474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659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8204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2729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2438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779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CDR (2023.04)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Electrical Power System</a:t>
            </a:r>
          </a:p>
          <a:p>
            <a:pPr lvl="1">
              <a:defRPr/>
            </a:pPr>
            <a:r>
              <a:rPr lang="en-US" altLang="ko-KR" dirty="0"/>
              <a:t>Hardware</a:t>
            </a:r>
          </a:p>
          <a:p>
            <a:pPr lvl="2">
              <a:defRPr/>
            </a:pPr>
            <a:r>
              <a:rPr lang="en-US" altLang="ko-KR" dirty="0"/>
              <a:t>PCDU</a:t>
            </a:r>
          </a:p>
          <a:p>
            <a:pPr lvl="2">
              <a:defRPr/>
            </a:pPr>
            <a:r>
              <a:rPr lang="en-US" altLang="ko-KR" dirty="0"/>
              <a:t>Solar Cell, Panel</a:t>
            </a:r>
          </a:p>
          <a:p>
            <a:pPr lvl="2">
              <a:defRPr/>
            </a:pPr>
            <a:r>
              <a:rPr lang="en-US" altLang="ko-KR" dirty="0"/>
              <a:t>Battery</a:t>
            </a:r>
          </a:p>
          <a:p>
            <a:pPr lvl="1">
              <a:defRPr/>
            </a:pPr>
            <a:r>
              <a:rPr lang="en-US" altLang="ko-KR" dirty="0"/>
              <a:t>Test plan</a:t>
            </a:r>
          </a:p>
          <a:p>
            <a:pPr lvl="2">
              <a:defRPr/>
            </a:pPr>
            <a:r>
              <a:rPr lang="en-US" altLang="ko-KR" dirty="0"/>
              <a:t>Battery (2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PCDU, Solar</a:t>
            </a:r>
            <a:r>
              <a:rPr lang="ko-KR" altLang="en-US" dirty="0"/>
              <a:t> </a:t>
            </a:r>
            <a:r>
              <a:rPr lang="en-US" altLang="ko-KR" dirty="0"/>
              <a:t>Array (3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marL="914400" lvl="2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64773"/>
              </p:ext>
            </p:extLst>
          </p:nvPr>
        </p:nvGraphicFramePr>
        <p:xfrm>
          <a:off x="223158" y="719666"/>
          <a:ext cx="11748949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167315"/>
              </p:ext>
            </p:extLst>
          </p:nvPr>
        </p:nvGraphicFramePr>
        <p:xfrm>
          <a:off x="322216" y="1504052"/>
          <a:ext cx="11554593" cy="5119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30391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1707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17073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04009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실험</a:t>
                      </a:r>
                      <a:r>
                        <a:rPr lang="en-US" altLang="ko-KR" sz="1400" b="1" dirty="0"/>
                        <a:t> </a:t>
                      </a:r>
                      <a:r>
                        <a:rPr lang="ko-KR" altLang="en-US" sz="1400" b="1" dirty="0"/>
                        <a:t>계획 </a:t>
                      </a:r>
                      <a:r>
                        <a:rPr lang="en-US" altLang="ko-KR" sz="14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Battery</a:t>
                      </a:r>
                      <a:endParaRPr lang="ko-KR" altLang="en-US" sz="1200" b="1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17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617434"/>
              </p:ext>
            </p:extLst>
          </p:nvPr>
        </p:nvGraphicFramePr>
        <p:xfrm>
          <a:off x="322216" y="1506995"/>
          <a:ext cx="11570168" cy="5333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Solar Array, PCDU </a:t>
                      </a:r>
                      <a:r>
                        <a:rPr lang="ko-KR" altLang="en-US" sz="1400" b="1" dirty="0"/>
                        <a:t>실험시작</a:t>
                      </a:r>
                      <a:endParaRPr lang="en-US" altLang="ko-KR" sz="1400" b="1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(</a:t>
                      </a:r>
                      <a:r>
                        <a:rPr lang="ko-KR" altLang="en-US" sz="1400" b="1" dirty="0"/>
                        <a:t>날짜 미정</a:t>
                      </a:r>
                      <a:r>
                        <a:rPr lang="en-US" altLang="ko-KR" sz="1400" b="1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 </a:t>
                      </a:r>
                      <a:r>
                        <a:rPr lang="ko-KR" altLang="en-US" sz="1400" b="1" dirty="0"/>
                        <a:t>자료 만들기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 </a:t>
                      </a:r>
                      <a:r>
                        <a:rPr lang="ko-KR" altLang="en-US" sz="1400" b="1" dirty="0"/>
                        <a:t>자료 만들기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CDR</a:t>
                      </a:r>
                      <a:r>
                        <a:rPr lang="ko-KR" altLang="en-US" sz="1400" b="1" dirty="0"/>
                        <a:t> 자료 제출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25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886621"/>
              </p:ext>
            </p:extLst>
          </p:nvPr>
        </p:nvGraphicFramePr>
        <p:xfrm>
          <a:off x="322216" y="1504052"/>
          <a:ext cx="11570168" cy="505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65678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444378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CDR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6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27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67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계획 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A09A0BE7-8E08-F314-9D6C-A9FB08D2B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924225"/>
              </p:ext>
            </p:extLst>
          </p:nvPr>
        </p:nvGraphicFramePr>
        <p:xfrm>
          <a:off x="1300228" y="1397902"/>
          <a:ext cx="9899813" cy="502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682">
                  <a:extLst>
                    <a:ext uri="{9D8B030D-6E8A-4147-A177-3AD203B41FA5}">
                      <a16:colId xmlns:a16="http://schemas.microsoft.com/office/drawing/2014/main" val="963791253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3503235211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1441410675"/>
                    </a:ext>
                  </a:extLst>
                </a:gridCol>
                <a:gridCol w="1080380">
                  <a:extLst>
                    <a:ext uri="{9D8B030D-6E8A-4147-A177-3AD203B41FA5}">
                      <a16:colId xmlns:a16="http://schemas.microsoft.com/office/drawing/2014/main" val="468541899"/>
                    </a:ext>
                  </a:extLst>
                </a:gridCol>
                <a:gridCol w="1191883">
                  <a:extLst>
                    <a:ext uri="{9D8B030D-6E8A-4147-A177-3AD203B41FA5}">
                      <a16:colId xmlns:a16="http://schemas.microsoft.com/office/drawing/2014/main" val="2901240694"/>
                    </a:ext>
                  </a:extLst>
                </a:gridCol>
              </a:tblGrid>
              <a:tr h="528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4059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(PCDU)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2023-01-08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2023-01-24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95%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37751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(Battery)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2023-01-26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80%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7428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(Solar Cell, Panel)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2023-01-27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2023-01-27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80%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06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/>
                        <a:t>실험 계획 </a:t>
                      </a:r>
                      <a:r>
                        <a:rPr lang="en-US" altLang="ko-KR" sz="1400" b="0" dirty="0"/>
                        <a:t>&amp; </a:t>
                      </a:r>
                      <a:r>
                        <a:rPr lang="ko-KR" altLang="en-US" sz="1400" b="0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2023-01-30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2023-02-09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50%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156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Battery </a:t>
                      </a:r>
                      <a:r>
                        <a:rPr lang="ko-KR" altLang="en-US" sz="1400" b="0" dirty="0"/>
                        <a:t>실험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2023-02-10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2023-03-10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699472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PCDU, Solar Panel / Cell</a:t>
                      </a:r>
                      <a:r>
                        <a:rPr lang="ko-KR" altLang="en-US" sz="1400" b="0" dirty="0"/>
                        <a:t> 실험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2023-03-??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2023-03-31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005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CDR </a:t>
                      </a:r>
                      <a:r>
                        <a:rPr lang="ko-KR" altLang="en-US" sz="1400" b="0" dirty="0"/>
                        <a:t>자료 준비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2023-03-13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2023-03-31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423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60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27DC1-0F69-3D1D-62A6-FCBE4AF79C05}"/>
              </a:ext>
            </a:extLst>
          </p:cNvPr>
          <p:cNvSpPr txBox="1"/>
          <p:nvPr/>
        </p:nvSpPr>
        <p:spPr>
          <a:xfrm>
            <a:off x="279067" y="744431"/>
            <a:ext cx="11743215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400" dirty="0"/>
              <a:t>EPS </a:t>
            </a:r>
            <a:r>
              <a:rPr lang="ko-KR" altLang="en-US" sz="2400" dirty="0"/>
              <a:t>부품 주의사항</a:t>
            </a:r>
            <a:endParaRPr lang="en-US" altLang="ko-KR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1. PCDU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Do</a:t>
            </a:r>
            <a:r>
              <a:rPr lang="ko-KR" altLang="en-US" sz="2000" dirty="0"/>
              <a:t> </a:t>
            </a:r>
            <a:r>
              <a:rPr lang="en-US" altLang="ko-KR" sz="2000" dirty="0"/>
              <a:t>not</a:t>
            </a:r>
            <a:r>
              <a:rPr lang="ko-KR" altLang="en-US" sz="2000" dirty="0"/>
              <a:t> </a:t>
            </a:r>
            <a:r>
              <a:rPr lang="en-US" altLang="ko-KR" sz="2000" dirty="0"/>
              <a:t>touch</a:t>
            </a:r>
            <a:r>
              <a:rPr lang="ko-KR" altLang="en-US" sz="2000" dirty="0"/>
              <a:t> </a:t>
            </a:r>
            <a:r>
              <a:rPr lang="en-US" altLang="ko-KR" sz="2000" dirty="0"/>
              <a:t>the</a:t>
            </a:r>
            <a:r>
              <a:rPr lang="ko-KR" altLang="en-US" sz="2000" dirty="0"/>
              <a:t> </a:t>
            </a:r>
            <a:r>
              <a:rPr lang="en-US" altLang="ko-KR" sz="2000" dirty="0"/>
              <a:t>EPS</a:t>
            </a:r>
            <a:r>
              <a:rPr lang="ko-KR" altLang="en-US" sz="2000" dirty="0"/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without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proper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electrostatic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protection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in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place</a:t>
            </a:r>
            <a:r>
              <a:rPr lang="en-US" altLang="ko-KR" sz="2000" dirty="0"/>
              <a:t>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All metal objects including probes should be kept clear of headers.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Gloves should be worn when handling all flight hardware.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Flight hardware will be delivered conformally coated, and </a:t>
            </a:r>
            <a:r>
              <a:rPr lang="en-US" altLang="ko-KR" sz="2000" dirty="0">
                <a:solidFill>
                  <a:srgbClr val="FF0000"/>
                </a:solidFill>
              </a:rPr>
              <a:t>should only be removed from</a:t>
            </a:r>
          </a:p>
          <a:p>
            <a:pPr lvl="2"/>
            <a:r>
              <a:rPr lang="en-US" altLang="ko-KR" sz="2000" dirty="0">
                <a:solidFill>
                  <a:srgbClr val="FF0000"/>
                </a:solidFill>
              </a:rPr>
              <a:t>    packaging in a class 100,000 clean room.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Devices should be stored in anti-static packaging at 20~40</a:t>
            </a:r>
            <a:r>
              <a:rPr lang="ko-KR" altLang="en-US" sz="2000" dirty="0"/>
              <a:t>˚</a:t>
            </a:r>
            <a:r>
              <a:rPr lang="en-US" altLang="ko-KR" sz="2000" dirty="0"/>
              <a:t>C, 40~60%rh.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altLang="ko-KR" sz="2000" dirty="0"/>
          </a:p>
          <a:p>
            <a:pPr lvl="1"/>
            <a:endParaRPr lang="en-US" altLang="ko-KR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2. Battery :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All work carried out on the system </a:t>
            </a:r>
            <a:r>
              <a:rPr lang="en-US" altLang="ko-KR" sz="2000" dirty="0">
                <a:solidFill>
                  <a:srgbClr val="FF0000"/>
                </a:solidFill>
              </a:rPr>
              <a:t>should be done in a static dissipative environment.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Do</a:t>
            </a:r>
            <a:r>
              <a:rPr lang="ko-KR" altLang="en-US" sz="2000" dirty="0"/>
              <a:t> </a:t>
            </a:r>
            <a:r>
              <a:rPr lang="en-US" altLang="ko-KR" sz="2000" dirty="0"/>
              <a:t>not</a:t>
            </a:r>
            <a:r>
              <a:rPr lang="ko-KR" altLang="en-US" sz="2000" dirty="0"/>
              <a:t> </a:t>
            </a:r>
            <a:r>
              <a:rPr lang="en-US" altLang="ko-KR" sz="2000" dirty="0"/>
              <a:t>drop</a:t>
            </a:r>
            <a:r>
              <a:rPr lang="ko-KR" altLang="en-US" sz="2000" dirty="0"/>
              <a:t> </a:t>
            </a:r>
            <a:r>
              <a:rPr lang="en-US" altLang="ko-KR" sz="2000" dirty="0"/>
              <a:t>the device as this</a:t>
            </a:r>
            <a:r>
              <a:rPr lang="ko-KR" altLang="en-US" sz="2000" dirty="0"/>
              <a:t> </a:t>
            </a:r>
            <a:r>
              <a:rPr lang="en-US" altLang="ko-KR" sz="2000" dirty="0"/>
              <a:t>can</a:t>
            </a:r>
            <a:r>
              <a:rPr lang="ko-KR" altLang="en-US" sz="2000" dirty="0"/>
              <a:t> </a:t>
            </a:r>
            <a:r>
              <a:rPr lang="en-US" altLang="ko-KR" sz="2000" dirty="0"/>
              <a:t>damage cells.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All metal objects including probes should be kept clear of headers.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Gloves should be worn when handling all flight hardware.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Devices should be stored in anti-static packaging at -10~10</a:t>
            </a:r>
            <a:r>
              <a:rPr lang="ko-KR" altLang="en-US" sz="2000" dirty="0"/>
              <a:t>˚</a:t>
            </a:r>
            <a:r>
              <a:rPr lang="en-US" altLang="ko-KR" sz="2000" dirty="0"/>
              <a:t>C, 40~60%rh.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It is recommended that the batteries are stored with voltages approximately 7.6V.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altLang="ko-KR" sz="2000" dirty="0"/>
          </a:p>
          <a:p>
            <a:pPr lvl="1"/>
            <a:endParaRPr lang="en-US" altLang="ko-KR" sz="2000" dirty="0"/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286865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27DC1-0F69-3D1D-62A6-FCBE4AF79C05}"/>
              </a:ext>
            </a:extLst>
          </p:cNvPr>
          <p:cNvSpPr txBox="1"/>
          <p:nvPr/>
        </p:nvSpPr>
        <p:spPr>
          <a:xfrm>
            <a:off x="279067" y="744431"/>
            <a:ext cx="1174321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400" dirty="0"/>
              <a:t>EPS </a:t>
            </a:r>
            <a:r>
              <a:rPr lang="ko-KR" altLang="en-US" sz="2400" dirty="0"/>
              <a:t>부품 주의사항</a:t>
            </a:r>
            <a:endParaRPr lang="en-US" altLang="ko-KR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ko-KR" sz="2000" dirty="0"/>
              <a:t>3. Solar Panel / Cell :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This product uses semiconductors that </a:t>
            </a:r>
            <a:r>
              <a:rPr lang="en-US" altLang="ko-KR" sz="2000" dirty="0">
                <a:solidFill>
                  <a:schemeClr val="accent1"/>
                </a:solidFill>
              </a:rPr>
              <a:t>can be damaged by electrostatic discharge</a:t>
            </a:r>
            <a:r>
              <a:rPr lang="en-US" altLang="ko-KR" sz="2000" dirty="0"/>
              <a:t>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Only handle solar panel without touching solar cells or their tabs.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altLang="ko-KR" sz="2000" dirty="0"/>
              <a:t>Never place anything on solar cells.</a:t>
            </a:r>
          </a:p>
          <a:p>
            <a:pPr lvl="2"/>
            <a:endParaRPr lang="en-US" altLang="ko-KR" sz="2000" dirty="0"/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altLang="ko-KR" sz="2000" dirty="0"/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183486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Requirements : EPS</a:t>
            </a:r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8A4050BC-72B9-B834-2A93-2E9A5331D2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734948"/>
              </p:ext>
            </p:extLst>
          </p:nvPr>
        </p:nvGraphicFramePr>
        <p:xfrm>
          <a:off x="80962" y="962640"/>
          <a:ext cx="12030075" cy="563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538">
                  <a:extLst>
                    <a:ext uri="{9D8B030D-6E8A-4147-A177-3AD203B41FA5}">
                      <a16:colId xmlns:a16="http://schemas.microsoft.com/office/drawing/2014/main" val="290423181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679313149"/>
                    </a:ext>
                  </a:extLst>
                </a:gridCol>
                <a:gridCol w="8110537">
                  <a:extLst>
                    <a:ext uri="{9D8B030D-6E8A-4147-A177-3AD203B41FA5}">
                      <a16:colId xmlns:a16="http://schemas.microsoft.com/office/drawing/2014/main" val="110547732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전력계 요구조건 </a:t>
                      </a:r>
                      <a:r>
                        <a:rPr lang="en-US" altLang="ko-KR" b="0" dirty="0"/>
                        <a:t>(Electrical</a:t>
                      </a:r>
                      <a:r>
                        <a:rPr lang="ko-KR" altLang="en-US" b="0" dirty="0"/>
                        <a:t> </a:t>
                      </a:r>
                      <a:r>
                        <a:rPr lang="en-US" altLang="ko-KR" b="0" dirty="0"/>
                        <a:t>Power Subsystem Requirement, EPS)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152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ID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Title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Requirements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00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EPS-001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Deactivation before Separation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위성의 궤도진입 이전 </a:t>
                      </a:r>
                      <a:r>
                        <a:rPr lang="en-US" altLang="ko-KR" sz="1400" dirty="0"/>
                        <a:t>EPS</a:t>
                      </a:r>
                      <a:r>
                        <a:rPr lang="ko-KR" altLang="en-US" sz="1400" dirty="0"/>
                        <a:t>가 활성화 되어 있으면 안됨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01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Electrical Power Distribution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정격 전압 </a:t>
                      </a:r>
                      <a:r>
                        <a:rPr lang="en-US" altLang="ko-KR" sz="1400" dirty="0"/>
                        <a:t>3.3V, 5.0V, </a:t>
                      </a:r>
                      <a:r>
                        <a:rPr lang="en-US" altLang="ko-KR" sz="1400" dirty="0" err="1"/>
                        <a:t>Vbat</a:t>
                      </a:r>
                      <a:r>
                        <a:rPr lang="ko-KR" altLang="en-US" sz="1400" dirty="0"/>
                        <a:t>을 각 서브시스템에 공급해야 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973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Electrical Power Control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각 서브시스템의 </a:t>
                      </a:r>
                      <a:r>
                        <a:rPr lang="en-US" altLang="ko-KR" sz="1400" dirty="0"/>
                        <a:t>on/off </a:t>
                      </a:r>
                      <a:r>
                        <a:rPr lang="ko-KR" altLang="en-US" sz="1400" dirty="0"/>
                        <a:t>시킬 수 있는 스위치 기능을 가지고 있어야 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615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Minimum Electrical Power Generation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EPS </a:t>
                      </a:r>
                      <a:r>
                        <a:rPr lang="ko-KR" altLang="en-US" sz="1400" dirty="0"/>
                        <a:t>구성요소는 임무 종료 시까지 평균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7</a:t>
                      </a:r>
                      <a:r>
                        <a:rPr lang="en-US" altLang="ko-KR" sz="1400" dirty="0"/>
                        <a:t>W </a:t>
                      </a:r>
                      <a:r>
                        <a:rPr lang="ko-KR" altLang="en-US" sz="1400" dirty="0"/>
                        <a:t>이상의 전력 생산이 가능해야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33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Maximum Electrical Power Load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EPS </a:t>
                      </a:r>
                      <a:r>
                        <a:rPr lang="ko-KR" altLang="en-US" sz="1400" dirty="0"/>
                        <a:t>구성요소는 임무 종류 시까지 최대 순간전력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30</a:t>
                      </a:r>
                      <a:r>
                        <a:rPr lang="en-US" altLang="ko-KR" sz="1400" dirty="0"/>
                        <a:t>W</a:t>
                      </a:r>
                      <a:r>
                        <a:rPr lang="ko-KR" altLang="en-US" sz="1400" dirty="0"/>
                        <a:t>을 공급 가능해야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90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Health Status Monitoring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전압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전류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온도 등 보도 상태 정보를 자체적으로 수집할 수 있어야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087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EPS-007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Fault Management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EPS </a:t>
                      </a:r>
                      <a:r>
                        <a:rPr lang="ko-KR" altLang="en-US" sz="1400" dirty="0"/>
                        <a:t>부품의 고장을 검출 및 수집할 수 있어야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77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EPS-008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System Ground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전체 위성 시스템에 최소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점 이상의 접지 영역을 제공해야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767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EPS-009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Life time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EPS </a:t>
                      </a:r>
                      <a:r>
                        <a:rPr lang="ko-KR" altLang="en-US" sz="1400" dirty="0"/>
                        <a:t>모든 부품은 임무 기간인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개월 </a:t>
                      </a:r>
                      <a:r>
                        <a:rPr lang="ko-KR" altLang="en-US" sz="1400" dirty="0"/>
                        <a:t>이상 우주에서 정상 작동 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019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EPS-010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Over Charging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배터리의 사용 수명을 고려하여 배터리 과충전이 되지 않도록 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257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EPS-011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Electrical Power DOD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 </a:t>
                      </a:r>
                      <a:r>
                        <a:rPr lang="en-US" altLang="ko-KR" sz="1400" dirty="0"/>
                        <a:t>DOD</a:t>
                      </a:r>
                      <a:r>
                        <a:rPr lang="ko-KR" altLang="en-US" sz="1400" dirty="0"/>
                        <a:t>는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20%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이하로 유지되어야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05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EPS-012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Temperature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작동 온도범위는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-40</a:t>
                      </a:r>
                      <a:r>
                        <a:rPr lang="en-US" altLang="ko-KR" sz="1400" dirty="0"/>
                        <a:t>~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85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 </a:t>
                      </a:r>
                      <a:r>
                        <a:rPr lang="ko-KR" altLang="en-US" sz="1400" dirty="0"/>
                        <a:t>이어야 한다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230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284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Requirements : PCDU</a:t>
            </a:r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8A4050BC-72B9-B834-2A93-2E9A5331D21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962" y="1828800"/>
          <a:ext cx="1203007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538">
                  <a:extLst>
                    <a:ext uri="{9D8B030D-6E8A-4147-A177-3AD203B41FA5}">
                      <a16:colId xmlns:a16="http://schemas.microsoft.com/office/drawing/2014/main" val="290423181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679313149"/>
                    </a:ext>
                  </a:extLst>
                </a:gridCol>
                <a:gridCol w="8110537">
                  <a:extLst>
                    <a:ext uri="{9D8B030D-6E8A-4147-A177-3AD203B41FA5}">
                      <a16:colId xmlns:a16="http://schemas.microsoft.com/office/drawing/2014/main" val="110547732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전력 제어 및 분배 장치 </a:t>
                      </a:r>
                      <a:r>
                        <a:rPr lang="en-US" altLang="ko-KR" b="0" dirty="0"/>
                        <a:t>(Power Conditioning and Unit, PCDU)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152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Title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Requirements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00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PCDU-001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Maximum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Input Power Condition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태양전지판으로부터 받는 전압의 크기는 </a:t>
                      </a:r>
                      <a:r>
                        <a:rPr lang="en-US" altLang="ko-KR" sz="1400" dirty="0"/>
                        <a:t>BCR </a:t>
                      </a:r>
                      <a:r>
                        <a:rPr lang="ko-KR" altLang="en-US" sz="1400" dirty="0"/>
                        <a:t>채널 별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TBD</a:t>
                      </a:r>
                      <a:r>
                        <a:rPr lang="en-US" altLang="ko-KR" sz="1400" dirty="0"/>
                        <a:t> A</a:t>
                      </a:r>
                      <a:r>
                        <a:rPr lang="ko-KR" altLang="en-US" sz="1400" dirty="0"/>
                        <a:t>와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30</a:t>
                      </a:r>
                      <a:r>
                        <a:rPr lang="en-US" altLang="ko-KR" sz="1400" dirty="0"/>
                        <a:t> V</a:t>
                      </a:r>
                      <a:r>
                        <a:rPr lang="ko-KR" altLang="en-US" sz="1400" dirty="0"/>
                        <a:t>를 넘지 않아야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01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PCDU-002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Thermal Condition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PCDU</a:t>
                      </a:r>
                      <a:r>
                        <a:rPr lang="ko-KR" altLang="en-US" sz="1400" dirty="0"/>
                        <a:t>는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20</a:t>
                      </a:r>
                      <a:r>
                        <a:rPr lang="en-US" altLang="ko-KR" sz="1400" dirty="0"/>
                        <a:t>~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40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 </a:t>
                      </a:r>
                      <a:r>
                        <a:rPr lang="ko-KR" altLang="en-US" sz="1400" dirty="0"/>
                        <a:t>에서 보관되어야 하며</a:t>
                      </a:r>
                      <a:r>
                        <a:rPr lang="en-US" altLang="ko-KR" sz="1400" dirty="0"/>
                        <a:t>,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-40</a:t>
                      </a:r>
                      <a:r>
                        <a:rPr lang="en-US" altLang="ko-KR" sz="1400" dirty="0"/>
                        <a:t>~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85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 </a:t>
                      </a:r>
                      <a:r>
                        <a:rPr lang="ko-KR" altLang="en-US" sz="1400" dirty="0"/>
                        <a:t>에서 정상 작동 가능해야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973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PCDU-003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Minimum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Input Power Condition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배터리로부터 받는 전압의 크기는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6.2</a:t>
                      </a:r>
                      <a:r>
                        <a:rPr lang="en-US" altLang="ko-KR" sz="1400" dirty="0"/>
                        <a:t> V </a:t>
                      </a:r>
                      <a:r>
                        <a:rPr lang="ko-KR" altLang="en-US" sz="1400" dirty="0"/>
                        <a:t>이상이 되어야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33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PCDU-004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Electrical Power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Charging 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배터리를 충전하기 위한 </a:t>
                      </a:r>
                      <a:r>
                        <a:rPr lang="en-US" altLang="ko-KR" sz="1400" dirty="0"/>
                        <a:t>Power Regulation </a:t>
                      </a:r>
                      <a:r>
                        <a:rPr lang="ko-KR" altLang="en-US" sz="1400" dirty="0"/>
                        <a:t>기법으로는 </a:t>
                      </a:r>
                      <a:r>
                        <a:rPr lang="en-US" altLang="ko-KR" sz="1400" dirty="0"/>
                        <a:t>MPPT(Maximum Power Point Tracker)</a:t>
                      </a:r>
                      <a:r>
                        <a:rPr lang="ko-KR" altLang="en-US" sz="1400" dirty="0"/>
                        <a:t>를 지원해야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90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PCDU-005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Output Bus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Voltage Channel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각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서브시스템에 전력을 공급하는 각 </a:t>
                      </a:r>
                      <a:r>
                        <a:rPr lang="en-US" altLang="ko-KR" sz="1400" dirty="0"/>
                        <a:t>Bus</a:t>
                      </a:r>
                      <a:r>
                        <a:rPr lang="ko-KR" altLang="en-US" sz="1400" dirty="0"/>
                        <a:t>는 </a:t>
                      </a:r>
                      <a:r>
                        <a:rPr lang="en-US" altLang="ko-KR" sz="1400" dirty="0"/>
                        <a:t>3.3V, 5V, 12V, </a:t>
                      </a:r>
                      <a:r>
                        <a:rPr lang="ko-KR" altLang="en-US" sz="1400" dirty="0" err="1"/>
                        <a:t>비정격</a:t>
                      </a:r>
                      <a:r>
                        <a:rPr lang="ko-KR" altLang="en-US" sz="1400" dirty="0"/>
                        <a:t> 전압으로 정해져 있어야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087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PCDU-006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Output Switchable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Voltage Channel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각 서브시스템 </a:t>
                      </a:r>
                      <a:r>
                        <a:rPr lang="en-US" altLang="ko-KR" sz="1400" dirty="0"/>
                        <a:t>3.3V, 5V, 12V, </a:t>
                      </a:r>
                      <a:r>
                        <a:rPr lang="ko-KR" altLang="en-US" sz="1400" dirty="0" err="1"/>
                        <a:t>비정격전압에</a:t>
                      </a:r>
                      <a:r>
                        <a:rPr lang="ko-KR" altLang="en-US" sz="1400" dirty="0"/>
                        <a:t> 대해 전력공급 및 스위칭이 가능해야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77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9067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Requirements : Battery</a:t>
            </a:r>
          </a:p>
        </p:txBody>
      </p:sp>
      <p:graphicFrame>
        <p:nvGraphicFramePr>
          <p:cNvPr id="2" name="표 6">
            <a:extLst>
              <a:ext uri="{FF2B5EF4-FFF2-40B4-BE49-F238E27FC236}">
                <a16:creationId xmlns:a16="http://schemas.microsoft.com/office/drawing/2014/main" id="{7E1FA53C-25A5-BB45-77DF-D04AF87492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715208"/>
              </p:ext>
            </p:extLst>
          </p:nvPr>
        </p:nvGraphicFramePr>
        <p:xfrm>
          <a:off x="80962" y="1828800"/>
          <a:ext cx="12030075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538">
                  <a:extLst>
                    <a:ext uri="{9D8B030D-6E8A-4147-A177-3AD203B41FA5}">
                      <a16:colId xmlns:a16="http://schemas.microsoft.com/office/drawing/2014/main" val="290423181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679313149"/>
                    </a:ext>
                  </a:extLst>
                </a:gridCol>
                <a:gridCol w="8110537">
                  <a:extLst>
                    <a:ext uri="{9D8B030D-6E8A-4147-A177-3AD203B41FA5}">
                      <a16:colId xmlns:a16="http://schemas.microsoft.com/office/drawing/2014/main" val="110547732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배터리 </a:t>
                      </a:r>
                      <a:r>
                        <a:rPr lang="en-US" altLang="ko-KR" b="0" dirty="0"/>
                        <a:t>(Battery, BAT)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152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Title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Requirements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00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BAT-001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Maximum Battery DOD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Normal Mode</a:t>
                      </a:r>
                      <a:r>
                        <a:rPr lang="ko-KR" altLang="en-US" sz="1400" dirty="0"/>
                        <a:t>에서 </a:t>
                      </a:r>
                      <a:r>
                        <a:rPr lang="en-US" altLang="ko-KR" sz="1400" dirty="0"/>
                        <a:t>DoD</a:t>
                      </a:r>
                      <a:r>
                        <a:rPr lang="ko-KR" altLang="en-US" sz="1400" dirty="0"/>
                        <a:t>가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TBD</a:t>
                      </a:r>
                      <a:r>
                        <a:rPr lang="en-US" altLang="ko-KR" sz="1400" dirty="0"/>
                        <a:t>% </a:t>
                      </a:r>
                      <a:r>
                        <a:rPr lang="ko-KR" altLang="en-US" sz="1400" dirty="0"/>
                        <a:t>이하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임무 기간동안 </a:t>
                      </a:r>
                      <a:r>
                        <a:rPr lang="en-US" altLang="ko-KR" sz="1400" dirty="0"/>
                        <a:t>DoD</a:t>
                      </a:r>
                      <a:r>
                        <a:rPr lang="ko-KR" altLang="en-US" sz="1400" dirty="0"/>
                        <a:t>가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TBD</a:t>
                      </a:r>
                      <a:r>
                        <a:rPr lang="en-US" altLang="ko-KR" sz="1400" dirty="0"/>
                        <a:t>% </a:t>
                      </a:r>
                      <a:r>
                        <a:rPr lang="ko-KR" altLang="en-US" sz="1400" dirty="0"/>
                        <a:t>이하이어야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01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BAT-002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Thermal Condition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배터리는 보관 시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-10</a:t>
                      </a:r>
                      <a:r>
                        <a:rPr lang="en-US" altLang="ko-KR" sz="1400" dirty="0"/>
                        <a:t>~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</a:t>
                      </a:r>
                      <a:r>
                        <a:rPr lang="ko-KR" altLang="en-US" sz="1400" dirty="0"/>
                        <a:t>를 유지해야 하며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 충전 시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-TBD</a:t>
                      </a:r>
                      <a:r>
                        <a:rPr lang="en-US" altLang="ko-KR" sz="1400" dirty="0"/>
                        <a:t>~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TBD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C, </a:t>
                      </a:r>
                      <a:r>
                        <a:rPr lang="ko-KR" altLang="en-US" sz="1400" dirty="0"/>
                        <a:t>방전 시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-TBD</a:t>
                      </a:r>
                      <a:r>
                        <a:rPr lang="en-US" altLang="ko-KR" sz="1400" dirty="0"/>
                        <a:t>~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TBD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</a:t>
                      </a:r>
                      <a:r>
                        <a:rPr lang="ko-KR" altLang="en-US" sz="1400" dirty="0"/>
                        <a:t>에서 정상 작동 가능해야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973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BAT-003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Charge &amp; Discharge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충전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방전 횟수는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TBD</a:t>
                      </a:r>
                      <a:r>
                        <a:rPr lang="ko-KR" altLang="en-US" sz="1400" dirty="0"/>
                        <a:t>회 이상 되어야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33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BAT-004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Battery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Capacity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 용량은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40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Wh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이상이어야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90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BAT-005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Battery Temperature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셀의 온도는 항상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TBD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 </a:t>
                      </a:r>
                      <a:r>
                        <a:rPr lang="ko-KR" altLang="en-US" sz="1400" dirty="0"/>
                        <a:t>이상으로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유지되어야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087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BAT-006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Health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Status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Monitoring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배터리의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전압과 온도가 모니터링 되어야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77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212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Requirements : Solar Array</a:t>
            </a:r>
          </a:p>
        </p:txBody>
      </p:sp>
      <p:graphicFrame>
        <p:nvGraphicFramePr>
          <p:cNvPr id="2" name="표 6">
            <a:extLst>
              <a:ext uri="{FF2B5EF4-FFF2-40B4-BE49-F238E27FC236}">
                <a16:creationId xmlns:a16="http://schemas.microsoft.com/office/drawing/2014/main" id="{7E1FA53C-25A5-BB45-77DF-D04AF87492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4675198"/>
              </p:ext>
            </p:extLst>
          </p:nvPr>
        </p:nvGraphicFramePr>
        <p:xfrm>
          <a:off x="80962" y="1828800"/>
          <a:ext cx="12030075" cy="23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538">
                  <a:extLst>
                    <a:ext uri="{9D8B030D-6E8A-4147-A177-3AD203B41FA5}">
                      <a16:colId xmlns:a16="http://schemas.microsoft.com/office/drawing/2014/main" val="2904231819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2679313149"/>
                    </a:ext>
                  </a:extLst>
                </a:gridCol>
                <a:gridCol w="8008937">
                  <a:extLst>
                    <a:ext uri="{9D8B030D-6E8A-4147-A177-3AD203B41FA5}">
                      <a16:colId xmlns:a16="http://schemas.microsoft.com/office/drawing/2014/main" val="110547732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태양전지판 </a:t>
                      </a:r>
                      <a:r>
                        <a:rPr lang="en-US" altLang="ko-KR" b="0" dirty="0"/>
                        <a:t>(Solar Array, SA)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152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Title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Requirements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00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SA-001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Thermal Condition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태양전지판은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-40</a:t>
                      </a:r>
                      <a:r>
                        <a:rPr lang="en-US" altLang="ko-KR" sz="1400" dirty="0"/>
                        <a:t>~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85</a:t>
                      </a:r>
                      <a:r>
                        <a:rPr lang="ko-KR" altLang="en-US" sz="1400" dirty="0"/>
                        <a:t>˚</a:t>
                      </a:r>
                      <a:r>
                        <a:rPr lang="en-US" altLang="ko-KR" sz="1400" dirty="0"/>
                        <a:t>C </a:t>
                      </a:r>
                      <a:r>
                        <a:rPr lang="ko-KR" altLang="en-US" sz="1400" dirty="0"/>
                        <a:t>사이에서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정상 작동 가능해야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01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SA-002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Protection from Inverse Current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태양전지판은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자체적으로 역전류를 방지하는 회로를 구성해야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973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SA-003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Solar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Array Interface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태양전지판의 생산 전압 및 전류가 </a:t>
                      </a:r>
                      <a:r>
                        <a:rPr lang="en-US" altLang="ko-KR" sz="1400" dirty="0"/>
                        <a:t>EPS </a:t>
                      </a:r>
                      <a:r>
                        <a:rPr lang="ko-KR" altLang="en-US" sz="1400" dirty="0"/>
                        <a:t>구성요소 내 </a:t>
                      </a:r>
                      <a:r>
                        <a:rPr lang="en-US" altLang="ko-KR" sz="1400" dirty="0"/>
                        <a:t>BCR </a:t>
                      </a:r>
                      <a:r>
                        <a:rPr lang="ko-KR" altLang="en-US" sz="1400" dirty="0"/>
                        <a:t>회로의 허용치 이내가 되도록 셀 연결이 구성되어야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33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SA-004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Health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Status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태양전지판은 전압과 전류가 모니터링 되어야 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900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68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Product Specification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2027251-F4F9-8C86-DF7F-031D91D5CBC4}"/>
              </a:ext>
            </a:extLst>
          </p:cNvPr>
          <p:cNvSpPr/>
          <p:nvPr/>
        </p:nvSpPr>
        <p:spPr>
          <a:xfrm>
            <a:off x="3167062" y="5763126"/>
            <a:ext cx="1774240" cy="461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7D9470D-163B-C6A4-7B8C-5B0A25D2F0C9}"/>
              </a:ext>
            </a:extLst>
          </p:cNvPr>
          <p:cNvSpPr/>
          <p:nvPr/>
        </p:nvSpPr>
        <p:spPr>
          <a:xfrm>
            <a:off x="5026991" y="5773438"/>
            <a:ext cx="1774240" cy="461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32E55D6-E910-C4CB-2212-F2D8CDFBA1D9}"/>
              </a:ext>
            </a:extLst>
          </p:cNvPr>
          <p:cNvSpPr/>
          <p:nvPr/>
        </p:nvSpPr>
        <p:spPr>
          <a:xfrm>
            <a:off x="6959008" y="5763126"/>
            <a:ext cx="1774240" cy="461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A994CD9-D90A-F1D7-B34A-5C0385C14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51" y="914884"/>
            <a:ext cx="5743325" cy="251411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A5F17D-D41A-A6D5-0244-1B0B6FE8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50" y="3773157"/>
            <a:ext cx="5743325" cy="251411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0D987FE-AA08-D3ED-2A25-B8317CB65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209" y="4235115"/>
            <a:ext cx="1887892" cy="152801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32DF9A0-F413-2240-78D4-E4F2EF671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7062" y="4235115"/>
            <a:ext cx="1774240" cy="152801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47DBE5A-E8D7-27BC-5E8E-EF767FF98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9255" y="4254870"/>
            <a:ext cx="1814775" cy="140920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DCC5CD9-FD77-F1C0-6A49-9F4B3D05994E}"/>
              </a:ext>
            </a:extLst>
          </p:cNvPr>
          <p:cNvSpPr txBox="1"/>
          <p:nvPr/>
        </p:nvSpPr>
        <p:spPr>
          <a:xfrm>
            <a:off x="1051791" y="2148699"/>
            <a:ext cx="1282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MIMAN</a:t>
            </a:r>
            <a:endParaRPr lang="ko-KR" alt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298427-044F-F499-A563-DB6327217896}"/>
              </a:ext>
            </a:extLst>
          </p:cNvPr>
          <p:cNvSpPr txBox="1"/>
          <p:nvPr/>
        </p:nvSpPr>
        <p:spPr>
          <a:xfrm>
            <a:off x="1051791" y="4799382"/>
            <a:ext cx="1282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HYVRID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28822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17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실험계획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–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27DC1-0F69-3D1D-62A6-FCBE4AF79C05}"/>
              </a:ext>
            </a:extLst>
          </p:cNvPr>
          <p:cNvSpPr txBox="1"/>
          <p:nvPr/>
        </p:nvSpPr>
        <p:spPr>
          <a:xfrm>
            <a:off x="279069" y="744431"/>
            <a:ext cx="1170272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400" dirty="0"/>
              <a:t>Test List</a:t>
            </a:r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ko-KR" sz="2000" dirty="0"/>
              <a:t>Battery (2</a:t>
            </a:r>
            <a:r>
              <a:rPr lang="ko-KR" altLang="en-US" sz="2000" dirty="0"/>
              <a:t>월 </a:t>
            </a:r>
            <a:r>
              <a:rPr lang="en-US" altLang="ko-KR" sz="2000" dirty="0"/>
              <a:t>10</a:t>
            </a:r>
            <a:r>
              <a:rPr lang="ko-KR" altLang="en-US" sz="2000" dirty="0"/>
              <a:t>일 납품</a:t>
            </a:r>
            <a:r>
              <a:rPr lang="en-US" altLang="ko-KR" sz="2000" dirty="0"/>
              <a:t>)</a:t>
            </a:r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ko-KR" sz="2000" dirty="0"/>
              <a:t>PCDU test (3</a:t>
            </a:r>
            <a:r>
              <a:rPr lang="ko-KR" altLang="en-US" sz="2000" dirty="0"/>
              <a:t>월 중에 입고 예정</a:t>
            </a:r>
            <a:r>
              <a:rPr lang="en-US" altLang="ko-KR" sz="2000" dirty="0"/>
              <a:t>)</a:t>
            </a:r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ko-KR" sz="2000" dirty="0"/>
              <a:t>Solar Array (2</a:t>
            </a:r>
            <a:r>
              <a:rPr lang="ko-KR" altLang="en-US" sz="2000" dirty="0"/>
              <a:t>월</a:t>
            </a:r>
            <a:r>
              <a:rPr lang="en-US" altLang="ko-KR" sz="2000" dirty="0"/>
              <a:t> 9</a:t>
            </a:r>
            <a:r>
              <a:rPr lang="ko-KR" altLang="en-US" sz="2000" dirty="0"/>
              <a:t>일 입고 예정</a:t>
            </a:r>
            <a:r>
              <a:rPr lang="en-US" altLang="ko-KR" sz="2000" dirty="0"/>
              <a:t>)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ko-KR" altLang="en-US" sz="2000" dirty="0"/>
              <a:t>모든 부품에 대한 </a:t>
            </a:r>
            <a:r>
              <a:rPr lang="en-US" altLang="ko-KR" sz="2000" dirty="0"/>
              <a:t>Telemetry test</a:t>
            </a:r>
          </a:p>
          <a:p>
            <a:pPr lvl="1"/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400" dirty="0"/>
              <a:t>Set Equipment</a:t>
            </a:r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ko-KR" sz="2000" dirty="0"/>
              <a:t>Power supply</a:t>
            </a:r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ko-KR" sz="2000" dirty="0"/>
              <a:t>Multi-meter </a:t>
            </a:r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ko-KR" sz="2000" dirty="0"/>
              <a:t>Electronic Load </a:t>
            </a:r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ko-KR" sz="2000" dirty="0"/>
              <a:t>I2C communicate board</a:t>
            </a:r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ko-KR" sz="2000" dirty="0"/>
              <a:t>Under ESD protection</a:t>
            </a:r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ko-KR" sz="2000" dirty="0"/>
              <a:t>In clean-booth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693A2412-33E8-5AF4-56E2-D4FD64141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7216013" y="1125417"/>
            <a:ext cx="4229656" cy="4607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B288B9-EB33-CFEE-7C73-60F4857FC108}"/>
              </a:ext>
            </a:extLst>
          </p:cNvPr>
          <p:cNvSpPr/>
          <p:nvPr/>
        </p:nvSpPr>
        <p:spPr>
          <a:xfrm>
            <a:off x="7229928" y="2103807"/>
            <a:ext cx="2030681" cy="45126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Simulated Solar Array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Power Supply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58E9D2-C615-E94A-63EA-91E97E46DAC4}"/>
              </a:ext>
            </a:extLst>
          </p:cNvPr>
          <p:cNvSpPr/>
          <p:nvPr/>
        </p:nvSpPr>
        <p:spPr>
          <a:xfrm>
            <a:off x="9389256" y="1139925"/>
            <a:ext cx="2030681" cy="60762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Simulated Battery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Power Supply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Electric Load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CC8941-C8BF-DE90-88E0-8315702633FD}"/>
              </a:ext>
            </a:extLst>
          </p:cNvPr>
          <p:cNvSpPr/>
          <p:nvPr/>
        </p:nvSpPr>
        <p:spPr>
          <a:xfrm>
            <a:off x="8631217" y="5381397"/>
            <a:ext cx="1504207" cy="30875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EPS Module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F5B8C9-3700-8691-5210-18B8B052DA7D}"/>
              </a:ext>
            </a:extLst>
          </p:cNvPr>
          <p:cNvSpPr/>
          <p:nvPr/>
        </p:nvSpPr>
        <p:spPr>
          <a:xfrm>
            <a:off x="9818749" y="3740623"/>
            <a:ext cx="1620982" cy="40574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Arduino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for I2C command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17ED360-ADEA-55FE-CBBC-7B6A2104DB67}"/>
              </a:ext>
            </a:extLst>
          </p:cNvPr>
          <p:cNvSpPr/>
          <p:nvPr/>
        </p:nvSpPr>
        <p:spPr>
          <a:xfrm>
            <a:off x="7633689" y="4583771"/>
            <a:ext cx="1383475" cy="29886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ESD Protected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118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18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PCDU Test</a:t>
            </a:r>
          </a:p>
        </p:txBody>
      </p:sp>
      <p:sp>
        <p:nvSpPr>
          <p:cNvPr id="31" name="내용 개체 틀 1">
            <a:extLst>
              <a:ext uri="{FF2B5EF4-FFF2-40B4-BE49-F238E27FC236}">
                <a16:creationId xmlns:a16="http://schemas.microsoft.com/office/drawing/2014/main" id="{CE7E0FB9-2D3A-4FD0-B88D-08835A1B1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749312"/>
            <a:ext cx="11635200" cy="61086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 Battery Test</a:t>
            </a:r>
            <a:r>
              <a:rPr lang="ko-KR" altLang="en-US" dirty="0"/>
              <a:t> </a:t>
            </a:r>
            <a:r>
              <a:rPr lang="en-US" altLang="ko-KR" dirty="0"/>
              <a:t>List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Battery Charge/ Discharge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Undervoltage Protection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BCR Testing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</a:t>
            </a:r>
            <a:r>
              <a:rPr lang="en-US" altLang="ko-KR" dirty="0" err="1"/>
              <a:t>EoC</a:t>
            </a:r>
            <a:r>
              <a:rPr lang="en-US" altLang="ko-KR" dirty="0"/>
              <a:t> Operation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Telemetry Testing</a:t>
            </a:r>
          </a:p>
          <a:p>
            <a:pPr lvl="2">
              <a:buFont typeface="Wingdings" panose="05000000000000000000" pitchFamily="2" charset="2"/>
              <a:buChar char="u"/>
            </a:pPr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A476A-F37D-A2DD-72DF-746D66111D79}"/>
              </a:ext>
            </a:extLst>
          </p:cNvPr>
          <p:cNvSpPr txBox="1"/>
          <p:nvPr/>
        </p:nvSpPr>
        <p:spPr>
          <a:xfrm>
            <a:off x="4421120" y="1263888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/>
              <a:t>alter the battery voltage manually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504AC5-940A-F0F1-4DD5-079936E7CADE}"/>
              </a:ext>
            </a:extLst>
          </p:cNvPr>
          <p:cNvSpPr/>
          <p:nvPr/>
        </p:nvSpPr>
        <p:spPr>
          <a:xfrm>
            <a:off x="4471675" y="1263888"/>
            <a:ext cx="30393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417478-256D-705A-B6DB-5FC00B8D657D}"/>
              </a:ext>
            </a:extLst>
          </p:cNvPr>
          <p:cNvSpPr/>
          <p:nvPr/>
        </p:nvSpPr>
        <p:spPr>
          <a:xfrm>
            <a:off x="4385950" y="1263888"/>
            <a:ext cx="857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C1A2550-3F0E-A6E7-4B16-E7A0A4C928DC}"/>
              </a:ext>
            </a:extLst>
          </p:cNvPr>
          <p:cNvGrpSpPr/>
          <p:nvPr/>
        </p:nvGrpSpPr>
        <p:grpSpPr>
          <a:xfrm>
            <a:off x="3077413" y="1863599"/>
            <a:ext cx="389659" cy="590466"/>
            <a:chOff x="4385950" y="1963129"/>
            <a:chExt cx="389659" cy="81160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6CAA5B8-42F5-20FC-2079-7B67A7D7A567}"/>
                </a:ext>
              </a:extLst>
            </p:cNvPr>
            <p:cNvSpPr/>
            <p:nvPr/>
          </p:nvSpPr>
          <p:spPr>
            <a:xfrm>
              <a:off x="4471675" y="1963129"/>
              <a:ext cx="303934" cy="8116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CAD8C01-4CC6-AEE5-3893-1CE9D76B29B0}"/>
                </a:ext>
              </a:extLst>
            </p:cNvPr>
            <p:cNvSpPr/>
            <p:nvPr/>
          </p:nvSpPr>
          <p:spPr>
            <a:xfrm>
              <a:off x="4385950" y="1963129"/>
              <a:ext cx="85725" cy="8116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04709B-27CA-AE35-ACA6-14B4154F169E}"/>
              </a:ext>
            </a:extLst>
          </p:cNvPr>
          <p:cNvSpPr txBox="1"/>
          <p:nvPr/>
        </p:nvSpPr>
        <p:spPr>
          <a:xfrm>
            <a:off x="3122621" y="1994662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/>
              <a:t>Refer to EPS user manual </a:t>
            </a:r>
          </a:p>
        </p:txBody>
      </p:sp>
    </p:spTree>
    <p:extLst>
      <p:ext uri="{BB962C8B-B14F-4D97-AF65-F5344CB8AC3E}">
        <p14:creationId xmlns:p14="http://schemas.microsoft.com/office/powerpoint/2010/main" val="297465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19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 Test</a:t>
            </a:r>
          </a:p>
        </p:txBody>
      </p:sp>
      <p:sp>
        <p:nvSpPr>
          <p:cNvPr id="31" name="내용 개체 틀 1">
            <a:extLst>
              <a:ext uri="{FF2B5EF4-FFF2-40B4-BE49-F238E27FC236}">
                <a16:creationId xmlns:a16="http://schemas.microsoft.com/office/drawing/2014/main" id="{CE7E0FB9-2D3A-4FD0-B88D-08835A1B1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749313"/>
            <a:ext cx="8640000" cy="522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 Battery</a:t>
            </a:r>
          </a:p>
          <a:p>
            <a:pPr lvl="1">
              <a:buFont typeface="Wingdings" panose="05000000000000000000" pitchFamily="2" charset="2"/>
              <a:buChar char="u"/>
            </a:pP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951337-01F9-4804-ECC4-FE76DEC6C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74" y="1511613"/>
            <a:ext cx="862965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16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Battery Test</a:t>
            </a:r>
          </a:p>
        </p:txBody>
      </p:sp>
      <p:sp>
        <p:nvSpPr>
          <p:cNvPr id="31" name="내용 개체 틀 1">
            <a:extLst>
              <a:ext uri="{FF2B5EF4-FFF2-40B4-BE49-F238E27FC236}">
                <a16:creationId xmlns:a16="http://schemas.microsoft.com/office/drawing/2014/main" id="{CE7E0FB9-2D3A-4FD0-B88D-08835A1B1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749313"/>
            <a:ext cx="8640000" cy="522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 Battery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A43805-9813-579D-4258-F4839CC44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670" y="1711756"/>
            <a:ext cx="5705475" cy="4448175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3E37996-E3A2-A932-6639-5A75AF226593}"/>
              </a:ext>
            </a:extLst>
          </p:cNvPr>
          <p:cNvCxnSpPr/>
          <p:nvPr/>
        </p:nvCxnSpPr>
        <p:spPr>
          <a:xfrm>
            <a:off x="6561438" y="4436076"/>
            <a:ext cx="1383957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399EEC2-36FB-F305-40C0-561AF12ECAA3}"/>
              </a:ext>
            </a:extLst>
          </p:cNvPr>
          <p:cNvCxnSpPr/>
          <p:nvPr/>
        </p:nvCxnSpPr>
        <p:spPr>
          <a:xfrm>
            <a:off x="6561437" y="4798540"/>
            <a:ext cx="1383957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91D095-0539-3082-1A3E-7B8D493A0AF9}"/>
              </a:ext>
            </a:extLst>
          </p:cNvPr>
          <p:cNvCxnSpPr/>
          <p:nvPr/>
        </p:nvCxnSpPr>
        <p:spPr>
          <a:xfrm>
            <a:off x="6561437" y="5136292"/>
            <a:ext cx="1383957" cy="0"/>
          </a:xfrm>
          <a:prstGeom prst="line">
            <a:avLst/>
          </a:prstGeom>
          <a:ln>
            <a:solidFill>
              <a:srgbClr val="3CE8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D10EE2C-7799-22D9-6154-DC383D796A8B}"/>
              </a:ext>
            </a:extLst>
          </p:cNvPr>
          <p:cNvCxnSpPr/>
          <p:nvPr/>
        </p:nvCxnSpPr>
        <p:spPr>
          <a:xfrm>
            <a:off x="6561437" y="5436974"/>
            <a:ext cx="1383957" cy="0"/>
          </a:xfrm>
          <a:prstGeom prst="line">
            <a:avLst/>
          </a:prstGeom>
          <a:ln>
            <a:solidFill>
              <a:srgbClr val="55F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AD7125C-6EF1-CCFD-5B9C-38C6BFB990C6}"/>
              </a:ext>
            </a:extLst>
          </p:cNvPr>
          <p:cNvCxnSpPr/>
          <p:nvPr/>
        </p:nvCxnSpPr>
        <p:spPr>
          <a:xfrm>
            <a:off x="6561437" y="5725298"/>
            <a:ext cx="138395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6BBB65-D873-0A06-70B0-6D6C8BAAC618}"/>
              </a:ext>
            </a:extLst>
          </p:cNvPr>
          <p:cNvSpPr txBox="1"/>
          <p:nvPr/>
        </p:nvSpPr>
        <p:spPr>
          <a:xfrm>
            <a:off x="8131654" y="4251410"/>
            <a:ext cx="1383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chemeClr val="accent1"/>
                </a:solidFill>
              </a:rPr>
              <a:t>Array_PWR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B8BED2-8107-6DA1-1D4E-4B3EDB5855EC}"/>
              </a:ext>
            </a:extLst>
          </p:cNvPr>
          <p:cNvSpPr txBox="1"/>
          <p:nvPr/>
        </p:nvSpPr>
        <p:spPr>
          <a:xfrm>
            <a:off x="8131654" y="4613874"/>
            <a:ext cx="1383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chemeClr val="accent1"/>
                </a:solidFill>
              </a:rPr>
              <a:t>Array_RTN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9D69AA-F073-7E44-45EB-7E6B5A8F31C6}"/>
              </a:ext>
            </a:extLst>
          </p:cNvPr>
          <p:cNvSpPr txBox="1"/>
          <p:nvPr/>
        </p:nvSpPr>
        <p:spPr>
          <a:xfrm>
            <a:off x="8131654" y="4951626"/>
            <a:ext cx="1767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3CE8FA"/>
                </a:solidFill>
              </a:rPr>
              <a:t>Temp Sensor</a:t>
            </a:r>
            <a:endParaRPr lang="ko-KR" altLang="en-US" dirty="0">
              <a:solidFill>
                <a:srgbClr val="3CE8FA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51143D-0107-E34F-FCB3-95CC88CD76A1}"/>
              </a:ext>
            </a:extLst>
          </p:cNvPr>
          <p:cNvSpPr txBox="1"/>
          <p:nvPr/>
        </p:nvSpPr>
        <p:spPr>
          <a:xfrm>
            <a:off x="8131653" y="5252308"/>
            <a:ext cx="2136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55FF55"/>
                </a:solidFill>
              </a:rPr>
              <a:t>Common Ground</a:t>
            </a:r>
            <a:endParaRPr lang="ko-KR" altLang="en-US" dirty="0">
              <a:solidFill>
                <a:srgbClr val="55FF55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0A160A-34AE-FA15-4DF8-191AFD894935}"/>
              </a:ext>
            </a:extLst>
          </p:cNvPr>
          <p:cNvSpPr txBox="1"/>
          <p:nvPr/>
        </p:nvSpPr>
        <p:spPr>
          <a:xfrm>
            <a:off x="8131653" y="5540632"/>
            <a:ext cx="2136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Sun Detector</a:t>
            </a:r>
            <a:endParaRPr lang="ko-KR" altLang="en-US" dirty="0">
              <a:solidFill>
                <a:srgbClr val="FFC000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B67AA9E-3E6A-FCBC-0DDC-653F6D9342F8}"/>
              </a:ext>
            </a:extLst>
          </p:cNvPr>
          <p:cNvCxnSpPr>
            <a:cxnSpLocks/>
          </p:cNvCxnSpPr>
          <p:nvPr/>
        </p:nvCxnSpPr>
        <p:spPr>
          <a:xfrm flipV="1">
            <a:off x="4635656" y="3241964"/>
            <a:ext cx="0" cy="13787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6416737-624B-B96A-E587-74C781C1CB26}"/>
              </a:ext>
            </a:extLst>
          </p:cNvPr>
          <p:cNvSpPr txBox="1"/>
          <p:nvPr/>
        </p:nvSpPr>
        <p:spPr>
          <a:xfrm>
            <a:off x="3803074" y="2838877"/>
            <a:ext cx="19119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Inline power resistor</a:t>
            </a:r>
            <a:endParaRPr lang="ko-KR" altLang="en-US" sz="14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DAE6273-2D57-B3DA-D70F-2676C262E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842" y="1893393"/>
            <a:ext cx="2044156" cy="87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03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21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Charge Test</a:t>
            </a:r>
          </a:p>
        </p:txBody>
      </p:sp>
      <p:sp>
        <p:nvSpPr>
          <p:cNvPr id="31" name="내용 개체 틀 1">
            <a:extLst>
              <a:ext uri="{FF2B5EF4-FFF2-40B4-BE49-F238E27FC236}">
                <a16:creationId xmlns:a16="http://schemas.microsoft.com/office/drawing/2014/main" id="{CE7E0FB9-2D3A-4FD0-B88D-08835A1B1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749313"/>
            <a:ext cx="8640000" cy="522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 Charge Mode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MPPT mode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ko-KR" dirty="0"/>
              <a:t>Before battery voltage reaches to </a:t>
            </a:r>
            <a:r>
              <a:rPr lang="en-US" altLang="ko-KR" dirty="0" err="1"/>
              <a:t>EoC</a:t>
            </a:r>
            <a:r>
              <a:rPr lang="en-US" altLang="ko-KR" dirty="0"/>
              <a:t> 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dirty="0" err="1"/>
              <a:t>EoC</a:t>
            </a:r>
            <a:r>
              <a:rPr lang="en-US" altLang="ko-KR" dirty="0"/>
              <a:t> level: 8.26 V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ko-KR" dirty="0"/>
              <a:t>Check voltage level during charging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dirty="0"/>
              <a:t>7.0 ~ 8.0 V</a:t>
            </a:r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65BE946-BE53-66A4-208B-F9BD2310091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91893" y="725866"/>
            <a:ext cx="3937178" cy="3210441"/>
          </a:xfrm>
          <a:prstGeom prst="rect">
            <a:avLst/>
          </a:prstGeom>
        </p:spPr>
      </p:pic>
      <p:grpSp>
        <p:nvGrpSpPr>
          <p:cNvPr id="3" name="그룹 7178">
            <a:extLst>
              <a:ext uri="{FF2B5EF4-FFF2-40B4-BE49-F238E27FC236}">
                <a16:creationId xmlns:a16="http://schemas.microsoft.com/office/drawing/2014/main" id="{BB741D2B-D7A1-8E3C-340A-2941E1008546}"/>
              </a:ext>
            </a:extLst>
          </p:cNvPr>
          <p:cNvGrpSpPr/>
          <p:nvPr/>
        </p:nvGrpSpPr>
        <p:grpSpPr>
          <a:xfrm>
            <a:off x="841573" y="4152560"/>
            <a:ext cx="8492811" cy="2525958"/>
            <a:chOff x="543193" y="3867718"/>
            <a:chExt cx="8492811" cy="2525958"/>
          </a:xfrm>
        </p:grpSpPr>
        <p:pic>
          <p:nvPicPr>
            <p:cNvPr id="4" name="Picture 7">
              <a:extLst>
                <a:ext uri="{FF2B5EF4-FFF2-40B4-BE49-F238E27FC236}">
                  <a16:creationId xmlns:a16="http://schemas.microsoft.com/office/drawing/2014/main" id="{8C006EC8-0DDF-14EE-CE86-3BC452864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305579" y="3785419"/>
              <a:ext cx="2525958" cy="2690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75A727F-AE45-A396-8E7E-EC75A9B880CC}"/>
                </a:ext>
              </a:extLst>
            </p:cNvPr>
            <p:cNvSpPr/>
            <p:nvPr/>
          </p:nvSpPr>
          <p:spPr>
            <a:xfrm>
              <a:off x="543193" y="4347129"/>
              <a:ext cx="1031238" cy="6703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Power</a:t>
              </a:r>
            </a:p>
            <a:p>
              <a:pPr algn="ctr"/>
              <a:r>
                <a:rPr lang="en-US" altLang="ko-KR" dirty="0"/>
                <a:t>Supply</a:t>
              </a:r>
              <a:endParaRPr lang="ko-KR" altLang="en-US" dirty="0"/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685DE37D-1359-8E23-32D8-F0C009B099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18955218">
              <a:off x="649110" y="5107336"/>
              <a:ext cx="502027" cy="4677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F9617184-C8E2-9D18-A4C1-F15CC9D62E94}"/>
                </a:ext>
              </a:extLst>
            </p:cNvPr>
            <p:cNvCxnSpPr/>
            <p:nvPr/>
          </p:nvCxnSpPr>
          <p:spPr>
            <a:xfrm>
              <a:off x="900123" y="5636943"/>
              <a:ext cx="2352493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07FA519F-FF8F-1DBC-3974-7B860E489123}"/>
                </a:ext>
              </a:extLst>
            </p:cNvPr>
            <p:cNvCxnSpPr/>
            <p:nvPr/>
          </p:nvCxnSpPr>
          <p:spPr>
            <a:xfrm>
              <a:off x="1254863" y="5010303"/>
              <a:ext cx="0" cy="51581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37105EBC-07C3-2779-C71A-F406680F5ECA}"/>
                </a:ext>
              </a:extLst>
            </p:cNvPr>
            <p:cNvCxnSpPr/>
            <p:nvPr/>
          </p:nvCxnSpPr>
          <p:spPr>
            <a:xfrm>
              <a:off x="1243140" y="5537842"/>
              <a:ext cx="2009476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4F7A142-F9F3-534D-0859-D35CB7928CCE}"/>
                </a:ext>
              </a:extLst>
            </p:cNvPr>
            <p:cNvSpPr/>
            <p:nvPr/>
          </p:nvSpPr>
          <p:spPr>
            <a:xfrm>
              <a:off x="1636579" y="3979979"/>
              <a:ext cx="1616037" cy="35059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Oscilloscope</a:t>
              </a:r>
              <a:endParaRPr lang="ko-KR" altLang="en-US" dirty="0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AD5AAFB4-2608-DF83-501C-7D931E94B3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3722" y="4349578"/>
              <a:ext cx="1301218" cy="906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99E8722-F33D-FD2C-795A-ED34224BB4F5}"/>
                </a:ext>
              </a:extLst>
            </p:cNvPr>
            <p:cNvCxnSpPr/>
            <p:nvPr/>
          </p:nvCxnSpPr>
          <p:spPr>
            <a:xfrm flipV="1">
              <a:off x="2673056" y="5017477"/>
              <a:ext cx="11192" cy="619466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C995813-E44A-25BE-8321-3ACB93CC6867}"/>
                </a:ext>
              </a:extLst>
            </p:cNvPr>
            <p:cNvCxnSpPr/>
            <p:nvPr/>
          </p:nvCxnSpPr>
          <p:spPr>
            <a:xfrm>
              <a:off x="2818324" y="5026960"/>
              <a:ext cx="0" cy="52298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DFEA34C-FE48-628B-60D8-8E09EDE4EA7A}"/>
                </a:ext>
              </a:extLst>
            </p:cNvPr>
            <p:cNvSpPr/>
            <p:nvPr/>
          </p:nvSpPr>
          <p:spPr>
            <a:xfrm>
              <a:off x="6275777" y="3946411"/>
              <a:ext cx="1031238" cy="67034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Power</a:t>
              </a:r>
            </a:p>
            <a:p>
              <a:pPr algn="ctr"/>
              <a:r>
                <a:rPr lang="en-US" altLang="ko-KR" dirty="0"/>
                <a:t>Supply</a:t>
              </a:r>
              <a:endParaRPr lang="ko-KR" altLang="en-US" dirty="0"/>
            </a:p>
          </p:txBody>
        </p:sp>
        <p:pic>
          <p:nvPicPr>
            <p:cNvPr id="16" name="Picture 3">
              <a:extLst>
                <a:ext uri="{FF2B5EF4-FFF2-40B4-BE49-F238E27FC236}">
                  <a16:creationId xmlns:a16="http://schemas.microsoft.com/office/drawing/2014/main" id="{CA5A338E-C748-4D17-F65F-04C347BDC4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472492" y="4273696"/>
              <a:ext cx="1510988" cy="778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192A91F-D961-78F5-F295-C1B695FA9887}"/>
                </a:ext>
              </a:extLst>
            </p:cNvPr>
            <p:cNvSpPr/>
            <p:nvPr/>
          </p:nvSpPr>
          <p:spPr>
            <a:xfrm>
              <a:off x="7419967" y="3956468"/>
              <a:ext cx="1616037" cy="35059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Electric load</a:t>
              </a:r>
              <a:endParaRPr lang="ko-KR" altLang="en-US" dirty="0"/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104FD540-6005-1BAB-5218-6A82C5FE9CA1}"/>
                </a:ext>
              </a:extLst>
            </p:cNvPr>
            <p:cNvCxnSpPr/>
            <p:nvPr/>
          </p:nvCxnSpPr>
          <p:spPr>
            <a:xfrm>
              <a:off x="7046063" y="4614880"/>
              <a:ext cx="0" cy="515817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꺾인 연결선 49">
              <a:extLst>
                <a:ext uri="{FF2B5EF4-FFF2-40B4-BE49-F238E27FC236}">
                  <a16:creationId xmlns:a16="http://schemas.microsoft.com/office/drawing/2014/main" id="{657CAB37-BFEB-B162-CCFF-A67D98E7FF69}"/>
                </a:ext>
              </a:extLst>
            </p:cNvPr>
            <p:cNvCxnSpPr/>
            <p:nvPr/>
          </p:nvCxnSpPr>
          <p:spPr>
            <a:xfrm rot="10800000" flipV="1">
              <a:off x="5720862" y="4872787"/>
              <a:ext cx="3012830" cy="257909"/>
            </a:xfrm>
            <a:prstGeom prst="bentConnector3">
              <a:avLst>
                <a:gd name="adj1" fmla="val -58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꺾인 연결선 56">
              <a:extLst>
                <a:ext uri="{FF2B5EF4-FFF2-40B4-BE49-F238E27FC236}">
                  <a16:creationId xmlns:a16="http://schemas.microsoft.com/office/drawing/2014/main" id="{0F907316-8E6E-0271-9E2D-E1401F6BBCE5}"/>
                </a:ext>
              </a:extLst>
            </p:cNvPr>
            <p:cNvCxnSpPr/>
            <p:nvPr/>
          </p:nvCxnSpPr>
          <p:spPr>
            <a:xfrm rot="10800000" flipV="1">
              <a:off x="5720862" y="4923128"/>
              <a:ext cx="2831616" cy="333359"/>
            </a:xfrm>
            <a:prstGeom prst="bentConnector3">
              <a:avLst>
                <a:gd name="adj1" fmla="val 319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D573A8AC-AA4A-C92F-033D-3CEDE921D961}"/>
                </a:ext>
              </a:extLst>
            </p:cNvPr>
            <p:cNvCxnSpPr/>
            <p:nvPr/>
          </p:nvCxnSpPr>
          <p:spPr>
            <a:xfrm flipV="1">
              <a:off x="6612009" y="4620783"/>
              <a:ext cx="11192" cy="619466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CA9A8BD-D017-66AD-BE8D-BEB7C17FBD2F}"/>
                </a:ext>
              </a:extLst>
            </p:cNvPr>
            <p:cNvSpPr/>
            <p:nvPr/>
          </p:nvSpPr>
          <p:spPr>
            <a:xfrm>
              <a:off x="3520475" y="5580601"/>
              <a:ext cx="1682427" cy="60918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Multi-meter (V)</a:t>
              </a:r>
              <a:endParaRPr lang="ko-KR" altLang="en-US" dirty="0"/>
            </a:p>
          </p:txBody>
        </p:sp>
        <p:cxnSp>
          <p:nvCxnSpPr>
            <p:cNvPr id="27" name="꺾인 연결선 60">
              <a:extLst>
                <a:ext uri="{FF2B5EF4-FFF2-40B4-BE49-F238E27FC236}">
                  <a16:creationId xmlns:a16="http://schemas.microsoft.com/office/drawing/2014/main" id="{F1E5341B-AF03-D07C-8DD8-453E7879F7DA}"/>
                </a:ext>
              </a:extLst>
            </p:cNvPr>
            <p:cNvCxnSpPr/>
            <p:nvPr/>
          </p:nvCxnSpPr>
          <p:spPr>
            <a:xfrm flipV="1">
              <a:off x="3821723" y="5028638"/>
              <a:ext cx="1735015" cy="528517"/>
            </a:xfrm>
            <a:prstGeom prst="bentConnector3">
              <a:avLst>
                <a:gd name="adj1" fmla="val -676"/>
              </a:avLst>
            </a:prstGeom>
            <a:ln w="381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꺾인 연결선 70">
              <a:extLst>
                <a:ext uri="{FF2B5EF4-FFF2-40B4-BE49-F238E27FC236}">
                  <a16:creationId xmlns:a16="http://schemas.microsoft.com/office/drawing/2014/main" id="{EC4FF9C7-6908-778C-37B5-914EB699D2CA}"/>
                </a:ext>
              </a:extLst>
            </p:cNvPr>
            <p:cNvCxnSpPr/>
            <p:nvPr/>
          </p:nvCxnSpPr>
          <p:spPr>
            <a:xfrm flipV="1">
              <a:off x="4888186" y="5341208"/>
              <a:ext cx="668552" cy="215947"/>
            </a:xfrm>
            <a:prstGeom prst="bentConnector3">
              <a:avLst>
                <a:gd name="adj1" fmla="val -4359"/>
              </a:avLst>
            </a:prstGeom>
            <a:ln w="381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1288D8-C55A-CC7C-CF9E-7A665FC74615}"/>
                </a:ext>
              </a:extLst>
            </p:cNvPr>
            <p:cNvSpPr txBox="1"/>
            <p:nvPr/>
          </p:nvSpPr>
          <p:spPr>
            <a:xfrm>
              <a:off x="3650962" y="4273696"/>
              <a:ext cx="16162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 dirty="0"/>
                <a:t>BAT-EPS</a:t>
              </a:r>
              <a:endParaRPr lang="ko-KR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86926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22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Discharge Test</a:t>
            </a: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4E382372-1FEA-AB85-F2BC-79FA52B8C129}"/>
              </a:ext>
            </a:extLst>
          </p:cNvPr>
          <p:cNvSpPr txBox="1">
            <a:spLocks/>
          </p:cNvSpPr>
          <p:nvPr/>
        </p:nvSpPr>
        <p:spPr>
          <a:xfrm>
            <a:off x="233320" y="7876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Load Electric Power and Monitor Battery Voltage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Convert C rate to current value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ko-KR" dirty="0"/>
              <a:t>40 </a:t>
            </a:r>
            <a:r>
              <a:rPr lang="en-US" altLang="ko-KR" dirty="0" err="1"/>
              <a:t>Wh</a:t>
            </a:r>
            <a:r>
              <a:rPr lang="en-US" altLang="ko-KR" dirty="0"/>
              <a:t> Battery capacity: </a:t>
            </a:r>
            <a:r>
              <a:rPr lang="en-US" altLang="ko-KR" dirty="0">
                <a:solidFill>
                  <a:schemeClr val="accent1"/>
                </a:solidFill>
              </a:rPr>
              <a:t>TBD</a:t>
            </a:r>
            <a:r>
              <a:rPr lang="en-US" altLang="ko-KR" dirty="0"/>
              <a:t> Ah @20 degree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ko-KR" dirty="0"/>
              <a:t>Recommended maximum C/2 	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dirty="0"/>
              <a:t>C/2: </a:t>
            </a:r>
            <a:r>
              <a:rPr lang="en-US" altLang="ko-KR" dirty="0">
                <a:solidFill>
                  <a:schemeClr val="accent1"/>
                </a:solidFill>
              </a:rPr>
              <a:t>TBD</a:t>
            </a:r>
            <a:r>
              <a:rPr lang="en-US" altLang="ko-KR" dirty="0"/>
              <a:t> A loaded by electric load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dirty="0"/>
              <a:t>C/5: </a:t>
            </a:r>
            <a:r>
              <a:rPr lang="en-US" altLang="ko-KR" dirty="0">
                <a:solidFill>
                  <a:schemeClr val="accent1"/>
                </a:solidFill>
              </a:rPr>
              <a:t>TBD</a:t>
            </a:r>
            <a:r>
              <a:rPr lang="en-US" altLang="ko-KR" dirty="0"/>
              <a:t> A loaded by electric load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dirty="0"/>
              <a:t>C/10: </a:t>
            </a:r>
            <a:r>
              <a:rPr lang="en-US" altLang="ko-KR" dirty="0">
                <a:solidFill>
                  <a:schemeClr val="accent1"/>
                </a:solidFill>
              </a:rPr>
              <a:t>TBD</a:t>
            </a:r>
            <a:r>
              <a:rPr lang="en-US" altLang="ko-KR" dirty="0"/>
              <a:t> A loaded by electric load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ko-KR" dirty="0"/>
              <a:t>C/15: </a:t>
            </a:r>
            <a:r>
              <a:rPr lang="en-US" altLang="ko-KR" dirty="0">
                <a:solidFill>
                  <a:schemeClr val="accent1"/>
                </a:solidFill>
              </a:rPr>
              <a:t>TBD</a:t>
            </a:r>
            <a:r>
              <a:rPr lang="en-US" altLang="ko-KR" dirty="0"/>
              <a:t> A loaded by electric load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3A257CF-4653-DA24-A9FD-15BE5638E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51251" y="3703780"/>
            <a:ext cx="3464800" cy="2008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23F50AD-FEB8-1C41-65FF-5A2552D92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62371" y="1975632"/>
            <a:ext cx="2448582" cy="1261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C1A8CD4-7A34-596E-D424-A5777C105AC2}"/>
              </a:ext>
            </a:extLst>
          </p:cNvPr>
          <p:cNvSpPr txBox="1"/>
          <p:nvPr/>
        </p:nvSpPr>
        <p:spPr>
          <a:xfrm>
            <a:off x="8607972" y="1484404"/>
            <a:ext cx="746235" cy="1569660"/>
          </a:xfrm>
          <a:prstGeom prst="rect">
            <a:avLst/>
          </a:prstGeom>
          <a:noFill/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/>
              <a:t>Tune Current load</a:t>
            </a:r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ko-KR" altLang="en-US" sz="1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E7B7EA-BCA7-BD1D-4FF2-F6DBCEDFC506}"/>
              </a:ext>
            </a:extLst>
          </p:cNvPr>
          <p:cNvSpPr txBox="1"/>
          <p:nvPr/>
        </p:nvSpPr>
        <p:spPr>
          <a:xfrm>
            <a:off x="7793452" y="1479154"/>
            <a:ext cx="746235" cy="1569660"/>
          </a:xfrm>
          <a:prstGeom prst="rect">
            <a:avLst/>
          </a:prstGeom>
          <a:noFill/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/>
              <a:t>Check Voltage</a:t>
            </a:r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ko-KR" altLang="en-US" sz="1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909F24-EB7A-D875-10B3-1BA173FBDA18}"/>
              </a:ext>
            </a:extLst>
          </p:cNvPr>
          <p:cNvSpPr txBox="1"/>
          <p:nvPr/>
        </p:nvSpPr>
        <p:spPr>
          <a:xfrm>
            <a:off x="9422525" y="1486609"/>
            <a:ext cx="746235" cy="461665"/>
          </a:xfrm>
          <a:prstGeom prst="rect">
            <a:avLst/>
          </a:prstGeom>
          <a:noFill/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/>
              <a:t>Check Time </a:t>
            </a:r>
          </a:p>
        </p:txBody>
      </p:sp>
      <p:cxnSp>
        <p:nvCxnSpPr>
          <p:cNvPr id="18" name="꺾인 연결선 22">
            <a:extLst>
              <a:ext uri="{FF2B5EF4-FFF2-40B4-BE49-F238E27FC236}">
                <a16:creationId xmlns:a16="http://schemas.microsoft.com/office/drawing/2014/main" id="{CF18FFC8-2CE9-1127-75FB-F058302D5057}"/>
              </a:ext>
            </a:extLst>
          </p:cNvPr>
          <p:cNvCxnSpPr/>
          <p:nvPr/>
        </p:nvCxnSpPr>
        <p:spPr>
          <a:xfrm rot="5400000" flipH="1" flipV="1">
            <a:off x="8586954" y="2963922"/>
            <a:ext cx="903889" cy="840823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23">
            <a:extLst>
              <a:ext uri="{FF2B5EF4-FFF2-40B4-BE49-F238E27FC236}">
                <a16:creationId xmlns:a16="http://schemas.microsoft.com/office/drawing/2014/main" id="{9B9972F4-47F5-18EC-7C74-FAA10A090D7A}"/>
              </a:ext>
            </a:extLst>
          </p:cNvPr>
          <p:cNvCxnSpPr/>
          <p:nvPr/>
        </p:nvCxnSpPr>
        <p:spPr>
          <a:xfrm rot="5400000" flipH="1" flipV="1">
            <a:off x="8037787" y="3530351"/>
            <a:ext cx="2263476" cy="108106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48B2E223-832D-0FC0-82E2-361C2F95C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660" y="3525780"/>
            <a:ext cx="4719798" cy="26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61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Solar Array Test</a:t>
            </a:r>
          </a:p>
        </p:txBody>
      </p:sp>
      <p:sp>
        <p:nvSpPr>
          <p:cNvPr id="31" name="내용 개체 틀 1">
            <a:extLst>
              <a:ext uri="{FF2B5EF4-FFF2-40B4-BE49-F238E27FC236}">
                <a16:creationId xmlns:a16="http://schemas.microsoft.com/office/drawing/2014/main" id="{CE7E0FB9-2D3A-4FD0-B88D-08835A1B1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749312"/>
            <a:ext cx="11635200" cy="61086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 Solar Array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Diode test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ko-KR" dirty="0"/>
              <a:t> To prevent backward current, reverse voltage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Light Emission test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ko-KR" dirty="0"/>
              <a:t> Halogen lamp test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ko-KR" dirty="0"/>
              <a:t>Dark room test – check backward current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Telemetry Testing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</a:t>
            </a:r>
            <a:r>
              <a:rPr lang="en-US" altLang="ko-KR" dirty="0" err="1"/>
              <a:t>V_oc</a:t>
            </a:r>
            <a:r>
              <a:rPr lang="en-US" altLang="ko-KR" dirty="0"/>
              <a:t>, </a:t>
            </a:r>
            <a:r>
              <a:rPr lang="en-US" altLang="ko-KR" dirty="0" err="1"/>
              <a:t>V_mpp</a:t>
            </a:r>
            <a:r>
              <a:rPr lang="en-US" altLang="ko-KR" dirty="0"/>
              <a:t>, </a:t>
            </a:r>
            <a:r>
              <a:rPr lang="en-US" altLang="ko-KR" dirty="0" err="1"/>
              <a:t>I_sc</a:t>
            </a:r>
            <a:r>
              <a:rPr lang="en-US" altLang="ko-KR" dirty="0"/>
              <a:t>, </a:t>
            </a:r>
            <a:r>
              <a:rPr lang="en-US" altLang="ko-KR" dirty="0" err="1"/>
              <a:t>I_mpp</a:t>
            </a:r>
            <a:r>
              <a:rPr lang="en-US" altLang="ko-KR" dirty="0"/>
              <a:t> </a:t>
            </a:r>
            <a:r>
              <a:rPr lang="ko-KR" altLang="en-US" dirty="0"/>
              <a:t>측정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u"/>
            </a:pPr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6E924AF-1555-1F7A-27DA-ED6E9E7C4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74" y="3803655"/>
            <a:ext cx="3047965" cy="241902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017453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PCM Test</a:t>
            </a: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116BEFE2-4AB3-5329-DBD6-C5BF2BA55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942974"/>
            <a:ext cx="8640000" cy="522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 PCM (Power Conditioning Module)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1) 3.3, 5 V, unregulated bus regulator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ko-KR" dirty="0"/>
              <a:t>Sweep load current up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ko-KR" dirty="0"/>
              <a:t>Voltage check per load current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altLang="ko-KR" dirty="0"/>
              <a:t>Peak-to-peak noise of DC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2) 12 V bus regulator 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3) Battery under-voltage shutdown</a:t>
            </a:r>
          </a:p>
          <a:p>
            <a:pPr lvl="1"/>
            <a:endParaRPr lang="en-US" altLang="ko-KR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Test Setup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D02129E-72A9-822B-474B-AA8219704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618189"/>
              </p:ext>
            </p:extLst>
          </p:nvPr>
        </p:nvGraphicFramePr>
        <p:xfrm>
          <a:off x="252000" y="4159875"/>
          <a:ext cx="4788924" cy="2003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6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6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4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Power Supply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Electrical load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Oscilloscope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7279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ko-KR" sz="1400" b="0" dirty="0">
                          <a:latin typeface="+mn-lt"/>
                        </a:rPr>
                        <a:t>Connect pin#36 with 7.74 V (typ.)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itchFamily="34" charset="0"/>
                        </a:rPr>
                        <a:t>Connect with PCM pin and change load current (50 ~ 1500 mA)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itchFamily="34" charset="0"/>
                        </a:rPr>
                        <a:t>Connect with electrical load node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004C768C-C747-A789-AF7D-22F4A0FEE2C1}"/>
              </a:ext>
            </a:extLst>
          </p:cNvPr>
          <p:cNvGrpSpPr/>
          <p:nvPr/>
        </p:nvGrpSpPr>
        <p:grpSpPr>
          <a:xfrm>
            <a:off x="6096000" y="651564"/>
            <a:ext cx="4788923" cy="5946492"/>
            <a:chOff x="5228250" y="1270663"/>
            <a:chExt cx="3740272" cy="4644363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1B51A327-A54D-E7ED-7B74-D6BD50A982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2485" y="1472802"/>
              <a:ext cx="1616037" cy="4442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E0BCF1-001D-CC4B-0CD4-7B8D88F0AD7E}"/>
                </a:ext>
              </a:extLst>
            </p:cNvPr>
            <p:cNvSpPr txBox="1"/>
            <p:nvPr/>
          </p:nvSpPr>
          <p:spPr>
            <a:xfrm>
              <a:off x="7710811" y="1270663"/>
              <a:ext cx="9525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b="1" dirty="0"/>
                <a:t>EPS</a:t>
              </a:r>
            </a:p>
            <a:p>
              <a:pPr algn="ctr"/>
              <a:r>
                <a:rPr lang="en-US" altLang="ko-KR" sz="2000" b="1" dirty="0"/>
                <a:t>PC104</a:t>
              </a:r>
              <a:endParaRPr lang="ko-KR" altLang="en-US" sz="2000" b="1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D515A392-875D-EF5F-231B-8409620A7B05}"/>
                </a:ext>
              </a:extLst>
            </p:cNvPr>
            <p:cNvSpPr/>
            <p:nvPr/>
          </p:nvSpPr>
          <p:spPr>
            <a:xfrm>
              <a:off x="5228250" y="1473802"/>
              <a:ext cx="1616037" cy="35059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Oscilloscope</a:t>
              </a:r>
              <a:endParaRPr lang="ko-KR" altLang="en-US" dirty="0"/>
            </a:p>
          </p:txBody>
        </p:sp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3016217D-80B2-CCC6-C749-F82D7DDF0B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393" y="1843401"/>
              <a:ext cx="1301218" cy="906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3">
              <a:extLst>
                <a:ext uri="{FF2B5EF4-FFF2-40B4-BE49-F238E27FC236}">
                  <a16:creationId xmlns:a16="http://schemas.microsoft.com/office/drawing/2014/main" id="{7A5E4362-A93E-9ABF-D6B7-9340AEB1BA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292000" y="3280064"/>
              <a:ext cx="1510988" cy="778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F0E7D81-EDCF-9840-ED78-B796A47126A1}"/>
                </a:ext>
              </a:extLst>
            </p:cNvPr>
            <p:cNvSpPr/>
            <p:nvPr/>
          </p:nvSpPr>
          <p:spPr>
            <a:xfrm>
              <a:off x="5239475" y="2962836"/>
              <a:ext cx="1616037" cy="35059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Electric load</a:t>
              </a:r>
              <a:endParaRPr lang="ko-KR" altLang="en-US" dirty="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4D587F8-835E-52C4-3C03-3276BF245BA3}"/>
                </a:ext>
              </a:extLst>
            </p:cNvPr>
            <p:cNvSpPr/>
            <p:nvPr/>
          </p:nvSpPr>
          <p:spPr>
            <a:xfrm>
              <a:off x="5239475" y="4451870"/>
              <a:ext cx="1616037" cy="6172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Power supply</a:t>
              </a:r>
              <a:endParaRPr lang="ko-KR" altLang="en-US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4294BCFE-6183-D110-D049-307DC69DCCDD}"/>
                </a:ext>
              </a:extLst>
            </p:cNvPr>
            <p:cNvSpPr/>
            <p:nvPr/>
          </p:nvSpPr>
          <p:spPr>
            <a:xfrm>
              <a:off x="5239475" y="5260239"/>
              <a:ext cx="1616037" cy="6172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Multi-meter</a:t>
              </a:r>
              <a:endParaRPr lang="ko-KR" altLang="en-US" dirty="0"/>
            </a:p>
          </p:txBody>
        </p:sp>
        <p:cxnSp>
          <p:nvCxnSpPr>
            <p:cNvPr id="35" name="꺾인 연결선 7">
              <a:extLst>
                <a:ext uri="{FF2B5EF4-FFF2-40B4-BE49-F238E27FC236}">
                  <a16:creationId xmlns:a16="http://schemas.microsoft.com/office/drawing/2014/main" id="{B6C4CF18-A02A-9C11-E6F2-9F917E318B9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410604" y="3844260"/>
              <a:ext cx="1883163" cy="98628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꺾인 연결선 7">
              <a:extLst>
                <a:ext uri="{FF2B5EF4-FFF2-40B4-BE49-F238E27FC236}">
                  <a16:creationId xmlns:a16="http://schemas.microsoft.com/office/drawing/2014/main" id="{8D1C06D0-09ED-AA45-2CCD-14EFB8B469D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572749" y="3884748"/>
              <a:ext cx="1721017" cy="199514"/>
            </a:xfrm>
            <a:prstGeom prst="bentConnector3">
              <a:avLst>
                <a:gd name="adj1" fmla="val 57668"/>
              </a:avLst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7">
              <a:extLst>
                <a:ext uri="{FF2B5EF4-FFF2-40B4-BE49-F238E27FC236}">
                  <a16:creationId xmlns:a16="http://schemas.microsoft.com/office/drawing/2014/main" id="{DA049B13-6183-5515-7129-311EDABD3180}"/>
                </a:ext>
              </a:extLst>
            </p:cNvPr>
            <p:cNvCxnSpPr>
              <a:cxnSpLocks/>
              <a:endCxn id="33" idx="3"/>
            </p:cNvCxnSpPr>
            <p:nvPr/>
          </p:nvCxnSpPr>
          <p:spPr>
            <a:xfrm rot="10800000" flipV="1">
              <a:off x="6855512" y="4588451"/>
              <a:ext cx="1438254" cy="172064"/>
            </a:xfrm>
            <a:prstGeom prst="bentConnector3">
              <a:avLst>
                <a:gd name="adj1" fmla="val 63109"/>
              </a:avLst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7">
              <a:extLst>
                <a:ext uri="{FF2B5EF4-FFF2-40B4-BE49-F238E27FC236}">
                  <a16:creationId xmlns:a16="http://schemas.microsoft.com/office/drawing/2014/main" id="{85E59EE9-DA33-9C42-FB94-F17FD3D645C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844288" y="4265668"/>
              <a:ext cx="1461617" cy="679096"/>
            </a:xfrm>
            <a:prstGeom prst="bentConnector3">
              <a:avLst>
                <a:gd name="adj1" fmla="val 68704"/>
              </a:avLst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6634B8AF-7217-2E29-0A27-68F44EDAE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5400000">
              <a:off x="6703975" y="3207336"/>
              <a:ext cx="852570" cy="356298"/>
            </a:xfrm>
            <a:prstGeom prst="rect">
              <a:avLst/>
            </a:prstGeom>
          </p:spPr>
        </p:pic>
        <p:cxnSp>
          <p:nvCxnSpPr>
            <p:cNvPr id="40" name="꺾인 연결선 7">
              <a:extLst>
                <a:ext uri="{FF2B5EF4-FFF2-40B4-BE49-F238E27FC236}">
                  <a16:creationId xmlns:a16="http://schemas.microsoft.com/office/drawing/2014/main" id="{8D4B2FED-1032-12DE-FB7C-83F4CC3EDDA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269754" y="2491232"/>
              <a:ext cx="983534" cy="473358"/>
            </a:xfrm>
            <a:prstGeom prst="bentConnector3">
              <a:avLst>
                <a:gd name="adj1" fmla="val 19252"/>
              </a:avLst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 7">
              <a:extLst>
                <a:ext uri="{FF2B5EF4-FFF2-40B4-BE49-F238E27FC236}">
                  <a16:creationId xmlns:a16="http://schemas.microsoft.com/office/drawing/2014/main" id="{8E8B9584-D9DA-D527-66D9-94FC7A939C1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254072" y="4581724"/>
              <a:ext cx="1482535" cy="269842"/>
            </a:xfrm>
            <a:prstGeom prst="bentConnector3">
              <a:avLst>
                <a:gd name="adj1" fmla="val 99471"/>
              </a:avLst>
            </a:prstGeom>
            <a:ln w="38100">
              <a:solidFill>
                <a:schemeClr val="tx1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7">
              <a:extLst>
                <a:ext uri="{FF2B5EF4-FFF2-40B4-BE49-F238E27FC236}">
                  <a16:creationId xmlns:a16="http://schemas.microsoft.com/office/drawing/2014/main" id="{86B3BEC0-C1CE-8622-08A4-DD16DCB8D6C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597036" y="5061665"/>
              <a:ext cx="907031" cy="357815"/>
            </a:xfrm>
            <a:prstGeom prst="bentConnector3">
              <a:avLst>
                <a:gd name="adj1" fmla="val 96206"/>
              </a:avLst>
            </a:prstGeom>
            <a:ln w="38100">
              <a:solidFill>
                <a:schemeClr val="tx1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6709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PCM Test Result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D7CDD70E-BC1A-1A8D-C548-571D884D4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942974"/>
            <a:ext cx="8640000" cy="522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dirty="0"/>
              <a:t> Measured Voltage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 Voltage regulation by sweep current up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5C7DD5A7-0C07-085A-4AC7-66FAE22EE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133026"/>
              </p:ext>
            </p:extLst>
          </p:nvPr>
        </p:nvGraphicFramePr>
        <p:xfrm>
          <a:off x="252000" y="1742907"/>
          <a:ext cx="8640001" cy="3503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1726">
                  <a:extLst>
                    <a:ext uri="{9D8B030D-6E8A-4147-A177-3AD203B41FA5}">
                      <a16:colId xmlns:a16="http://schemas.microsoft.com/office/drawing/2014/main" val="2400483473"/>
                    </a:ext>
                  </a:extLst>
                </a:gridCol>
                <a:gridCol w="1251726">
                  <a:extLst>
                    <a:ext uri="{9D8B030D-6E8A-4147-A177-3AD203B41FA5}">
                      <a16:colId xmlns:a16="http://schemas.microsoft.com/office/drawing/2014/main" val="2393387869"/>
                    </a:ext>
                  </a:extLst>
                </a:gridCol>
                <a:gridCol w="1251726">
                  <a:extLst>
                    <a:ext uri="{9D8B030D-6E8A-4147-A177-3AD203B41FA5}">
                      <a16:colId xmlns:a16="http://schemas.microsoft.com/office/drawing/2014/main" val="3526160530"/>
                    </a:ext>
                  </a:extLst>
                </a:gridCol>
              </a:tblGrid>
              <a:tr h="66082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Load 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Current 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(mA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3.3 V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3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 V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F8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VBat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Bus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63844"/>
                  </a:ext>
                </a:extLst>
              </a:tr>
              <a:tr h="7303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Reference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Voltage (V)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Measured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Voltage (V)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Reference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Voltage (V)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Measured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Voltage (V)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Reference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Voltage (V)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Measured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Voltage (V)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6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50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100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250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500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1000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1500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3E9DECC-4103-252A-7B15-6C9569949122}"/>
              </a:ext>
            </a:extLst>
          </p:cNvPr>
          <p:cNvSpPr txBox="1"/>
          <p:nvPr/>
        </p:nvSpPr>
        <p:spPr>
          <a:xfrm>
            <a:off x="251999" y="5362548"/>
            <a:ext cx="86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&lt;3V3, 5V regulation and </a:t>
            </a:r>
            <a:r>
              <a:rPr lang="en-US" altLang="ko-KR" sz="1600" b="1" dirty="0" err="1"/>
              <a:t>BatV</a:t>
            </a:r>
            <a:r>
              <a:rPr lang="en-US" altLang="ko-KR" sz="1600" b="1" dirty="0"/>
              <a:t> test data&gt;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099521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26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D7CDD70E-BC1A-1A8D-C548-571D884D4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942974"/>
            <a:ext cx="8640000" cy="19578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~2/10 (</a:t>
            </a:r>
            <a:r>
              <a:rPr lang="ko-KR" altLang="en-US" dirty="0"/>
              <a:t>금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 Battery</a:t>
            </a:r>
            <a:r>
              <a:rPr lang="ko-KR" altLang="en-US" dirty="0"/>
              <a:t> 테스트 조사 및 계획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 각 부품 및 </a:t>
            </a:r>
            <a:r>
              <a:rPr lang="en-US" altLang="ko-KR" dirty="0"/>
              <a:t>BUS</a:t>
            </a:r>
            <a:r>
              <a:rPr lang="ko-KR" altLang="en-US" dirty="0"/>
              <a:t>의 연결구도 그림으로 완성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6882DBE-6AE7-FE23-48C7-CB7C1FA81AF4}"/>
              </a:ext>
            </a:extLst>
          </p:cNvPr>
          <p:cNvSpPr txBox="1">
            <a:spLocks/>
          </p:cNvSpPr>
          <p:nvPr/>
        </p:nvSpPr>
        <p:spPr>
          <a:xfrm>
            <a:off x="252000" y="3996559"/>
            <a:ext cx="8640000" cy="1957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~2/28 (</a:t>
            </a:r>
            <a:r>
              <a:rPr lang="ko-KR" altLang="en-US" dirty="0"/>
              <a:t>화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 Battery</a:t>
            </a:r>
            <a:r>
              <a:rPr lang="ko-KR" altLang="en-US" dirty="0"/>
              <a:t> 테스트 시작</a:t>
            </a:r>
            <a:endParaRPr lang="en-US" altLang="ko-KR" dirty="0"/>
          </a:p>
          <a:p>
            <a:r>
              <a:rPr lang="en-US" altLang="ko-KR" dirty="0"/>
              <a:t> Solar Array </a:t>
            </a:r>
            <a:r>
              <a:rPr lang="ko-KR" altLang="en-US" dirty="0"/>
              <a:t>및 </a:t>
            </a:r>
            <a:r>
              <a:rPr lang="en-US" altLang="ko-KR" dirty="0"/>
              <a:t>PCDU </a:t>
            </a:r>
            <a:r>
              <a:rPr lang="ko-KR" altLang="en-US" dirty="0"/>
              <a:t>테스트 조사 및 계획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0080703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2619</TotalTime>
  <Words>1688</Words>
  <Application>Microsoft Office PowerPoint</Application>
  <PresentationFormat>와이드스크린</PresentationFormat>
  <Paragraphs>603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Arial</vt:lpstr>
      <vt:lpstr>Wingdings</vt:lpstr>
      <vt:lpstr>Normal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175</cp:revision>
  <dcterms:created xsi:type="dcterms:W3CDTF">2021-06-14T06:44:23Z</dcterms:created>
  <dcterms:modified xsi:type="dcterms:W3CDTF">2023-02-08T07:55:23Z</dcterms:modified>
  <cp:version/>
</cp:coreProperties>
</file>