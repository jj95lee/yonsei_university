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4" r:id="rId1"/>
  </p:sldMasterIdLst>
  <p:notesMasterIdLst>
    <p:notesMasterId r:id="rId20"/>
  </p:notesMasterIdLst>
  <p:sldIdLst>
    <p:sldId id="256" r:id="rId2"/>
    <p:sldId id="257" r:id="rId3"/>
    <p:sldId id="320" r:id="rId4"/>
    <p:sldId id="318" r:id="rId5"/>
    <p:sldId id="323" r:id="rId6"/>
    <p:sldId id="288" r:id="rId7"/>
    <p:sldId id="326" r:id="rId8"/>
    <p:sldId id="327" r:id="rId9"/>
    <p:sldId id="328" r:id="rId10"/>
    <p:sldId id="329" r:id="rId11"/>
    <p:sldId id="276" r:id="rId12"/>
    <p:sldId id="324" r:id="rId13"/>
    <p:sldId id="330" r:id="rId14"/>
    <p:sldId id="282" r:id="rId15"/>
    <p:sldId id="325" r:id="rId16"/>
    <p:sldId id="289" r:id="rId17"/>
    <p:sldId id="292" r:id="rId18"/>
    <p:sldId id="333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3644" autoAdjust="0"/>
  </p:normalViewPr>
  <p:slideViewPr>
    <p:cSldViewPr snapToGrid="0">
      <p:cViewPr varScale="1">
        <p:scale>
          <a:sx n="95" d="100"/>
          <a:sy n="95" d="100"/>
        </p:scale>
        <p:origin x="1158" y="96"/>
      </p:cViewPr>
      <p:guideLst>
        <p:guide orient="horz" pos="2158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4444ADC7-D137-4355-B287-E417A90F4D15}" type="datetime1">
              <a:rPr lang="ko-KR" altLang="en-US"/>
              <a:pPr lvl="0">
                <a:defRPr/>
              </a:pPr>
              <a:t>2022-11-21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9B8E8DA4-E2D7-43C2-B6C4-2E5B1B19F402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53812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46534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79880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96730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06799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61766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42553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94630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28871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717962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40684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51096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63616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826882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66055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9484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CB5FD6-A2DE-4563-BDD9-970544F4D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551608-DD27-4795-B323-401D3C83F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77F833-C2AE-4216-8871-52717469E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4E6671EE-0BC6-43D9-95C1-E999911B0F9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67999" y="1707834"/>
            <a:ext cx="4500000" cy="43707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4" name="내용 개체 틀 13">
            <a:extLst>
              <a:ext uri="{FF2B5EF4-FFF2-40B4-BE49-F238E27FC236}">
                <a16:creationId xmlns:a16="http://schemas.microsoft.com/office/drawing/2014/main" id="{11D38D3C-35BA-40CB-8AC0-E2A6A6D454C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4000" y="1707834"/>
            <a:ext cx="4448502" cy="43707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AA2A7109-DF7D-4EB0-AA89-8DE0E3E62A68}"/>
              </a:ext>
            </a:extLst>
          </p:cNvPr>
          <p:cNvSpPr txBox="1">
            <a:spLocks/>
          </p:cNvSpPr>
          <p:nvPr userDrawn="1"/>
        </p:nvSpPr>
        <p:spPr>
          <a:xfrm>
            <a:off x="1524000" y="1131070"/>
            <a:ext cx="9144000" cy="47783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0" rIns="91440" bIns="0" rtlCol="0" anchor="ctr" anchorCtr="0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CONTENTS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1518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N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481A23-558C-45ED-98AD-790BDCB69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643398"/>
            <a:ext cx="10515600" cy="566527"/>
          </a:xfrm>
        </p:spPr>
        <p:txBody>
          <a:bodyPr anchor="ctr" anchorCtr="0"/>
          <a:lstStyle>
            <a:lvl1pPr>
              <a:defRPr sz="3000"/>
            </a:lvl1pPr>
          </a:lstStyle>
          <a:p>
            <a:r>
              <a:rPr lang="en-US" altLang="ko-KR" dirty="0"/>
              <a:t>Level 1 Title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E7D3B2-67B7-4B48-A0BB-0C91B9C8DB0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288620"/>
            <a:ext cx="10515600" cy="428851"/>
          </a:xfrm>
        </p:spPr>
        <p:txBody>
          <a:bodyPr anchor="ctr" anchorCtr="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/>
              <a:t>Level 2 Title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DB0C4F-B05E-4BB8-8959-4A7045B35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FFEBB5-2730-4F42-B547-4F1D75B06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0FFEE1-9D1B-4562-BEB9-F1D366099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776145B-5468-43F7-BC17-C1B9CB5D7CC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9956" y="3796165"/>
            <a:ext cx="10063843" cy="118949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altLang="ko-KR" dirty="0"/>
              <a:t>Level 3 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186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043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30400" indent="-230400">
              <a:buFont typeface="+mj-lt"/>
              <a:buAutoNum type="arabicPeriod"/>
              <a:defRPr/>
            </a:lvl1pPr>
            <a:lvl2pPr marL="687600" indent="-230400">
              <a:buFont typeface="+mj-lt"/>
              <a:buAutoNum type="arabicPeriod"/>
              <a:defRPr/>
            </a:lvl2pPr>
            <a:lvl3pPr marL="1144800" indent="-230400">
              <a:buFont typeface="+mj-lt"/>
              <a:buAutoNum type="arabicPeriod"/>
              <a:defRPr/>
            </a:lvl3pPr>
            <a:lvl4pPr marL="1602000" indent="-230400">
              <a:buFont typeface="+mj-lt"/>
              <a:buAutoNum type="arabicPeriod"/>
              <a:defRPr/>
            </a:lvl4pPr>
            <a:lvl5pPr marL="2059200" indent="-230400">
              <a:buFont typeface="+mj-lt"/>
              <a:buAutoNum type="arabicPeriod"/>
              <a:defRPr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759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ontents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78ED9E-1B3E-43D3-A1E4-DA95D262A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FA1A2BE-B3CB-4E99-8FBA-B0D43546C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EABA880-A6C3-4F04-8D72-A5F69848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AB759D5-6101-4028-9764-14853A423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362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1A3D82-C5C0-4922-91A8-8509A9CAC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85A98B-BE8E-48BD-9792-89E0CD12B1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919" y="635223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328A94B-4E02-48FA-B00D-919E373D67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6149" y="635222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FF3D3F-7973-483D-B851-281CB52D7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5B6405-CAA7-4753-8A8A-064423C9D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1C8E86-99CB-4565-B7CA-0F44CF631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285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E6694E0-9343-4893-8463-1145B6CF6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1B42A68-D9BB-4EA1-8739-191E265A2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598DC4-1BD5-4BB9-B399-28926DBB7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71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1ECE7B7-AA9D-4251-AEFA-95130E496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726" y="1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F0D367-F6F4-4F72-A8D1-137C1A702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920" y="635225"/>
            <a:ext cx="12030160" cy="60518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206645-6D5E-4C5E-9ED5-F78BD24581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1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altLang="ko-KR"/>
              <a:t>2021-06-14</a:t>
            </a:r>
            <a:endParaRPr lang="ko-KR" altLang="en-US" dirty="0"/>
          </a:p>
        </p:txBody>
      </p:sp>
      <p:sp>
        <p:nvSpPr>
          <p:cNvPr id="5" name="바닥글 개체 틀 4" descr="서브시스템명">
            <a:extLst>
              <a:ext uri="{FF2B5EF4-FFF2-40B4-BE49-F238E27FC236}">
                <a16:creationId xmlns:a16="http://schemas.microsoft.com/office/drawing/2014/main" id="{878F36F7-C21A-419B-8BED-2C1A2503B9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1274" y="0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lvl1pPr algn="ctr"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서브시스템명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DC6C9F-1062-43C7-8857-4890E5D685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185739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800" b="1">
                <a:solidFill>
                  <a:schemeClr val="tx1"/>
                </a:solidFill>
              </a:defRPr>
            </a:lvl1pPr>
          </a:lstStyle>
          <a:p>
            <a:fld id="{0CB21479-F3CA-4373-A45A-41FA028DDA7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5397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63" r:id="rId4"/>
    <p:sldLayoutId id="2147483654" r:id="rId5"/>
    <p:sldLayoutId id="2147483652" r:id="rId6"/>
    <p:sldLayoutId id="2147483655" r:id="rId7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2022-11-15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PDR (2022.11.30)</a:t>
            </a:r>
          </a:p>
          <a:p>
            <a:pPr lvl="1">
              <a:defRPr/>
            </a:pPr>
            <a:r>
              <a:rPr lang="en-US" altLang="ko-KR" dirty="0"/>
              <a:t>Power generation </a:t>
            </a:r>
          </a:p>
          <a:p>
            <a:pPr lvl="2">
              <a:defRPr/>
            </a:pPr>
            <a:r>
              <a:rPr lang="en-US" altLang="ko-KR" dirty="0"/>
              <a:t>Commissioning Power Budget</a:t>
            </a:r>
          </a:p>
          <a:p>
            <a:pPr lvl="2">
              <a:defRPr/>
            </a:pPr>
            <a:r>
              <a:rPr lang="en-US" altLang="ko-KR" dirty="0"/>
              <a:t>Check Channel distribution</a:t>
            </a:r>
          </a:p>
          <a:p>
            <a:pPr lvl="2">
              <a:defRPr/>
            </a:pPr>
            <a:r>
              <a:rPr lang="en-US" altLang="ko-KR" dirty="0"/>
              <a:t>Define Efficiency</a:t>
            </a:r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</p:txBody>
      </p:sp>
      <p:sp>
        <p:nvSpPr>
          <p:cNvPr id="9" name="내용 개체 틀 8"/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Electrical Power System</a:t>
            </a:r>
          </a:p>
          <a:p>
            <a:pPr lvl="1">
              <a:defRPr/>
            </a:pPr>
            <a:r>
              <a:rPr lang="en-US" altLang="ko-KR" dirty="0"/>
              <a:t>Basic Plan</a:t>
            </a:r>
          </a:p>
          <a:p>
            <a:pPr lvl="2">
              <a:defRPr/>
            </a:pPr>
            <a:r>
              <a:rPr lang="en-US" altLang="ko-KR" strike="sngStrike" dirty="0"/>
              <a:t>1 - Channel distribution</a:t>
            </a:r>
          </a:p>
          <a:p>
            <a:pPr lvl="2">
              <a:defRPr/>
            </a:pPr>
            <a:r>
              <a:rPr lang="en-US" altLang="ko-KR" strike="sngStrike" dirty="0"/>
              <a:t>2 - Power generation</a:t>
            </a:r>
          </a:p>
          <a:p>
            <a:pPr lvl="2">
              <a:defRPr/>
            </a:pPr>
            <a:r>
              <a:rPr lang="en-US" altLang="ko-KR" strike="sngStrike" dirty="0"/>
              <a:t>3 - Calculation DOD</a:t>
            </a:r>
          </a:p>
          <a:p>
            <a:pPr lvl="2">
              <a:defRPr/>
            </a:pPr>
            <a:r>
              <a:rPr lang="en-US" altLang="ko-KR" dirty="0"/>
              <a:t>4 – Operation Scenario  </a:t>
            </a:r>
          </a:p>
          <a:p>
            <a:pPr lvl="2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/>
          </a:p>
          <a:p>
            <a:pPr marL="914400" lvl="2" indent="0">
              <a:buNone/>
              <a:defRPr/>
            </a:pPr>
            <a:endParaRPr lang="en-US" altLang="ko-KR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Level 1: Electrical Power System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  <p:graphicFrame>
        <p:nvGraphicFramePr>
          <p:cNvPr id="25" name="표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4282729"/>
              </p:ext>
            </p:extLst>
          </p:nvPr>
        </p:nvGraphicFramePr>
        <p:xfrm>
          <a:off x="223158" y="719666"/>
          <a:ext cx="11748949" cy="4741152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1949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45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84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Level 2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Level 3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DAYS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lang="en-US" altLang="ko-KR" dirty="0"/>
                        <a:t>Electrical Power Budget</a:t>
                      </a: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trike="sngStrike" dirty="0">
                          <a:solidFill>
                            <a:schemeClr val="tx1"/>
                          </a:solidFill>
                        </a:rPr>
                        <a:t>1 - </a:t>
                      </a:r>
                      <a:r>
                        <a:rPr lang="en-US" altLang="ko-KR" strike="sngStrike" dirty="0"/>
                        <a:t>Channel distribution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trike="sngStrike" dirty="0"/>
                        <a:t>2 – Calculate Power generation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ko-KR" altLang="en-US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39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trike="sngStrike" dirty="0"/>
                        <a:t>3 - Calculation DOD &amp; Peak load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39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dirty="0"/>
                        <a:t>4 - Operation Scenario </a:t>
                      </a:r>
                      <a:endParaRPr lang="ko-KR" alt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 rowSpan="6"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dirty="0">
                          <a:solidFill>
                            <a:schemeClr val="accent1"/>
                          </a:solidFill>
                        </a:rPr>
                        <a:t>Power Generation</a:t>
                      </a:r>
                      <a:endParaRPr lang="ko-KR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14400" marR="0" lvl="2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Commissioning Power Budget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14400" marR="0" lvl="2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Check Channel distribution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           Define 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7737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7737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en-US" altLang="ko-KR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75474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616" y="819513"/>
            <a:ext cx="10900424" cy="556604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PDR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까지 준비 할 내용</a:t>
            </a: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2022-11-02</a:t>
            </a:r>
            <a:endParaRPr lang="ko-KR" altLang="en-US" dirty="0"/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PDR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까지 진행 계획</a:t>
            </a:r>
            <a:r>
              <a:rPr lang="ko-KR" altLang="en-US" dirty="0"/>
              <a:t>   </a:t>
            </a:r>
          </a:p>
        </p:txBody>
      </p:sp>
      <p:graphicFrame>
        <p:nvGraphicFramePr>
          <p:cNvPr id="2" name="표 8">
            <a:extLst>
              <a:ext uri="{FF2B5EF4-FFF2-40B4-BE49-F238E27FC236}">
                <a16:creationId xmlns:a16="http://schemas.microsoft.com/office/drawing/2014/main" id="{0AD24071-3047-61CF-3835-5BCC752A96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2931716"/>
              </p:ext>
            </p:extLst>
          </p:nvPr>
        </p:nvGraphicFramePr>
        <p:xfrm>
          <a:off x="322216" y="1524834"/>
          <a:ext cx="11570168" cy="49472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6420">
                  <a:extLst>
                    <a:ext uri="{9D8B030D-6E8A-4147-A177-3AD203B41FA5}">
                      <a16:colId xmlns:a16="http://schemas.microsoft.com/office/drawing/2014/main" val="4012279475"/>
                    </a:ext>
                  </a:extLst>
                </a:gridCol>
                <a:gridCol w="1586498">
                  <a:extLst>
                    <a:ext uri="{9D8B030D-6E8A-4147-A177-3AD203B41FA5}">
                      <a16:colId xmlns:a16="http://schemas.microsoft.com/office/drawing/2014/main" val="2872001738"/>
                    </a:ext>
                  </a:extLst>
                </a:gridCol>
                <a:gridCol w="1517301">
                  <a:extLst>
                    <a:ext uri="{9D8B030D-6E8A-4147-A177-3AD203B41FA5}">
                      <a16:colId xmlns:a16="http://schemas.microsoft.com/office/drawing/2014/main" val="1093518070"/>
                    </a:ext>
                  </a:extLst>
                </a:gridCol>
                <a:gridCol w="1509765">
                  <a:extLst>
                    <a:ext uri="{9D8B030D-6E8A-4147-A177-3AD203B41FA5}">
                      <a16:colId xmlns:a16="http://schemas.microsoft.com/office/drawing/2014/main" val="893368758"/>
                    </a:ext>
                  </a:extLst>
                </a:gridCol>
                <a:gridCol w="1846385">
                  <a:extLst>
                    <a:ext uri="{9D8B030D-6E8A-4147-A177-3AD203B41FA5}">
                      <a16:colId xmlns:a16="http://schemas.microsoft.com/office/drawing/2014/main" val="404635953"/>
                    </a:ext>
                  </a:extLst>
                </a:gridCol>
                <a:gridCol w="1376624">
                  <a:extLst>
                    <a:ext uri="{9D8B030D-6E8A-4147-A177-3AD203B41FA5}">
                      <a16:colId xmlns:a16="http://schemas.microsoft.com/office/drawing/2014/main" val="3452772827"/>
                    </a:ext>
                  </a:extLst>
                </a:gridCol>
                <a:gridCol w="1577591">
                  <a:extLst>
                    <a:ext uri="{9D8B030D-6E8A-4147-A177-3AD203B41FA5}">
                      <a16:colId xmlns:a16="http://schemas.microsoft.com/office/drawing/2014/main" val="1452797700"/>
                    </a:ext>
                  </a:extLst>
                </a:gridCol>
                <a:gridCol w="919584">
                  <a:extLst>
                    <a:ext uri="{9D8B030D-6E8A-4147-A177-3AD203B41FA5}">
                      <a16:colId xmlns:a16="http://schemas.microsoft.com/office/drawing/2014/main" val="904128740"/>
                    </a:ext>
                  </a:extLst>
                </a:gridCol>
              </a:tblGrid>
              <a:tr h="3752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37029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58247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5684588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264562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strike="sngStrike" dirty="0">
                          <a:solidFill>
                            <a:schemeClr val="tx1"/>
                          </a:solidFill>
                        </a:rPr>
                        <a:t>통신 시간간격 적용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strike="sngStrike" dirty="0">
                          <a:solidFill>
                            <a:schemeClr val="tx1"/>
                          </a:solidFill>
                        </a:rPr>
                        <a:t>시운전 </a:t>
                      </a:r>
                      <a:r>
                        <a:rPr lang="en-US" altLang="ko-KR" sz="1200" b="0" strike="sngStrike" dirty="0">
                          <a:solidFill>
                            <a:schemeClr val="tx1"/>
                          </a:solidFill>
                        </a:rPr>
                        <a:t>Power Budget </a:t>
                      </a:r>
                      <a:r>
                        <a:rPr lang="ko-KR" altLang="en-US" sz="1200" b="0" strike="sngStrike" dirty="0">
                          <a:solidFill>
                            <a:schemeClr val="tx1"/>
                          </a:solidFill>
                        </a:rPr>
                        <a:t>표 완성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strike="sngStrike" dirty="0">
                          <a:solidFill>
                            <a:schemeClr val="tx1"/>
                          </a:solidFill>
                        </a:rPr>
                        <a:t>전력효율에 관한 </a:t>
                      </a:r>
                      <a:endParaRPr lang="en-US" altLang="ko-KR" sz="1200" b="0" strike="sngStrike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strike="sngStrike" dirty="0">
                          <a:solidFill>
                            <a:schemeClr val="tx1"/>
                          </a:solidFill>
                        </a:rPr>
                        <a:t>참고문헌 조사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strike="sngStrike" dirty="0">
                          <a:solidFill>
                            <a:schemeClr val="tx1"/>
                          </a:solidFill>
                        </a:rPr>
                        <a:t>전력효율 결정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sng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1200" b="0" i="0" u="none" strike="sng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주차 발표자료 작성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3459803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13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accent1"/>
                          </a:solidFill>
                        </a:rPr>
                        <a:t>15</a:t>
                      </a:r>
                      <a:endParaRPr lang="ko-KR" altLang="en-US" b="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46455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sng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각 채널 별 </a:t>
                      </a:r>
                      <a:r>
                        <a:rPr lang="en-US" altLang="ko-KR" sz="1200" b="0" i="0" u="none" strike="sng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On/off </a:t>
                      </a:r>
                    </a:p>
                    <a:p>
                      <a:pPr algn="ctr" fontAlgn="ctr"/>
                      <a:r>
                        <a:rPr lang="ko-KR" altLang="en-US" sz="1200" b="0" i="0" u="none" strike="sng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 학습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sng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각 채널 별 </a:t>
                      </a:r>
                      <a:r>
                        <a:rPr lang="en-US" altLang="ko-KR" sz="1200" b="0" i="0" u="none" strike="sng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On/off </a:t>
                      </a:r>
                    </a:p>
                    <a:p>
                      <a:pPr algn="ctr" fontAlgn="ctr"/>
                      <a:r>
                        <a:rPr lang="ko-KR" altLang="en-US" sz="1200" b="0" i="0" u="none" strike="sng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시스템 학습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Simulink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에 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DOD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추가로 표기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WBS, REQ </a:t>
                      </a:r>
                      <a:r>
                        <a:rPr lang="ko-KR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검토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WBS, REQ </a:t>
                      </a:r>
                      <a:r>
                        <a:rPr lang="ko-KR" altLang="en-US" sz="1200" dirty="0"/>
                        <a:t>검토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3</a:t>
                      </a:r>
                      <a:r>
                        <a:rPr lang="ko-KR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주차 발표자료 작성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0384532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21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22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23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24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25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26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430866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PPT </a:t>
                      </a:r>
                      <a:r>
                        <a:rPr lang="ko-KR" altLang="en-US" sz="1400" dirty="0"/>
                        <a:t>마감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87343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27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28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29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30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998189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PDR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1543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4636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616" y="819513"/>
            <a:ext cx="10900424" cy="556604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PDR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까지 준비 할 내용</a:t>
            </a: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2022-11-02</a:t>
            </a:r>
            <a:endParaRPr lang="ko-KR" altLang="en-US" dirty="0"/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PDR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까지 진행 계획 </a:t>
            </a:r>
            <a:r>
              <a:rPr lang="ko-KR" altLang="en-US" dirty="0"/>
              <a:t>   </a:t>
            </a:r>
          </a:p>
        </p:txBody>
      </p:sp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A09A0BE7-8E08-F314-9D6C-A9FB08D2BB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574157"/>
              </p:ext>
            </p:extLst>
          </p:nvPr>
        </p:nvGraphicFramePr>
        <p:xfrm>
          <a:off x="1300228" y="1397902"/>
          <a:ext cx="9899813" cy="4379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67682">
                  <a:extLst>
                    <a:ext uri="{9D8B030D-6E8A-4147-A177-3AD203B41FA5}">
                      <a16:colId xmlns:a16="http://schemas.microsoft.com/office/drawing/2014/main" val="963791253"/>
                    </a:ext>
                  </a:extLst>
                </a:gridCol>
                <a:gridCol w="1379934">
                  <a:extLst>
                    <a:ext uri="{9D8B030D-6E8A-4147-A177-3AD203B41FA5}">
                      <a16:colId xmlns:a16="http://schemas.microsoft.com/office/drawing/2014/main" val="3503235211"/>
                    </a:ext>
                  </a:extLst>
                </a:gridCol>
                <a:gridCol w="1379934">
                  <a:extLst>
                    <a:ext uri="{9D8B030D-6E8A-4147-A177-3AD203B41FA5}">
                      <a16:colId xmlns:a16="http://schemas.microsoft.com/office/drawing/2014/main" val="1441410675"/>
                    </a:ext>
                  </a:extLst>
                </a:gridCol>
                <a:gridCol w="1080380">
                  <a:extLst>
                    <a:ext uri="{9D8B030D-6E8A-4147-A177-3AD203B41FA5}">
                      <a16:colId xmlns:a16="http://schemas.microsoft.com/office/drawing/2014/main" val="468541899"/>
                    </a:ext>
                  </a:extLst>
                </a:gridCol>
                <a:gridCol w="1191883">
                  <a:extLst>
                    <a:ext uri="{9D8B030D-6E8A-4147-A177-3AD203B41FA5}">
                      <a16:colId xmlns:a16="http://schemas.microsoft.com/office/drawing/2014/main" val="2901240694"/>
                    </a:ext>
                  </a:extLst>
                </a:gridCol>
              </a:tblGrid>
              <a:tr h="5280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주요 목표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착수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마감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진행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비고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740598"/>
                  </a:ext>
                </a:extLst>
              </a:tr>
              <a:tr h="641898">
                <a:tc>
                  <a:txBody>
                    <a:bodyPr/>
                    <a:lstStyle/>
                    <a:p>
                      <a:pPr marL="228600" indent="-228600" algn="l" latinLnBrk="1">
                        <a:lnSpc>
                          <a:spcPct val="150000"/>
                        </a:lnSpc>
                        <a:buAutoNum type="arabicPeriod"/>
                      </a:pPr>
                      <a:r>
                        <a:rPr lang="ko-KR" altLang="en-US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일정 시간 간격으로 통신이 그래프에 적용되도록 변경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2022-11-02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2022-11-09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100%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Wheel </a:t>
                      </a:r>
                      <a:r>
                        <a:rPr lang="ko-KR" altLang="en-US" sz="1400" dirty="0"/>
                        <a:t>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637751"/>
                  </a:ext>
                </a:extLst>
              </a:tr>
              <a:tr h="6418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2.</a:t>
                      </a:r>
                      <a:r>
                        <a:rPr lang="ko-KR" altLang="en-US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 시운전 </a:t>
                      </a:r>
                      <a:r>
                        <a:rPr lang="en-US" altLang="ko-KR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Power budget </a:t>
                      </a:r>
                      <a:r>
                        <a:rPr lang="ko-KR" altLang="en-US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분석표 완성</a:t>
                      </a:r>
                      <a:endParaRPr lang="en-US" altLang="ko-KR" sz="1400" b="0" kern="100" dirty="0">
                        <a:latin typeface="맑은 고딕" panose="020B0503020000020004" pitchFamily="50" charset="-127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2022-11-02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2022-11-09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100%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4742848"/>
                  </a:ext>
                </a:extLst>
              </a:tr>
              <a:tr h="641898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400" b="0" dirty="0"/>
                        <a:t>3. </a:t>
                      </a:r>
                      <a:r>
                        <a:rPr lang="ko-KR" altLang="en-US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생산</a:t>
                      </a:r>
                      <a:r>
                        <a:rPr lang="en-US" altLang="ko-KR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및 소비전력 효율 결정 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2022-11-09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2022-11-16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90%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050648"/>
                  </a:ext>
                </a:extLst>
              </a:tr>
              <a:tr h="641898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400" b="0" dirty="0"/>
                        <a:t>4.</a:t>
                      </a:r>
                      <a:r>
                        <a:rPr lang="en-US" altLang="ko-KR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400" b="0" dirty="0"/>
                        <a:t>그래프에 </a:t>
                      </a:r>
                      <a:r>
                        <a:rPr lang="en-US" altLang="ko-KR" sz="1400" b="0" dirty="0"/>
                        <a:t>SOC</a:t>
                      </a:r>
                      <a:r>
                        <a:rPr lang="ko-KR" altLang="en-US" sz="1400" b="0" dirty="0"/>
                        <a:t>외에도</a:t>
                      </a:r>
                      <a:r>
                        <a:rPr lang="en-US" altLang="ko-KR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 DOD</a:t>
                      </a:r>
                      <a:r>
                        <a:rPr lang="ko-KR" altLang="en-US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까지 표기되도록 수정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2022-11-09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2022-11-16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0%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481568"/>
                  </a:ext>
                </a:extLst>
              </a:tr>
              <a:tr h="641898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400" b="0" dirty="0"/>
                        <a:t>5. PDR</a:t>
                      </a:r>
                      <a:r>
                        <a:rPr lang="ko-KR" altLang="en-US" sz="1400" b="0" dirty="0"/>
                        <a:t>자료에 포함될 </a:t>
                      </a:r>
                      <a:r>
                        <a:rPr lang="en-US" altLang="ko-KR" sz="1400" b="0" dirty="0"/>
                        <a:t>WBS, REQ </a:t>
                      </a:r>
                      <a:r>
                        <a:rPr lang="ko-KR" altLang="en-US" sz="1400" b="0" dirty="0"/>
                        <a:t>검토 및 수정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2022-11-16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2022-11-21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0%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6699472"/>
                  </a:ext>
                </a:extLst>
              </a:tr>
              <a:tr h="6418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strike="sngStrik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strike="sngStrik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strike="sngStrik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strike="sngStrik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7811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3360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FB60E7E-CA19-8647-7CC2-7DF5F3461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5550" y="2995612"/>
            <a:ext cx="7200900" cy="86677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11457BB0-A1E5-1ACB-A624-605E31F0AF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3129" y="3033711"/>
            <a:ext cx="5162550" cy="79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771773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A5BB96C-E7C7-4F1F-6C9E-B25362B658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4351" y="566527"/>
            <a:ext cx="7726119" cy="5993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456337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FB60E7E-CA19-8647-7CC2-7DF5F3461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5550" y="2995612"/>
            <a:ext cx="7200900" cy="86677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11457BB0-A1E5-1ACB-A624-605E31F0AF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3129" y="3033711"/>
            <a:ext cx="5162550" cy="79057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E1930F7-6C1F-E01F-86D9-2FB9DD0F97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8362" y="1457325"/>
            <a:ext cx="7915275" cy="394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972028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5EDFBA6-F1CD-2B40-CF7E-72DD51BDA4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68611" y="1913009"/>
            <a:ext cx="8454778" cy="319155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84906532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5EDFBA6-F1CD-2B40-CF7E-72DD51BDA4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68611" y="1913009"/>
            <a:ext cx="8454778" cy="319155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6EDEF76-BABE-2D9B-383C-C541396C5C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2075" y="671512"/>
            <a:ext cx="9467850" cy="551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97400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03E7020-5E81-FB0B-DDB1-8644D85B91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5591" y="864158"/>
            <a:ext cx="5146640" cy="548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378846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894E207A-9C90-B75E-95D6-FFF8C383BA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76820"/>
            <a:ext cx="12192000" cy="5304359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1. Mission &amp; UHF COM mode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6302306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894E207A-9C90-B75E-95D6-FFF8C383BA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76820"/>
            <a:ext cx="12192000" cy="5304359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1. Mission &amp; UHF COM mode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D926C3B-E6F2-AE93-91AC-B14B5AD611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89833"/>
            <a:ext cx="12192000" cy="5278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238950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03BE55B-AB21-ADF3-51C2-6931952F8E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6220" y="1028804"/>
            <a:ext cx="2061913" cy="4800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20863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4. Stand-by mode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282F36F-8914-8BAD-B00C-0A75E8B33E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560" y="752265"/>
            <a:ext cx="11404879" cy="5907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818010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4. Stand-by mode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15</a:t>
            </a:fld>
            <a:endParaRPr lang="en-US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282F36F-8914-8BAD-B00C-0A75E8B33E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560" y="752265"/>
            <a:ext cx="11404879" cy="590726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EA723094-9F73-1301-9D29-1C22D4528A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560" y="752266"/>
            <a:ext cx="11404879" cy="5911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873131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AC389C5-1883-DB82-5225-A8DBB64B3E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11618"/>
            <a:ext cx="12192000" cy="6108700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1.Mission &amp; UHFCOM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16</a:t>
            </a:fld>
            <a:endParaRPr lang="en-US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FE0A03F-EF9F-9FD7-474A-7E4FB458CA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6439"/>
            <a:ext cx="12192000" cy="61087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C1747FB-6B06-AFCF-414F-907AB090E8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746435"/>
            <a:ext cx="12192000" cy="610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675004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4. Stand-by mode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17</a:t>
            </a:fld>
            <a:endParaRPr lang="en-US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FB3D44E-0221-58B5-3DAA-541E559C24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6486"/>
            <a:ext cx="12192000" cy="610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740341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616" y="819513"/>
            <a:ext cx="10900424" cy="556604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PDR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까지 준비 할 내용</a:t>
            </a: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2022-11-02</a:t>
            </a:r>
            <a:endParaRPr lang="ko-KR" altLang="en-US" dirty="0"/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18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PDR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까지 진행 계획</a:t>
            </a:r>
            <a:r>
              <a:rPr lang="ko-KR" altLang="en-US" dirty="0"/>
              <a:t>   </a:t>
            </a:r>
          </a:p>
        </p:txBody>
      </p:sp>
      <p:graphicFrame>
        <p:nvGraphicFramePr>
          <p:cNvPr id="2" name="표 8">
            <a:extLst>
              <a:ext uri="{FF2B5EF4-FFF2-40B4-BE49-F238E27FC236}">
                <a16:creationId xmlns:a16="http://schemas.microsoft.com/office/drawing/2014/main" id="{0AD24071-3047-61CF-3835-5BCC752A9653}"/>
              </a:ext>
            </a:extLst>
          </p:cNvPr>
          <p:cNvGraphicFramePr>
            <a:graphicFrameLocks noGrp="1"/>
          </p:cNvGraphicFramePr>
          <p:nvPr/>
        </p:nvGraphicFramePr>
        <p:xfrm>
          <a:off x="322216" y="1524834"/>
          <a:ext cx="11570168" cy="49472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6420">
                  <a:extLst>
                    <a:ext uri="{9D8B030D-6E8A-4147-A177-3AD203B41FA5}">
                      <a16:colId xmlns:a16="http://schemas.microsoft.com/office/drawing/2014/main" val="4012279475"/>
                    </a:ext>
                  </a:extLst>
                </a:gridCol>
                <a:gridCol w="1586498">
                  <a:extLst>
                    <a:ext uri="{9D8B030D-6E8A-4147-A177-3AD203B41FA5}">
                      <a16:colId xmlns:a16="http://schemas.microsoft.com/office/drawing/2014/main" val="2872001738"/>
                    </a:ext>
                  </a:extLst>
                </a:gridCol>
                <a:gridCol w="1517301">
                  <a:extLst>
                    <a:ext uri="{9D8B030D-6E8A-4147-A177-3AD203B41FA5}">
                      <a16:colId xmlns:a16="http://schemas.microsoft.com/office/drawing/2014/main" val="1093518070"/>
                    </a:ext>
                  </a:extLst>
                </a:gridCol>
                <a:gridCol w="1509765">
                  <a:extLst>
                    <a:ext uri="{9D8B030D-6E8A-4147-A177-3AD203B41FA5}">
                      <a16:colId xmlns:a16="http://schemas.microsoft.com/office/drawing/2014/main" val="893368758"/>
                    </a:ext>
                  </a:extLst>
                </a:gridCol>
                <a:gridCol w="1846385">
                  <a:extLst>
                    <a:ext uri="{9D8B030D-6E8A-4147-A177-3AD203B41FA5}">
                      <a16:colId xmlns:a16="http://schemas.microsoft.com/office/drawing/2014/main" val="404635953"/>
                    </a:ext>
                  </a:extLst>
                </a:gridCol>
                <a:gridCol w="1376624">
                  <a:extLst>
                    <a:ext uri="{9D8B030D-6E8A-4147-A177-3AD203B41FA5}">
                      <a16:colId xmlns:a16="http://schemas.microsoft.com/office/drawing/2014/main" val="3452772827"/>
                    </a:ext>
                  </a:extLst>
                </a:gridCol>
                <a:gridCol w="1577591">
                  <a:extLst>
                    <a:ext uri="{9D8B030D-6E8A-4147-A177-3AD203B41FA5}">
                      <a16:colId xmlns:a16="http://schemas.microsoft.com/office/drawing/2014/main" val="1452797700"/>
                    </a:ext>
                  </a:extLst>
                </a:gridCol>
                <a:gridCol w="919584">
                  <a:extLst>
                    <a:ext uri="{9D8B030D-6E8A-4147-A177-3AD203B41FA5}">
                      <a16:colId xmlns:a16="http://schemas.microsoft.com/office/drawing/2014/main" val="904128740"/>
                    </a:ext>
                  </a:extLst>
                </a:gridCol>
              </a:tblGrid>
              <a:tr h="3752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37029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58247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5684588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264562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strike="sngStrike" dirty="0">
                          <a:solidFill>
                            <a:schemeClr val="tx1"/>
                          </a:solidFill>
                        </a:rPr>
                        <a:t>통신 시간간격 적용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strike="sngStrike" dirty="0">
                          <a:solidFill>
                            <a:schemeClr val="tx1"/>
                          </a:solidFill>
                        </a:rPr>
                        <a:t>시운전 </a:t>
                      </a:r>
                      <a:r>
                        <a:rPr lang="en-US" altLang="ko-KR" sz="1200" b="0" strike="sngStrike" dirty="0">
                          <a:solidFill>
                            <a:schemeClr val="tx1"/>
                          </a:solidFill>
                        </a:rPr>
                        <a:t>Power Budget </a:t>
                      </a:r>
                      <a:r>
                        <a:rPr lang="ko-KR" altLang="en-US" sz="1200" b="0" strike="sngStrike" dirty="0">
                          <a:solidFill>
                            <a:schemeClr val="tx1"/>
                          </a:solidFill>
                        </a:rPr>
                        <a:t>표 완성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strike="sngStrike" dirty="0">
                          <a:solidFill>
                            <a:schemeClr val="tx1"/>
                          </a:solidFill>
                        </a:rPr>
                        <a:t>전력효율에 관한 </a:t>
                      </a:r>
                      <a:endParaRPr lang="en-US" altLang="ko-KR" sz="1200" b="0" strike="sngStrike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strike="sngStrike" dirty="0">
                          <a:solidFill>
                            <a:schemeClr val="tx1"/>
                          </a:solidFill>
                        </a:rPr>
                        <a:t>참고문헌 조사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strike="sngStrike" dirty="0">
                          <a:solidFill>
                            <a:schemeClr val="tx1"/>
                          </a:solidFill>
                        </a:rPr>
                        <a:t>전력효율 결정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sng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1200" b="0" i="0" u="none" strike="sng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주차 발표자료 작성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3459803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13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accent1"/>
                          </a:solidFill>
                        </a:rPr>
                        <a:t>15</a:t>
                      </a:r>
                      <a:endParaRPr lang="ko-KR" altLang="en-US" b="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46455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sng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각 채널 별 </a:t>
                      </a:r>
                      <a:r>
                        <a:rPr lang="en-US" altLang="ko-KR" sz="1200" b="0" i="0" u="none" strike="sng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On/off </a:t>
                      </a:r>
                    </a:p>
                    <a:p>
                      <a:pPr algn="ctr" fontAlgn="ctr"/>
                      <a:r>
                        <a:rPr lang="ko-KR" altLang="en-US" sz="1200" b="0" i="0" u="none" strike="sng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 학습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sng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각 채널 별 </a:t>
                      </a:r>
                      <a:r>
                        <a:rPr lang="en-US" altLang="ko-KR" sz="1200" b="0" i="0" u="none" strike="sng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On/off </a:t>
                      </a:r>
                    </a:p>
                    <a:p>
                      <a:pPr algn="ctr" fontAlgn="ctr"/>
                      <a:r>
                        <a:rPr lang="ko-KR" altLang="en-US" sz="1200" b="0" i="0" u="none" strike="sng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시스템 학습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Simulink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에 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DOD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추가로 표기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WBS, REQ </a:t>
                      </a:r>
                      <a:r>
                        <a:rPr lang="ko-KR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검토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WBS, REQ </a:t>
                      </a:r>
                      <a:r>
                        <a:rPr lang="ko-KR" altLang="en-US" sz="1200" dirty="0"/>
                        <a:t>검토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3</a:t>
                      </a:r>
                      <a:r>
                        <a:rPr lang="ko-KR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주차 발표자료 작성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0384532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21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22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23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24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25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26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430866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PPT </a:t>
                      </a:r>
                      <a:r>
                        <a:rPr lang="ko-KR" altLang="en-US" sz="1400" dirty="0"/>
                        <a:t>마감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87343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27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28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29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30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998189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PDR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1543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0940294"/>
      </p:ext>
    </p:extLst>
  </p:cSld>
  <p:clrMapOvr>
    <a:masterClrMapping/>
  </p:clrMapOvr>
</p:sld>
</file>

<file path=ppt/theme/theme1.xml><?xml version="1.0" encoding="utf-8"?>
<a:theme xmlns:a="http://schemas.openxmlformats.org/drawingml/2006/main" name="Normal">
  <a:themeElements>
    <a:clrScheme name="사용자 지정 2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FF0000"/>
      </a:accent1>
      <a:accent2>
        <a:srgbClr val="0000FF"/>
      </a:accent2>
      <a:accent3>
        <a:srgbClr val="FFFF00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square">
        <a:spAutoFit/>
      </a:bodyPr>
      <a:lstStyle>
        <a:defPPr lvl="2">
          <a:defRPr lang="en-US" altLang="ko-KR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1078</TotalTime>
  <Words>474</Words>
  <Application>Microsoft Office PowerPoint</Application>
  <PresentationFormat>와이드스크린</PresentationFormat>
  <Paragraphs>256</Paragraphs>
  <Slides>18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2" baseType="lpstr">
      <vt:lpstr>맑은 고딕</vt:lpstr>
      <vt:lpstr>Arial</vt:lpstr>
      <vt:lpstr>Wingdings</vt:lpstr>
      <vt:lpstr>Normal</vt:lpstr>
      <vt:lpstr>PowerPoint 프레젠테이션</vt:lpstr>
      <vt:lpstr>Level 1: Electrical Power System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1. Mission &amp; UHF COM mode</vt:lpstr>
      <vt:lpstr>1. Mission &amp; UHF COM mode</vt:lpstr>
      <vt:lpstr>PowerPoint 프레젠테이션</vt:lpstr>
      <vt:lpstr>4. Stand-by mode</vt:lpstr>
      <vt:lpstr>4. Stand-by mode</vt:lpstr>
      <vt:lpstr>1.Mission &amp; UHFCOM</vt:lpstr>
      <vt:lpstr>4. Stand-by mode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강 대은</dc:creator>
  <cp:lastModifiedBy>이진진</cp:lastModifiedBy>
  <cp:revision>144</cp:revision>
  <dcterms:created xsi:type="dcterms:W3CDTF">2021-06-14T06:44:23Z</dcterms:created>
  <dcterms:modified xsi:type="dcterms:W3CDTF">2022-11-21T11:47:01Z</dcterms:modified>
  <cp:version/>
</cp:coreProperties>
</file>