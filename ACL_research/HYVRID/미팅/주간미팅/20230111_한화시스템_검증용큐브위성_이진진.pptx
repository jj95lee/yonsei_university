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1"/>
  </p:sldMasterIdLst>
  <p:notesMasterIdLst>
    <p:notesMasterId r:id="rId18"/>
  </p:notesMasterIdLst>
  <p:sldIdLst>
    <p:sldId id="256" r:id="rId2"/>
    <p:sldId id="257" r:id="rId3"/>
    <p:sldId id="318" r:id="rId4"/>
    <p:sldId id="320" r:id="rId5"/>
    <p:sldId id="322" r:id="rId6"/>
    <p:sldId id="324" r:id="rId7"/>
    <p:sldId id="325" r:id="rId8"/>
    <p:sldId id="326" r:id="rId9"/>
    <p:sldId id="327" r:id="rId10"/>
    <p:sldId id="328" r:id="rId11"/>
    <p:sldId id="329" r:id="rId12"/>
    <p:sldId id="331" r:id="rId13"/>
    <p:sldId id="332" r:id="rId14"/>
    <p:sldId id="333" r:id="rId15"/>
    <p:sldId id="334" r:id="rId16"/>
    <p:sldId id="335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644" autoAdjust="0"/>
  </p:normalViewPr>
  <p:slideViewPr>
    <p:cSldViewPr snapToGrid="0">
      <p:cViewPr varScale="1">
        <p:scale>
          <a:sx n="92" d="100"/>
          <a:sy n="92" d="100"/>
        </p:scale>
        <p:origin x="1278" y="96"/>
      </p:cViewPr>
      <p:guideLst>
        <p:guide orient="horz" pos="2158"/>
        <p:guide pos="3839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444ADC7-D137-4355-B287-E417A90F4D15}" type="datetime1">
              <a:rPr lang="ko-KR" altLang="en-US"/>
              <a:pPr lvl="0">
                <a:defRPr/>
              </a:pPr>
              <a:t>2023-01-11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B8E8DA4-E2D7-43C2-B6C4-2E5B1B19F4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4653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381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1525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-34~84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9810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7528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0503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2042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54800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6701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13484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24762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9263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4076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8914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2023-01-11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CDR (2023.04)</a:t>
            </a:r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Electrical Power System</a:t>
            </a:r>
          </a:p>
          <a:p>
            <a:pPr lvl="1">
              <a:defRPr/>
            </a:pPr>
            <a:r>
              <a:rPr lang="en-US" altLang="ko-KR" dirty="0"/>
              <a:t>Hardware</a:t>
            </a:r>
          </a:p>
          <a:p>
            <a:pPr lvl="2">
              <a:defRPr/>
            </a:pPr>
            <a:r>
              <a:rPr lang="en-US" altLang="ko-KR" dirty="0"/>
              <a:t>PCDU</a:t>
            </a:r>
          </a:p>
          <a:p>
            <a:pPr lvl="2">
              <a:defRPr/>
            </a:pPr>
            <a:r>
              <a:rPr lang="en-US" altLang="ko-KR" dirty="0"/>
              <a:t>Solar Cell, Panel</a:t>
            </a:r>
          </a:p>
          <a:p>
            <a:pPr lvl="2">
              <a:defRPr/>
            </a:pPr>
            <a:r>
              <a:rPr lang="en-US" altLang="ko-KR" dirty="0"/>
              <a:t>battery</a:t>
            </a:r>
          </a:p>
          <a:p>
            <a:pPr lvl="3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marL="914400" lvl="2" indent="0">
              <a:buNone/>
              <a:defRPr/>
            </a:pPr>
            <a:endParaRPr lang="en-US" altLang="ko-K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Level 1: Electrical Power System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2023-01-11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graphicFrame>
        <p:nvGraphicFramePr>
          <p:cNvPr id="25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664773"/>
              </p:ext>
            </p:extLst>
          </p:nvPr>
        </p:nvGraphicFramePr>
        <p:xfrm>
          <a:off x="223158" y="719666"/>
          <a:ext cx="11748949" cy="474115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4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5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8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Level 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Level 3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DAYS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trike="sngStrike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trike="sngStrike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5474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방학 동안 준비할 내용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2023-01-11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향후 계획 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A09A0BE7-8E08-F314-9D6C-A9FB08D2B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86849"/>
              </p:ext>
            </p:extLst>
          </p:nvPr>
        </p:nvGraphicFramePr>
        <p:xfrm>
          <a:off x="1300228" y="1397902"/>
          <a:ext cx="9899813" cy="4379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7682">
                  <a:extLst>
                    <a:ext uri="{9D8B030D-6E8A-4147-A177-3AD203B41FA5}">
                      <a16:colId xmlns:a16="http://schemas.microsoft.com/office/drawing/2014/main" val="963791253"/>
                    </a:ext>
                  </a:extLst>
                </a:gridCol>
                <a:gridCol w="1379934">
                  <a:extLst>
                    <a:ext uri="{9D8B030D-6E8A-4147-A177-3AD203B41FA5}">
                      <a16:colId xmlns:a16="http://schemas.microsoft.com/office/drawing/2014/main" val="3503235211"/>
                    </a:ext>
                  </a:extLst>
                </a:gridCol>
                <a:gridCol w="1379934">
                  <a:extLst>
                    <a:ext uri="{9D8B030D-6E8A-4147-A177-3AD203B41FA5}">
                      <a16:colId xmlns:a16="http://schemas.microsoft.com/office/drawing/2014/main" val="1441410675"/>
                    </a:ext>
                  </a:extLst>
                </a:gridCol>
                <a:gridCol w="1080380">
                  <a:extLst>
                    <a:ext uri="{9D8B030D-6E8A-4147-A177-3AD203B41FA5}">
                      <a16:colId xmlns:a16="http://schemas.microsoft.com/office/drawing/2014/main" val="468541899"/>
                    </a:ext>
                  </a:extLst>
                </a:gridCol>
                <a:gridCol w="1191883">
                  <a:extLst>
                    <a:ext uri="{9D8B030D-6E8A-4147-A177-3AD203B41FA5}">
                      <a16:colId xmlns:a16="http://schemas.microsoft.com/office/drawing/2014/main" val="2901240694"/>
                    </a:ext>
                  </a:extLst>
                </a:gridCol>
              </a:tblGrid>
              <a:tr h="528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주요 목표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착수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진행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비고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4059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228600" indent="-228600" algn="l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EPS 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하드웨어 숙지하기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2022-01-08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2022-01-20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637751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00" dirty="0"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74284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5064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8156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699472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strike="sng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strike="sng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strike="sng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strike="sng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811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3360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 스케줄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2023-01-11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향후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계획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8">
            <a:extLst>
              <a:ext uri="{FF2B5EF4-FFF2-40B4-BE49-F238E27FC236}">
                <a16:creationId xmlns:a16="http://schemas.microsoft.com/office/drawing/2014/main" id="{0AD24071-3047-61CF-3835-5BCC752A9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857435"/>
              </p:ext>
            </p:extLst>
          </p:nvPr>
        </p:nvGraphicFramePr>
        <p:xfrm>
          <a:off x="322216" y="1524834"/>
          <a:ext cx="11570168" cy="5069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1512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2872001738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1093518070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893368758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404635953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3452772827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1452797700"/>
                    </a:ext>
                  </a:extLst>
                </a:gridCol>
                <a:gridCol w="919584">
                  <a:extLst>
                    <a:ext uri="{9D8B030D-6E8A-4147-A177-3AD203B41FA5}">
                      <a16:colId xmlns:a16="http://schemas.microsoft.com/office/drawing/2014/main" val="904128740"/>
                    </a:ext>
                  </a:extLst>
                </a:gridCol>
              </a:tblGrid>
              <a:tr h="3752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58247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8458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10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12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13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14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Hardware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(PCDU)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Hardware</a:t>
                      </a:r>
                      <a:r>
                        <a:rPr lang="ko-KR" altLang="en-US" sz="1400" dirty="0"/>
                        <a:t> </a:t>
                      </a:r>
                      <a:endParaRPr lang="en-US" altLang="ko-KR" sz="14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(PCDU)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Hardware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(Battery)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Hardware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(Battery)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645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Hardware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(Solar cell, Panel)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Hardware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(Solar cell, Panel)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8453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086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sng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sng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8734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30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98189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154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636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PCDU : Power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Conditioning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and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Distribution Unit</a:t>
            </a:r>
            <a:endParaRPr lang="ko-KR" altLang="en-US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2023-01-11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E5D4766-8EFF-B55C-BEBF-E2CCC5EBA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94" y="1823171"/>
            <a:ext cx="10715625" cy="38957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9A52F0-2999-F1DE-719D-2A68156870C7}"/>
              </a:ext>
            </a:extLst>
          </p:cNvPr>
          <p:cNvSpPr txBox="1"/>
          <p:nvPr/>
        </p:nvSpPr>
        <p:spPr>
          <a:xfrm>
            <a:off x="3675784" y="2392279"/>
            <a:ext cx="6125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Battery Charge Regulator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356216-908C-60FC-F3AA-234F28CD84CF}"/>
              </a:ext>
            </a:extLst>
          </p:cNvPr>
          <p:cNvSpPr txBox="1"/>
          <p:nvPr/>
        </p:nvSpPr>
        <p:spPr>
          <a:xfrm>
            <a:off x="5753096" y="2392278"/>
            <a:ext cx="22622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Power Conditioning Module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A4F565-BF4C-E311-95E0-0373E7C09065}"/>
              </a:ext>
            </a:extLst>
          </p:cNvPr>
          <p:cNvSpPr txBox="1"/>
          <p:nvPr/>
        </p:nvSpPr>
        <p:spPr>
          <a:xfrm>
            <a:off x="8030156" y="2391181"/>
            <a:ext cx="22929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Power Distribution Module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1212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PCDU spec – AAC Clyde Space : Starbuck-Nano Plus</a:t>
            </a:r>
            <a:endParaRPr lang="ko-KR" altLang="en-US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2023-01-11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8D78BA0-CA24-E2BA-8B44-BE58249AF4C9}"/>
              </a:ext>
            </a:extLst>
          </p:cNvPr>
          <p:cNvGrpSpPr/>
          <p:nvPr/>
        </p:nvGrpSpPr>
        <p:grpSpPr>
          <a:xfrm>
            <a:off x="299616" y="1916922"/>
            <a:ext cx="4788562" cy="2727809"/>
            <a:chOff x="90748" y="2363736"/>
            <a:chExt cx="5266270" cy="2999936"/>
          </a:xfrm>
        </p:grpSpPr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614BF506-DB25-E81A-CB11-36BCBDB3FE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0695" y="3418609"/>
              <a:ext cx="5046" cy="434704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145974FA-AC64-8C5F-BBCE-BE54CF3565A9}"/>
                </a:ext>
              </a:extLst>
            </p:cNvPr>
            <p:cNvGrpSpPr/>
            <p:nvPr/>
          </p:nvGrpSpPr>
          <p:grpSpPr>
            <a:xfrm>
              <a:off x="90748" y="2363736"/>
              <a:ext cx="5266270" cy="2999936"/>
              <a:chOff x="583811" y="2361774"/>
              <a:chExt cx="5266270" cy="2999936"/>
            </a:xfrm>
          </p:grpSpPr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74188B6E-614A-9BE5-EA93-55C6B2DD78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1274" y="2361774"/>
                <a:ext cx="3795521" cy="2835049"/>
              </a:xfrm>
              <a:prstGeom prst="rect">
                <a:avLst/>
              </a:prstGeom>
            </p:spPr>
          </p:pic>
          <p:cxnSp>
            <p:nvCxnSpPr>
              <p:cNvPr id="9" name="직선 화살표 연결선 8">
                <a:extLst>
                  <a:ext uri="{FF2B5EF4-FFF2-40B4-BE49-F238E27FC236}">
                    <a16:creationId xmlns:a16="http://schemas.microsoft.com/office/drawing/2014/main" id="{01939E09-FDB8-E509-F3F2-19161A4566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8536" y="3429000"/>
                <a:ext cx="1148393" cy="184958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직선 화살표 연결선 10">
                <a:extLst>
                  <a:ext uri="{FF2B5EF4-FFF2-40B4-BE49-F238E27FC236}">
                    <a16:creationId xmlns:a16="http://schemas.microsoft.com/office/drawing/2014/main" id="{B43F1C9D-6EE0-1C13-2634-53EC26F8D3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22072" y="3927764"/>
                <a:ext cx="2724001" cy="143394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E4E6F2E-257F-98C4-74BD-91D51216333F}"/>
                  </a:ext>
                </a:extLst>
              </p:cNvPr>
              <p:cNvSpPr txBox="1"/>
              <p:nvPr/>
            </p:nvSpPr>
            <p:spPr>
              <a:xfrm>
                <a:off x="3646531" y="4644737"/>
                <a:ext cx="1054229" cy="4061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9.6cm</a:t>
                </a:r>
                <a:endParaRPr lang="ko-KR" altLang="en-US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B6EC5C8-85B5-51EC-2865-12ECDA6C579D}"/>
                  </a:ext>
                </a:extLst>
              </p:cNvPr>
              <p:cNvSpPr txBox="1"/>
              <p:nvPr/>
            </p:nvSpPr>
            <p:spPr>
              <a:xfrm>
                <a:off x="583811" y="4275405"/>
                <a:ext cx="990363" cy="4061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9cm</a:t>
                </a:r>
                <a:endParaRPr lang="ko-KR" altLang="en-US" dirty="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33B05DB-E03E-AF01-E1B2-2AC1F36B0BD3}"/>
                  </a:ext>
                </a:extLst>
              </p:cNvPr>
              <p:cNvSpPr txBox="1"/>
              <p:nvPr/>
            </p:nvSpPr>
            <p:spPr>
              <a:xfrm>
                <a:off x="4939517" y="3456894"/>
                <a:ext cx="91056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2.1cm</a:t>
                </a:r>
                <a:endParaRPr lang="ko-KR" altLang="en-US" dirty="0"/>
              </a:p>
            </p:txBody>
          </p:sp>
        </p:grpSp>
      </p:grpSp>
      <p:pic>
        <p:nvPicPr>
          <p:cNvPr id="30" name="그림 29">
            <a:extLst>
              <a:ext uri="{FF2B5EF4-FFF2-40B4-BE49-F238E27FC236}">
                <a16:creationId xmlns:a16="http://schemas.microsoft.com/office/drawing/2014/main" id="{3A446C19-2436-40DC-CF58-7C91483677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88" y="1600655"/>
            <a:ext cx="6839691" cy="323945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07CC474-4F0F-270E-6714-D1AEE81D6F65}"/>
              </a:ext>
            </a:extLst>
          </p:cNvPr>
          <p:cNvSpPr txBox="1"/>
          <p:nvPr/>
        </p:nvSpPr>
        <p:spPr>
          <a:xfrm>
            <a:off x="174048" y="5689666"/>
            <a:ext cx="6125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LCL :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전기적으로 제어가 가능하며 각각의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부하 전원을 단속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ko-KR" altLang="en-US" sz="11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3A32CD-2EA2-F979-055B-583233ED521E}"/>
              </a:ext>
            </a:extLst>
          </p:cNvPr>
          <p:cNvSpPr txBox="1"/>
          <p:nvPr/>
        </p:nvSpPr>
        <p:spPr>
          <a:xfrm>
            <a:off x="174048" y="5976734"/>
            <a:ext cx="6125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I2C(Inter-Integrated Circuit) : SDA, SCL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두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가닥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선만으로도 데이터 송수신 가능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</a:t>
            </a:r>
            <a:endParaRPr lang="ko-KR" altLang="en-US" sz="11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EA82CE-D888-6131-CEAC-537B38F33D24}"/>
              </a:ext>
            </a:extLst>
          </p:cNvPr>
          <p:cNvSpPr txBox="1"/>
          <p:nvPr/>
        </p:nvSpPr>
        <p:spPr>
          <a:xfrm>
            <a:off x="5233476" y="4870964"/>
            <a:ext cx="61254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Unregulated Battery bus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MPPT (Maximum Power Point Tracker)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Overcurrent, Over – and under voltage protection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Watchdog</a:t>
            </a:r>
            <a:r>
              <a:rPr lang="ko-KR" altLang="en-US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timer</a:t>
            </a:r>
          </a:p>
          <a:p>
            <a:endParaRPr lang="ko-KR" altLang="en-US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AF7D2D-C69C-7431-8321-EE8C63C07683}"/>
              </a:ext>
            </a:extLst>
          </p:cNvPr>
          <p:cNvSpPr txBox="1"/>
          <p:nvPr/>
        </p:nvSpPr>
        <p:spPr>
          <a:xfrm>
            <a:off x="174048" y="6263802"/>
            <a:ext cx="76288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MPPT :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전기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모듈의 작동 상태를 조정하여 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solar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panel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 더 많은 전기를 출력할 수 있도록 하는 전기시스템 </a:t>
            </a:r>
            <a:endParaRPr lang="ko-KR" altLang="en-US" sz="11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21721E-BDFE-5BAE-092B-70366F97DD08}"/>
              </a:ext>
            </a:extLst>
          </p:cNvPr>
          <p:cNvSpPr txBox="1"/>
          <p:nvPr/>
        </p:nvSpPr>
        <p:spPr>
          <a:xfrm>
            <a:off x="174048" y="6539219"/>
            <a:ext cx="76288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Watchdog timer :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컴퓨터의 오작동을 탐지하고 복구하기 위해 쓰는 전자타이머 </a:t>
            </a:r>
            <a:endParaRPr lang="ko-KR" altLang="en-US" sz="1100" dirty="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A578D84B-226C-191D-7C58-02414117EC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5007" y="1491377"/>
            <a:ext cx="5993543" cy="416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352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LCL(Latching Current Limit)</a:t>
            </a:r>
          </a:p>
          <a:p>
            <a:pPr marL="0" indent="0">
              <a:buNone/>
            </a:pPr>
            <a:endParaRPr lang="ko-KR" altLang="en-US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2023-01-11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0CBB5D3-AC52-D69D-ADF8-C4B2A8223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40" y="1509402"/>
            <a:ext cx="6273949" cy="49904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FAA8C78-D643-8347-BB66-DCDA4992F6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812" y="0"/>
            <a:ext cx="5369502" cy="6858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FE1CD55-0318-7F00-55BF-32C6A28409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423553"/>
            <a:ext cx="6848183" cy="478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39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A6EF0F97-FB89-C50B-F3FF-875B6DD6FC1D}"/>
              </a:ext>
            </a:extLst>
          </p:cNvPr>
          <p:cNvSpPr/>
          <p:nvPr/>
        </p:nvSpPr>
        <p:spPr>
          <a:xfrm>
            <a:off x="1859973" y="1371600"/>
            <a:ext cx="7928264" cy="41148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ko-KR" altLang="en-US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2023-01-11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5B44F3-900A-A52D-7B37-40C90213B28F}"/>
              </a:ext>
            </a:extLst>
          </p:cNvPr>
          <p:cNvSpPr txBox="1"/>
          <p:nvPr/>
        </p:nvSpPr>
        <p:spPr>
          <a:xfrm>
            <a:off x="6136" y="6254757"/>
            <a:ext cx="71697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SEPIC (Single Ended Primary Inductor Converter) :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입력전압에 대해 강압과 </a:t>
            </a:r>
            <a:r>
              <a:rPr lang="ko-KR" altLang="en-US" sz="11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승압이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모두 가능한 전력변환 장치</a:t>
            </a:r>
            <a:endParaRPr lang="ko-KR" alt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B5919C-6A33-875D-ADF5-E0E69DA9B306}"/>
              </a:ext>
            </a:extLst>
          </p:cNvPr>
          <p:cNvSpPr txBox="1"/>
          <p:nvPr/>
        </p:nvSpPr>
        <p:spPr>
          <a:xfrm>
            <a:off x="6136" y="6507552"/>
            <a:ext cx="71697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Buck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DC-DC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1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컨퍼터의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일종으로 전압을 </a:t>
            </a:r>
            <a:r>
              <a:rPr lang="ko-KR" altLang="en-US" sz="11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강압시킴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입력전압보다 낮은 전압을 필요할 때 사용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en-US" sz="110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3335D8E-4900-DA78-6AC9-931EBBBD4FC1}"/>
              </a:ext>
            </a:extLst>
          </p:cNvPr>
          <p:cNvGrpSpPr/>
          <p:nvPr/>
        </p:nvGrpSpPr>
        <p:grpSpPr>
          <a:xfrm>
            <a:off x="2001740" y="1616002"/>
            <a:ext cx="7496175" cy="3625996"/>
            <a:chOff x="2001740" y="2109787"/>
            <a:chExt cx="7496175" cy="362599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1C25444-692C-BD68-E87D-6A91382837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01740" y="2109787"/>
              <a:ext cx="7496175" cy="2638425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776A76EB-AC4F-0A00-6D16-7ECE95B866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59727" y="4452343"/>
              <a:ext cx="7219084" cy="12834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2744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ko-KR" altLang="en-US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2023-01-11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5B44F3-900A-A52D-7B37-40C90213B28F}"/>
              </a:ext>
            </a:extLst>
          </p:cNvPr>
          <p:cNvSpPr txBox="1"/>
          <p:nvPr/>
        </p:nvSpPr>
        <p:spPr>
          <a:xfrm>
            <a:off x="6136" y="6254757"/>
            <a:ext cx="71697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SEPIC (Single Ended Primary Inductor Converter) :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입력전압에 대해 강압과 </a:t>
            </a:r>
            <a:r>
              <a:rPr lang="ko-KR" altLang="en-US" sz="11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승압이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모두 가능한 전력변환 장치</a:t>
            </a:r>
            <a:endParaRPr lang="ko-KR" alt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B5919C-6A33-875D-ADF5-E0E69DA9B306}"/>
              </a:ext>
            </a:extLst>
          </p:cNvPr>
          <p:cNvSpPr txBox="1"/>
          <p:nvPr/>
        </p:nvSpPr>
        <p:spPr>
          <a:xfrm>
            <a:off x="6136" y="6507552"/>
            <a:ext cx="71697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Buck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DC-DC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컨버터의 일종으로 전압을 </a:t>
            </a:r>
            <a:r>
              <a:rPr lang="ko-KR" altLang="en-US" sz="11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강압시킴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입력전압보다 낮은 전압을 필요할 때 사용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en-US" sz="11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C8E4EEB-E8FD-CF84-1FBA-EB73162A1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41" y="1294339"/>
            <a:ext cx="6104480" cy="346319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C9839AB-2583-63DD-D7AD-C8DD2C18BE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6785" y="1469529"/>
            <a:ext cx="6055215" cy="328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639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ko-KR" altLang="en-US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2023-01-11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5B44F3-900A-A52D-7B37-40C90213B28F}"/>
              </a:ext>
            </a:extLst>
          </p:cNvPr>
          <p:cNvSpPr txBox="1"/>
          <p:nvPr/>
        </p:nvSpPr>
        <p:spPr>
          <a:xfrm>
            <a:off x="6136" y="5509166"/>
            <a:ext cx="71697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TML (Total Mass Loss) : 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대기 중과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진공 조건에서 나타나는 질량의 차이</a:t>
            </a:r>
            <a:endParaRPr lang="ko-KR" alt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B5919C-6A33-875D-ADF5-E0E69DA9B306}"/>
              </a:ext>
            </a:extLst>
          </p:cNvPr>
          <p:cNvSpPr txBox="1"/>
          <p:nvPr/>
        </p:nvSpPr>
        <p:spPr>
          <a:xfrm>
            <a:off x="6136" y="5761961"/>
            <a:ext cx="71697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CVCM (Collected Volatile Condensable Mass)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휘발성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응축 질량</a:t>
            </a:r>
            <a:endParaRPr lang="ko-KR" altLang="en-US" sz="11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2D2080F-33AB-14A1-F986-3B4D9DB4C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24" y="1727972"/>
            <a:ext cx="5930611" cy="340205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1FC71D5-56E3-552F-91C1-28C04FA3A8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317" y="1686408"/>
            <a:ext cx="5792380" cy="359217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8C6BDA2-DBB2-861A-81C6-FC1A391B466A}"/>
              </a:ext>
            </a:extLst>
          </p:cNvPr>
          <p:cNvSpPr txBox="1"/>
          <p:nvPr/>
        </p:nvSpPr>
        <p:spPr>
          <a:xfrm>
            <a:off x="0" y="6028783"/>
            <a:ext cx="71697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WVR (Water Vapor Regained):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물의 재흡수율</a:t>
            </a:r>
            <a:endParaRPr lang="ko-KR" altLang="en-US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C795F8-1B09-CC31-50DC-8DF281134D4B}"/>
              </a:ext>
            </a:extLst>
          </p:cNvPr>
          <p:cNvSpPr txBox="1"/>
          <p:nvPr/>
        </p:nvSpPr>
        <p:spPr>
          <a:xfrm>
            <a:off x="6136" y="6281223"/>
            <a:ext cx="97146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SMT (Surface Mount Technology) : </a:t>
            </a:r>
            <a:r>
              <a:rPr lang="ko-KR" altLang="en-US" sz="1100" dirty="0"/>
              <a:t>기판의 표면위에 전자 부품을 접합하여 회로가 전기적으로 구성되도록 하는 접합 기술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F8942E-F3D0-70E2-7221-8E5B3BFDA20C}"/>
              </a:ext>
            </a:extLst>
          </p:cNvPr>
          <p:cNvSpPr txBox="1"/>
          <p:nvPr/>
        </p:nvSpPr>
        <p:spPr>
          <a:xfrm>
            <a:off x="0" y="6548045"/>
            <a:ext cx="71697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PTH (Plated Through Hole) : </a:t>
            </a:r>
            <a:r>
              <a:rPr lang="ko-KR" altLang="en-US" sz="1100" dirty="0"/>
              <a:t>부품의 리드를 삽입하여 납땜하는 기법</a:t>
            </a:r>
          </a:p>
        </p:txBody>
      </p:sp>
    </p:spTree>
    <p:extLst>
      <p:ext uri="{BB962C8B-B14F-4D97-AF65-F5344CB8AC3E}">
        <p14:creationId xmlns:p14="http://schemas.microsoft.com/office/powerpoint/2010/main" val="3066336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ko-KR" altLang="en-US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2023-01-11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11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7FF74F3-639D-EFB8-AC4F-61C244AC8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76" y="1259387"/>
            <a:ext cx="11772900" cy="46863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3AFA27C-61C3-49B9-C256-0EEE349CC6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1401" y="715186"/>
            <a:ext cx="6250599" cy="556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022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ko-KR" altLang="en-US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2023-01-11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12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A66412C-C69E-06DC-D0F7-54AF01C49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48" y="1021262"/>
            <a:ext cx="4925716" cy="447942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62B3724-BA4D-CD58-AB61-961097FEDE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494" y="976313"/>
            <a:ext cx="6747031" cy="452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636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ko-KR" altLang="en-US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2023-01-11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13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0952F69-7DBF-DD83-2BFF-83F1197CC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1712" y="819513"/>
            <a:ext cx="7419975" cy="554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024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ko-KR" altLang="en-US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2023-01-11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14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115FFA5-E2BD-E958-55D6-AB7D06CE8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357" y="903922"/>
            <a:ext cx="4986507" cy="574245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7C22441-103C-C6DF-6D02-8ADCEA58A1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1139" y="651564"/>
            <a:ext cx="4614594" cy="612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419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457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ko-KR" altLang="en-US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2023-01-11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15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281563-C6A5-48CB-0C87-A146089004BA}"/>
              </a:ext>
            </a:extLst>
          </p:cNvPr>
          <p:cNvSpPr txBox="1"/>
          <p:nvPr/>
        </p:nvSpPr>
        <p:spPr>
          <a:xfrm>
            <a:off x="299616" y="800822"/>
            <a:ext cx="6124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Technical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Description</a:t>
            </a:r>
            <a:endParaRPr lang="ko-KR" altLang="en-US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CAEEDB-5F4D-412D-A38A-C681A75EE0B8}"/>
              </a:ext>
            </a:extLst>
          </p:cNvPr>
          <p:cNvSpPr txBox="1"/>
          <p:nvPr/>
        </p:nvSpPr>
        <p:spPr>
          <a:xfrm>
            <a:off x="623466" y="1567934"/>
            <a:ext cx="61245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Charge Method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8A488A-7F8F-C04F-A6CA-F7C1EA959472}"/>
              </a:ext>
            </a:extLst>
          </p:cNvPr>
          <p:cNvSpPr txBox="1"/>
          <p:nvPr/>
        </p:nvSpPr>
        <p:spPr>
          <a:xfrm>
            <a:off x="991274" y="2166733"/>
            <a:ext cx="61245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1. MPPT Mode</a:t>
            </a:r>
            <a:endParaRPr lang="ko-KR" alt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0959DA-2FD7-DA23-91DD-5410C3BFA7D8}"/>
              </a:ext>
            </a:extLst>
          </p:cNvPr>
          <p:cNvSpPr txBox="1"/>
          <p:nvPr/>
        </p:nvSpPr>
        <p:spPr>
          <a:xfrm>
            <a:off x="991274" y="3313629"/>
            <a:ext cx="61245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2. </a:t>
            </a:r>
            <a:r>
              <a:rPr lang="en-US" altLang="ko-KR" sz="1600" b="1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EoC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Mode</a:t>
            </a:r>
            <a:endParaRPr lang="ko-KR" alt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78748B-EE46-D571-1229-EC6A0F3E1053}"/>
              </a:ext>
            </a:extLst>
          </p:cNvPr>
          <p:cNvSpPr txBox="1"/>
          <p:nvPr/>
        </p:nvSpPr>
        <p:spPr>
          <a:xfrm>
            <a:off x="2687540" y="2182121"/>
            <a:ext cx="725655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배터리 전압이 </a:t>
            </a:r>
            <a:r>
              <a:rPr lang="en-US" altLang="ko-KR" sz="14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EoC</a:t>
            </a:r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전압보다 낮은 경우</a:t>
            </a:r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최대 전력 전송을 위해 태양 전지판의 최대 전력 지점에서 작동하는</a:t>
            </a:r>
            <a:endParaRPr lang="en-US" altLang="ko-KR" sz="14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Constant </a:t>
            </a:r>
            <a:r>
              <a:rPr lang="en-US" altLang="ko-KR" sz="14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Cyrrent</a:t>
            </a:r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charge method</a:t>
            </a:r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이용한다</a:t>
            </a:r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964F2A-363C-4563-118B-BFBB8BCB1304}"/>
              </a:ext>
            </a:extLst>
          </p:cNvPr>
          <p:cNvSpPr txBox="1"/>
          <p:nvPr/>
        </p:nvSpPr>
        <p:spPr>
          <a:xfrm>
            <a:off x="2429814" y="3329017"/>
            <a:ext cx="612457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en-US" altLang="ko-KR" sz="14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EoC</a:t>
            </a:r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전압에 도달하면 </a:t>
            </a:r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BCR</a:t>
            </a:r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 정전압인 </a:t>
            </a:r>
            <a:r>
              <a:rPr lang="en-US" altLang="ko-KR" sz="14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EoC</a:t>
            </a:r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로 변경됨</a:t>
            </a:r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전압이 일정하게 유지되고 패널에서 </a:t>
            </a:r>
            <a:r>
              <a:rPr lang="ko-KR" altLang="en-US" sz="14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테이퍼링</a:t>
            </a:r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전류가 공급된다</a:t>
            </a:r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84551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457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ko-KR" altLang="en-US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2023-01-11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14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234996-F8F6-8371-5B30-8FB15AFCF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9640" y="920279"/>
            <a:ext cx="6500376" cy="51182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4572DF-2E50-199E-8064-B1B8A1BFFA2E}"/>
              </a:ext>
            </a:extLst>
          </p:cNvPr>
          <p:cNvSpPr txBox="1"/>
          <p:nvPr/>
        </p:nvSpPr>
        <p:spPr>
          <a:xfrm>
            <a:off x="72811" y="6511354"/>
            <a:ext cx="71697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Taper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charge :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배터리가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완전히 충전된 상태에 </a:t>
            </a:r>
            <a:r>
              <a:rPr lang="ko-KR" altLang="en-US" sz="11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가까워짐에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따라 충전 속도가 감소하는 현상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246023347"/>
      </p:ext>
    </p:extLst>
  </p:cSld>
  <p:clrMapOvr>
    <a:masterClrMapping/>
  </p:clrMapOvr>
</p:sld>
</file>

<file path=ppt/theme/theme1.xml><?xml version="1.0" encoding="utf-8"?>
<a:theme xmlns:a="http://schemas.openxmlformats.org/drawing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>
        <a:spAutoFit/>
      </a:bodyPr>
      <a:lstStyle>
        <a:defPPr lvl="2">
          <a:defRPr lang="en-US" altLang="ko-KR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1479</TotalTime>
  <Words>582</Words>
  <Application>Microsoft Office PowerPoint</Application>
  <PresentationFormat>와이드스크린</PresentationFormat>
  <Paragraphs>211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맑은 고딕</vt:lpstr>
      <vt:lpstr>Arial</vt:lpstr>
      <vt:lpstr>Wingdings</vt:lpstr>
      <vt:lpstr>Normal</vt:lpstr>
      <vt:lpstr>PowerPoint 프레젠테이션</vt:lpstr>
      <vt:lpstr>Level 1: Electrical Power System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대은</dc:creator>
  <cp:lastModifiedBy>이진진</cp:lastModifiedBy>
  <cp:revision>152</cp:revision>
  <dcterms:created xsi:type="dcterms:W3CDTF">2021-06-14T06:44:23Z</dcterms:created>
  <dcterms:modified xsi:type="dcterms:W3CDTF">2023-01-11T07:40:52Z</dcterms:modified>
  <cp:version/>
</cp:coreProperties>
</file>